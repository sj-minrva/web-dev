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90" r:id="rId3"/>
    <p:sldMasterId id="2147483707" r:id="rId4"/>
  </p:sldMasterIdLst>
  <p:notesMasterIdLst>
    <p:notesMasterId r:id="rId138"/>
  </p:notesMasterIdLst>
  <p:handoutMasterIdLst>
    <p:handoutMasterId r:id="rId139"/>
  </p:handoutMasterIdLst>
  <p:sldIdLst>
    <p:sldId id="268" r:id="rId5"/>
    <p:sldId id="298" r:id="rId6"/>
    <p:sldId id="990" r:id="rId7"/>
    <p:sldId id="413" r:id="rId8"/>
    <p:sldId id="991" r:id="rId9"/>
    <p:sldId id="992" r:id="rId10"/>
    <p:sldId id="993" r:id="rId11"/>
    <p:sldId id="994" r:id="rId12"/>
    <p:sldId id="996" r:id="rId13"/>
    <p:sldId id="997" r:id="rId14"/>
    <p:sldId id="998" r:id="rId15"/>
    <p:sldId id="995" r:id="rId16"/>
    <p:sldId id="999" r:id="rId17"/>
    <p:sldId id="1002" r:id="rId18"/>
    <p:sldId id="1001" r:id="rId19"/>
    <p:sldId id="1003" r:id="rId20"/>
    <p:sldId id="1004" r:id="rId21"/>
    <p:sldId id="1005" r:id="rId22"/>
    <p:sldId id="1000" r:id="rId23"/>
    <p:sldId id="1006" r:id="rId24"/>
    <p:sldId id="1007" r:id="rId25"/>
    <p:sldId id="1008" r:id="rId26"/>
    <p:sldId id="1009" r:id="rId27"/>
    <p:sldId id="1084" r:id="rId28"/>
    <p:sldId id="1082" r:id="rId29"/>
    <p:sldId id="1103" r:id="rId30"/>
    <p:sldId id="1010" r:id="rId31"/>
    <p:sldId id="1011" r:id="rId32"/>
    <p:sldId id="1104" r:id="rId33"/>
    <p:sldId id="1012" r:id="rId34"/>
    <p:sldId id="1013" r:id="rId35"/>
    <p:sldId id="1014" r:id="rId36"/>
    <p:sldId id="1015" r:id="rId37"/>
    <p:sldId id="1016" r:id="rId38"/>
    <p:sldId id="1017" r:id="rId39"/>
    <p:sldId id="1109" r:id="rId40"/>
    <p:sldId id="1018" r:id="rId41"/>
    <p:sldId id="1019" r:id="rId42"/>
    <p:sldId id="1020" r:id="rId43"/>
    <p:sldId id="1022" r:id="rId44"/>
    <p:sldId id="1023" r:id="rId45"/>
    <p:sldId id="1105" r:id="rId46"/>
    <p:sldId id="1106" r:id="rId47"/>
    <p:sldId id="1107" r:id="rId48"/>
    <p:sldId id="1021" r:id="rId49"/>
    <p:sldId id="1024" r:id="rId50"/>
    <p:sldId id="1025" r:id="rId51"/>
    <p:sldId id="1086" r:id="rId52"/>
    <p:sldId id="1026" r:id="rId53"/>
    <p:sldId id="1027" r:id="rId54"/>
    <p:sldId id="1028" r:id="rId55"/>
    <p:sldId id="1085" r:id="rId56"/>
    <p:sldId id="1029" r:id="rId57"/>
    <p:sldId id="1030" r:id="rId58"/>
    <p:sldId id="1031" r:id="rId59"/>
    <p:sldId id="1032" r:id="rId60"/>
    <p:sldId id="1036" r:id="rId61"/>
    <p:sldId id="1035" r:id="rId62"/>
    <p:sldId id="1033" r:id="rId63"/>
    <p:sldId id="1034" r:id="rId64"/>
    <p:sldId id="1038" r:id="rId65"/>
    <p:sldId id="1054" r:id="rId66"/>
    <p:sldId id="1055" r:id="rId67"/>
    <p:sldId id="1056" r:id="rId68"/>
    <p:sldId id="1037" r:id="rId69"/>
    <p:sldId id="1039" r:id="rId70"/>
    <p:sldId id="1040" r:id="rId71"/>
    <p:sldId id="1041" r:id="rId72"/>
    <p:sldId id="1042" r:id="rId73"/>
    <p:sldId id="1043" r:id="rId74"/>
    <p:sldId id="1045" r:id="rId75"/>
    <p:sldId id="1044" r:id="rId76"/>
    <p:sldId id="1046" r:id="rId77"/>
    <p:sldId id="1047" r:id="rId78"/>
    <p:sldId id="1048" r:id="rId79"/>
    <p:sldId id="1049" r:id="rId80"/>
    <p:sldId id="1050" r:id="rId81"/>
    <p:sldId id="1051" r:id="rId82"/>
    <p:sldId id="1052" r:id="rId83"/>
    <p:sldId id="1053" r:id="rId84"/>
    <p:sldId id="1057" r:id="rId85"/>
    <p:sldId id="1058" r:id="rId86"/>
    <p:sldId id="1102" r:id="rId87"/>
    <p:sldId id="1067" r:id="rId88"/>
    <p:sldId id="1062" r:id="rId89"/>
    <p:sldId id="1059" r:id="rId90"/>
    <p:sldId id="1060" r:id="rId91"/>
    <p:sldId id="1061" r:id="rId92"/>
    <p:sldId id="1070" r:id="rId93"/>
    <p:sldId id="1110" r:id="rId94"/>
    <p:sldId id="1115" r:id="rId95"/>
    <p:sldId id="1074" r:id="rId96"/>
    <p:sldId id="1075" r:id="rId97"/>
    <p:sldId id="1076" r:id="rId98"/>
    <p:sldId id="1077" r:id="rId99"/>
    <p:sldId id="1078" r:id="rId100"/>
    <p:sldId id="1108" r:id="rId101"/>
    <p:sldId id="1079" r:id="rId102"/>
    <p:sldId id="1063" r:id="rId103"/>
    <p:sldId id="1064" r:id="rId104"/>
    <p:sldId id="1093" r:id="rId105"/>
    <p:sldId id="1065" r:id="rId106"/>
    <p:sldId id="1066" r:id="rId107"/>
    <p:sldId id="1111" r:id="rId108"/>
    <p:sldId id="1113" r:id="rId109"/>
    <p:sldId id="1112" r:id="rId110"/>
    <p:sldId id="1114" r:id="rId111"/>
    <p:sldId id="1094" r:id="rId112"/>
    <p:sldId id="1095" r:id="rId113"/>
    <p:sldId id="1096" r:id="rId114"/>
    <p:sldId id="1098" r:id="rId115"/>
    <p:sldId id="1097" r:id="rId116"/>
    <p:sldId id="1080" r:id="rId117"/>
    <p:sldId id="1087" r:id="rId118"/>
    <p:sldId id="1088" r:id="rId119"/>
    <p:sldId id="1119" r:id="rId120"/>
    <p:sldId id="1081" r:id="rId121"/>
    <p:sldId id="1089" r:id="rId122"/>
    <p:sldId id="1090" r:id="rId123"/>
    <p:sldId id="1091" r:id="rId124"/>
    <p:sldId id="1092" r:id="rId125"/>
    <p:sldId id="1099" r:id="rId126"/>
    <p:sldId id="1101" r:id="rId127"/>
    <p:sldId id="1100" r:id="rId128"/>
    <p:sldId id="1068" r:id="rId129"/>
    <p:sldId id="1069" r:id="rId130"/>
    <p:sldId id="1071" r:id="rId131"/>
    <p:sldId id="1072" r:id="rId132"/>
    <p:sldId id="1073" r:id="rId133"/>
    <p:sldId id="1116" r:id="rId134"/>
    <p:sldId id="1117" r:id="rId135"/>
    <p:sldId id="1118" r:id="rId136"/>
    <p:sldId id="688" r:id="rId137"/>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84" userDrawn="1">
          <p15:clr>
            <a:srgbClr val="A4A3A4"/>
          </p15:clr>
        </p15:guide>
        <p15:guide id="2" orient="horz" pos="3838" userDrawn="1">
          <p15:clr>
            <a:srgbClr val="A4A3A4"/>
          </p15:clr>
        </p15:guide>
        <p15:guide id="3"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7E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905" autoAdjust="0"/>
  </p:normalViewPr>
  <p:slideViewPr>
    <p:cSldViewPr>
      <p:cViewPr varScale="1">
        <p:scale>
          <a:sx n="76" d="100"/>
          <a:sy n="76" d="100"/>
        </p:scale>
        <p:origin x="917" y="48"/>
      </p:cViewPr>
      <p:guideLst>
        <p:guide orient="horz" pos="3884"/>
        <p:guide orient="horz" pos="3838"/>
        <p:guide pos="384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70" d="100"/>
          <a:sy n="70" d="100"/>
        </p:scale>
        <p:origin x="3240" y="7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notesMaster" Target="notesMasters/notesMaster1.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handoutMaster" Target="handoutMasters/handoutMaster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theme" Target="theme/theme1.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397089B-D374-4627-9F33-CA940E3B29F1}" type="datetimeFigureOut">
              <a:rPr lang="en-US" smtClean="0"/>
              <a:pPr/>
              <a:t>11/10/2025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33C253-DD25-4D82-8548-B5428707B488}" type="slidenum">
              <a:rPr lang="en-US" smtClean="0"/>
              <a:pPr/>
              <a:t>‹#›</a:t>
            </a:fld>
            <a:endParaRPr lang="en-US"/>
          </a:p>
        </p:txBody>
      </p:sp>
    </p:spTree>
    <p:extLst>
      <p:ext uri="{BB962C8B-B14F-4D97-AF65-F5344CB8AC3E}">
        <p14:creationId xmlns:p14="http://schemas.microsoft.com/office/powerpoint/2010/main" val="26370250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EECD03-7277-4269-A7EC-8B1E3728BF24}" type="datetimeFigureOut">
              <a:rPr lang="el-GR" smtClean="0"/>
              <a:pPr/>
              <a:t>10/11/2025</a:t>
            </a:fld>
            <a:endParaRPr lang="el-G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A1FA17-B5DB-481C-8402-B3CAE17DEC83}" type="slidenum">
              <a:rPr lang="el-GR" smtClean="0"/>
              <a:pPr/>
              <a:t>‹#›</a:t>
            </a:fld>
            <a:endParaRPr lang="el-GR"/>
          </a:p>
        </p:txBody>
      </p:sp>
    </p:spTree>
    <p:extLst>
      <p:ext uri="{BB962C8B-B14F-4D97-AF65-F5344CB8AC3E}">
        <p14:creationId xmlns:p14="http://schemas.microsoft.com/office/powerpoint/2010/main" val="2961141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hangingPunct="0"/>
            <a:r>
              <a:rPr lang="en-US" b="1" dirty="0"/>
              <a:t>Welcome the participants to the program.</a:t>
            </a:r>
            <a:endParaRPr lang="en-US" dirty="0"/>
          </a:p>
          <a:p>
            <a:pPr hangingPunct="0"/>
            <a:r>
              <a:rPr lang="en-US" b="1" dirty="0"/>
              <a:t>Introduce yourself and briefly summarize your experience at EY and your interest in presenting at </a:t>
            </a:r>
            <a:r>
              <a:rPr lang="en-US" b="1" i="1" dirty="0"/>
              <a:t>Welcome to EY</a:t>
            </a:r>
            <a:r>
              <a:rPr lang="en-US" b="1" dirty="0"/>
              <a:t>.</a:t>
            </a:r>
            <a:endParaRPr lang="en-US" dirty="0"/>
          </a:p>
          <a:p>
            <a:pPr hangingPunct="0"/>
            <a:r>
              <a:rPr lang="en-US" b="1" dirty="0"/>
              <a:t>Have co-facilitators, if present, introduce themselves and provide background information.</a:t>
            </a:r>
            <a:endParaRPr lang="en-US" dirty="0"/>
          </a:p>
          <a:p>
            <a:pPr hangingPunct="0"/>
            <a:r>
              <a:rPr lang="en-US" b="1" dirty="0"/>
              <a:t>State the following to help participants understand the context of Welcome to EY:  </a:t>
            </a:r>
          </a:p>
          <a:p>
            <a:pPr hangingPunct="0"/>
            <a:r>
              <a:rPr lang="en-US" dirty="0"/>
              <a:t>This course was designed for all ranks around the globe. It provides you with foundational knowledge that will help to explain our culture, our processes and how we go to market.</a:t>
            </a:r>
          </a:p>
          <a:p>
            <a:pPr hangingPunct="0"/>
            <a:r>
              <a:rPr lang="en-US" dirty="0"/>
              <a:t>However, your service line will provide the specifics about your role and your job. </a:t>
            </a:r>
          </a:p>
          <a:p>
            <a:r>
              <a:rPr lang="en-US" dirty="0"/>
              <a:t>As an organization, we want to invest in you, give you consistent content globally, let you meet other new hires across service lines and meet some of our leaders.</a:t>
            </a:r>
          </a:p>
        </p:txBody>
      </p:sp>
      <p:sp>
        <p:nvSpPr>
          <p:cNvPr id="4" name="Slide Number Placeholder 3"/>
          <p:cNvSpPr>
            <a:spLocks noGrp="1"/>
          </p:cNvSpPr>
          <p:nvPr>
            <p:ph type="sldNum" sz="quarter" idx="10"/>
          </p:nvPr>
        </p:nvSpPr>
        <p:spPr/>
        <p:txBody>
          <a:bodyPr/>
          <a:lstStyle/>
          <a:p>
            <a:fld id="{AEA1FA17-B5DB-481C-8402-B3CAE17DEC83}" type="slidenum">
              <a:rPr lang="el-GR" smtClean="0"/>
              <a:pPr/>
              <a:t>1</a:t>
            </a:fld>
            <a:endParaRPr lang="el-GR"/>
          </a:p>
        </p:txBody>
      </p:sp>
    </p:spTree>
    <p:extLst>
      <p:ext uri="{BB962C8B-B14F-4D97-AF65-F5344CB8AC3E}">
        <p14:creationId xmlns:p14="http://schemas.microsoft.com/office/powerpoint/2010/main" val="2251393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235428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467764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549521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77588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273976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240222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669993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914949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131616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884638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9568266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813807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665627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140875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928150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646415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1069091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074079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6001842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5772033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0353164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4133750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4976080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2288778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7278159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8126828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7171127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0679148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6185097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7570022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0008243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9898410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467521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5852721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6141373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2756151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1678196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9591711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1848144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1577781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8074073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9863915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7105657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4924799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0091714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7453099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2201663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6061890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8011894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7003199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69816560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3061891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21571889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718501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65393220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6604140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75350124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08854332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7493195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30630827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8523324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3932439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1211139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11439356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17749205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14360986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7376538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62734694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38804338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59250373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7514540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0025075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40954160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79255556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79889004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05755942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63626474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16073698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13657699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30397114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30409299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34296369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80510884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51817647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65063371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77757233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35025439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57979629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86728282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5164384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76069343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52535818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65859773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86558663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12983842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68672000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99587249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96971410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10736886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51675246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5953775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pic>
        <p:nvPicPr>
          <p:cNvPr id="9" name="Picture 2"/>
          <p:cNvPicPr>
            <a:picLocks noChangeAspect="1" noChangeArrowheads="1"/>
          </p:cNvPicPr>
          <p:nvPr userDrawn="1"/>
        </p:nvPicPr>
        <p:blipFill>
          <a:blip r:embed="rId2" cstate="print"/>
          <a:srcRect/>
          <a:stretch>
            <a:fillRect/>
          </a:stretch>
        </p:blipFill>
        <p:spPr bwMode="auto">
          <a:xfrm>
            <a:off x="3028346" y="5747990"/>
            <a:ext cx="1311311" cy="745200"/>
          </a:xfrm>
          <a:prstGeom prst="rect">
            <a:avLst/>
          </a:prstGeom>
          <a:noFill/>
          <a:ln w="9525">
            <a:noFill/>
            <a:miter lim="800000"/>
            <a:headEnd/>
            <a:tailEnd/>
          </a:ln>
          <a:effectLst/>
        </p:spPr>
      </p:pic>
      <p:sp>
        <p:nvSpPr>
          <p:cNvPr id="2" name="Title 1"/>
          <p:cNvSpPr>
            <a:spLocks noGrp="1"/>
          </p:cNvSpPr>
          <p:nvPr>
            <p:ph type="ctrTitle"/>
          </p:nvPr>
        </p:nvSpPr>
        <p:spPr>
          <a:xfrm>
            <a:off x="3110400" y="725348"/>
            <a:ext cx="7320000" cy="860400"/>
          </a:xfrm>
        </p:spPr>
        <p:txBody>
          <a:bodyPr/>
          <a:lstStyle/>
          <a:p>
            <a:r>
              <a:rPr lang="en-US"/>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1032" name="Freeform 8"/>
          <p:cNvSpPr>
            <a:spLocks/>
          </p:cNvSpPr>
          <p:nvPr userDrawn="1"/>
        </p:nvSpPr>
        <p:spPr bwMode="gray">
          <a:xfrm>
            <a:off x="3030963" y="2405085"/>
            <a:ext cx="9161037" cy="249522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0" name="Freeform 9"/>
          <p:cNvSpPr/>
          <p:nvPr userDrawn="1"/>
        </p:nvSpPr>
        <p:spPr>
          <a:xfrm>
            <a:off x="-12192" y="4411264"/>
            <a:ext cx="3048000" cy="1318973"/>
          </a:xfrm>
          <a:custGeom>
            <a:avLst/>
            <a:gdLst>
              <a:gd name="connsiteX0" fmla="*/ 0 w 2286000"/>
              <a:gd name="connsiteY0" fmla="*/ 1318973 h 1318973"/>
              <a:gd name="connsiteX1" fmla="*/ 0 w 2286000"/>
              <a:gd name="connsiteY1" fmla="*/ 0 h 1318973"/>
              <a:gd name="connsiteX2" fmla="*/ 2286000 w 2286000"/>
              <a:gd name="connsiteY2" fmla="*/ 486803 h 1318973"/>
              <a:gd name="connsiteX3" fmla="*/ 0 w 2286000"/>
              <a:gd name="connsiteY3" fmla="*/ 1318973 h 1318973"/>
            </a:gdLst>
            <a:ahLst/>
            <a:cxnLst>
              <a:cxn ang="0">
                <a:pos x="connsiteX0" y="connsiteY0"/>
              </a:cxn>
              <a:cxn ang="0">
                <a:pos x="connsiteX1" y="connsiteY1"/>
              </a:cxn>
              <a:cxn ang="0">
                <a:pos x="connsiteX2" y="connsiteY2"/>
              </a:cxn>
              <a:cxn ang="0">
                <a:pos x="connsiteX3" y="connsiteY3"/>
              </a:cxn>
            </a:cxnLst>
            <a:rect l="l" t="t" r="r" b="b"/>
            <a:pathLst>
              <a:path w="2286000" h="1318973">
                <a:moveTo>
                  <a:pt x="0" y="1318973"/>
                </a:moveTo>
                <a:lnTo>
                  <a:pt x="0" y="0"/>
                </a:lnTo>
                <a:lnTo>
                  <a:pt x="2286000" y="486803"/>
                </a:lnTo>
                <a:lnTo>
                  <a:pt x="0" y="1318973"/>
                </a:lnTo>
                <a:close/>
              </a:path>
            </a:pathLst>
          </a:custGeom>
          <a:blipFill>
            <a:blip r:embed="rId3" cstate="prin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000000"/>
              </a:solidFill>
            </a:endParaRPr>
          </a:p>
        </p:txBody>
      </p:sp>
      <p:pic>
        <p:nvPicPr>
          <p:cNvPr id="11" name="Picture 10" descr="EYU_identifier_r100_g100_b100.png"/>
          <p:cNvPicPr>
            <a:picLocks noChangeAspect="1"/>
          </p:cNvPicPr>
          <p:nvPr userDrawn="1"/>
        </p:nvPicPr>
        <p:blipFill>
          <a:blip r:embed="rId4" cstate="print"/>
          <a:stretch>
            <a:fillRect/>
          </a:stretch>
        </p:blipFill>
        <p:spPr>
          <a:xfrm>
            <a:off x="406400" y="304800"/>
            <a:ext cx="1170432" cy="760782"/>
          </a:xfrm>
          <a:prstGeom prst="rect">
            <a:avLst/>
          </a:prstGeom>
        </p:spPr>
      </p:pic>
    </p:spTree>
    <p:extLst>
      <p:ext uri="{BB962C8B-B14F-4D97-AF65-F5344CB8AC3E}">
        <p14:creationId xmlns:p14="http://schemas.microsoft.com/office/powerpoint/2010/main" val="88081197"/>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37592751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dirty="0"/>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63081519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609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a:xfrm>
            <a:off x="3451200" y="6323013"/>
            <a:ext cx="4579200" cy="201600"/>
          </a:xfrm>
        </p:spPr>
        <p:txBody>
          <a:bodyPr/>
          <a:lstStyle/>
          <a:p>
            <a:r>
              <a:rPr lang="en-GB">
                <a:solidFill>
                  <a:srgbClr val="808080"/>
                </a:solidFill>
              </a:rPr>
              <a:t>Presentation title</a:t>
            </a:r>
            <a:endParaRPr lang="en-GB" dirty="0">
              <a:solidFill>
                <a:srgbClr val="808080"/>
              </a:solidFill>
            </a:endParaRP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2"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24104969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609600" y="2196001"/>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201600" y="2178000"/>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0" name="Text Placeholder 9"/>
          <p:cNvSpPr>
            <a:spLocks noGrp="1"/>
          </p:cNvSpPr>
          <p:nvPr>
            <p:ph type="body" sz="quarter" idx="12"/>
          </p:nvPr>
        </p:nvSpPr>
        <p:spPr>
          <a:xfrm>
            <a:off x="609600" y="1490400"/>
            <a:ext cx="5390400" cy="640800"/>
          </a:xfrm>
        </p:spPr>
        <p:txBody>
          <a:bodyPr anchor="b" anchorCtr="0"/>
          <a:lstStyle>
            <a:lvl1pPr>
              <a:buNone/>
              <a:defRPr b="1"/>
            </a:lvl1pPr>
          </a:lstStyle>
          <a:p>
            <a:pPr lvl="0"/>
            <a:r>
              <a:rPr lang="en-US"/>
              <a:t>Click to edit Master text styles</a:t>
            </a:r>
          </a:p>
        </p:txBody>
      </p:sp>
      <p:sp>
        <p:nvSpPr>
          <p:cNvPr id="11" name="Text Placeholder 9"/>
          <p:cNvSpPr>
            <a:spLocks noGrp="1"/>
          </p:cNvSpPr>
          <p:nvPr>
            <p:ph type="body" sz="quarter" idx="13"/>
          </p:nvPr>
        </p:nvSpPr>
        <p:spPr>
          <a:xfrm>
            <a:off x="6201600" y="1490400"/>
            <a:ext cx="5390400" cy="640800"/>
          </a:xfrm>
        </p:spPr>
        <p:txBody>
          <a:bodyPr anchor="b" anchorCtr="0"/>
          <a:lstStyle>
            <a:lvl1pPr>
              <a:buNone/>
              <a:defRPr b="1"/>
            </a:lvl1pPr>
          </a:lstStyle>
          <a:p>
            <a:pPr lvl="0"/>
            <a:r>
              <a:rPr lang="en-US"/>
              <a:t>Click to edit Master text styles</a:t>
            </a:r>
          </a:p>
        </p:txBody>
      </p:sp>
      <p:sp>
        <p:nvSpPr>
          <p:cNvPr id="9"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97339116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3" name="Text Placeholder 2"/>
          <p:cNvSpPr>
            <a:spLocks noGrp="1"/>
          </p:cNvSpPr>
          <p:nvPr>
            <p:ph type="body" sz="quarter" idx="11"/>
          </p:nvPr>
        </p:nvSpPr>
        <p:spPr>
          <a:xfrm>
            <a:off x="607485" y="1025526"/>
            <a:ext cx="109728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96772635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3077" name="Freeform 5"/>
          <p:cNvSpPr>
            <a:spLocks/>
          </p:cNvSpPr>
          <p:nvPr userDrawn="1"/>
        </p:nvSpPr>
        <p:spPr bwMode="gray">
          <a:xfrm>
            <a:off x="609600" y="1039814"/>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1899230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4101"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260905094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pic>
        <p:nvPicPr>
          <p:cNvPr id="6" name="Picture 2"/>
          <p:cNvPicPr>
            <a:picLocks noChangeAspect="1" noChangeArrowheads="1"/>
          </p:cNvPicPr>
          <p:nvPr userDrawn="1"/>
        </p:nvPicPr>
        <p:blipFill>
          <a:blip r:embed="rId2" cstate="print"/>
          <a:srcRect/>
          <a:stretch>
            <a:fillRect/>
          </a:stretch>
        </p:blipFill>
        <p:spPr bwMode="auto">
          <a:xfrm>
            <a:off x="609601" y="1044000"/>
            <a:ext cx="10967399" cy="5184000"/>
          </a:xfrm>
          <a:prstGeom prst="rect">
            <a:avLst/>
          </a:prstGeom>
          <a:noFill/>
          <a:ln w="9525">
            <a:noFill/>
            <a:miter lim="800000"/>
            <a:headEnd/>
            <a:tailEnd/>
          </a:ln>
          <a:effectLst/>
        </p:spPr>
      </p:pic>
    </p:spTree>
    <p:extLst>
      <p:ext uri="{BB962C8B-B14F-4D97-AF65-F5344CB8AC3E}">
        <p14:creationId xmlns:p14="http://schemas.microsoft.com/office/powerpoint/2010/main" val="232377379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Tree>
    <p:extLst>
      <p:ext uri="{BB962C8B-B14F-4D97-AF65-F5344CB8AC3E}">
        <p14:creationId xmlns:p14="http://schemas.microsoft.com/office/powerpoint/2010/main" val="233367941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inal legal text">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
        <p:nvSpPr>
          <p:cNvPr id="8" name="Content Placeholder 2"/>
          <p:cNvSpPr>
            <a:spLocks noGrp="1"/>
          </p:cNvSpPr>
          <p:nvPr>
            <p:ph idx="1"/>
          </p:nvPr>
        </p:nvSpPr>
        <p:spPr>
          <a:xfrm>
            <a:off x="607483" y="719139"/>
            <a:ext cx="4675200"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05949770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05645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3110400" y="777600"/>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a:p>
            <a:pPr lvl="1"/>
            <a:endParaRPr lang="en-GB" dirty="0"/>
          </a:p>
        </p:txBody>
      </p:sp>
      <p:pic>
        <p:nvPicPr>
          <p:cNvPr id="11" name="Picture 2"/>
          <p:cNvPicPr>
            <a:picLocks noChangeAspect="1" noChangeArrowheads="1"/>
          </p:cNvPicPr>
          <p:nvPr userDrawn="1"/>
        </p:nvPicPr>
        <p:blipFill>
          <a:blip r:embed="rId2" cstate="print"/>
          <a:srcRect/>
          <a:stretch>
            <a:fillRect/>
          </a:stretch>
        </p:blipFill>
        <p:spPr bwMode="auto">
          <a:xfrm>
            <a:off x="3029257" y="5745156"/>
            <a:ext cx="1311311" cy="745200"/>
          </a:xfrm>
          <a:prstGeom prst="rect">
            <a:avLst/>
          </a:prstGeom>
          <a:noFill/>
          <a:ln w="9525">
            <a:noFill/>
            <a:miter lim="800000"/>
            <a:headEnd/>
            <a:tailEnd/>
          </a:ln>
          <a:effectLst/>
        </p:spPr>
      </p:pic>
      <p:grpSp>
        <p:nvGrpSpPr>
          <p:cNvPr id="10" name="Group 9"/>
          <p:cNvGrpSpPr/>
          <p:nvPr userDrawn="1"/>
        </p:nvGrpSpPr>
        <p:grpSpPr>
          <a:xfrm>
            <a:off x="-1407" y="2405319"/>
            <a:ext cx="12193405" cy="3346232"/>
            <a:chOff x="-1055" y="2405319"/>
            <a:chExt cx="9145054" cy="3346232"/>
          </a:xfrm>
        </p:grpSpPr>
        <p:sp>
          <p:nvSpPr>
            <p:cNvPr id="9" name="Freeform 8"/>
            <p:cNvSpPr>
              <a:spLocks/>
            </p:cNvSpPr>
            <p:nvPr userDrawn="1"/>
          </p:nvSpPr>
          <p:spPr bwMode="gray">
            <a:xfrm>
              <a:off x="2273866" y="2405319"/>
              <a:ext cx="6870133" cy="2494990"/>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pic>
          <p:nvPicPr>
            <p:cNvPr id="14" name="Picture 3"/>
            <p:cNvPicPr>
              <a:picLocks noChangeAspect="1" noChangeArrowheads="1"/>
            </p:cNvPicPr>
            <p:nvPr userDrawn="1"/>
          </p:nvPicPr>
          <p:blipFill>
            <a:blip r:embed="rId3" cstate="print"/>
            <a:srcRect/>
            <a:stretch>
              <a:fillRect/>
            </a:stretch>
          </p:blipFill>
          <p:spPr bwMode="auto">
            <a:xfrm>
              <a:off x="-1055" y="4411633"/>
              <a:ext cx="2285060" cy="1339918"/>
            </a:xfrm>
            <a:prstGeom prst="rect">
              <a:avLst/>
            </a:prstGeom>
            <a:noFill/>
            <a:ln w="9525">
              <a:noFill/>
              <a:miter lim="800000"/>
              <a:headEnd/>
              <a:tailEnd/>
            </a:ln>
            <a:effectLst/>
          </p:spPr>
        </p:pic>
      </p:grpSp>
    </p:spTree>
    <p:extLst>
      <p:ext uri="{BB962C8B-B14F-4D97-AF65-F5344CB8AC3E}">
        <p14:creationId xmlns:p14="http://schemas.microsoft.com/office/powerpoint/2010/main" val="342787410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Cover_photo_or_illustration_input">
    <p:spTree>
      <p:nvGrpSpPr>
        <p:cNvPr id="1" name=""/>
        <p:cNvGrpSpPr/>
        <p:nvPr/>
      </p:nvGrpSpPr>
      <p:grpSpPr>
        <a:xfrm>
          <a:off x="0" y="0"/>
          <a:ext cx="0" cy="0"/>
          <a:chOff x="0" y="0"/>
          <a:chExt cx="0" cy="0"/>
        </a:xfrm>
      </p:grpSpPr>
      <p:sp>
        <p:nvSpPr>
          <p:cNvPr id="2" name="Title 1"/>
          <p:cNvSpPr>
            <a:spLocks noGrp="1"/>
          </p:cNvSpPr>
          <p:nvPr>
            <p:ph type="ctrTitle"/>
          </p:nvPr>
        </p:nvSpPr>
        <p:spPr>
          <a:xfrm>
            <a:off x="3110400" y="777600"/>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a:p>
            <a:pPr lvl="1"/>
            <a:endParaRPr lang="en-GB" dirty="0"/>
          </a:p>
        </p:txBody>
      </p:sp>
      <p:sp>
        <p:nvSpPr>
          <p:cNvPr id="9" name="Freeform 8"/>
          <p:cNvSpPr>
            <a:spLocks/>
          </p:cNvSpPr>
          <p:nvPr userDrawn="1"/>
        </p:nvSpPr>
        <p:spPr bwMode="gray">
          <a:xfrm>
            <a:off x="3031822" y="2405319"/>
            <a:ext cx="9160177" cy="2494990"/>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7" name="Freeform 6"/>
          <p:cNvSpPr/>
          <p:nvPr userDrawn="1"/>
        </p:nvSpPr>
        <p:spPr>
          <a:xfrm>
            <a:off x="-12192" y="3000376"/>
            <a:ext cx="3048000" cy="2729861"/>
          </a:xfrm>
          <a:custGeom>
            <a:avLst/>
            <a:gdLst>
              <a:gd name="connsiteX0" fmla="*/ 0 w 2286000"/>
              <a:gd name="connsiteY0" fmla="*/ 1318973 h 1318973"/>
              <a:gd name="connsiteX1" fmla="*/ 0 w 2286000"/>
              <a:gd name="connsiteY1" fmla="*/ 0 h 1318973"/>
              <a:gd name="connsiteX2" fmla="*/ 2286000 w 2286000"/>
              <a:gd name="connsiteY2" fmla="*/ 486803 h 1318973"/>
              <a:gd name="connsiteX3" fmla="*/ 0 w 2286000"/>
              <a:gd name="connsiteY3" fmla="*/ 1318973 h 1318973"/>
              <a:gd name="connsiteX0" fmla="*/ 0 w 2286000"/>
              <a:gd name="connsiteY0" fmla="*/ 2729861 h 2729861"/>
              <a:gd name="connsiteX1" fmla="*/ 9144 w 2286000"/>
              <a:gd name="connsiteY1" fmla="*/ 0 h 2729861"/>
              <a:gd name="connsiteX2" fmla="*/ 2286000 w 2286000"/>
              <a:gd name="connsiteY2" fmla="*/ 1897691 h 2729861"/>
              <a:gd name="connsiteX3" fmla="*/ 0 w 2286000"/>
              <a:gd name="connsiteY3" fmla="*/ 2729861 h 2729861"/>
            </a:gdLst>
            <a:ahLst/>
            <a:cxnLst>
              <a:cxn ang="0">
                <a:pos x="connsiteX0" y="connsiteY0"/>
              </a:cxn>
              <a:cxn ang="0">
                <a:pos x="connsiteX1" y="connsiteY1"/>
              </a:cxn>
              <a:cxn ang="0">
                <a:pos x="connsiteX2" y="connsiteY2"/>
              </a:cxn>
              <a:cxn ang="0">
                <a:pos x="connsiteX3" y="connsiteY3"/>
              </a:cxn>
            </a:cxnLst>
            <a:rect l="l" t="t" r="r" b="b"/>
            <a:pathLst>
              <a:path w="2286000" h="2729861">
                <a:moveTo>
                  <a:pt x="0" y="2729861"/>
                </a:moveTo>
                <a:lnTo>
                  <a:pt x="9144" y="0"/>
                </a:lnTo>
                <a:lnTo>
                  <a:pt x="2286000" y="1897691"/>
                </a:lnTo>
                <a:lnTo>
                  <a:pt x="0" y="2729861"/>
                </a:lnTo>
                <a:close/>
              </a:path>
            </a:pathLst>
          </a:custGeom>
          <a:blipFill>
            <a:blip r:embed="rId2" cstate="prin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000000"/>
              </a:solidFill>
            </a:endParaRPr>
          </a:p>
        </p:txBody>
      </p:sp>
      <p:sp>
        <p:nvSpPr>
          <p:cNvPr id="8" name="TextBox 7"/>
          <p:cNvSpPr txBox="1"/>
          <p:nvPr userDrawn="1"/>
        </p:nvSpPr>
        <p:spPr>
          <a:xfrm>
            <a:off x="87091" y="4047893"/>
            <a:ext cx="2381045" cy="664797"/>
          </a:xfrm>
          <a:prstGeom prst="rect">
            <a:avLst/>
          </a:prstGeom>
          <a:noFill/>
        </p:spPr>
        <p:txBody>
          <a:bodyPr wrap="square" lIns="0" tIns="36576" rIns="0" bIns="0" rtlCol="0">
            <a:spAutoFit/>
          </a:bodyPr>
          <a:lstStyle/>
          <a:p>
            <a:pPr>
              <a:lnSpc>
                <a:spcPct val="85000"/>
              </a:lnSpc>
              <a:spcAft>
                <a:spcPts val="600"/>
              </a:spcAft>
              <a:buClr>
                <a:srgbClr val="FFD200"/>
              </a:buClr>
              <a:buSzPct val="70000"/>
            </a:pPr>
            <a:r>
              <a:rPr lang="en-US" sz="1600" b="1" dirty="0">
                <a:solidFill>
                  <a:srgbClr val="FFD200"/>
                </a:solidFill>
              </a:rPr>
              <a:t>Placeholder image — to replace this image, select View&gt;Notes Page</a:t>
            </a:r>
          </a:p>
        </p:txBody>
      </p:sp>
    </p:spTree>
    <p:extLst>
      <p:ext uri="{BB962C8B-B14F-4D97-AF65-F5344CB8AC3E}">
        <p14:creationId xmlns:p14="http://schemas.microsoft.com/office/powerpoint/2010/main" val="164740702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4" name="Rectangle 3"/>
          <p:cNvSpPr/>
          <p:nvPr userDrawn="1"/>
        </p:nvSpPr>
        <p:spPr>
          <a:xfrm>
            <a:off x="11064552" y="6415200"/>
            <a:ext cx="576064" cy="326168"/>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2" name="Title 1"/>
          <p:cNvSpPr>
            <a:spLocks noGrp="1"/>
          </p:cNvSpPr>
          <p:nvPr>
            <p:ph type="title" hasCustomPrompt="1"/>
          </p:nvPr>
        </p:nvSpPr>
        <p:spPr/>
        <p:txBody>
          <a:bodyPr/>
          <a:lstStyle>
            <a:lvl1pPr>
              <a:defRPr>
                <a:latin typeface="Armata"/>
              </a:defRPr>
            </a:lvl1pPr>
          </a:lstStyle>
          <a:p>
            <a:br>
              <a:rPr lang="en-US" dirty="0"/>
            </a:br>
            <a:r>
              <a:rPr lang="en-US" dirty="0"/>
              <a:t>Click to edit Master title style</a:t>
            </a:r>
            <a:endParaRPr lang="en-GB" dirty="0"/>
          </a:p>
        </p:txBody>
      </p:sp>
      <p:sp>
        <p:nvSpPr>
          <p:cNvPr id="3" name="Content Placeholder 2"/>
          <p:cNvSpPr>
            <a:spLocks noGrp="1"/>
          </p:cNvSpPr>
          <p:nvPr>
            <p:ph idx="1"/>
          </p:nvPr>
        </p:nvSpPr>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vl2pPr>
              <a:defRPr>
                <a:latin typeface="Open Sans" panose="020B0606030504020204" pitchFamily="34" charset="0"/>
                <a:ea typeface="Open Sans" panose="020B0606030504020204" pitchFamily="34" charset="0"/>
                <a:cs typeface="Open Sans" panose="020B0606030504020204" pitchFamily="34" charset="0"/>
              </a:defRPr>
            </a:lvl2pPr>
            <a:lvl3pPr>
              <a:defRPr>
                <a:latin typeface="Open Sans" panose="020B0606030504020204" pitchFamily="34" charset="0"/>
                <a:ea typeface="Open Sans" panose="020B0606030504020204" pitchFamily="34" charset="0"/>
                <a:cs typeface="Open Sans" panose="020B0606030504020204" pitchFamily="34" charset="0"/>
              </a:defRPr>
            </a:lvl3pPr>
            <a:lvl4pPr>
              <a:defRPr>
                <a:latin typeface="Open Sans" panose="020B0606030504020204" pitchFamily="34" charset="0"/>
                <a:ea typeface="Open Sans" panose="020B0606030504020204" pitchFamily="34" charset="0"/>
                <a:cs typeface="Open Sans" panose="020B0606030504020204" pitchFamily="34" charset="0"/>
              </a:defRPr>
            </a:lvl4pPr>
            <a:lvl5pPr>
              <a:defRPr>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28020077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40375283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09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2"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78108285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09600" y="2196001"/>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201600" y="2178000"/>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0" name="Text Placeholder 9"/>
          <p:cNvSpPr>
            <a:spLocks noGrp="1"/>
          </p:cNvSpPr>
          <p:nvPr>
            <p:ph type="body" sz="quarter" idx="12"/>
          </p:nvPr>
        </p:nvSpPr>
        <p:spPr>
          <a:xfrm>
            <a:off x="609600" y="1490400"/>
            <a:ext cx="5390400" cy="640800"/>
          </a:xfrm>
        </p:spPr>
        <p:txBody>
          <a:bodyPr anchor="b" anchorCtr="0"/>
          <a:lstStyle>
            <a:lvl1pPr>
              <a:buNone/>
              <a:defRPr b="1"/>
            </a:lvl1pPr>
          </a:lstStyle>
          <a:p>
            <a:pPr lvl="0"/>
            <a:endParaRPr lang="en-GB" dirty="0"/>
          </a:p>
        </p:txBody>
      </p:sp>
      <p:sp>
        <p:nvSpPr>
          <p:cNvPr id="11" name="Text Placeholder 9"/>
          <p:cNvSpPr>
            <a:spLocks noGrp="1"/>
          </p:cNvSpPr>
          <p:nvPr>
            <p:ph type="body" sz="quarter" idx="13"/>
          </p:nvPr>
        </p:nvSpPr>
        <p:spPr>
          <a:xfrm>
            <a:off x="6201600" y="1490400"/>
            <a:ext cx="5390400" cy="640800"/>
          </a:xfrm>
        </p:spPr>
        <p:txBody>
          <a:bodyPr anchor="b" anchorCtr="0"/>
          <a:lstStyle>
            <a:lvl1pPr>
              <a:buNone/>
              <a:defRPr b="1"/>
            </a:lvl1pPr>
          </a:lstStyle>
          <a:p>
            <a:pPr lvl="0"/>
            <a:endParaRPr lang="en-GB" dirty="0"/>
          </a:p>
        </p:txBody>
      </p:sp>
      <p:sp>
        <p:nvSpPr>
          <p:cNvPr id="9"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706134033"/>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3" name="Text Placeholder 2"/>
          <p:cNvSpPr>
            <a:spLocks noGrp="1"/>
          </p:cNvSpPr>
          <p:nvPr>
            <p:ph type="body" sz="quarter" idx="11"/>
          </p:nvPr>
        </p:nvSpPr>
        <p:spPr>
          <a:xfrm>
            <a:off x="607485" y="1025526"/>
            <a:ext cx="109728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87002497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6" name="Freeform 5"/>
          <p:cNvSpPr>
            <a:spLocks/>
          </p:cNvSpPr>
          <p:nvPr userDrawn="1"/>
        </p:nvSpPr>
        <p:spPr bwMode="gray">
          <a:xfrm>
            <a:off x="609600" y="1029601"/>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27486729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6"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3692518449"/>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pic>
        <p:nvPicPr>
          <p:cNvPr id="7" name="Picture 2"/>
          <p:cNvPicPr>
            <a:picLocks noChangeAspect="1" noChangeArrowheads="1"/>
          </p:cNvPicPr>
          <p:nvPr userDrawn="1"/>
        </p:nvPicPr>
        <p:blipFill>
          <a:blip r:embed="rId2" cstate="print"/>
          <a:srcRect/>
          <a:stretch>
            <a:fillRect/>
          </a:stretch>
        </p:blipFill>
        <p:spPr bwMode="auto">
          <a:xfrm>
            <a:off x="609601" y="1044000"/>
            <a:ext cx="10967399" cy="5184000"/>
          </a:xfrm>
          <a:prstGeom prst="rect">
            <a:avLst/>
          </a:prstGeom>
          <a:noFill/>
          <a:ln w="9525">
            <a:noFill/>
            <a:miter lim="800000"/>
            <a:headEnd/>
            <a:tailEnd/>
          </a:ln>
          <a:effectLst/>
        </p:spPr>
      </p:pic>
    </p:spTree>
    <p:extLst>
      <p:ext uri="{BB962C8B-B14F-4D97-AF65-F5344CB8AC3E}">
        <p14:creationId xmlns:p14="http://schemas.microsoft.com/office/powerpoint/2010/main" val="107711881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5"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blipFill dpi="0" rotWithShape="1">
            <a:blip r:embed="rId2" cstate="print"/>
            <a:srcRect/>
            <a:stretch>
              <a:fillRect/>
            </a:stretch>
          </a:bli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215887933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Tree>
    <p:extLst>
      <p:ext uri="{BB962C8B-B14F-4D97-AF65-F5344CB8AC3E}">
        <p14:creationId xmlns:p14="http://schemas.microsoft.com/office/powerpoint/2010/main" val="4027859439"/>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inal legal text">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
        <p:nvSpPr>
          <p:cNvPr id="8" name="Content Placeholder 2"/>
          <p:cNvSpPr>
            <a:spLocks noGrp="1"/>
          </p:cNvSpPr>
          <p:nvPr>
            <p:ph idx="1"/>
          </p:nvPr>
        </p:nvSpPr>
        <p:spPr>
          <a:xfrm>
            <a:off x="607483" y="719139"/>
            <a:ext cx="4675200"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0231028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13430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cSld name="Line divider 3">
    <p:spTree>
      <p:nvGrpSpPr>
        <p:cNvPr id="1" name=""/>
        <p:cNvGrpSpPr/>
        <p:nvPr/>
      </p:nvGrpSpPr>
      <p:grpSpPr>
        <a:xfrm>
          <a:off x="0" y="0"/>
          <a:ext cx="0" cy="0"/>
          <a:chOff x="0" y="0"/>
          <a:chExt cx="0" cy="0"/>
        </a:xfrm>
      </p:grpSpPr>
      <p:sp>
        <p:nvSpPr>
          <p:cNvPr id="5" name="Rectangle 4"/>
          <p:cNvSpPr/>
          <p:nvPr userDrawn="1"/>
        </p:nvSpPr>
        <p:spPr>
          <a:xfrm>
            <a:off x="508000" y="6019800"/>
            <a:ext cx="11277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646464"/>
              </a:solidFill>
            </a:endParaRPr>
          </a:p>
        </p:txBody>
      </p:sp>
      <p:sp>
        <p:nvSpPr>
          <p:cNvPr id="4" name="Rectangle 3"/>
          <p:cNvSpPr/>
          <p:nvPr userDrawn="1"/>
        </p:nvSpPr>
        <p:spPr>
          <a:xfrm>
            <a:off x="508000" y="914400"/>
            <a:ext cx="11277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646464"/>
              </a:solidFill>
            </a:endParaRPr>
          </a:p>
        </p:txBody>
      </p:sp>
      <p:sp>
        <p:nvSpPr>
          <p:cNvPr id="2" name="Title 1"/>
          <p:cNvSpPr>
            <a:spLocks noGrp="1"/>
          </p:cNvSpPr>
          <p:nvPr>
            <p:ph type="title"/>
          </p:nvPr>
        </p:nvSpPr>
        <p:spPr/>
        <p:txBody>
          <a:bodyPr/>
          <a:lstStyle>
            <a:lvl1pPr>
              <a:defRPr>
                <a:solidFill>
                  <a:schemeClr val="bg1"/>
                </a:solidFill>
              </a:defRPr>
            </a:lvl1pPr>
          </a:lstStyle>
          <a:p>
            <a:r>
              <a:rPr lang="en-US" noProof="0"/>
              <a:t>Click to edit Master title style</a:t>
            </a:r>
          </a:p>
        </p:txBody>
      </p:sp>
      <p:pic>
        <p:nvPicPr>
          <p:cNvPr id="7" name="Picture 13" descr="PPTbackground_3_HANDOUT"/>
          <p:cNvPicPr>
            <a:picLocks noChangeAspect="1" noChangeArrowheads="1"/>
          </p:cNvPicPr>
          <p:nvPr userDrawn="1"/>
        </p:nvPicPr>
        <p:blipFill>
          <a:blip r:embed="rId2" cstate="print"/>
          <a:srcRect/>
          <a:stretch>
            <a:fillRect/>
          </a:stretch>
        </p:blipFill>
        <p:spPr bwMode="auto">
          <a:xfrm>
            <a:off x="637117" y="1023938"/>
            <a:ext cx="10945283" cy="5222875"/>
          </a:xfrm>
          <a:prstGeom prst="rect">
            <a:avLst/>
          </a:prstGeom>
          <a:noFill/>
        </p:spPr>
      </p:pic>
    </p:spTree>
    <p:extLst>
      <p:ext uri="{BB962C8B-B14F-4D97-AF65-F5344CB8AC3E}">
        <p14:creationId xmlns:p14="http://schemas.microsoft.com/office/powerpoint/2010/main" val="202299850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Footer Placeholder 2"/>
          <p:cNvSpPr>
            <a:spLocks noGrp="1"/>
          </p:cNvSpPr>
          <p:nvPr>
            <p:ph type="ftr" sz="quarter" idx="10"/>
          </p:nvPr>
        </p:nvSpPr>
        <p:spPr/>
        <p:txBody>
          <a:bodyPr/>
          <a:lstStyle/>
          <a:p>
            <a:r>
              <a:rPr lang="en-GB">
                <a:solidFill>
                  <a:srgbClr val="808080"/>
                </a:solidFill>
              </a:rPr>
              <a:t>HELPE Information Security</a:t>
            </a:r>
            <a:endParaRPr lang="en-GB" dirty="0">
              <a:solidFill>
                <a:srgbClr val="808080"/>
              </a:solidFill>
            </a:endParaRPr>
          </a:p>
        </p:txBody>
      </p:sp>
      <p:sp>
        <p:nvSpPr>
          <p:cNvPr id="5" name="Freeform 4"/>
          <p:cNvSpPr/>
          <p:nvPr userDrawn="1"/>
        </p:nvSpPr>
        <p:spPr bwMode="gray">
          <a:xfrm flipH="1">
            <a:off x="2" y="2614613"/>
            <a:ext cx="11280479" cy="1498600"/>
          </a:xfrm>
          <a:custGeom>
            <a:avLst/>
            <a:gdLst>
              <a:gd name="connsiteX0" fmla="*/ 85725 w 7705725"/>
              <a:gd name="connsiteY0" fmla="*/ 0 h 1704975"/>
              <a:gd name="connsiteX1" fmla="*/ 7705725 w 7705725"/>
              <a:gd name="connsiteY1" fmla="*/ 0 h 1704975"/>
              <a:gd name="connsiteX2" fmla="*/ 7705725 w 7705725"/>
              <a:gd name="connsiteY2" fmla="*/ 1704975 h 1704975"/>
              <a:gd name="connsiteX3" fmla="*/ 0 w 7705725"/>
              <a:gd name="connsiteY3" fmla="*/ 1704975 h 1704975"/>
              <a:gd name="connsiteX4" fmla="*/ 85725 w 7705725"/>
              <a:gd name="connsiteY4" fmla="*/ 0 h 1704975"/>
              <a:gd name="connsiteX0" fmla="*/ 0 w 7620000"/>
              <a:gd name="connsiteY0" fmla="*/ 0 h 1705429"/>
              <a:gd name="connsiteX1" fmla="*/ 7620000 w 7620000"/>
              <a:gd name="connsiteY1" fmla="*/ 0 h 1705429"/>
              <a:gd name="connsiteX2" fmla="*/ 7620000 w 7620000"/>
              <a:gd name="connsiteY2" fmla="*/ 1704975 h 1705429"/>
              <a:gd name="connsiteX3" fmla="*/ 329085 w 7620000"/>
              <a:gd name="connsiteY3" fmla="*/ 1705429 h 1705429"/>
              <a:gd name="connsiteX4" fmla="*/ 0 w 7620000"/>
              <a:gd name="connsiteY4" fmla="*/ 0 h 1705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0" h="1705429">
                <a:moveTo>
                  <a:pt x="0" y="0"/>
                </a:moveTo>
                <a:lnTo>
                  <a:pt x="7620000" y="0"/>
                </a:lnTo>
                <a:lnTo>
                  <a:pt x="7620000" y="1704975"/>
                </a:lnTo>
                <a:lnTo>
                  <a:pt x="329085" y="1705429"/>
                </a:lnTo>
                <a:lnTo>
                  <a:pt x="0" y="0"/>
                </a:lnTo>
                <a:close/>
              </a:path>
            </a:pathLst>
          </a:custGeom>
          <a:solidFill>
            <a:srgbClr val="646464"/>
          </a:solidFill>
          <a:ln w="9525">
            <a:noFill/>
            <a:round/>
            <a:headEnd/>
            <a:tailEnd/>
          </a:ln>
        </p:spPr>
        <p:txBody>
          <a:bodyPr lIns="83962" tIns="41981" rIns="83962" bIns="41981"/>
          <a:lstStyle/>
          <a:p>
            <a:pPr eaLnBrk="0" fontAlgn="base" hangingPunct="0">
              <a:spcBef>
                <a:spcPct val="0"/>
              </a:spcBef>
              <a:spcAft>
                <a:spcPct val="0"/>
              </a:spcAft>
              <a:defRPr/>
            </a:pPr>
            <a:endParaRPr lang="en-GB" sz="700" dirty="0">
              <a:solidFill>
                <a:srgbClr val="000000"/>
              </a:solidFill>
            </a:endParaRPr>
          </a:p>
        </p:txBody>
      </p:sp>
      <p:sp>
        <p:nvSpPr>
          <p:cNvPr id="6" name="Text Placeholder 9"/>
          <p:cNvSpPr>
            <a:spLocks noGrp="1"/>
          </p:cNvSpPr>
          <p:nvPr>
            <p:ph type="body" sz="quarter" idx="11"/>
          </p:nvPr>
        </p:nvSpPr>
        <p:spPr bwMode="gray">
          <a:xfrm>
            <a:off x="729620" y="3080634"/>
            <a:ext cx="8097944" cy="708406"/>
          </a:xfrm>
          <a:prstGeom prst="rect">
            <a:avLst/>
          </a:prstGeom>
        </p:spPr>
        <p:txBody>
          <a:bodyPr lIns="83969" tIns="41985" rIns="83969" bIns="41985"/>
          <a:lstStyle>
            <a:lvl1pPr>
              <a:lnSpc>
                <a:spcPct val="90000"/>
              </a:lnSpc>
              <a:spcAft>
                <a:spcPts val="0"/>
              </a:spcAft>
              <a:buNone/>
              <a:defRPr lang="en-GB" sz="3100" b="1" kern="1200" dirty="0" smtClean="0">
                <a:solidFill>
                  <a:srgbClr val="FFD200"/>
                </a:solidFill>
                <a:latin typeface="+mj-lt"/>
                <a:ea typeface="+mn-ea"/>
                <a:cs typeface="Arial" charset="0"/>
              </a:defRPr>
            </a:lvl1pPr>
          </a:lstStyle>
          <a:p>
            <a:pPr lvl="0"/>
            <a:r>
              <a:rPr lang="en-US" dirty="0"/>
              <a:t>Click to edit Master text styles</a:t>
            </a:r>
          </a:p>
        </p:txBody>
      </p:sp>
      <p:sp>
        <p:nvSpPr>
          <p:cNvPr id="7" name="Text Placeholder 7"/>
          <p:cNvSpPr>
            <a:spLocks noGrp="1"/>
          </p:cNvSpPr>
          <p:nvPr>
            <p:ph type="body" sz="quarter" idx="12"/>
          </p:nvPr>
        </p:nvSpPr>
        <p:spPr bwMode="gray">
          <a:xfrm>
            <a:off x="733346" y="2800662"/>
            <a:ext cx="8094156" cy="254067"/>
          </a:xfrm>
          <a:prstGeom prst="rect">
            <a:avLst/>
          </a:prstGeom>
        </p:spPr>
        <p:txBody>
          <a:bodyPr wrap="none" lIns="83969" tIns="41985" rIns="83969" bIns="41985" anchor="ctr"/>
          <a:lstStyle>
            <a:lvl1pPr>
              <a:buNone/>
              <a:defRPr lang="en-US" sz="1500" b="1" kern="1200" dirty="0" smtClean="0">
                <a:solidFill>
                  <a:schemeClr val="tx2"/>
                </a:solidFill>
                <a:latin typeface="+mj-lt"/>
                <a:ea typeface="+mn-ea"/>
                <a:cs typeface="Arial" charset="0"/>
              </a:defRPr>
            </a:lvl1pPr>
          </a:lstStyle>
          <a:p>
            <a:pPr lvl="0"/>
            <a:r>
              <a:rPr lang="en-US" dirty="0"/>
              <a:t>Click to edit Master text styles</a:t>
            </a:r>
          </a:p>
        </p:txBody>
      </p:sp>
      <p:sp>
        <p:nvSpPr>
          <p:cNvPr id="4" name="Rectangle 3"/>
          <p:cNvSpPr/>
          <p:nvPr userDrawn="1"/>
        </p:nvSpPr>
        <p:spPr>
          <a:xfrm>
            <a:off x="10848528" y="6415200"/>
            <a:ext cx="936104" cy="326168"/>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200" dirty="0">
              <a:solidFill>
                <a:schemeClr val="tx1"/>
              </a:solidFill>
            </a:endParaRPr>
          </a:p>
        </p:txBody>
      </p:sp>
    </p:spTree>
    <p:extLst>
      <p:ext uri="{BB962C8B-B14F-4D97-AF65-F5344CB8AC3E}">
        <p14:creationId xmlns:p14="http://schemas.microsoft.com/office/powerpoint/2010/main" val="396168358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3110400" y="777600"/>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a:p>
            <a:pPr lvl="1"/>
            <a:endParaRPr lang="en-GB" dirty="0"/>
          </a:p>
        </p:txBody>
      </p:sp>
    </p:spTree>
    <p:extLst>
      <p:ext uri="{BB962C8B-B14F-4D97-AF65-F5344CB8AC3E}">
        <p14:creationId xmlns:p14="http://schemas.microsoft.com/office/powerpoint/2010/main" val="3822772199"/>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Cover_photo_or_illustration_input">
    <p:spTree>
      <p:nvGrpSpPr>
        <p:cNvPr id="1" name=""/>
        <p:cNvGrpSpPr/>
        <p:nvPr/>
      </p:nvGrpSpPr>
      <p:grpSpPr>
        <a:xfrm>
          <a:off x="0" y="0"/>
          <a:ext cx="0" cy="0"/>
          <a:chOff x="0" y="0"/>
          <a:chExt cx="0" cy="0"/>
        </a:xfrm>
      </p:grpSpPr>
      <p:sp>
        <p:nvSpPr>
          <p:cNvPr id="2" name="Title 1"/>
          <p:cNvSpPr>
            <a:spLocks noGrp="1"/>
          </p:cNvSpPr>
          <p:nvPr>
            <p:ph type="ctrTitle"/>
          </p:nvPr>
        </p:nvSpPr>
        <p:spPr>
          <a:xfrm>
            <a:off x="3110400" y="777600"/>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a:p>
            <a:pPr lvl="1"/>
            <a:endParaRPr lang="en-GB" dirty="0"/>
          </a:p>
        </p:txBody>
      </p:sp>
      <p:pic>
        <p:nvPicPr>
          <p:cNvPr id="11" name="Picture 2"/>
          <p:cNvPicPr>
            <a:picLocks noChangeAspect="1" noChangeArrowheads="1"/>
          </p:cNvPicPr>
          <p:nvPr userDrawn="1"/>
        </p:nvPicPr>
        <p:blipFill>
          <a:blip r:embed="rId2" cstate="print"/>
          <a:srcRect/>
          <a:stretch>
            <a:fillRect/>
          </a:stretch>
        </p:blipFill>
        <p:spPr bwMode="auto">
          <a:xfrm>
            <a:off x="3029257" y="5745156"/>
            <a:ext cx="1311311" cy="745200"/>
          </a:xfrm>
          <a:prstGeom prst="rect">
            <a:avLst/>
          </a:prstGeom>
          <a:noFill/>
          <a:ln w="9525">
            <a:noFill/>
            <a:miter lim="800000"/>
            <a:headEnd/>
            <a:tailEnd/>
          </a:ln>
          <a:effectLst/>
        </p:spPr>
      </p:pic>
      <p:sp>
        <p:nvSpPr>
          <p:cNvPr id="9" name="Freeform 8"/>
          <p:cNvSpPr>
            <a:spLocks/>
          </p:cNvSpPr>
          <p:nvPr userDrawn="1"/>
        </p:nvSpPr>
        <p:spPr bwMode="gray">
          <a:xfrm>
            <a:off x="3031822" y="2405319"/>
            <a:ext cx="9160177" cy="2494990"/>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7" name="Freeform 6"/>
          <p:cNvSpPr/>
          <p:nvPr userDrawn="1"/>
        </p:nvSpPr>
        <p:spPr>
          <a:xfrm>
            <a:off x="-12192" y="3000376"/>
            <a:ext cx="3048000" cy="2729861"/>
          </a:xfrm>
          <a:custGeom>
            <a:avLst/>
            <a:gdLst>
              <a:gd name="connsiteX0" fmla="*/ 0 w 2286000"/>
              <a:gd name="connsiteY0" fmla="*/ 1318973 h 1318973"/>
              <a:gd name="connsiteX1" fmla="*/ 0 w 2286000"/>
              <a:gd name="connsiteY1" fmla="*/ 0 h 1318973"/>
              <a:gd name="connsiteX2" fmla="*/ 2286000 w 2286000"/>
              <a:gd name="connsiteY2" fmla="*/ 486803 h 1318973"/>
              <a:gd name="connsiteX3" fmla="*/ 0 w 2286000"/>
              <a:gd name="connsiteY3" fmla="*/ 1318973 h 1318973"/>
              <a:gd name="connsiteX0" fmla="*/ 0 w 2286000"/>
              <a:gd name="connsiteY0" fmla="*/ 2729861 h 2729861"/>
              <a:gd name="connsiteX1" fmla="*/ 9144 w 2286000"/>
              <a:gd name="connsiteY1" fmla="*/ 0 h 2729861"/>
              <a:gd name="connsiteX2" fmla="*/ 2286000 w 2286000"/>
              <a:gd name="connsiteY2" fmla="*/ 1897691 h 2729861"/>
              <a:gd name="connsiteX3" fmla="*/ 0 w 2286000"/>
              <a:gd name="connsiteY3" fmla="*/ 2729861 h 2729861"/>
            </a:gdLst>
            <a:ahLst/>
            <a:cxnLst>
              <a:cxn ang="0">
                <a:pos x="connsiteX0" y="connsiteY0"/>
              </a:cxn>
              <a:cxn ang="0">
                <a:pos x="connsiteX1" y="connsiteY1"/>
              </a:cxn>
              <a:cxn ang="0">
                <a:pos x="connsiteX2" y="connsiteY2"/>
              </a:cxn>
              <a:cxn ang="0">
                <a:pos x="connsiteX3" y="connsiteY3"/>
              </a:cxn>
            </a:cxnLst>
            <a:rect l="l" t="t" r="r" b="b"/>
            <a:pathLst>
              <a:path w="2286000" h="2729861">
                <a:moveTo>
                  <a:pt x="0" y="2729861"/>
                </a:moveTo>
                <a:lnTo>
                  <a:pt x="9144" y="0"/>
                </a:lnTo>
                <a:lnTo>
                  <a:pt x="2286000" y="1897691"/>
                </a:lnTo>
                <a:lnTo>
                  <a:pt x="0" y="2729861"/>
                </a:lnTo>
                <a:close/>
              </a:path>
            </a:pathLst>
          </a:custGeom>
          <a:blipFill>
            <a:blip r:embed="rId3" cstate="prin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000000"/>
              </a:solidFill>
            </a:endParaRPr>
          </a:p>
        </p:txBody>
      </p:sp>
      <p:sp>
        <p:nvSpPr>
          <p:cNvPr id="8" name="TextBox 7"/>
          <p:cNvSpPr txBox="1"/>
          <p:nvPr userDrawn="1"/>
        </p:nvSpPr>
        <p:spPr>
          <a:xfrm>
            <a:off x="87091" y="4047893"/>
            <a:ext cx="2381045" cy="664797"/>
          </a:xfrm>
          <a:prstGeom prst="rect">
            <a:avLst/>
          </a:prstGeom>
          <a:noFill/>
        </p:spPr>
        <p:txBody>
          <a:bodyPr wrap="square" lIns="0" tIns="36576" rIns="0" bIns="0" rtlCol="0">
            <a:spAutoFit/>
          </a:bodyPr>
          <a:lstStyle/>
          <a:p>
            <a:pPr>
              <a:lnSpc>
                <a:spcPct val="85000"/>
              </a:lnSpc>
              <a:spcAft>
                <a:spcPts val="600"/>
              </a:spcAft>
              <a:buClr>
                <a:srgbClr val="FFD200"/>
              </a:buClr>
              <a:buSzPct val="70000"/>
            </a:pPr>
            <a:r>
              <a:rPr lang="en-US" sz="1600" b="1" dirty="0">
                <a:solidFill>
                  <a:srgbClr val="FFD200"/>
                </a:solidFill>
              </a:rPr>
              <a:t>Placeholder image — to replace this image, select View&gt;Notes Page</a:t>
            </a:r>
          </a:p>
        </p:txBody>
      </p:sp>
    </p:spTree>
    <p:extLst>
      <p:ext uri="{BB962C8B-B14F-4D97-AF65-F5344CB8AC3E}">
        <p14:creationId xmlns:p14="http://schemas.microsoft.com/office/powerpoint/2010/main" val="40215624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482250752"/>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96726504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09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2"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388815209"/>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09600" y="2196001"/>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201600" y="2178000"/>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0" name="Text Placeholder 9"/>
          <p:cNvSpPr>
            <a:spLocks noGrp="1"/>
          </p:cNvSpPr>
          <p:nvPr>
            <p:ph type="body" sz="quarter" idx="12"/>
          </p:nvPr>
        </p:nvSpPr>
        <p:spPr>
          <a:xfrm>
            <a:off x="609600" y="1490400"/>
            <a:ext cx="5390400" cy="640800"/>
          </a:xfrm>
        </p:spPr>
        <p:txBody>
          <a:bodyPr anchor="b" anchorCtr="0"/>
          <a:lstStyle>
            <a:lvl1pPr>
              <a:buNone/>
              <a:defRPr b="1"/>
            </a:lvl1pPr>
          </a:lstStyle>
          <a:p>
            <a:pPr lvl="0"/>
            <a:endParaRPr lang="en-GB" dirty="0"/>
          </a:p>
        </p:txBody>
      </p:sp>
      <p:sp>
        <p:nvSpPr>
          <p:cNvPr id="11" name="Text Placeholder 9"/>
          <p:cNvSpPr>
            <a:spLocks noGrp="1"/>
          </p:cNvSpPr>
          <p:nvPr>
            <p:ph type="body" sz="quarter" idx="13"/>
          </p:nvPr>
        </p:nvSpPr>
        <p:spPr>
          <a:xfrm>
            <a:off x="6201600" y="1490400"/>
            <a:ext cx="5390400" cy="640800"/>
          </a:xfrm>
        </p:spPr>
        <p:txBody>
          <a:bodyPr anchor="b" anchorCtr="0"/>
          <a:lstStyle>
            <a:lvl1pPr>
              <a:buNone/>
              <a:defRPr b="1"/>
            </a:lvl1pPr>
          </a:lstStyle>
          <a:p>
            <a:pPr lvl="0"/>
            <a:endParaRPr lang="en-GB" dirty="0"/>
          </a:p>
        </p:txBody>
      </p:sp>
      <p:sp>
        <p:nvSpPr>
          <p:cNvPr id="9"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493480349"/>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3" name="Text Placeholder 2"/>
          <p:cNvSpPr>
            <a:spLocks noGrp="1"/>
          </p:cNvSpPr>
          <p:nvPr>
            <p:ph type="body" sz="quarter" idx="11"/>
          </p:nvPr>
        </p:nvSpPr>
        <p:spPr>
          <a:xfrm>
            <a:off x="607485" y="1025526"/>
            <a:ext cx="109728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1136099396"/>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6" name="Freeform 5"/>
          <p:cNvSpPr>
            <a:spLocks/>
          </p:cNvSpPr>
          <p:nvPr userDrawn="1"/>
        </p:nvSpPr>
        <p:spPr bwMode="gray">
          <a:xfrm>
            <a:off x="609600" y="1029601"/>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2612799592"/>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6"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319028443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pic>
        <p:nvPicPr>
          <p:cNvPr id="7" name="Picture 2"/>
          <p:cNvPicPr>
            <a:picLocks noChangeAspect="1" noChangeArrowheads="1"/>
          </p:cNvPicPr>
          <p:nvPr userDrawn="1"/>
        </p:nvPicPr>
        <p:blipFill>
          <a:blip r:embed="rId2" cstate="print"/>
          <a:srcRect/>
          <a:stretch>
            <a:fillRect/>
          </a:stretch>
        </p:blipFill>
        <p:spPr bwMode="auto">
          <a:xfrm>
            <a:off x="609601" y="1044000"/>
            <a:ext cx="10967399" cy="5184000"/>
          </a:xfrm>
          <a:prstGeom prst="rect">
            <a:avLst/>
          </a:prstGeom>
          <a:noFill/>
          <a:ln w="9525">
            <a:noFill/>
            <a:miter lim="800000"/>
            <a:headEnd/>
            <a:tailEnd/>
          </a:ln>
          <a:effectLst/>
        </p:spPr>
      </p:pic>
    </p:spTree>
    <p:extLst>
      <p:ext uri="{BB962C8B-B14F-4D97-AF65-F5344CB8AC3E}">
        <p14:creationId xmlns:p14="http://schemas.microsoft.com/office/powerpoint/2010/main" val="1331034847"/>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5"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blipFill dpi="0" rotWithShape="1">
            <a:blip r:embed="rId2" cstate="print"/>
            <a:srcRect/>
            <a:stretch>
              <a:fillRect/>
            </a:stretch>
          </a:bli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437611327"/>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Tree>
    <p:extLst>
      <p:ext uri="{BB962C8B-B14F-4D97-AF65-F5344CB8AC3E}">
        <p14:creationId xmlns:p14="http://schemas.microsoft.com/office/powerpoint/2010/main" val="26188974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inal legal text">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
        <p:nvSpPr>
          <p:cNvPr id="8" name="Content Placeholder 2"/>
          <p:cNvSpPr>
            <a:spLocks noGrp="1"/>
          </p:cNvSpPr>
          <p:nvPr>
            <p:ph idx="1"/>
          </p:nvPr>
        </p:nvSpPr>
        <p:spPr>
          <a:xfrm>
            <a:off x="607483" y="719139"/>
            <a:ext cx="4675200"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96093308"/>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066149"/>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cSld name="Line divider 3">
    <p:spTree>
      <p:nvGrpSpPr>
        <p:cNvPr id="1" name=""/>
        <p:cNvGrpSpPr/>
        <p:nvPr/>
      </p:nvGrpSpPr>
      <p:grpSpPr>
        <a:xfrm>
          <a:off x="0" y="0"/>
          <a:ext cx="0" cy="0"/>
          <a:chOff x="0" y="0"/>
          <a:chExt cx="0" cy="0"/>
        </a:xfrm>
      </p:grpSpPr>
      <p:sp>
        <p:nvSpPr>
          <p:cNvPr id="5" name="Rectangle 4"/>
          <p:cNvSpPr/>
          <p:nvPr userDrawn="1"/>
        </p:nvSpPr>
        <p:spPr>
          <a:xfrm>
            <a:off x="508000" y="6019800"/>
            <a:ext cx="11277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646464"/>
              </a:solidFill>
            </a:endParaRPr>
          </a:p>
        </p:txBody>
      </p:sp>
      <p:sp>
        <p:nvSpPr>
          <p:cNvPr id="4" name="Rectangle 3"/>
          <p:cNvSpPr/>
          <p:nvPr userDrawn="1"/>
        </p:nvSpPr>
        <p:spPr>
          <a:xfrm>
            <a:off x="508000" y="914400"/>
            <a:ext cx="11277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646464"/>
              </a:solidFill>
            </a:endParaRPr>
          </a:p>
        </p:txBody>
      </p:sp>
      <p:sp>
        <p:nvSpPr>
          <p:cNvPr id="2" name="Title 1"/>
          <p:cNvSpPr>
            <a:spLocks noGrp="1"/>
          </p:cNvSpPr>
          <p:nvPr>
            <p:ph type="title"/>
          </p:nvPr>
        </p:nvSpPr>
        <p:spPr/>
        <p:txBody>
          <a:bodyPr/>
          <a:lstStyle>
            <a:lvl1pPr>
              <a:defRPr>
                <a:solidFill>
                  <a:schemeClr val="bg1"/>
                </a:solidFill>
              </a:defRPr>
            </a:lvl1pPr>
          </a:lstStyle>
          <a:p>
            <a:r>
              <a:rPr lang="en-US" noProof="0"/>
              <a:t>Click to edit Master title style</a:t>
            </a:r>
          </a:p>
        </p:txBody>
      </p:sp>
      <p:pic>
        <p:nvPicPr>
          <p:cNvPr id="7" name="Picture 13" descr="PPTbackground_3_HANDOUT"/>
          <p:cNvPicPr>
            <a:picLocks noChangeAspect="1" noChangeArrowheads="1"/>
          </p:cNvPicPr>
          <p:nvPr userDrawn="1"/>
        </p:nvPicPr>
        <p:blipFill>
          <a:blip r:embed="rId2" cstate="print"/>
          <a:srcRect/>
          <a:stretch>
            <a:fillRect/>
          </a:stretch>
        </p:blipFill>
        <p:spPr bwMode="auto">
          <a:xfrm>
            <a:off x="637117" y="1023938"/>
            <a:ext cx="10945283" cy="5222875"/>
          </a:xfrm>
          <a:prstGeom prst="rect">
            <a:avLst/>
          </a:prstGeom>
          <a:noFill/>
        </p:spPr>
      </p:pic>
    </p:spTree>
    <p:extLst>
      <p:ext uri="{BB962C8B-B14F-4D97-AF65-F5344CB8AC3E}">
        <p14:creationId xmlns:p14="http://schemas.microsoft.com/office/powerpoint/2010/main" val="2445285069"/>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11/10/2025</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33926982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pic>
        <p:nvPicPr>
          <p:cNvPr id="9" name="Picture 2"/>
          <p:cNvPicPr>
            <a:picLocks noChangeAspect="1" noChangeArrowheads="1"/>
          </p:cNvPicPr>
          <p:nvPr userDrawn="1"/>
        </p:nvPicPr>
        <p:blipFill>
          <a:blip r:embed="rId2" cstate="print"/>
          <a:srcRect/>
          <a:stretch>
            <a:fillRect/>
          </a:stretch>
        </p:blipFill>
        <p:spPr bwMode="gray">
          <a:xfrm>
            <a:off x="3031000" y="5748934"/>
            <a:ext cx="1311311" cy="745200"/>
          </a:xfrm>
          <a:prstGeom prst="rect">
            <a:avLst/>
          </a:prstGeom>
          <a:noFill/>
          <a:ln w="9525">
            <a:noFill/>
            <a:miter lim="800000"/>
            <a:headEnd/>
            <a:tailEnd/>
          </a:ln>
          <a:effectLst/>
        </p:spPr>
      </p:pic>
      <p:sp>
        <p:nvSpPr>
          <p:cNvPr id="2" name="Title 1"/>
          <p:cNvSpPr>
            <a:spLocks noGrp="1"/>
          </p:cNvSpPr>
          <p:nvPr>
            <p:ph type="ctrTitle"/>
          </p:nvPr>
        </p:nvSpPr>
        <p:spPr>
          <a:xfrm>
            <a:off x="3043413" y="757504"/>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043413" y="1753200"/>
            <a:ext cx="7320000" cy="968400"/>
          </a:xfrm>
        </p:spPr>
        <p:txBody>
          <a:bodyPr/>
          <a:lstStyle>
            <a:lvl1pPr marL="0" indent="0" algn="l">
              <a:buNone/>
              <a:defRPr sz="2000">
                <a:solidFill>
                  <a:schemeClr val="bg2"/>
                </a:solidFill>
              </a:defRPr>
            </a:lvl1pPr>
            <a:lvl2pPr marL="0" indent="0" algn="l">
              <a:buNone/>
              <a:defRPr sz="1600">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grpSp>
        <p:nvGrpSpPr>
          <p:cNvPr id="7" name="Group 6"/>
          <p:cNvGrpSpPr/>
          <p:nvPr userDrawn="1"/>
        </p:nvGrpSpPr>
        <p:grpSpPr>
          <a:xfrm>
            <a:off x="0" y="2403073"/>
            <a:ext cx="12192000" cy="3347943"/>
            <a:chOff x="0" y="2403072"/>
            <a:chExt cx="9144000" cy="3347943"/>
          </a:xfrm>
        </p:grpSpPr>
        <p:sp>
          <p:nvSpPr>
            <p:cNvPr id="13" name="Freeform 8"/>
            <p:cNvSpPr>
              <a:spLocks/>
            </p:cNvSpPr>
            <p:nvPr userDrawn="1"/>
          </p:nvSpPr>
          <p:spPr bwMode="gray">
            <a:xfrm>
              <a:off x="2279115" y="2403072"/>
              <a:ext cx="6864885" cy="249308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pic>
          <p:nvPicPr>
            <p:cNvPr id="14" name="Picture 3"/>
            <p:cNvPicPr>
              <a:picLocks noChangeAspect="1" noChangeArrowheads="1"/>
            </p:cNvPicPr>
            <p:nvPr userDrawn="1"/>
          </p:nvPicPr>
          <p:blipFill>
            <a:blip r:embed="rId3" cstate="print"/>
            <a:srcRect/>
            <a:stretch>
              <a:fillRect/>
            </a:stretch>
          </p:blipFill>
          <p:spPr bwMode="auto">
            <a:xfrm>
              <a:off x="0" y="4408610"/>
              <a:ext cx="2289301" cy="1342405"/>
            </a:xfrm>
            <a:prstGeom prst="rect">
              <a:avLst/>
            </a:prstGeom>
            <a:noFill/>
            <a:ln w="9525">
              <a:noFill/>
              <a:miter lim="800000"/>
              <a:headEnd/>
              <a:tailEnd/>
            </a:ln>
            <a:effectLst/>
          </p:spPr>
        </p:pic>
      </p:grpSp>
    </p:spTree>
    <p:extLst>
      <p:ext uri="{BB962C8B-B14F-4D97-AF65-F5344CB8AC3E}">
        <p14:creationId xmlns:p14="http://schemas.microsoft.com/office/powerpoint/2010/main" val="719396326"/>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a:solidFill>
                  <a:srgbClr val="808080"/>
                </a:solidFill>
              </a:rPr>
              <a:t>HELPE Information Security</a:t>
            </a:r>
            <a:endParaRPr lang="en-GB" dirty="0">
              <a:solidFill>
                <a:srgbClr val="808080"/>
              </a:solidFill>
            </a:endParaRP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185572337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Footer Placeholder 4"/>
          <p:cNvSpPr>
            <a:spLocks noGrp="1"/>
          </p:cNvSpPr>
          <p:nvPr>
            <p:ph type="ftr" sz="quarter" idx="11"/>
          </p:nvPr>
        </p:nvSpPr>
        <p:spPr/>
        <p:txBody>
          <a:bodyPr/>
          <a:lstStyle/>
          <a:p>
            <a:r>
              <a:rPr lang="en-GB">
                <a:solidFill>
                  <a:srgbClr val="808080"/>
                </a:solidFill>
              </a:rPr>
              <a:t>HELPE Information Security</a:t>
            </a:r>
            <a:endParaRPr lang="en-GB" dirty="0">
              <a:solidFill>
                <a:srgbClr val="808080"/>
              </a:solidFill>
            </a:endParaRP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710304615"/>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609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a:xfrm>
            <a:off x="3451200" y="6413445"/>
            <a:ext cx="4579200" cy="201600"/>
          </a:xfrm>
        </p:spPr>
        <p:txBody>
          <a:bodyPr/>
          <a:lstStyle/>
          <a:p>
            <a:r>
              <a:rPr lang="en-GB">
                <a:solidFill>
                  <a:srgbClr val="808080"/>
                </a:solidFill>
              </a:rPr>
              <a:t>HELPE Information Security</a:t>
            </a:r>
            <a:endParaRPr lang="en-GB" dirty="0">
              <a:solidFill>
                <a:srgbClr val="808080"/>
              </a:solidFill>
            </a:endParaRP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2"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4239490850"/>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609600" y="2196001"/>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201600" y="2178000"/>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HELPE Information Security</a:t>
            </a:r>
            <a:endParaRPr lang="en-GB" dirty="0">
              <a:solidFill>
                <a:srgbClr val="808080"/>
              </a:solidFill>
            </a:endParaRP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0" name="Text Placeholder 9"/>
          <p:cNvSpPr>
            <a:spLocks noGrp="1"/>
          </p:cNvSpPr>
          <p:nvPr>
            <p:ph type="body" sz="quarter" idx="12"/>
          </p:nvPr>
        </p:nvSpPr>
        <p:spPr>
          <a:xfrm>
            <a:off x="609600" y="1490400"/>
            <a:ext cx="5390400" cy="640800"/>
          </a:xfrm>
        </p:spPr>
        <p:txBody>
          <a:bodyPr anchor="b" anchorCtr="0"/>
          <a:lstStyle>
            <a:lvl1pPr>
              <a:buNone/>
              <a:defRPr b="1"/>
            </a:lvl1pPr>
          </a:lstStyle>
          <a:p>
            <a:pPr lvl="0"/>
            <a:r>
              <a:rPr lang="en-US"/>
              <a:t>Click to edit Master text styles</a:t>
            </a:r>
          </a:p>
        </p:txBody>
      </p:sp>
      <p:sp>
        <p:nvSpPr>
          <p:cNvPr id="11" name="Text Placeholder 9"/>
          <p:cNvSpPr>
            <a:spLocks noGrp="1"/>
          </p:cNvSpPr>
          <p:nvPr>
            <p:ph type="body" sz="quarter" idx="13"/>
          </p:nvPr>
        </p:nvSpPr>
        <p:spPr>
          <a:xfrm>
            <a:off x="6201600" y="1490400"/>
            <a:ext cx="5390400" cy="640800"/>
          </a:xfrm>
        </p:spPr>
        <p:txBody>
          <a:bodyPr anchor="b" anchorCtr="0"/>
          <a:lstStyle>
            <a:lvl1pPr>
              <a:buNone/>
              <a:defRPr b="1"/>
            </a:lvl1pPr>
          </a:lstStyle>
          <a:p>
            <a:pPr lvl="0"/>
            <a:r>
              <a:rPr lang="en-US"/>
              <a:t>Click to edit Master text styles</a:t>
            </a:r>
          </a:p>
        </p:txBody>
      </p:sp>
      <p:sp>
        <p:nvSpPr>
          <p:cNvPr id="9"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487311791"/>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sp>
        <p:nvSpPr>
          <p:cNvPr id="3" name="Text Placeholder 2"/>
          <p:cNvSpPr>
            <a:spLocks noGrp="1"/>
          </p:cNvSpPr>
          <p:nvPr>
            <p:ph type="body" sz="quarter" idx="11"/>
          </p:nvPr>
        </p:nvSpPr>
        <p:spPr>
          <a:xfrm>
            <a:off x="607485" y="1025526"/>
            <a:ext cx="109728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759970835"/>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sp>
        <p:nvSpPr>
          <p:cNvPr id="3077" name="Freeform 5"/>
          <p:cNvSpPr>
            <a:spLocks/>
          </p:cNvSpPr>
          <p:nvPr userDrawn="1"/>
        </p:nvSpPr>
        <p:spPr bwMode="gray">
          <a:xfrm>
            <a:off x="609600" y="1039814"/>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1576644811"/>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sp>
        <p:nvSpPr>
          <p:cNvPr id="4101"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1375236689"/>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pic>
        <p:nvPicPr>
          <p:cNvPr id="6" name="Picture 2"/>
          <p:cNvPicPr>
            <a:picLocks noChangeAspect="1" noChangeArrowheads="1"/>
          </p:cNvPicPr>
          <p:nvPr userDrawn="1"/>
        </p:nvPicPr>
        <p:blipFill>
          <a:blip r:embed="rId2" cstate="print"/>
          <a:srcRect/>
          <a:stretch>
            <a:fillRect/>
          </a:stretch>
        </p:blipFill>
        <p:spPr bwMode="auto">
          <a:xfrm>
            <a:off x="609601" y="1044000"/>
            <a:ext cx="10967399" cy="5184000"/>
          </a:xfrm>
          <a:prstGeom prst="rect">
            <a:avLst/>
          </a:prstGeom>
          <a:noFill/>
          <a:ln w="9525">
            <a:noFill/>
            <a:miter lim="800000"/>
            <a:headEnd/>
            <a:tailEnd/>
          </a:ln>
          <a:effectLst/>
        </p:spPr>
      </p:pic>
    </p:spTree>
    <p:extLst>
      <p:ext uri="{BB962C8B-B14F-4D97-AF65-F5344CB8AC3E}">
        <p14:creationId xmlns:p14="http://schemas.microsoft.com/office/powerpoint/2010/main" val="45719116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Tree>
    <p:extLst>
      <p:ext uri="{BB962C8B-B14F-4D97-AF65-F5344CB8AC3E}">
        <p14:creationId xmlns:p14="http://schemas.microsoft.com/office/powerpoint/2010/main" val="204902832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Final legal text">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
        <p:nvSpPr>
          <p:cNvPr id="8" name="Content Placeholder 2"/>
          <p:cNvSpPr>
            <a:spLocks noGrp="1"/>
          </p:cNvSpPr>
          <p:nvPr>
            <p:ph idx="1"/>
          </p:nvPr>
        </p:nvSpPr>
        <p:spPr>
          <a:xfrm>
            <a:off x="607483" y="719139"/>
            <a:ext cx="4675200"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613847095"/>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2534910"/>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Divider">
    <p:spTree>
      <p:nvGrpSpPr>
        <p:cNvPr id="1" name=""/>
        <p:cNvGrpSpPr/>
        <p:nvPr/>
      </p:nvGrpSpPr>
      <p:grpSpPr>
        <a:xfrm>
          <a:off x="0" y="0"/>
          <a:ext cx="0" cy="0"/>
          <a:chOff x="0" y="0"/>
          <a:chExt cx="0" cy="0"/>
        </a:xfrm>
      </p:grpSpPr>
      <p:sp>
        <p:nvSpPr>
          <p:cNvPr id="7" name="Freeform 6"/>
          <p:cNvSpPr/>
          <p:nvPr userDrawn="1"/>
        </p:nvSpPr>
        <p:spPr bwMode="auto">
          <a:xfrm rot="10800000">
            <a:off x="10008198" y="2323429"/>
            <a:ext cx="1693081" cy="2072947"/>
          </a:xfrm>
          <a:custGeom>
            <a:avLst/>
            <a:gdLst>
              <a:gd name="connsiteX0" fmla="*/ 0 w 1459832"/>
              <a:gd name="connsiteY0" fmla="*/ 2245895 h 2245895"/>
              <a:gd name="connsiteX1" fmla="*/ 441158 w 1459832"/>
              <a:gd name="connsiteY1" fmla="*/ 0 h 2245895"/>
              <a:gd name="connsiteX2" fmla="*/ 1459832 w 1459832"/>
              <a:gd name="connsiteY2" fmla="*/ 0 h 2245895"/>
              <a:gd name="connsiteX3" fmla="*/ 1459832 w 1459832"/>
              <a:gd name="connsiteY3" fmla="*/ 2245895 h 2245895"/>
              <a:gd name="connsiteX4" fmla="*/ 0 w 1459832"/>
              <a:gd name="connsiteY4" fmla="*/ 2245895 h 2245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832" h="2245895">
                <a:moveTo>
                  <a:pt x="0" y="2245895"/>
                </a:moveTo>
                <a:lnTo>
                  <a:pt x="441158" y="0"/>
                </a:lnTo>
                <a:lnTo>
                  <a:pt x="1459832" y="0"/>
                </a:lnTo>
                <a:lnTo>
                  <a:pt x="1459832" y="2245895"/>
                </a:lnTo>
                <a:lnTo>
                  <a:pt x="0" y="2245895"/>
                </a:lnTo>
                <a:close/>
              </a:path>
            </a:pathLst>
          </a:custGeom>
          <a:solidFill>
            <a:srgbClr val="CDCDCD"/>
          </a:solidFill>
          <a:ln w="12700" cap="rnd">
            <a:noFill/>
            <a:prstDash val="sysDot"/>
            <a:round/>
            <a:headEnd type="none" w="sm" len="sm"/>
            <a:tailEnd type="none" w="sm" len="sm"/>
          </a:ln>
        </p:spPr>
        <p:txBody>
          <a:bodyPr lIns="80095" tIns="40048" rIns="80095" bIns="40048"/>
          <a:lstStyle/>
          <a:p>
            <a:pPr algn="ctr" defTabSz="914287" eaLnBrk="0" hangingPunct="0">
              <a:defRPr/>
            </a:pPr>
            <a:endParaRPr lang="en-US" sz="1800" kern="0" dirty="0">
              <a:solidFill>
                <a:srgbClr val="646464"/>
              </a:solidFill>
              <a:latin typeface="EYInterstate" pitchFamily="2" charset="0"/>
              <a:cs typeface="Arial" charset="0"/>
            </a:endParaRPr>
          </a:p>
        </p:txBody>
      </p:sp>
      <p:sp>
        <p:nvSpPr>
          <p:cNvPr id="8" name="Rectangle 7"/>
          <p:cNvSpPr/>
          <p:nvPr userDrawn="1"/>
        </p:nvSpPr>
        <p:spPr bwMode="auto">
          <a:xfrm rot="10800000">
            <a:off x="3" y="2323429"/>
            <a:ext cx="10182031" cy="2072947"/>
          </a:xfrm>
          <a:prstGeom prst="rect">
            <a:avLst/>
          </a:prstGeom>
          <a:solidFill>
            <a:srgbClr val="CDCDCD"/>
          </a:solidFill>
          <a:ln w="12700" cap="rnd">
            <a:noFill/>
            <a:prstDash val="sysDot"/>
            <a:round/>
            <a:headEnd type="none" w="sm" len="sm"/>
            <a:tailEnd type="none" w="sm" len="sm"/>
          </a:ln>
        </p:spPr>
        <p:txBody>
          <a:bodyPr lIns="80095" tIns="40048" rIns="80095" bIns="40048"/>
          <a:lstStyle/>
          <a:p>
            <a:pPr algn="ctr" defTabSz="914287" eaLnBrk="0" hangingPunct="0">
              <a:defRPr/>
            </a:pPr>
            <a:endParaRPr lang="en-US" sz="1800" kern="0" dirty="0">
              <a:solidFill>
                <a:srgbClr val="646464"/>
              </a:solidFill>
              <a:latin typeface="EYInterstate" pitchFamily="2" charset="0"/>
              <a:cs typeface="Arial" charset="0"/>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5470" y="2590343"/>
            <a:ext cx="3078241" cy="1539121"/>
          </a:xfrm>
          <a:prstGeom prst="rect">
            <a:avLst/>
          </a:prstGeom>
        </p:spPr>
      </p:pic>
      <p:sp>
        <p:nvSpPr>
          <p:cNvPr id="11" name="Content Placeholder 2"/>
          <p:cNvSpPr>
            <a:spLocks noGrp="1"/>
          </p:cNvSpPr>
          <p:nvPr>
            <p:ph idx="1"/>
          </p:nvPr>
        </p:nvSpPr>
        <p:spPr>
          <a:xfrm>
            <a:off x="3712396" y="2323428"/>
            <a:ext cx="7315201" cy="2072948"/>
          </a:xfrm>
        </p:spPr>
        <p:txBody>
          <a:bodyPr anchor="ctr"/>
          <a:lstStyle>
            <a:lvl1pPr marL="0" indent="0">
              <a:buFontTx/>
              <a:buNone/>
              <a:defRPr>
                <a:solidFill>
                  <a:schemeClr val="tx1"/>
                </a:solidFill>
              </a:defRPr>
            </a:lvl1pPr>
            <a:lvl2pPr marL="355600" indent="0">
              <a:buFontTx/>
              <a:buNone/>
              <a:defRPr>
                <a:solidFill>
                  <a:schemeClr val="tx1"/>
                </a:solidFill>
              </a:defRPr>
            </a:lvl2pPr>
            <a:lvl3pPr marL="723900" indent="0">
              <a:buFontTx/>
              <a:buNone/>
              <a:defRPr>
                <a:solidFill>
                  <a:schemeClr val="tx1"/>
                </a:solidFill>
              </a:defRPr>
            </a:lvl3pPr>
            <a:lvl4pPr marL="1077913" indent="0">
              <a:buFontTx/>
              <a:buNone/>
              <a:defRPr>
                <a:solidFill>
                  <a:schemeClr val="tx1"/>
                </a:solidFill>
              </a:defRPr>
            </a:lvl4pPr>
            <a:lvl5pPr marL="1433512" indent="0">
              <a:buFontTx/>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06373565"/>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Footer Placeholder 2"/>
          <p:cNvSpPr>
            <a:spLocks noGrp="1"/>
          </p:cNvSpPr>
          <p:nvPr>
            <p:ph type="ftr" sz="quarter" idx="10"/>
          </p:nvPr>
        </p:nvSpPr>
        <p:spPr/>
        <p:txBody>
          <a:bodyPr/>
          <a:lstStyle/>
          <a:p>
            <a:r>
              <a:rPr lang="en-GB">
                <a:solidFill>
                  <a:srgbClr val="808080"/>
                </a:solidFill>
              </a:rPr>
              <a:t>HELPE Information Security</a:t>
            </a:r>
            <a:endParaRPr lang="en-GB" dirty="0">
              <a:solidFill>
                <a:srgbClr val="808080"/>
              </a:solidFill>
            </a:endParaRPr>
          </a:p>
        </p:txBody>
      </p:sp>
      <p:sp>
        <p:nvSpPr>
          <p:cNvPr id="5" name="Freeform 4"/>
          <p:cNvSpPr/>
          <p:nvPr userDrawn="1"/>
        </p:nvSpPr>
        <p:spPr bwMode="gray">
          <a:xfrm flipH="1">
            <a:off x="2" y="2614613"/>
            <a:ext cx="11280479" cy="1498600"/>
          </a:xfrm>
          <a:custGeom>
            <a:avLst/>
            <a:gdLst>
              <a:gd name="connsiteX0" fmla="*/ 85725 w 7705725"/>
              <a:gd name="connsiteY0" fmla="*/ 0 h 1704975"/>
              <a:gd name="connsiteX1" fmla="*/ 7705725 w 7705725"/>
              <a:gd name="connsiteY1" fmla="*/ 0 h 1704975"/>
              <a:gd name="connsiteX2" fmla="*/ 7705725 w 7705725"/>
              <a:gd name="connsiteY2" fmla="*/ 1704975 h 1704975"/>
              <a:gd name="connsiteX3" fmla="*/ 0 w 7705725"/>
              <a:gd name="connsiteY3" fmla="*/ 1704975 h 1704975"/>
              <a:gd name="connsiteX4" fmla="*/ 85725 w 7705725"/>
              <a:gd name="connsiteY4" fmla="*/ 0 h 1704975"/>
              <a:gd name="connsiteX0" fmla="*/ 0 w 7620000"/>
              <a:gd name="connsiteY0" fmla="*/ 0 h 1705429"/>
              <a:gd name="connsiteX1" fmla="*/ 7620000 w 7620000"/>
              <a:gd name="connsiteY1" fmla="*/ 0 h 1705429"/>
              <a:gd name="connsiteX2" fmla="*/ 7620000 w 7620000"/>
              <a:gd name="connsiteY2" fmla="*/ 1704975 h 1705429"/>
              <a:gd name="connsiteX3" fmla="*/ 329085 w 7620000"/>
              <a:gd name="connsiteY3" fmla="*/ 1705429 h 1705429"/>
              <a:gd name="connsiteX4" fmla="*/ 0 w 7620000"/>
              <a:gd name="connsiteY4" fmla="*/ 0 h 1705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0" h="1705429">
                <a:moveTo>
                  <a:pt x="0" y="0"/>
                </a:moveTo>
                <a:lnTo>
                  <a:pt x="7620000" y="0"/>
                </a:lnTo>
                <a:lnTo>
                  <a:pt x="7620000" y="1704975"/>
                </a:lnTo>
                <a:lnTo>
                  <a:pt x="329085" y="1705429"/>
                </a:lnTo>
                <a:lnTo>
                  <a:pt x="0" y="0"/>
                </a:lnTo>
                <a:close/>
              </a:path>
            </a:pathLst>
          </a:custGeom>
          <a:solidFill>
            <a:srgbClr val="646464"/>
          </a:solidFill>
          <a:ln w="9525">
            <a:noFill/>
            <a:round/>
            <a:headEnd/>
            <a:tailEnd/>
          </a:ln>
        </p:spPr>
        <p:txBody>
          <a:bodyPr lIns="83962" tIns="41981" rIns="83962" bIns="41981"/>
          <a:lstStyle/>
          <a:p>
            <a:pPr eaLnBrk="0" fontAlgn="base" hangingPunct="0">
              <a:spcBef>
                <a:spcPct val="0"/>
              </a:spcBef>
              <a:spcAft>
                <a:spcPct val="0"/>
              </a:spcAft>
              <a:defRPr/>
            </a:pPr>
            <a:endParaRPr lang="en-GB" sz="700" dirty="0">
              <a:solidFill>
                <a:srgbClr val="000000"/>
              </a:solidFill>
            </a:endParaRPr>
          </a:p>
        </p:txBody>
      </p:sp>
      <p:sp>
        <p:nvSpPr>
          <p:cNvPr id="6" name="Text Placeholder 9"/>
          <p:cNvSpPr>
            <a:spLocks noGrp="1"/>
          </p:cNvSpPr>
          <p:nvPr>
            <p:ph type="body" sz="quarter" idx="11"/>
          </p:nvPr>
        </p:nvSpPr>
        <p:spPr bwMode="gray">
          <a:xfrm>
            <a:off x="729620" y="3080634"/>
            <a:ext cx="8097944" cy="708406"/>
          </a:xfrm>
          <a:prstGeom prst="rect">
            <a:avLst/>
          </a:prstGeom>
        </p:spPr>
        <p:txBody>
          <a:bodyPr lIns="83969" tIns="41985" rIns="83969" bIns="41985"/>
          <a:lstStyle>
            <a:lvl1pPr>
              <a:lnSpc>
                <a:spcPct val="90000"/>
              </a:lnSpc>
              <a:spcAft>
                <a:spcPts val="0"/>
              </a:spcAft>
              <a:buNone/>
              <a:defRPr lang="en-GB" sz="3100" b="1" kern="1200" dirty="0" smtClean="0">
                <a:solidFill>
                  <a:srgbClr val="FFD200"/>
                </a:solidFill>
                <a:latin typeface="+mj-lt"/>
                <a:ea typeface="+mn-ea"/>
                <a:cs typeface="Arial" charset="0"/>
              </a:defRPr>
            </a:lvl1pPr>
          </a:lstStyle>
          <a:p>
            <a:pPr lvl="0"/>
            <a:r>
              <a:rPr lang="en-US" dirty="0"/>
              <a:t>Click to edit Master text styles</a:t>
            </a:r>
          </a:p>
        </p:txBody>
      </p:sp>
      <p:sp>
        <p:nvSpPr>
          <p:cNvPr id="7" name="Text Placeholder 7"/>
          <p:cNvSpPr>
            <a:spLocks noGrp="1"/>
          </p:cNvSpPr>
          <p:nvPr>
            <p:ph type="body" sz="quarter" idx="12"/>
          </p:nvPr>
        </p:nvSpPr>
        <p:spPr bwMode="gray">
          <a:xfrm>
            <a:off x="733346" y="2800662"/>
            <a:ext cx="8094156" cy="254067"/>
          </a:xfrm>
          <a:prstGeom prst="rect">
            <a:avLst/>
          </a:prstGeom>
        </p:spPr>
        <p:txBody>
          <a:bodyPr wrap="none" lIns="83969" tIns="41985" rIns="83969" bIns="41985" anchor="ctr"/>
          <a:lstStyle>
            <a:lvl1pPr>
              <a:buNone/>
              <a:defRPr lang="en-US" sz="1500" b="1" kern="1200" dirty="0" smtClean="0">
                <a:solidFill>
                  <a:schemeClr val="tx2"/>
                </a:solidFill>
                <a:latin typeface="+mj-lt"/>
                <a:ea typeface="+mn-ea"/>
                <a:cs typeface="Arial" charset="0"/>
              </a:defRPr>
            </a:lvl1pPr>
          </a:lstStyle>
          <a:p>
            <a:pPr lvl="0"/>
            <a:r>
              <a:rPr lang="en-US" dirty="0"/>
              <a:t>Click to edit Master text styles</a:t>
            </a:r>
          </a:p>
        </p:txBody>
      </p:sp>
      <p:sp>
        <p:nvSpPr>
          <p:cNvPr id="4" name="Rectangle 3"/>
          <p:cNvSpPr/>
          <p:nvPr userDrawn="1"/>
        </p:nvSpPr>
        <p:spPr>
          <a:xfrm>
            <a:off x="10848528" y="6415200"/>
            <a:ext cx="936104" cy="326168"/>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200" dirty="0">
              <a:solidFill>
                <a:schemeClr val="tx1"/>
              </a:solidFill>
            </a:endParaRPr>
          </a:p>
        </p:txBody>
      </p:sp>
    </p:spTree>
    <p:extLst>
      <p:ext uri="{BB962C8B-B14F-4D97-AF65-F5344CB8AC3E}">
        <p14:creationId xmlns:p14="http://schemas.microsoft.com/office/powerpoint/2010/main" val="364072820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theme" Target="../theme/theme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theme" Target="../theme/theme4.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01600"/>
            <a:ext cx="10972800" cy="86040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609600" y="1425600"/>
            <a:ext cx="10972800" cy="4698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3"/>
          </p:nvPr>
        </p:nvSpPr>
        <p:spPr>
          <a:xfrm>
            <a:off x="3451200" y="6415200"/>
            <a:ext cx="4579200" cy="201600"/>
          </a:xfrm>
          <a:prstGeom prst="rect">
            <a:avLst/>
          </a:prstGeom>
        </p:spPr>
        <p:txBody>
          <a:bodyPr vert="horz" lIns="0" tIns="0" rIns="0" bIns="0" rtlCol="0" anchor="t" anchorCtr="0">
            <a:noAutofit/>
          </a:bodyPr>
          <a:lstStyle>
            <a:lvl1pPr algn="l">
              <a:defRPr sz="1100">
                <a:solidFill>
                  <a:schemeClr val="bg1"/>
                </a:solidFill>
              </a:defRPr>
            </a:lvl1pPr>
          </a:lstStyle>
          <a:p>
            <a:r>
              <a:rPr lang="en-GB">
                <a:solidFill>
                  <a:srgbClr val="808080"/>
                </a:solidFill>
              </a:rPr>
              <a:t>Presentation title</a:t>
            </a:r>
            <a:endParaRPr lang="en-GB" dirty="0">
              <a:solidFill>
                <a:srgbClr val="808080"/>
              </a:solidFill>
            </a:endParaRPr>
          </a:p>
        </p:txBody>
      </p:sp>
      <p:sp>
        <p:nvSpPr>
          <p:cNvPr id="7" name="TextBox 6"/>
          <p:cNvSpPr txBox="1"/>
          <p:nvPr/>
        </p:nvSpPr>
        <p:spPr>
          <a:xfrm>
            <a:off x="609600" y="6415200"/>
            <a:ext cx="960000" cy="198000"/>
          </a:xfrm>
          <a:prstGeom prst="rect">
            <a:avLst/>
          </a:prstGeom>
          <a:noFill/>
        </p:spPr>
        <p:txBody>
          <a:bodyPr wrap="square" lIns="0" tIns="0" rIns="0" bIns="0" rtlCol="0">
            <a:noAutofit/>
          </a:bodyPr>
          <a:lstStyle/>
          <a:p>
            <a:r>
              <a:rPr lang="en-GB" sz="1100" dirty="0">
                <a:solidFill>
                  <a:srgbClr val="808080"/>
                </a:solidFill>
              </a:rPr>
              <a:t>Page </a:t>
            </a:r>
            <a:fld id="{9AE4D82F-B047-469B-AC52-A46321747EAF}" type="slidenum">
              <a:rPr lang="en-GB" sz="1100">
                <a:solidFill>
                  <a:srgbClr val="808080"/>
                </a:solidFill>
              </a:rPr>
              <a:pPr/>
              <a:t>‹#›</a:t>
            </a:fld>
            <a:endParaRPr lang="en-GB" sz="1100" dirty="0">
              <a:solidFill>
                <a:srgbClr val="808080"/>
              </a:solidFill>
            </a:endParaRPr>
          </a:p>
        </p:txBody>
      </p:sp>
      <p:grpSp>
        <p:nvGrpSpPr>
          <p:cNvPr id="8" name="Group 7"/>
          <p:cNvGrpSpPr/>
          <p:nvPr/>
        </p:nvGrpSpPr>
        <p:grpSpPr bwMode="gray">
          <a:xfrm>
            <a:off x="11131552" y="6450014"/>
            <a:ext cx="450849"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grpSp>
    </p:spTree>
    <p:extLst>
      <p:ext uri="{BB962C8B-B14F-4D97-AF65-F5344CB8AC3E}">
        <p14:creationId xmlns:p14="http://schemas.microsoft.com/office/powerpoint/2010/main" val="11414786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fade/>
  </p:transition>
  <p:hf sldNum="0" hdr="0" dt="0"/>
  <p:txStyles>
    <p:titleStyle>
      <a:lvl1pPr algn="l" defTabSz="914400" rtl="0" eaLnBrk="1" latinLnBrk="0" hangingPunct="1">
        <a:lnSpc>
          <a:spcPct val="85000"/>
        </a:lnSpc>
        <a:spcBef>
          <a:spcPct val="0"/>
        </a:spcBef>
        <a:buNone/>
        <a:defRPr sz="3000" b="1"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01600"/>
            <a:ext cx="10972800" cy="860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600" y="1425600"/>
            <a:ext cx="10972800" cy="469800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3451200" y="6415200"/>
            <a:ext cx="4579200" cy="201600"/>
          </a:xfrm>
          <a:prstGeom prst="rect">
            <a:avLst/>
          </a:prstGeom>
        </p:spPr>
        <p:txBody>
          <a:bodyPr vert="horz" lIns="0" tIns="0" rIns="0" bIns="0" rtlCol="0" anchor="t" anchorCtr="0">
            <a:noAutofit/>
          </a:bodyPr>
          <a:lstStyle>
            <a:lvl1pPr algn="l">
              <a:defRPr sz="1100">
                <a:solidFill>
                  <a:schemeClr val="bg1"/>
                </a:solidFill>
              </a:defRPr>
            </a:lvl1pPr>
          </a:lstStyle>
          <a:p>
            <a:r>
              <a:rPr lang="en-GB">
                <a:solidFill>
                  <a:srgbClr val="808080"/>
                </a:solidFill>
              </a:rPr>
              <a:t>Presentation title</a:t>
            </a:r>
            <a:endParaRPr lang="en-GB" dirty="0">
              <a:solidFill>
                <a:srgbClr val="808080"/>
              </a:solidFill>
            </a:endParaRPr>
          </a:p>
        </p:txBody>
      </p:sp>
      <p:sp>
        <p:nvSpPr>
          <p:cNvPr id="7" name="TextBox 6"/>
          <p:cNvSpPr txBox="1"/>
          <p:nvPr/>
        </p:nvSpPr>
        <p:spPr>
          <a:xfrm>
            <a:off x="609600" y="6415200"/>
            <a:ext cx="960000" cy="198000"/>
          </a:xfrm>
          <a:prstGeom prst="rect">
            <a:avLst/>
          </a:prstGeom>
          <a:noFill/>
        </p:spPr>
        <p:txBody>
          <a:bodyPr wrap="square" lIns="0" tIns="0" rIns="0" bIns="0" rtlCol="0">
            <a:noAutofit/>
          </a:bodyPr>
          <a:lstStyle/>
          <a:p>
            <a:r>
              <a:rPr lang="en-GB" sz="1100" dirty="0">
                <a:solidFill>
                  <a:srgbClr val="808080"/>
                </a:solidFill>
              </a:rPr>
              <a:t>Page </a:t>
            </a:r>
            <a:fld id="{9AE4D82F-B047-469B-AC52-A46321747EAF}" type="slidenum">
              <a:rPr lang="en-GB" sz="1100">
                <a:solidFill>
                  <a:srgbClr val="808080"/>
                </a:solidFill>
              </a:rPr>
              <a:pPr/>
              <a:t>‹#›</a:t>
            </a:fld>
            <a:endParaRPr lang="en-GB" sz="1100" dirty="0">
              <a:solidFill>
                <a:srgbClr val="808080"/>
              </a:solidFill>
            </a:endParaRPr>
          </a:p>
        </p:txBody>
      </p:sp>
      <p:grpSp>
        <p:nvGrpSpPr>
          <p:cNvPr id="8" name="Group 7"/>
          <p:cNvGrpSpPr/>
          <p:nvPr/>
        </p:nvGrpSpPr>
        <p:grpSpPr bwMode="gray">
          <a:xfrm>
            <a:off x="11131552" y="6450014"/>
            <a:ext cx="450849"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grpSp>
    </p:spTree>
    <p:extLst>
      <p:ext uri="{BB962C8B-B14F-4D97-AF65-F5344CB8AC3E}">
        <p14:creationId xmlns:p14="http://schemas.microsoft.com/office/powerpoint/2010/main" val="353097775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722" r:id="rId16"/>
  </p:sldLayoutIdLst>
  <p:transition>
    <p:fade/>
  </p:transition>
  <p:hf sldNum="0" hdr="0" dt="0"/>
  <p:txStyles>
    <p:titleStyle>
      <a:lvl1pPr algn="l" defTabSz="914400" rtl="0" eaLnBrk="1" latinLnBrk="0" hangingPunct="1">
        <a:lnSpc>
          <a:spcPct val="85000"/>
        </a:lnSpc>
        <a:spcBef>
          <a:spcPct val="0"/>
        </a:spcBef>
        <a:buNone/>
        <a:defRPr sz="3000" b="1" kern="1200">
          <a:solidFill>
            <a:srgbClr val="808080"/>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01600"/>
            <a:ext cx="10972800" cy="860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600" y="1425600"/>
            <a:ext cx="10972800" cy="469800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3451200" y="6415200"/>
            <a:ext cx="4579200" cy="201600"/>
          </a:xfrm>
          <a:prstGeom prst="rect">
            <a:avLst/>
          </a:prstGeom>
        </p:spPr>
        <p:txBody>
          <a:bodyPr vert="horz" lIns="0" tIns="0" rIns="0" bIns="0" rtlCol="0" anchor="t" anchorCtr="0">
            <a:noAutofit/>
          </a:bodyPr>
          <a:lstStyle>
            <a:lvl1pPr algn="l">
              <a:defRPr sz="1100">
                <a:solidFill>
                  <a:schemeClr val="bg1"/>
                </a:solidFill>
              </a:defRPr>
            </a:lvl1pPr>
          </a:lstStyle>
          <a:p>
            <a:r>
              <a:rPr lang="en-GB">
                <a:solidFill>
                  <a:srgbClr val="808080"/>
                </a:solidFill>
              </a:rPr>
              <a:t>Presentation title</a:t>
            </a:r>
            <a:endParaRPr lang="en-GB" dirty="0">
              <a:solidFill>
                <a:srgbClr val="808080"/>
              </a:solidFill>
            </a:endParaRPr>
          </a:p>
        </p:txBody>
      </p:sp>
      <p:sp>
        <p:nvSpPr>
          <p:cNvPr id="7" name="TextBox 6"/>
          <p:cNvSpPr txBox="1"/>
          <p:nvPr/>
        </p:nvSpPr>
        <p:spPr>
          <a:xfrm>
            <a:off x="609600" y="6415200"/>
            <a:ext cx="960000" cy="198000"/>
          </a:xfrm>
          <a:prstGeom prst="rect">
            <a:avLst/>
          </a:prstGeom>
          <a:noFill/>
        </p:spPr>
        <p:txBody>
          <a:bodyPr wrap="square" lIns="0" tIns="0" rIns="0" bIns="0" rtlCol="0">
            <a:noAutofit/>
          </a:bodyPr>
          <a:lstStyle/>
          <a:p>
            <a:r>
              <a:rPr lang="en-GB" sz="1100" dirty="0">
                <a:solidFill>
                  <a:srgbClr val="808080"/>
                </a:solidFill>
              </a:rPr>
              <a:t>Page </a:t>
            </a:r>
            <a:fld id="{9AE4D82F-B047-469B-AC52-A46321747EAF}" type="slidenum">
              <a:rPr lang="en-GB" sz="1100">
                <a:solidFill>
                  <a:srgbClr val="808080"/>
                </a:solidFill>
              </a:rPr>
              <a:pPr/>
              <a:t>‹#›</a:t>
            </a:fld>
            <a:endParaRPr lang="en-GB" sz="1100" dirty="0">
              <a:solidFill>
                <a:srgbClr val="808080"/>
              </a:solidFill>
            </a:endParaRPr>
          </a:p>
        </p:txBody>
      </p:sp>
      <p:grpSp>
        <p:nvGrpSpPr>
          <p:cNvPr id="8" name="Group 7"/>
          <p:cNvGrpSpPr/>
          <p:nvPr/>
        </p:nvGrpSpPr>
        <p:grpSpPr bwMode="gray">
          <a:xfrm>
            <a:off x="11131552" y="6450014"/>
            <a:ext cx="450849"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grpSp>
    </p:spTree>
    <p:extLst>
      <p:ext uri="{BB962C8B-B14F-4D97-AF65-F5344CB8AC3E}">
        <p14:creationId xmlns:p14="http://schemas.microsoft.com/office/powerpoint/2010/main" val="358813441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23" r:id="rId16"/>
  </p:sldLayoutIdLst>
  <p:transition>
    <p:fade/>
  </p:transition>
  <p:hf sldNum="0" hdr="0" dt="0"/>
  <p:txStyles>
    <p:titleStyle>
      <a:lvl1pPr algn="l" defTabSz="914400" rtl="0" eaLnBrk="1" latinLnBrk="0" hangingPunct="1">
        <a:lnSpc>
          <a:spcPct val="85000"/>
        </a:lnSpc>
        <a:spcBef>
          <a:spcPct val="0"/>
        </a:spcBef>
        <a:buNone/>
        <a:defRPr sz="3000" b="1" kern="1200">
          <a:solidFill>
            <a:srgbClr val="808080"/>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860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600" y="1425600"/>
            <a:ext cx="10972800" cy="4698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3"/>
          </p:nvPr>
        </p:nvSpPr>
        <p:spPr>
          <a:xfrm>
            <a:off x="3451200" y="6415200"/>
            <a:ext cx="4579200" cy="201600"/>
          </a:xfrm>
          <a:prstGeom prst="rect">
            <a:avLst/>
          </a:prstGeom>
        </p:spPr>
        <p:txBody>
          <a:bodyPr vert="horz" lIns="0" tIns="0" rIns="0" bIns="0" rtlCol="0" anchor="t" anchorCtr="0">
            <a:noAutofit/>
          </a:bodyPr>
          <a:lstStyle>
            <a:lvl1pPr algn="l">
              <a:defRPr sz="1100">
                <a:solidFill>
                  <a:schemeClr val="bg1"/>
                </a:solidFill>
              </a:defRPr>
            </a:lvl1pPr>
          </a:lstStyle>
          <a:p>
            <a:r>
              <a:rPr lang="en-GB">
                <a:solidFill>
                  <a:srgbClr val="808080"/>
                </a:solidFill>
              </a:rPr>
              <a:t>HELPE Information Security</a:t>
            </a:r>
            <a:endParaRPr lang="en-GB" dirty="0">
              <a:solidFill>
                <a:srgbClr val="808080"/>
              </a:solidFill>
            </a:endParaRPr>
          </a:p>
        </p:txBody>
      </p:sp>
      <p:sp>
        <p:nvSpPr>
          <p:cNvPr id="7" name="TextBox 6"/>
          <p:cNvSpPr txBox="1"/>
          <p:nvPr/>
        </p:nvSpPr>
        <p:spPr>
          <a:xfrm>
            <a:off x="609600" y="6415200"/>
            <a:ext cx="960000" cy="198000"/>
          </a:xfrm>
          <a:prstGeom prst="rect">
            <a:avLst/>
          </a:prstGeom>
          <a:noFill/>
        </p:spPr>
        <p:txBody>
          <a:bodyPr wrap="square" lIns="0" tIns="0" rIns="0" bIns="0" rtlCol="0">
            <a:noAutofit/>
          </a:bodyPr>
          <a:lstStyle/>
          <a:p>
            <a:r>
              <a:rPr lang="en-GB" sz="1100" dirty="0">
                <a:solidFill>
                  <a:srgbClr val="808080"/>
                </a:solidFill>
              </a:rPr>
              <a:t>Page </a:t>
            </a:r>
            <a:fld id="{9AE4D82F-B047-469B-AC52-A46321747EAF}" type="slidenum">
              <a:rPr lang="en-GB" sz="1100">
                <a:solidFill>
                  <a:srgbClr val="808080"/>
                </a:solidFill>
              </a:rPr>
              <a:pPr/>
              <a:t>‹#›</a:t>
            </a:fld>
            <a:endParaRPr lang="en-GB" sz="1100" dirty="0">
              <a:solidFill>
                <a:srgbClr val="808080"/>
              </a:solidFill>
            </a:endParaRPr>
          </a:p>
        </p:txBody>
      </p:sp>
      <p:grpSp>
        <p:nvGrpSpPr>
          <p:cNvPr id="8" name="Group 7"/>
          <p:cNvGrpSpPr/>
          <p:nvPr/>
        </p:nvGrpSpPr>
        <p:grpSpPr bwMode="gray">
          <a:xfrm>
            <a:off x="11131552" y="6450014"/>
            <a:ext cx="450849"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grpSp>
    </p:spTree>
    <p:extLst>
      <p:ext uri="{BB962C8B-B14F-4D97-AF65-F5344CB8AC3E}">
        <p14:creationId xmlns:p14="http://schemas.microsoft.com/office/powerpoint/2010/main" val="2661508408"/>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Lst>
  <p:transition>
    <p:fade/>
  </p:transition>
  <p:hf sldNum="0" hdr="0" ftr="0" dt="0"/>
  <p:txStyles>
    <p:titleStyle>
      <a:lvl1pPr algn="l" defTabSz="914400" rtl="0" eaLnBrk="1" latinLnBrk="0" hangingPunct="1">
        <a:lnSpc>
          <a:spcPct val="85000"/>
        </a:lnSpc>
        <a:spcBef>
          <a:spcPct val="0"/>
        </a:spcBef>
        <a:buNone/>
        <a:defRPr sz="2800" b="1"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5.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5.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5.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15.xml"/><Relationship Id="rId5" Type="http://schemas.openxmlformats.org/officeDocument/2006/relationships/image" Target="../media/image38.pn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15.xml"/><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9.xml"/><Relationship Id="rId1" Type="http://schemas.openxmlformats.org/officeDocument/2006/relationships/slideLayout" Target="../slideLayouts/slideLayout15.xml"/><Relationship Id="rId4" Type="http://schemas.openxmlformats.org/officeDocument/2006/relationships/image" Target="../media/image54.png"/></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1.xml"/><Relationship Id="rId1" Type="http://schemas.openxmlformats.org/officeDocument/2006/relationships/slideLayout" Target="../slideLayouts/slideLayout15.xml"/><Relationship Id="rId4" Type="http://schemas.openxmlformats.org/officeDocument/2006/relationships/image" Target="../media/image57.png"/></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2.xml"/><Relationship Id="rId1" Type="http://schemas.openxmlformats.org/officeDocument/2006/relationships/slideLayout" Target="../slideLayouts/slideLayout15.xml"/><Relationship Id="rId4" Type="http://schemas.openxmlformats.org/officeDocument/2006/relationships/image" Target="../media/image5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3" Type="http://schemas.openxmlformats.org/officeDocument/2006/relationships/hyperlink" Target="https://getcomposer.org/" TargetMode="External"/><Relationship Id="rId2" Type="http://schemas.openxmlformats.org/officeDocument/2006/relationships/notesSlide" Target="../notesSlides/notesSlide51.xml"/><Relationship Id="rId1" Type="http://schemas.openxmlformats.org/officeDocument/2006/relationships/slideLayout" Target="../slideLayouts/slideLayout15.xml"/><Relationship Id="rId4" Type="http://schemas.openxmlformats.org/officeDocument/2006/relationships/image" Target="../media/image65.png"/></Relationships>
</file>

<file path=ppt/slides/_rels/slide6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2.xml"/><Relationship Id="rId1" Type="http://schemas.openxmlformats.org/officeDocument/2006/relationships/slideLayout" Target="../slideLayouts/slideLayout15.xml"/><Relationship Id="rId4" Type="http://schemas.openxmlformats.org/officeDocument/2006/relationships/image" Target="../media/image67.png"/></Relationships>
</file>

<file path=ppt/slides/_rels/slide6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3.xml"/><Relationship Id="rId1" Type="http://schemas.openxmlformats.org/officeDocument/2006/relationships/slideLayout" Target="../slideLayouts/slideLayout15.xml"/><Relationship Id="rId4" Type="http://schemas.openxmlformats.org/officeDocument/2006/relationships/image" Target="../media/image71.png"/></Relationships>
</file>

<file path=ppt/slides/_rels/slide7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6.xml"/></Relationships>
</file>

<file path=ppt/slides/_rels/slide7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6.xml"/></Relationships>
</file>

<file path=ppt/slides/_rels/slide7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6.xml"/></Relationships>
</file>

<file path=ppt/slides/_rels/slide7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6.xml"/></Relationships>
</file>

<file path=ppt/slides/_rels/slide7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5.xml"/><Relationship Id="rId1" Type="http://schemas.openxmlformats.org/officeDocument/2006/relationships/slideLayout" Target="../slideLayouts/slideLayout15.xml"/><Relationship Id="rId4" Type="http://schemas.openxmlformats.org/officeDocument/2006/relationships/image" Target="../media/image78.png"/></Relationships>
</file>

<file path=ppt/slides/_rels/slide7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6.xml"/><Relationship Id="rId1" Type="http://schemas.openxmlformats.org/officeDocument/2006/relationships/slideLayout" Target="../slideLayouts/slideLayout15.xml"/><Relationship Id="rId4" Type="http://schemas.openxmlformats.org/officeDocument/2006/relationships/image" Target="../media/image80.png"/></Relationships>
</file>

<file path=ppt/slides/_rels/slide7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8.xml"/><Relationship Id="rId1" Type="http://schemas.openxmlformats.org/officeDocument/2006/relationships/slideLayout" Target="../slideLayouts/slideLayout15.xml"/><Relationship Id="rId4" Type="http://schemas.openxmlformats.org/officeDocument/2006/relationships/image" Target="../media/image83.png"/></Relationships>
</file>

<file path=ppt/slides/_rels/slide8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63.xml"/><Relationship Id="rId1" Type="http://schemas.openxmlformats.org/officeDocument/2006/relationships/slideLayout" Target="../slideLayouts/slideLayout15.xml"/><Relationship Id="rId5" Type="http://schemas.openxmlformats.org/officeDocument/2006/relationships/image" Target="../media/image87.png"/><Relationship Id="rId4" Type="http://schemas.openxmlformats.org/officeDocument/2006/relationships/hyperlink" Target="https://www.softwaretestinghelp.com/wp-content/qa/uploads/2020/08/route-output.png" TargetMode="External"/></Relationships>
</file>

<file path=ppt/slides/_rels/slide8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4.xml"/><Relationship Id="rId1" Type="http://schemas.openxmlformats.org/officeDocument/2006/relationships/slideLayout" Target="../slideLayouts/slideLayout15.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8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7.xml"/><Relationship Id="rId1" Type="http://schemas.openxmlformats.org/officeDocument/2006/relationships/slideLayout" Target="../slideLayouts/slideLayout15.xml"/><Relationship Id="rId5" Type="http://schemas.openxmlformats.org/officeDocument/2006/relationships/image" Target="../media/image95.png"/><Relationship Id="rId4" Type="http://schemas.openxmlformats.org/officeDocument/2006/relationships/image" Target="../media/image9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9.xml"/><Relationship Id="rId1" Type="http://schemas.openxmlformats.org/officeDocument/2006/relationships/slideLayout" Target="../slideLayouts/slideLayout15.xml"/><Relationship Id="rId4" Type="http://schemas.openxmlformats.org/officeDocument/2006/relationships/image" Target="../media/image98.png"/></Relationships>
</file>

<file path=ppt/slides/_rels/slide9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70.xml"/><Relationship Id="rId1" Type="http://schemas.openxmlformats.org/officeDocument/2006/relationships/slideLayout" Target="../slideLayouts/slideLayout15.xml"/><Relationship Id="rId5" Type="http://schemas.openxmlformats.org/officeDocument/2006/relationships/image" Target="../media/image101.png"/><Relationship Id="rId4" Type="http://schemas.openxmlformats.org/officeDocument/2006/relationships/image" Target="../media/image100.png"/></Relationships>
</file>

<file path=ppt/slides/_rels/slide9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1.xml"/><Relationship Id="rId1" Type="http://schemas.openxmlformats.org/officeDocument/2006/relationships/slideLayout" Target="../slideLayouts/slideLayout15.xml"/><Relationship Id="rId4" Type="http://schemas.openxmlformats.org/officeDocument/2006/relationships/image" Target="../media/image102.png"/></Relationships>
</file>

<file path=ppt/slides/_rels/slide9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2.xml"/><Relationship Id="rId1" Type="http://schemas.openxmlformats.org/officeDocument/2006/relationships/slideLayout" Target="../slideLayouts/slideLayout15.xml"/><Relationship Id="rId5" Type="http://schemas.openxmlformats.org/officeDocument/2006/relationships/image" Target="../media/image105.png"/><Relationship Id="rId4" Type="http://schemas.openxmlformats.org/officeDocument/2006/relationships/image" Target="../media/image104.png"/></Relationships>
</file>

<file path=ppt/slides/_rels/slide98.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74.xml"/><Relationship Id="rId1" Type="http://schemas.openxmlformats.org/officeDocument/2006/relationships/slideLayout" Target="../slideLayouts/slideLayout15.xml"/></Relationships>
</file>

<file path=ppt/slides/_rels/slide10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75.xml"/><Relationship Id="rId1" Type="http://schemas.openxmlformats.org/officeDocument/2006/relationships/slideLayout" Target="../slideLayouts/slideLayout15.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10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76.xml"/><Relationship Id="rId1" Type="http://schemas.openxmlformats.org/officeDocument/2006/relationships/slideLayout" Target="../slideLayouts/slideLayout15.xml"/><Relationship Id="rId4" Type="http://schemas.openxmlformats.org/officeDocument/2006/relationships/image" Target="../media/image113.png"/></Relationships>
</file>

<file path=ppt/slides/_rels/slide103.xml.rels><?xml version="1.0" encoding="UTF-8" standalone="yes"?>
<Relationships xmlns="http://schemas.openxmlformats.org/package/2006/relationships"><Relationship Id="rId3" Type="http://schemas.openxmlformats.org/officeDocument/2006/relationships/hyperlink" Target="http://127.0.0.1:8000/assessment" TargetMode="External"/><Relationship Id="rId2" Type="http://schemas.openxmlformats.org/officeDocument/2006/relationships/notesSlide" Target="../notesSlides/notesSlide77.xml"/><Relationship Id="rId1" Type="http://schemas.openxmlformats.org/officeDocument/2006/relationships/slideLayout" Target="../slideLayouts/slideLayout15.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10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78.xml"/><Relationship Id="rId1" Type="http://schemas.openxmlformats.org/officeDocument/2006/relationships/slideLayout" Target="../slideLayouts/slideLayout15.xml"/><Relationship Id="rId4" Type="http://schemas.openxmlformats.org/officeDocument/2006/relationships/image" Target="../media/image118.png"/></Relationships>
</file>

<file path=ppt/slides/_rels/slide105.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79.xml"/><Relationship Id="rId1" Type="http://schemas.openxmlformats.org/officeDocument/2006/relationships/slideLayout" Target="../slideLayouts/slideLayout15.xml"/></Relationships>
</file>

<file path=ppt/slides/_rels/slide106.xml.rels><?xml version="1.0" encoding="UTF-8" standalone="yes"?>
<Relationships xmlns="http://schemas.openxmlformats.org/package/2006/relationships"><Relationship Id="rId3" Type="http://schemas.openxmlformats.org/officeDocument/2006/relationships/hyperlink" Target="http://127.0.0.1:8000/hellocon" TargetMode="External"/><Relationship Id="rId2" Type="http://schemas.openxmlformats.org/officeDocument/2006/relationships/notesSlide" Target="../notesSlides/notesSlide80.xml"/><Relationship Id="rId1" Type="http://schemas.openxmlformats.org/officeDocument/2006/relationships/slideLayout" Target="../slideLayouts/slideLayout15.xml"/><Relationship Id="rId4" Type="http://schemas.openxmlformats.org/officeDocument/2006/relationships/image" Target="../media/image120.png"/></Relationships>
</file>

<file path=ppt/slides/_rels/slide10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81.xml"/><Relationship Id="rId1" Type="http://schemas.openxmlformats.org/officeDocument/2006/relationships/slideLayout" Target="../slideLayouts/slideLayout15.xml"/><Relationship Id="rId4" Type="http://schemas.openxmlformats.org/officeDocument/2006/relationships/image" Target="../media/image122.png"/></Relationships>
</file>

<file path=ppt/slides/_rels/slide108.xml.rels><?xml version="1.0" encoding="UTF-8" standalone="yes"?>
<Relationships xmlns="http://schemas.openxmlformats.org/package/2006/relationships"><Relationship Id="rId3" Type="http://schemas.openxmlformats.org/officeDocument/2006/relationships/hyperlink" Target="http://127.0.0.1:8000/login" TargetMode="External"/><Relationship Id="rId2" Type="http://schemas.openxmlformats.org/officeDocument/2006/relationships/notesSlide" Target="../notesSlides/notesSlide82.xml"/><Relationship Id="rId1" Type="http://schemas.openxmlformats.org/officeDocument/2006/relationships/slideLayout" Target="../slideLayouts/slideLayout15.xml"/><Relationship Id="rId6" Type="http://schemas.openxmlformats.org/officeDocument/2006/relationships/image" Target="../media/image125.png"/><Relationship Id="rId5" Type="http://schemas.openxmlformats.org/officeDocument/2006/relationships/image" Target="../media/image124.png"/><Relationship Id="rId4" Type="http://schemas.openxmlformats.org/officeDocument/2006/relationships/image" Target="../media/image123.png"/></Relationships>
</file>

<file path=ppt/slides/_rels/slide10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83.xml"/><Relationship Id="rId1" Type="http://schemas.openxmlformats.org/officeDocument/2006/relationships/slideLayout" Target="../slideLayouts/slideLayout15.xml"/><Relationship Id="rId5" Type="http://schemas.openxmlformats.org/officeDocument/2006/relationships/image" Target="../media/image127.png"/><Relationship Id="rId4" Type="http://schemas.openxmlformats.org/officeDocument/2006/relationships/image" Target="../media/image126.png"/></Relationships>
</file>

<file path=ppt/slides/_rels/slide110.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84.xml"/><Relationship Id="rId1" Type="http://schemas.openxmlformats.org/officeDocument/2006/relationships/slideLayout" Target="../slideLayouts/slideLayout15.xml"/><Relationship Id="rId5" Type="http://schemas.openxmlformats.org/officeDocument/2006/relationships/image" Target="../media/image130.png"/><Relationship Id="rId4" Type="http://schemas.openxmlformats.org/officeDocument/2006/relationships/image" Target="../media/image129.png"/></Relationships>
</file>

<file path=ppt/slides/_rels/slide11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85.xml"/><Relationship Id="rId1" Type="http://schemas.openxmlformats.org/officeDocument/2006/relationships/slideLayout" Target="../slideLayouts/slideLayout15.xml"/><Relationship Id="rId4" Type="http://schemas.openxmlformats.org/officeDocument/2006/relationships/image" Target="../media/image127.png"/></Relationships>
</file>

<file path=ppt/slides/_rels/slide11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86.xml"/><Relationship Id="rId1" Type="http://schemas.openxmlformats.org/officeDocument/2006/relationships/slideLayout" Target="../slideLayouts/slideLayout15.xml"/><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3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87.xml"/><Relationship Id="rId1" Type="http://schemas.openxmlformats.org/officeDocument/2006/relationships/slideLayout" Target="../slideLayouts/slideLayout15.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136.png"/></Relationships>
</file>

<file path=ppt/slides/_rels/slide115.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88.xml"/><Relationship Id="rId1" Type="http://schemas.openxmlformats.org/officeDocument/2006/relationships/slideLayout" Target="../slideLayouts/slideLayout15.xml"/><Relationship Id="rId4" Type="http://schemas.openxmlformats.org/officeDocument/2006/relationships/image" Target="../media/image140.png"/></Relationships>
</file>

<file path=ppt/slides/_rels/slide11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89.xml"/><Relationship Id="rId1" Type="http://schemas.openxmlformats.org/officeDocument/2006/relationships/slideLayout" Target="../slideLayouts/slideLayout15.xml"/><Relationship Id="rId4" Type="http://schemas.openxmlformats.org/officeDocument/2006/relationships/image" Target="../media/image14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8.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90.xml"/><Relationship Id="rId1" Type="http://schemas.openxmlformats.org/officeDocument/2006/relationships/slideLayout" Target="../slideLayouts/slideLayout15.xml"/><Relationship Id="rId4" Type="http://schemas.openxmlformats.org/officeDocument/2006/relationships/image" Target="../media/image144.png"/></Relationships>
</file>

<file path=ppt/slides/_rels/slide119.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91.xml"/><Relationship Id="rId1" Type="http://schemas.openxmlformats.org/officeDocument/2006/relationships/slideLayout" Target="../slideLayouts/slideLayout15.xml"/><Relationship Id="rId4" Type="http://schemas.openxmlformats.org/officeDocument/2006/relationships/image" Target="../media/image146.png"/></Relationships>
</file>

<file path=ppt/slides/_rels/slide120.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92.xml"/><Relationship Id="rId1" Type="http://schemas.openxmlformats.org/officeDocument/2006/relationships/slideLayout" Target="../slideLayouts/slideLayout15.xml"/><Relationship Id="rId4" Type="http://schemas.openxmlformats.org/officeDocument/2006/relationships/image" Target="../media/image148.png"/></Relationships>
</file>

<file path=ppt/slides/_rels/slide121.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93.xml"/><Relationship Id="rId1" Type="http://schemas.openxmlformats.org/officeDocument/2006/relationships/slideLayout" Target="../slideLayouts/slideLayout15.xml"/><Relationship Id="rId4" Type="http://schemas.openxmlformats.org/officeDocument/2006/relationships/image" Target="../media/image150.png"/></Relationships>
</file>

<file path=ppt/slides/_rels/slide122.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94.xml"/><Relationship Id="rId1" Type="http://schemas.openxmlformats.org/officeDocument/2006/relationships/slideLayout" Target="../slideLayouts/slideLayout15.xml"/><Relationship Id="rId4" Type="http://schemas.openxmlformats.org/officeDocument/2006/relationships/image" Target="../media/image152.png"/></Relationships>
</file>

<file path=ppt/slides/_rels/slide123.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95.xml"/><Relationship Id="rId1" Type="http://schemas.openxmlformats.org/officeDocument/2006/relationships/slideLayout" Target="../slideLayouts/slideLayout15.xml"/></Relationships>
</file>

<file path=ppt/slides/_rels/slide124.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96.xml"/><Relationship Id="rId1" Type="http://schemas.openxmlformats.org/officeDocument/2006/relationships/slideLayout" Target="../slideLayouts/slideLayout15.xml"/><Relationship Id="rId5" Type="http://schemas.openxmlformats.org/officeDocument/2006/relationships/image" Target="../media/image156.png"/><Relationship Id="rId4" Type="http://schemas.openxmlformats.org/officeDocument/2006/relationships/image" Target="../media/image155.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5.xml"/></Relationships>
</file>

<file path=ppt/slides/_rels/slide127.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98.xml"/><Relationship Id="rId1" Type="http://schemas.openxmlformats.org/officeDocument/2006/relationships/slideLayout" Target="../slideLayouts/slideLayout15.xml"/><Relationship Id="rId4" Type="http://schemas.openxmlformats.org/officeDocument/2006/relationships/image" Target="../media/image158.png"/></Relationships>
</file>

<file path=ppt/slides/_rels/slide128.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99.xml"/><Relationship Id="rId1" Type="http://schemas.openxmlformats.org/officeDocument/2006/relationships/slideLayout" Target="../slideLayouts/slideLayout15.xml"/><Relationship Id="rId4" Type="http://schemas.openxmlformats.org/officeDocument/2006/relationships/image" Target="../media/image160.png"/></Relationships>
</file>

<file path=ppt/slides/_rels/slide129.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100.xml"/><Relationship Id="rId1" Type="http://schemas.openxmlformats.org/officeDocument/2006/relationships/slideLayout" Target="../slideLayouts/slideLayout15.xml"/><Relationship Id="rId4" Type="http://schemas.openxmlformats.org/officeDocument/2006/relationships/image" Target="../media/image16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5.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ctrTitle"/>
          </p:nvPr>
        </p:nvSpPr>
        <p:spPr>
          <a:xfrm>
            <a:off x="407368" y="3561429"/>
            <a:ext cx="11665296" cy="936104"/>
          </a:xfrm>
        </p:spPr>
        <p:txBody>
          <a:bodyPr/>
          <a:lstStyle/>
          <a:p>
            <a:pPr algn="ctr">
              <a:lnSpc>
                <a:spcPct val="150000"/>
              </a:lnSpc>
            </a:pPr>
            <a:r>
              <a:rPr lang="en-GB" sz="2400" dirty="0">
                <a:latin typeface="Armata" panose="020B0503040500060204" pitchFamily="34" charset="0"/>
              </a:rPr>
              <a:t>DEPARTMENT OF COMPUTER SCIENCE &amp; ENGINEERING</a:t>
            </a:r>
          </a:p>
        </p:txBody>
      </p:sp>
      <p:sp>
        <p:nvSpPr>
          <p:cNvPr id="2" name="Subtitle 1"/>
          <p:cNvSpPr>
            <a:spLocks noGrp="1"/>
          </p:cNvSpPr>
          <p:nvPr>
            <p:ph type="subTitle" idx="1"/>
          </p:nvPr>
        </p:nvSpPr>
        <p:spPr>
          <a:xfrm>
            <a:off x="1626200" y="4221088"/>
            <a:ext cx="8928992" cy="576064"/>
          </a:xfrm>
        </p:spPr>
        <p:txBody>
          <a:bodyPr/>
          <a:lstStyle/>
          <a:p>
            <a:pPr algn="ctr"/>
            <a:r>
              <a:rPr lang="en-US" dirty="0"/>
              <a:t>CST463 </a:t>
            </a:r>
            <a:r>
              <a:rPr lang="en-US" dirty="0">
                <a:latin typeface="Open Sans" panose="020B0606030504020204" pitchFamily="34" charset="0"/>
                <a:ea typeface="Open Sans" panose="020B0606030504020204" pitchFamily="34" charset="0"/>
                <a:cs typeface="Open Sans" panose="020B0606030504020204" pitchFamily="34" charset="0"/>
              </a:rPr>
              <a:t>- </a:t>
            </a:r>
            <a:r>
              <a:rPr lang="en-US" dirty="0"/>
              <a:t>WEB PROGRAMMING</a:t>
            </a:r>
          </a:p>
        </p:txBody>
      </p:sp>
      <p:sp>
        <p:nvSpPr>
          <p:cNvPr id="7" name="Subtitle 1"/>
          <p:cNvSpPr txBox="1">
            <a:spLocks/>
          </p:cNvSpPr>
          <p:nvPr/>
        </p:nvSpPr>
        <p:spPr>
          <a:xfrm>
            <a:off x="4125554" y="5683946"/>
            <a:ext cx="3076796" cy="315416"/>
          </a:xfrm>
          <a:prstGeom prst="rect">
            <a:avLst/>
          </a:prstGeom>
        </p:spPr>
        <p:txBody>
          <a:bodyPr vert="horz" lIns="0" tIns="0" rIns="0" bIns="0" rtlCol="0" anchor="t" anchorCtr="0">
            <a:noAutofit/>
          </a:bodyPr>
          <a:lstStyle>
            <a:lvl1pPr marL="0" indent="0" algn="l" defTabSz="914400" rtl="0" eaLnBrk="1" latinLnBrk="0" hangingPunct="1">
              <a:spcBef>
                <a:spcPct val="20000"/>
              </a:spcBef>
              <a:buClr>
                <a:schemeClr val="accent2"/>
              </a:buClr>
              <a:buSzPct val="70000"/>
              <a:buFont typeface="Arial" pitchFamily="34" charset="0"/>
              <a:buNone/>
              <a:defRPr sz="2000" kern="1200">
                <a:solidFill>
                  <a:schemeClr val="bg2"/>
                </a:solidFill>
                <a:latin typeface="+mn-lt"/>
                <a:ea typeface="+mn-ea"/>
                <a:cs typeface="+mn-cs"/>
              </a:defRPr>
            </a:lvl1pPr>
            <a:lvl2pPr marL="0" indent="0" algn="l" defTabSz="914400" rtl="0" eaLnBrk="1" latinLnBrk="0" hangingPunct="1">
              <a:spcBef>
                <a:spcPct val="20000"/>
              </a:spcBef>
              <a:buClr>
                <a:schemeClr val="accent2"/>
              </a:buClr>
              <a:buSzPct val="70000"/>
              <a:buFont typeface="Arial" pitchFamily="34" charset="0"/>
              <a:buNone/>
              <a:defRPr sz="1600" kern="1200">
                <a:solidFill>
                  <a:schemeClr val="bg2"/>
                </a:solidFill>
                <a:latin typeface="+mn-lt"/>
                <a:ea typeface="+mn-ea"/>
                <a:cs typeface="+mn-cs"/>
              </a:defRPr>
            </a:lvl2pPr>
            <a:lvl3pPr marL="914400" indent="0" algn="ctr" defTabSz="914400" rtl="0" eaLnBrk="1" latinLnBrk="0" hangingPunct="1">
              <a:spcBef>
                <a:spcPct val="20000"/>
              </a:spcBef>
              <a:buClr>
                <a:schemeClr val="accent2"/>
              </a:buClr>
              <a:buSzPct val="70000"/>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2"/>
              </a:buClr>
              <a:buSzPct val="70000"/>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2"/>
              </a:buClr>
              <a:buSzPct val="70000"/>
              <a:buFont typeface="Arial"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ctr"/>
            <a:fld id="{DEAD4673-6CAE-464D-9126-8443A17B3EEC}" type="datetime3">
              <a:rPr lang="en-US" sz="1400" smtClean="0">
                <a:latin typeface="Open Sans" panose="020B0606030504020204" pitchFamily="34" charset="0"/>
                <a:ea typeface="Open Sans" panose="020B0606030504020204" pitchFamily="34" charset="0"/>
                <a:cs typeface="Open Sans" panose="020B0606030504020204" pitchFamily="34" charset="0"/>
              </a:rPr>
              <a:pPr algn="ctr"/>
              <a:t>10 November 2025</a:t>
            </a:fld>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0470868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84EAC596-008A-4E62-9DE5-44A3DC6DB0BE}"/>
              </a:ext>
            </a:extLst>
          </p:cNvPr>
          <p:cNvGrpSpPr/>
          <p:nvPr/>
        </p:nvGrpSpPr>
        <p:grpSpPr>
          <a:xfrm>
            <a:off x="0" y="0"/>
            <a:ext cx="12192000" cy="6858000"/>
            <a:chOff x="0" y="0"/>
            <a:chExt cx="12192000" cy="6858000"/>
          </a:xfrm>
        </p:grpSpPr>
        <p:sp>
          <p:nvSpPr>
            <p:cNvPr id="8" name="Rectangle 7">
              <a:extLst>
                <a:ext uri="{FF2B5EF4-FFF2-40B4-BE49-F238E27FC236}">
                  <a16:creationId xmlns:a16="http://schemas.microsoft.com/office/drawing/2014/main" id="{C491EBE2-4822-45B7-AC9B-E1F36232F83D}"/>
                </a:ext>
              </a:extLst>
            </p:cNvPr>
            <p:cNvSpPr/>
            <p:nvPr/>
          </p:nvSpPr>
          <p:spPr>
            <a:xfrm>
              <a:off x="0" y="0"/>
              <a:ext cx="12192000" cy="6858000"/>
            </a:xfrm>
            <a:prstGeom prst="rect">
              <a:avLst/>
            </a:prstGeom>
            <a:solidFill>
              <a:srgbClr val="F3C900"/>
            </a:solidFill>
            <a:ln>
              <a:solidFill>
                <a:srgbClr val="F3C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3C900"/>
                </a:solidFill>
              </a:endParaRPr>
            </a:p>
          </p:txBody>
        </p:sp>
        <p:sp>
          <p:nvSpPr>
            <p:cNvPr id="9" name="Rectangle 8">
              <a:extLst>
                <a:ext uri="{FF2B5EF4-FFF2-40B4-BE49-F238E27FC236}">
                  <a16:creationId xmlns:a16="http://schemas.microsoft.com/office/drawing/2014/main" id="{4DD8927A-5832-42CF-B507-344B633EDBA7}"/>
                </a:ext>
              </a:extLst>
            </p:cNvPr>
            <p:cNvSpPr/>
            <p:nvPr/>
          </p:nvSpPr>
          <p:spPr>
            <a:xfrm>
              <a:off x="0" y="4785360"/>
              <a:ext cx="12192000" cy="2072640"/>
            </a:xfrm>
            <a:prstGeom prst="rect">
              <a:avLst/>
            </a:prstGeom>
            <a:solidFill>
              <a:srgbClr val="505050"/>
            </a:solidFill>
            <a:ln>
              <a:solidFill>
                <a:srgbClr val="50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44" name="Picture 20" descr="Power BI DATEDIFF only working days, hours and so on... • Tomasz Poszytek,  Business Applications MVP">
              <a:extLst>
                <a:ext uri="{FF2B5EF4-FFF2-40B4-BE49-F238E27FC236}">
                  <a16:creationId xmlns:a16="http://schemas.microsoft.com/office/drawing/2014/main" id="{C5C4553B-D589-4EEB-AD82-80951C03FF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918"/>
            <a:stretch/>
          </p:blipFill>
          <p:spPr bwMode="auto">
            <a:xfrm>
              <a:off x="6855033" y="1150621"/>
              <a:ext cx="4674027" cy="51816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988F4FA0-B89B-4866-80ED-9FEFA0C6884C}"/>
                </a:ext>
              </a:extLst>
            </p:cNvPr>
            <p:cNvSpPr/>
            <p:nvPr/>
          </p:nvSpPr>
          <p:spPr>
            <a:xfrm>
              <a:off x="336370" y="1551563"/>
              <a:ext cx="184731" cy="1107996"/>
            </a:xfrm>
            <a:prstGeom prst="rect">
              <a:avLst/>
            </a:prstGeom>
            <a:noFill/>
          </p:spPr>
          <p:txBody>
            <a:bodyPr wrap="none" lIns="91440" tIns="45720" rIns="91440" bIns="45720">
              <a:spAutoFit/>
            </a:bodyPr>
            <a:lstStyle/>
            <a:p>
              <a:endParaRPr lang="en-US" sz="6600" b="0" cap="none" spc="0" dirty="0">
                <a:ln w="0"/>
                <a:solidFill>
                  <a:schemeClr val="tx1"/>
                </a:solidFill>
                <a:effectLst>
                  <a:outerShdw blurRad="38100" dist="19050" dir="2700000" algn="tl" rotWithShape="0">
                    <a:schemeClr val="dk1">
                      <a:alpha val="40000"/>
                    </a:schemeClr>
                  </a:outerShdw>
                </a:effectLst>
              </a:endParaRPr>
            </a:p>
          </p:txBody>
        </p:sp>
      </p:grpSp>
      <p:sp>
        <p:nvSpPr>
          <p:cNvPr id="6" name="TextBox 5">
            <a:extLst>
              <a:ext uri="{FF2B5EF4-FFF2-40B4-BE49-F238E27FC236}">
                <a16:creationId xmlns:a16="http://schemas.microsoft.com/office/drawing/2014/main" id="{A614C452-4AE1-45D8-A4E2-0018C5D5A0E1}"/>
              </a:ext>
            </a:extLst>
          </p:cNvPr>
          <p:cNvSpPr txBox="1"/>
          <p:nvPr/>
        </p:nvSpPr>
        <p:spPr>
          <a:xfrm>
            <a:off x="153376" y="224064"/>
            <a:ext cx="8856984" cy="846386"/>
          </a:xfrm>
          <a:prstGeom prst="rect">
            <a:avLst/>
          </a:prstGeom>
          <a:noFill/>
        </p:spPr>
        <p:txBody>
          <a:bodyPr wrap="square" lIns="0" tIns="36576" rIns="0" bIns="0" rtlCol="0">
            <a:spAutoFit/>
          </a:bodyPr>
          <a:lstStyle/>
          <a:p>
            <a:pPr>
              <a:lnSpc>
                <a:spcPct val="85000"/>
              </a:lnSpc>
              <a:spcAft>
                <a:spcPts val="600"/>
              </a:spcAft>
              <a:buClr>
                <a:schemeClr val="accent2"/>
              </a:buClr>
              <a:buSzPct val="70000"/>
            </a:pPr>
            <a:r>
              <a:rPr lang="en-US" sz="4400" dirty="0"/>
              <a:t>CST463 </a:t>
            </a:r>
            <a:r>
              <a:rPr lang="en-US" sz="4400" dirty="0">
                <a:latin typeface="Open Sans" panose="020B0606030504020204" pitchFamily="34" charset="0"/>
                <a:ea typeface="Open Sans" panose="020B0606030504020204" pitchFamily="34" charset="0"/>
                <a:cs typeface="Open Sans" panose="020B0606030504020204" pitchFamily="34" charset="0"/>
              </a:rPr>
              <a:t>- </a:t>
            </a:r>
            <a:r>
              <a:rPr lang="en-US" sz="4400" dirty="0"/>
              <a:t>WEB PROGRAMMING</a:t>
            </a:r>
          </a:p>
          <a:p>
            <a:pPr marL="285750" indent="-285750">
              <a:lnSpc>
                <a:spcPct val="85000"/>
              </a:lnSpc>
              <a:spcAft>
                <a:spcPts val="600"/>
              </a:spcAft>
              <a:buClr>
                <a:schemeClr val="accent2"/>
              </a:buClr>
              <a:buSzPct val="70000"/>
              <a:buFont typeface="Arial" pitchFamily="34" charset="0"/>
              <a:buChar char="►"/>
            </a:pPr>
            <a:endParaRPr lang="en-US" sz="1200" dirty="0"/>
          </a:p>
        </p:txBody>
      </p:sp>
    </p:spTree>
    <p:extLst>
      <p:ext uri="{BB962C8B-B14F-4D97-AF65-F5344CB8AC3E}">
        <p14:creationId xmlns:p14="http://schemas.microsoft.com/office/powerpoint/2010/main" val="2603454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335360" y="1268761"/>
            <a:ext cx="10657184" cy="1512168"/>
          </a:xfrm>
        </p:spPr>
        <p:txBody>
          <a:bodyPr/>
          <a:lstStyle/>
          <a:p>
            <a:pPr algn="just"/>
            <a:r>
              <a:rPr lang="en-US" dirty="0"/>
              <a:t> Module- 5 (JSON, Laravel)</a:t>
            </a:r>
          </a:p>
          <a:p>
            <a:pPr algn="just"/>
            <a:r>
              <a:rPr lang="en-US" dirty="0"/>
              <a:t> JSON Data Interchange Format: Syntax, Data Types, Object, JSON Schema, Manipulating JSON data with PHP Web</a:t>
            </a:r>
          </a:p>
          <a:p>
            <a:pPr algn="just"/>
            <a:endParaRPr lang="en-US" dirty="0"/>
          </a:p>
          <a:p>
            <a:pPr algn="just"/>
            <a:r>
              <a:rPr lang="en-US" dirty="0"/>
              <a:t> Development Frameworks: Laravel Overview-Features of Laravel-Setting up a Laravel Development Environment-Application structure of Laravel-Routing -Middleware- Controllers Route Model Binding-Views-Redirections-Request and Responses.</a:t>
            </a: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23391" y="355502"/>
            <a:ext cx="9204101" cy="634605"/>
          </a:xfrm>
        </p:spPr>
        <p:txBody>
          <a:bodyPr vert="horz" lIns="0" tIns="0" rIns="0" bIns="0" rtlCol="0" anchor="t" anchorCtr="0">
            <a:noAutofit/>
          </a:bodyPr>
          <a:lstStyle/>
          <a:p>
            <a:r>
              <a:rPr lang="en-US" dirty="0">
                <a:latin typeface="Armata" panose="020B0503040500060204" pitchFamily="34" charset="0"/>
              </a:rPr>
              <a:t>Module 5  (CO3,</a:t>
            </a:r>
            <a:r>
              <a:rPr lang="en-IN" dirty="0"/>
              <a:t> Cognitive Knowledge Level: Apply</a:t>
            </a:r>
            <a:r>
              <a:rPr lang="en-US" dirty="0">
                <a:latin typeface="Armata" panose="020B0503040500060204" pitchFamily="34" charset="0"/>
              </a:rPr>
              <a:t>)</a:t>
            </a:r>
          </a:p>
        </p:txBody>
      </p:sp>
    </p:spTree>
    <p:extLst>
      <p:ext uri="{BB962C8B-B14F-4D97-AF65-F5344CB8AC3E}">
        <p14:creationId xmlns:p14="http://schemas.microsoft.com/office/powerpoint/2010/main" val="9680358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just"/>
            <a:r>
              <a:rPr lang="en-US" dirty="0"/>
              <a:t> JSON Data Interchange Format</a:t>
            </a:r>
          </a:p>
        </p:txBody>
      </p:sp>
    </p:spTree>
    <p:extLst>
      <p:ext uri="{BB962C8B-B14F-4D97-AF65-F5344CB8AC3E}">
        <p14:creationId xmlns:p14="http://schemas.microsoft.com/office/powerpoint/2010/main" val="178979477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pPr>
              <a:defRPr/>
            </a:pPr>
            <a:r>
              <a:rPr lang="en-US" dirty="0"/>
              <a:t>JSON or JavaScript Object Notation is a </a:t>
            </a:r>
            <a:r>
              <a:rPr lang="en-US" dirty="0">
                <a:highlight>
                  <a:srgbClr val="FFFF00"/>
                </a:highlight>
              </a:rPr>
              <a:t>lightweight text-based open standard for human-readable data interchange</a:t>
            </a:r>
            <a:r>
              <a:rPr lang="en-US" dirty="0"/>
              <a:t>. </a:t>
            </a:r>
          </a:p>
          <a:p>
            <a:pPr>
              <a:defRPr/>
            </a:pPr>
            <a:r>
              <a:rPr lang="en-US" dirty="0"/>
              <a:t>Conventions used by JSON are known to programmers, which include C, C++, Java, Python, Perl, etc. </a:t>
            </a:r>
          </a:p>
          <a:p>
            <a:pPr>
              <a:defRPr/>
            </a:pPr>
            <a:r>
              <a:rPr lang="en-US" dirty="0"/>
              <a:t> JSON stands for JavaScript Object Notation. </a:t>
            </a:r>
          </a:p>
          <a:p>
            <a:pPr>
              <a:defRPr/>
            </a:pPr>
            <a:r>
              <a:rPr lang="en-US" dirty="0"/>
              <a:t> Douglas Crockford specified the format. </a:t>
            </a:r>
          </a:p>
          <a:p>
            <a:pPr>
              <a:defRPr/>
            </a:pPr>
            <a:r>
              <a:rPr lang="en-US" dirty="0"/>
              <a:t> It was designed for human-readable data interchange. </a:t>
            </a:r>
          </a:p>
          <a:p>
            <a:pPr>
              <a:defRPr/>
            </a:pPr>
            <a:r>
              <a:rPr lang="en-US" dirty="0"/>
              <a:t> It has been </a:t>
            </a:r>
            <a:r>
              <a:rPr lang="en-US" dirty="0">
                <a:highlight>
                  <a:srgbClr val="FFFF00"/>
                </a:highlight>
              </a:rPr>
              <a:t>extended from the JavaScript scripting language</a:t>
            </a:r>
            <a:r>
              <a:rPr lang="en-US" dirty="0"/>
              <a:t>. </a:t>
            </a:r>
          </a:p>
          <a:p>
            <a:pPr>
              <a:defRPr/>
            </a:pPr>
            <a:r>
              <a:rPr lang="en-US" dirty="0"/>
              <a:t> The filename extension is .json. </a:t>
            </a:r>
          </a:p>
          <a:p>
            <a:pPr>
              <a:defRPr/>
            </a:pPr>
            <a:r>
              <a:rPr lang="en-US" dirty="0"/>
              <a:t> JSON Internet Media type is </a:t>
            </a:r>
            <a:r>
              <a:rPr lang="en-US" i="1" dirty="0"/>
              <a:t>application/json</a:t>
            </a:r>
            <a:r>
              <a:rPr lang="en-US" dirty="0"/>
              <a:t>. The Uniform Type Identifier is </a:t>
            </a:r>
            <a:r>
              <a:rPr lang="en-US" dirty="0" err="1"/>
              <a:t>public.json</a:t>
            </a:r>
            <a:r>
              <a:rPr lang="en-US" dirty="0"/>
              <a:t>.</a:t>
            </a:r>
            <a:endParaRPr lang="en-IN" dirty="0">
              <a:solidFill>
                <a:schemeClr val="accent1"/>
              </a:solidFill>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a:t>
            </a:r>
          </a:p>
        </p:txBody>
      </p:sp>
    </p:spTree>
    <p:extLst>
      <p:ext uri="{BB962C8B-B14F-4D97-AF65-F5344CB8AC3E}">
        <p14:creationId xmlns:p14="http://schemas.microsoft.com/office/powerpoint/2010/main" val="247814863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pPr>
              <a:defRPr/>
            </a:pPr>
            <a:r>
              <a:rPr lang="en-US" dirty="0"/>
              <a:t>JSON: JavaScript Object Notation. </a:t>
            </a:r>
          </a:p>
          <a:p>
            <a:pPr>
              <a:defRPr/>
            </a:pPr>
            <a:r>
              <a:rPr lang="en-US" dirty="0"/>
              <a:t> JSON is a </a:t>
            </a:r>
            <a:r>
              <a:rPr lang="en-US" dirty="0">
                <a:highlight>
                  <a:srgbClr val="FFFF00"/>
                </a:highlight>
              </a:rPr>
              <a:t>syntax for storing and exchanging data</a:t>
            </a:r>
            <a:r>
              <a:rPr lang="en-US" dirty="0"/>
              <a:t>. </a:t>
            </a:r>
          </a:p>
          <a:p>
            <a:pPr>
              <a:defRPr/>
            </a:pPr>
            <a:r>
              <a:rPr lang="en-US" dirty="0"/>
              <a:t> JSON is text, written with JavaScript object notation. </a:t>
            </a:r>
          </a:p>
          <a:p>
            <a:pPr>
              <a:defRPr/>
            </a:pPr>
            <a:r>
              <a:rPr lang="en-US" dirty="0"/>
              <a:t> JSON is a lightweight data-interchange  format</a:t>
            </a:r>
          </a:p>
          <a:p>
            <a:pPr>
              <a:defRPr/>
            </a:pPr>
            <a:r>
              <a:rPr lang="en-US" dirty="0"/>
              <a:t> </a:t>
            </a:r>
            <a:r>
              <a:rPr lang="en-US" dirty="0">
                <a:highlight>
                  <a:srgbClr val="FFFF00"/>
                </a:highlight>
              </a:rPr>
              <a:t>JSON is "self-describing" and easy to understand</a:t>
            </a:r>
            <a:r>
              <a:rPr lang="en-US" dirty="0"/>
              <a:t> </a:t>
            </a:r>
          </a:p>
          <a:p>
            <a:pPr>
              <a:defRPr/>
            </a:pPr>
            <a:r>
              <a:rPr lang="en-US" dirty="0"/>
              <a:t>JSON is language independent </a:t>
            </a:r>
          </a:p>
          <a:p>
            <a:pPr>
              <a:defRPr/>
            </a:pPr>
            <a:r>
              <a:rPr lang="en-US" dirty="0"/>
              <a:t> JSON uses JavaScript syntax, but the JSON format is text only. </a:t>
            </a:r>
          </a:p>
          <a:p>
            <a:pPr>
              <a:defRPr/>
            </a:pPr>
            <a:r>
              <a:rPr lang="en-US" dirty="0"/>
              <a:t> Text can be read and used as a data format by any programming language.</a:t>
            </a:r>
          </a:p>
          <a:p>
            <a:pPr>
              <a:defRPr/>
            </a:pPr>
            <a:r>
              <a:rPr lang="en-US" dirty="0"/>
              <a:t>JavaScript has a </a:t>
            </a:r>
            <a:r>
              <a:rPr lang="en-US" dirty="0">
                <a:highlight>
                  <a:srgbClr val="FFFF00"/>
                </a:highlight>
              </a:rPr>
              <a:t>built-in function to convert a string</a:t>
            </a:r>
            <a:r>
              <a:rPr lang="en-US" dirty="0"/>
              <a:t>, written in JSON format, into native JavaScript objects: </a:t>
            </a:r>
            <a:r>
              <a:rPr lang="en-US" dirty="0" err="1"/>
              <a:t>JSON.parse</a:t>
            </a:r>
            <a:r>
              <a:rPr lang="en-US" dirty="0"/>
              <a:t>()</a:t>
            </a:r>
            <a:endParaRPr lang="en-IN" dirty="0">
              <a:solidFill>
                <a:schemeClr val="accent1"/>
              </a:solidFill>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JSON-OVERVIEW</a:t>
            </a:r>
          </a:p>
        </p:txBody>
      </p:sp>
    </p:spTree>
    <p:extLst>
      <p:ext uri="{BB962C8B-B14F-4D97-AF65-F5344CB8AC3E}">
        <p14:creationId xmlns:p14="http://schemas.microsoft.com/office/powerpoint/2010/main" val="73905159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pPr>
              <a:defRPr/>
            </a:pPr>
            <a:r>
              <a:rPr lang="en-US" dirty="0"/>
              <a:t>The JSON syntax is a subset of the JavaScript syntax. </a:t>
            </a:r>
          </a:p>
          <a:p>
            <a:pPr>
              <a:defRPr/>
            </a:pPr>
            <a:r>
              <a:rPr lang="en-US" dirty="0"/>
              <a:t> </a:t>
            </a:r>
            <a:r>
              <a:rPr lang="en-US" dirty="0">
                <a:highlight>
                  <a:srgbClr val="FFFF00"/>
                </a:highlight>
              </a:rPr>
              <a:t>JSON syntax is derived from JavaScript object syntax</a:t>
            </a:r>
            <a:r>
              <a:rPr lang="en-US" dirty="0"/>
              <a:t>: </a:t>
            </a:r>
          </a:p>
          <a:p>
            <a:pPr>
              <a:defRPr/>
            </a:pPr>
            <a:r>
              <a:rPr lang="en-US" dirty="0"/>
              <a:t>Data is in name/value pairs. Data is separated by commas </a:t>
            </a:r>
          </a:p>
          <a:p>
            <a:pPr>
              <a:defRPr/>
            </a:pPr>
            <a:r>
              <a:rPr lang="en-US" dirty="0"/>
              <a:t>Curly braces hold objects and each name is followed by ':'(colon), the name/value pairs are separated by, (comma). </a:t>
            </a:r>
          </a:p>
          <a:p>
            <a:pPr>
              <a:defRPr/>
            </a:pPr>
            <a:r>
              <a:rPr lang="en-US" dirty="0"/>
              <a:t>Square brackets hold arrays and values are separated by,(comma). </a:t>
            </a:r>
          </a:p>
          <a:p>
            <a:pPr>
              <a:defRPr/>
            </a:pPr>
            <a:r>
              <a:rPr lang="en-US" dirty="0"/>
              <a:t>JSON supports the following two data structures: </a:t>
            </a:r>
          </a:p>
          <a:p>
            <a:pPr lvl="1">
              <a:defRPr/>
            </a:pPr>
            <a:r>
              <a:rPr lang="en-US" dirty="0"/>
              <a:t> Collection of name/value pairs:</a:t>
            </a:r>
          </a:p>
          <a:p>
            <a:pPr lvl="2">
              <a:defRPr/>
            </a:pPr>
            <a:r>
              <a:rPr lang="en-US" sz="2000" dirty="0"/>
              <a:t> This Data Structure is supported by different programming languages. </a:t>
            </a:r>
          </a:p>
          <a:p>
            <a:pPr lvl="1">
              <a:defRPr/>
            </a:pPr>
            <a:r>
              <a:rPr lang="en-US" dirty="0"/>
              <a:t> Ordered list of values</a:t>
            </a:r>
          </a:p>
          <a:p>
            <a:pPr lvl="2">
              <a:defRPr/>
            </a:pPr>
            <a:r>
              <a:rPr lang="en-US" sz="2000" dirty="0"/>
              <a:t> It includes array, list, vector or sequence etc.</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JSON-Syntax</a:t>
            </a:r>
          </a:p>
        </p:txBody>
      </p:sp>
    </p:spTree>
    <p:extLst>
      <p:ext uri="{BB962C8B-B14F-4D97-AF65-F5344CB8AC3E}">
        <p14:creationId xmlns:p14="http://schemas.microsoft.com/office/powerpoint/2010/main" val="216326861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JSON-Syntax</a:t>
            </a:r>
          </a:p>
        </p:txBody>
      </p:sp>
      <p:sp>
        <p:nvSpPr>
          <p:cNvPr id="3" name="Content Placeholder 2">
            <a:extLst>
              <a:ext uri="{FF2B5EF4-FFF2-40B4-BE49-F238E27FC236}">
                <a16:creationId xmlns:a16="http://schemas.microsoft.com/office/drawing/2014/main" id="{B80348A2-8C6C-42A7-8008-A2A25FE6FD75}"/>
              </a:ext>
            </a:extLst>
          </p:cNvPr>
          <p:cNvSpPr>
            <a:spLocks noGrp="1"/>
          </p:cNvSpPr>
          <p:nvPr>
            <p:ph idx="1"/>
          </p:nvPr>
        </p:nvSpPr>
        <p:spPr>
          <a:xfrm>
            <a:off x="609600" y="1425600"/>
            <a:ext cx="5990456" cy="4698000"/>
          </a:xfrm>
        </p:spPr>
        <p:txBody>
          <a:bodyPr/>
          <a:lstStyle/>
          <a:p>
            <a:r>
              <a:rPr lang="en-US" dirty="0"/>
              <a:t>The JSON format is almost identical to JavaScript objects.</a:t>
            </a:r>
          </a:p>
          <a:p>
            <a:r>
              <a:rPr lang="en-US" dirty="0"/>
              <a:t>In JSON, </a:t>
            </a:r>
            <a:r>
              <a:rPr lang="en-US" i="1" dirty="0"/>
              <a:t>keys</a:t>
            </a:r>
            <a:r>
              <a:rPr lang="en-US" dirty="0"/>
              <a:t> must be strings, written with double quotes:</a:t>
            </a:r>
          </a:p>
          <a:p>
            <a:r>
              <a:rPr lang="en-US" dirty="0"/>
              <a:t>The following example shows how to use JSON to store information related to books based on their topic and edition.</a:t>
            </a:r>
          </a:p>
          <a:p>
            <a:r>
              <a:rPr lang="en-US" dirty="0"/>
              <a:t>Book array stores information about two books.</a:t>
            </a:r>
          </a:p>
          <a:p>
            <a:r>
              <a:rPr lang="en-US" dirty="0"/>
              <a:t>Each book is having id, language, edition and author fields</a:t>
            </a:r>
          </a:p>
          <a:p>
            <a:endParaRPr lang="en-US" dirty="0"/>
          </a:p>
          <a:p>
            <a:endParaRPr lang="en-US" dirty="0"/>
          </a:p>
        </p:txBody>
      </p:sp>
      <p:pic>
        <p:nvPicPr>
          <p:cNvPr id="6" name="Picture 5">
            <a:extLst>
              <a:ext uri="{FF2B5EF4-FFF2-40B4-BE49-F238E27FC236}">
                <a16:creationId xmlns:a16="http://schemas.microsoft.com/office/drawing/2014/main" id="{BD8E8DAF-5EF3-4585-A208-F44E2D7BFD22}"/>
              </a:ext>
            </a:extLst>
          </p:cNvPr>
          <p:cNvPicPr>
            <a:picLocks noChangeAspect="1"/>
          </p:cNvPicPr>
          <p:nvPr/>
        </p:nvPicPr>
        <p:blipFill>
          <a:blip r:embed="rId3"/>
          <a:stretch>
            <a:fillRect/>
          </a:stretch>
        </p:blipFill>
        <p:spPr>
          <a:xfrm>
            <a:off x="6744072" y="1039268"/>
            <a:ext cx="4248472" cy="5310590"/>
          </a:xfrm>
          <a:prstGeom prst="rect">
            <a:avLst/>
          </a:prstGeom>
        </p:spPr>
      </p:pic>
    </p:spTree>
    <p:extLst>
      <p:ext uri="{BB962C8B-B14F-4D97-AF65-F5344CB8AC3E}">
        <p14:creationId xmlns:p14="http://schemas.microsoft.com/office/powerpoint/2010/main" val="128175866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pPr>
              <a:defRPr/>
            </a:pPr>
            <a:r>
              <a:rPr lang="en-US" dirty="0"/>
              <a:t>JSON Data - A Name and a Value </a:t>
            </a:r>
          </a:p>
          <a:p>
            <a:pPr>
              <a:defRPr/>
            </a:pPr>
            <a:r>
              <a:rPr lang="en-US" dirty="0"/>
              <a:t>JSON data is written as name/value pairs. </a:t>
            </a:r>
          </a:p>
          <a:p>
            <a:pPr>
              <a:defRPr/>
            </a:pPr>
            <a:r>
              <a:rPr lang="en-US" dirty="0"/>
              <a:t> A name/value pair consists of a field name (in double quotes), followed by a colon, followed by a value: </a:t>
            </a:r>
          </a:p>
          <a:p>
            <a:pPr>
              <a:defRPr/>
            </a:pPr>
            <a:r>
              <a:rPr lang="en-US" dirty="0"/>
              <a:t>Example "</a:t>
            </a:r>
            <a:r>
              <a:rPr lang="en-US" dirty="0" err="1"/>
              <a:t>name":"John</a:t>
            </a:r>
            <a:r>
              <a:rPr lang="en-US" dirty="0"/>
              <a:t>“</a:t>
            </a:r>
          </a:p>
          <a:p>
            <a:pPr>
              <a:defRPr/>
            </a:pPr>
            <a:r>
              <a:rPr lang="en-US" dirty="0"/>
              <a:t>JSON names require double quotes. JavaScript names don’t. </a:t>
            </a:r>
          </a:p>
          <a:p>
            <a:pPr>
              <a:defRPr/>
            </a:pPr>
            <a:r>
              <a:rPr lang="en-US" dirty="0"/>
              <a:t> In JSON, keys must be strings, written with double quotes: </a:t>
            </a:r>
          </a:p>
          <a:p>
            <a:pPr marL="0" indent="0">
              <a:buNone/>
              <a:defRPr/>
            </a:pPr>
            <a:r>
              <a:rPr lang="en-US" dirty="0"/>
              <a:t>	JSON { "</a:t>
            </a:r>
            <a:r>
              <a:rPr lang="en-US" dirty="0" err="1"/>
              <a:t>name":"John</a:t>
            </a:r>
            <a:r>
              <a:rPr lang="en-US" dirty="0"/>
              <a:t>" }</a:t>
            </a:r>
          </a:p>
          <a:p>
            <a:pPr>
              <a:defRPr/>
            </a:pPr>
            <a:r>
              <a:rPr lang="en-US" dirty="0"/>
              <a:t> In JavaScript, keys can be strings, numbers, or identifier names: </a:t>
            </a:r>
          </a:p>
          <a:p>
            <a:pPr marL="0" indent="0">
              <a:buNone/>
              <a:defRPr/>
            </a:pPr>
            <a:r>
              <a:rPr lang="en-US" dirty="0"/>
              <a:t>	JavaScript { </a:t>
            </a:r>
            <a:r>
              <a:rPr lang="en-US" dirty="0" err="1"/>
              <a:t>name:"John</a:t>
            </a:r>
            <a:r>
              <a:rPr lang="en-US" dirty="0"/>
              <a:t>" } </a:t>
            </a:r>
            <a:endParaRPr lang="en-US" sz="2000"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JSON-Data </a:t>
            </a:r>
          </a:p>
        </p:txBody>
      </p:sp>
    </p:spTree>
    <p:extLst>
      <p:ext uri="{BB962C8B-B14F-4D97-AF65-F5344CB8AC3E}">
        <p14:creationId xmlns:p14="http://schemas.microsoft.com/office/powerpoint/2010/main" val="30874545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407368" y="1074981"/>
            <a:ext cx="11377264" cy="1512168"/>
          </a:xfrm>
        </p:spPr>
        <p:txBody>
          <a:bodyPr/>
          <a:lstStyle/>
          <a:p>
            <a:pPr>
              <a:defRPr/>
            </a:pPr>
            <a:r>
              <a:rPr lang="en-US" sz="2200" dirty="0"/>
              <a:t>In </a:t>
            </a:r>
            <a:r>
              <a:rPr lang="en-US" sz="2200" dirty="0" err="1"/>
              <a:t>JSON,values</a:t>
            </a:r>
            <a:r>
              <a:rPr lang="en-US" sz="2200" dirty="0"/>
              <a:t> must be one of the following data types: </a:t>
            </a:r>
            <a:r>
              <a:rPr lang="en-US" sz="2200" dirty="0" err="1"/>
              <a:t>string,number,object</a:t>
            </a:r>
            <a:r>
              <a:rPr lang="en-US" sz="2200" dirty="0"/>
              <a:t> (JSON object),</a:t>
            </a:r>
            <a:r>
              <a:rPr lang="en-US" sz="2200" dirty="0" err="1"/>
              <a:t>array,Boolean,null</a:t>
            </a:r>
            <a:r>
              <a:rPr lang="en-US" sz="2200" dirty="0"/>
              <a:t> </a:t>
            </a:r>
          </a:p>
          <a:p>
            <a:pPr>
              <a:defRPr/>
            </a:pPr>
            <a:endParaRPr lang="en-US" sz="2200" dirty="0"/>
          </a:p>
          <a:p>
            <a:pPr>
              <a:defRPr/>
            </a:pPr>
            <a:endParaRPr lang="en-US" sz="2200" dirty="0"/>
          </a:p>
          <a:p>
            <a:pPr>
              <a:defRPr/>
            </a:pPr>
            <a:endParaRPr lang="en-US" sz="2200" dirty="0"/>
          </a:p>
          <a:p>
            <a:pPr>
              <a:defRPr/>
            </a:pPr>
            <a:endParaRPr lang="en-US" sz="2200" dirty="0"/>
          </a:p>
          <a:p>
            <a:pPr>
              <a:defRPr/>
            </a:pPr>
            <a:endParaRPr lang="en-US" sz="2200" dirty="0"/>
          </a:p>
          <a:p>
            <a:pPr>
              <a:defRPr/>
            </a:pPr>
            <a:endParaRPr lang="en-US" sz="2200" dirty="0"/>
          </a:p>
          <a:p>
            <a:pPr>
              <a:defRPr/>
            </a:pPr>
            <a:r>
              <a:rPr lang="en-US" sz="2200" dirty="0"/>
              <a:t>In JavaScript values can be all of the above, plus any other valid JavaScript expression, including: </a:t>
            </a:r>
            <a:r>
              <a:rPr lang="en-US" sz="2200" dirty="0">
                <a:highlight>
                  <a:srgbClr val="FFFF00"/>
                </a:highlight>
              </a:rPr>
              <a:t>a function, a date , undefined </a:t>
            </a:r>
          </a:p>
          <a:p>
            <a:pPr>
              <a:defRPr/>
            </a:pPr>
            <a:r>
              <a:rPr lang="en-US" sz="2200" dirty="0"/>
              <a:t> In </a:t>
            </a:r>
            <a:r>
              <a:rPr lang="en-US" sz="2200" dirty="0" err="1"/>
              <a:t>JSON,string</a:t>
            </a:r>
            <a:r>
              <a:rPr lang="en-US" sz="2200" dirty="0"/>
              <a:t> values must be written with double quotes { "</a:t>
            </a:r>
            <a:r>
              <a:rPr lang="en-US" sz="2200" dirty="0" err="1"/>
              <a:t>name":"John</a:t>
            </a:r>
            <a:r>
              <a:rPr lang="en-US" sz="2200" dirty="0"/>
              <a:t>" } </a:t>
            </a:r>
          </a:p>
          <a:p>
            <a:pPr>
              <a:defRPr/>
            </a:pPr>
            <a:r>
              <a:rPr lang="en-US" sz="2200" dirty="0"/>
              <a:t>In JavaScript, you can write string values with double or single quotes:</a:t>
            </a:r>
          </a:p>
          <a:p>
            <a:pPr marL="0" indent="0">
              <a:buNone/>
              <a:defRPr/>
            </a:pPr>
            <a:r>
              <a:rPr lang="en-US" sz="2200" dirty="0"/>
              <a:t>	 { </a:t>
            </a:r>
            <a:r>
              <a:rPr lang="en-US" sz="2200" dirty="0" err="1"/>
              <a:t>name:'John</a:t>
            </a:r>
            <a:r>
              <a:rPr lang="en-US" sz="2200" dirty="0"/>
              <a:t>' } </a:t>
            </a:r>
          </a:p>
          <a:p>
            <a:pPr>
              <a:defRPr/>
            </a:pPr>
            <a:endParaRPr lang="en-US"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JSON-Values</a:t>
            </a:r>
          </a:p>
        </p:txBody>
      </p:sp>
      <p:pic>
        <p:nvPicPr>
          <p:cNvPr id="2" name="Picture 1">
            <a:extLst>
              <a:ext uri="{FF2B5EF4-FFF2-40B4-BE49-F238E27FC236}">
                <a16:creationId xmlns:a16="http://schemas.microsoft.com/office/drawing/2014/main" id="{907EFA28-5606-4641-8B66-C0C692D018D0}"/>
              </a:ext>
            </a:extLst>
          </p:cNvPr>
          <p:cNvPicPr>
            <a:picLocks noChangeAspect="1"/>
          </p:cNvPicPr>
          <p:nvPr/>
        </p:nvPicPr>
        <p:blipFill>
          <a:blip r:embed="rId3"/>
          <a:stretch>
            <a:fillRect/>
          </a:stretch>
        </p:blipFill>
        <p:spPr>
          <a:xfrm>
            <a:off x="4151784" y="1484784"/>
            <a:ext cx="6257925" cy="2667000"/>
          </a:xfrm>
          <a:prstGeom prst="rect">
            <a:avLst/>
          </a:prstGeom>
          <a:ln>
            <a:solidFill>
              <a:schemeClr val="tx1"/>
            </a:solidFill>
          </a:ln>
        </p:spPr>
      </p:pic>
    </p:spTree>
    <p:extLst>
      <p:ext uri="{BB962C8B-B14F-4D97-AF65-F5344CB8AC3E}">
        <p14:creationId xmlns:p14="http://schemas.microsoft.com/office/powerpoint/2010/main" val="324960538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pPr>
              <a:defRPr/>
            </a:pPr>
            <a:r>
              <a:rPr lang="en-US" dirty="0"/>
              <a:t>With JavaScript you can create an object and assign data to it: </a:t>
            </a:r>
          </a:p>
          <a:p>
            <a:pPr marL="0" indent="0">
              <a:buNone/>
              <a:defRPr/>
            </a:pPr>
            <a:r>
              <a:rPr lang="en-US" dirty="0"/>
              <a:t>	var person = { "</a:t>
            </a:r>
            <a:r>
              <a:rPr lang="en-US" dirty="0" err="1"/>
              <a:t>name":"John</a:t>
            </a:r>
            <a:r>
              <a:rPr lang="en-US" dirty="0"/>
              <a:t>", "age":31, "city":"</a:t>
            </a:r>
            <a:r>
              <a:rPr lang="en-US" dirty="0" err="1"/>
              <a:t>NewYork</a:t>
            </a:r>
            <a:r>
              <a:rPr lang="en-US" dirty="0"/>
              <a:t>" }; </a:t>
            </a:r>
          </a:p>
          <a:p>
            <a:pPr>
              <a:defRPr/>
            </a:pPr>
            <a:r>
              <a:rPr lang="en-US" dirty="0"/>
              <a:t> You can access a JavaScript object like this: </a:t>
            </a:r>
          </a:p>
          <a:p>
            <a:pPr marL="0" indent="0">
              <a:buNone/>
              <a:defRPr/>
            </a:pPr>
            <a:r>
              <a:rPr lang="en-US" dirty="0"/>
              <a:t>	person.name; // returns John </a:t>
            </a:r>
          </a:p>
          <a:p>
            <a:pPr marL="0" indent="0">
              <a:buNone/>
              <a:defRPr/>
            </a:pPr>
            <a:r>
              <a:rPr lang="en-US" dirty="0"/>
              <a:t>	OR</a:t>
            </a:r>
          </a:p>
          <a:p>
            <a:pPr marL="0" indent="0">
              <a:buNone/>
              <a:defRPr/>
            </a:pPr>
            <a:r>
              <a:rPr lang="en-US" dirty="0"/>
              <a:t>	 person["name"]; </a:t>
            </a:r>
          </a:p>
          <a:p>
            <a:pPr>
              <a:defRPr/>
            </a:pPr>
            <a:r>
              <a:rPr lang="en-US" dirty="0"/>
              <a:t> Data can be modified like this:</a:t>
            </a:r>
          </a:p>
          <a:p>
            <a:pPr marL="0" indent="0">
              <a:buNone/>
              <a:defRPr/>
            </a:pPr>
            <a:r>
              <a:rPr lang="en-US" dirty="0"/>
              <a:t>	 person.name = "Gilbert";</a:t>
            </a:r>
          </a:p>
          <a:p>
            <a:pPr marL="0" indent="0">
              <a:buNone/>
              <a:defRPr/>
            </a:pPr>
            <a:r>
              <a:rPr lang="en-US" dirty="0"/>
              <a:t>	 Or</a:t>
            </a:r>
          </a:p>
          <a:p>
            <a:pPr marL="0" indent="0">
              <a:buNone/>
              <a:defRPr/>
            </a:pPr>
            <a:r>
              <a:rPr lang="en-US" dirty="0"/>
              <a:t>	 person["name"] = "Gilbert"; </a:t>
            </a:r>
          </a:p>
          <a:p>
            <a:pPr>
              <a:defRPr/>
            </a:pPr>
            <a:r>
              <a:rPr lang="en-US" dirty="0"/>
              <a:t> The file type for JSON files is ".json" </a:t>
            </a:r>
          </a:p>
          <a:p>
            <a:pPr>
              <a:defRPr/>
            </a:pPr>
            <a:r>
              <a:rPr lang="en-US" dirty="0"/>
              <a:t> The MIME type for JSON text is "application/json" </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JSON-Values</a:t>
            </a:r>
          </a:p>
        </p:txBody>
      </p:sp>
    </p:spTree>
    <p:extLst>
      <p:ext uri="{BB962C8B-B14F-4D97-AF65-F5344CB8AC3E}">
        <p14:creationId xmlns:p14="http://schemas.microsoft.com/office/powerpoint/2010/main" val="166953940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JSON Data Types</a:t>
            </a:r>
          </a:p>
        </p:txBody>
      </p:sp>
    </p:spTree>
    <p:extLst>
      <p:ext uri="{BB962C8B-B14F-4D97-AF65-F5344CB8AC3E}">
        <p14:creationId xmlns:p14="http://schemas.microsoft.com/office/powerpoint/2010/main" val="382262177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pPr>
              <a:defRPr/>
            </a:pPr>
            <a:r>
              <a:rPr lang="en-US" dirty="0"/>
              <a:t>In JSON, values must be one of the following data types: </a:t>
            </a:r>
          </a:p>
          <a:p>
            <a:pPr>
              <a:defRPr/>
            </a:pPr>
            <a:r>
              <a:rPr lang="en-US" dirty="0"/>
              <a:t> a string </a:t>
            </a:r>
          </a:p>
          <a:p>
            <a:pPr>
              <a:defRPr/>
            </a:pPr>
            <a:r>
              <a:rPr lang="en-US" dirty="0"/>
              <a:t> a number </a:t>
            </a:r>
          </a:p>
          <a:p>
            <a:pPr>
              <a:defRPr/>
            </a:pPr>
            <a:r>
              <a:rPr lang="en-US" dirty="0"/>
              <a:t> an object (JSON object) </a:t>
            </a:r>
          </a:p>
          <a:p>
            <a:pPr>
              <a:defRPr/>
            </a:pPr>
            <a:r>
              <a:rPr lang="en-US" dirty="0"/>
              <a:t> an array </a:t>
            </a:r>
          </a:p>
          <a:p>
            <a:pPr>
              <a:defRPr/>
            </a:pPr>
            <a:r>
              <a:rPr lang="en-US" dirty="0"/>
              <a:t> a </a:t>
            </a:r>
            <a:r>
              <a:rPr lang="en-US" dirty="0" err="1"/>
              <a:t>boolean</a:t>
            </a:r>
            <a:r>
              <a:rPr lang="en-US" dirty="0"/>
              <a:t> </a:t>
            </a:r>
          </a:p>
          <a:p>
            <a:pPr>
              <a:defRPr/>
            </a:pPr>
            <a:r>
              <a:rPr lang="en-US" dirty="0"/>
              <a:t> null </a:t>
            </a:r>
          </a:p>
          <a:p>
            <a:pPr>
              <a:defRPr/>
            </a:pPr>
            <a:r>
              <a:rPr lang="en-US" dirty="0"/>
              <a:t> JSON values cannot be one of the following data types: </a:t>
            </a:r>
          </a:p>
          <a:p>
            <a:pPr>
              <a:defRPr/>
            </a:pPr>
            <a:r>
              <a:rPr lang="en-US" dirty="0"/>
              <a:t>a function </a:t>
            </a:r>
          </a:p>
          <a:p>
            <a:pPr>
              <a:defRPr/>
            </a:pPr>
            <a:r>
              <a:rPr lang="en-US" dirty="0"/>
              <a:t>a date </a:t>
            </a:r>
          </a:p>
          <a:p>
            <a:pPr>
              <a:defRPr/>
            </a:pPr>
            <a:r>
              <a:rPr lang="en-US" dirty="0"/>
              <a:t>undefined </a:t>
            </a:r>
            <a:endParaRPr lang="en-US" sz="2000"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JSON-Data Types </a:t>
            </a:r>
          </a:p>
        </p:txBody>
      </p:sp>
      <p:pic>
        <p:nvPicPr>
          <p:cNvPr id="2" name="Picture 1">
            <a:extLst>
              <a:ext uri="{FF2B5EF4-FFF2-40B4-BE49-F238E27FC236}">
                <a16:creationId xmlns:a16="http://schemas.microsoft.com/office/drawing/2014/main" id="{4E1223C5-8A37-41BF-9C61-5C7F3E486F10}"/>
              </a:ext>
            </a:extLst>
          </p:cNvPr>
          <p:cNvPicPr>
            <a:picLocks noChangeAspect="1"/>
          </p:cNvPicPr>
          <p:nvPr/>
        </p:nvPicPr>
        <p:blipFill>
          <a:blip r:embed="rId3"/>
          <a:stretch>
            <a:fillRect/>
          </a:stretch>
        </p:blipFill>
        <p:spPr>
          <a:xfrm>
            <a:off x="623391" y="1039268"/>
            <a:ext cx="8457044" cy="5694361"/>
          </a:xfrm>
          <a:prstGeom prst="rect">
            <a:avLst/>
          </a:prstGeom>
        </p:spPr>
      </p:pic>
    </p:spTree>
    <p:extLst>
      <p:ext uri="{BB962C8B-B14F-4D97-AF65-F5344CB8AC3E}">
        <p14:creationId xmlns:p14="http://schemas.microsoft.com/office/powerpoint/2010/main" val="281344887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pPr>
              <a:defRPr/>
            </a:pPr>
            <a:r>
              <a:rPr lang="en-US" dirty="0"/>
              <a:t>In JSON, values must be one of the following data types: </a:t>
            </a:r>
          </a:p>
          <a:p>
            <a:pPr>
              <a:defRPr/>
            </a:pPr>
            <a:r>
              <a:rPr lang="en-US" dirty="0"/>
              <a:t> a string </a:t>
            </a:r>
          </a:p>
          <a:p>
            <a:pPr>
              <a:defRPr/>
            </a:pPr>
            <a:r>
              <a:rPr lang="en-US" dirty="0"/>
              <a:t> a number </a:t>
            </a:r>
          </a:p>
          <a:p>
            <a:pPr>
              <a:defRPr/>
            </a:pPr>
            <a:r>
              <a:rPr lang="en-US" dirty="0"/>
              <a:t> an object (JSON object) </a:t>
            </a:r>
          </a:p>
          <a:p>
            <a:pPr>
              <a:defRPr/>
            </a:pPr>
            <a:r>
              <a:rPr lang="en-US" dirty="0"/>
              <a:t> an array </a:t>
            </a:r>
          </a:p>
          <a:p>
            <a:pPr>
              <a:defRPr/>
            </a:pPr>
            <a:r>
              <a:rPr lang="en-US" dirty="0"/>
              <a:t> a </a:t>
            </a:r>
            <a:r>
              <a:rPr lang="en-US" dirty="0" err="1"/>
              <a:t>boolean</a:t>
            </a:r>
            <a:r>
              <a:rPr lang="en-US" dirty="0"/>
              <a:t> </a:t>
            </a:r>
          </a:p>
          <a:p>
            <a:pPr>
              <a:defRPr/>
            </a:pPr>
            <a:r>
              <a:rPr lang="en-US" dirty="0"/>
              <a:t> null </a:t>
            </a:r>
          </a:p>
          <a:p>
            <a:pPr>
              <a:defRPr/>
            </a:pPr>
            <a:r>
              <a:rPr lang="en-US" dirty="0"/>
              <a:t> JSON values cannot be one of the following data types: </a:t>
            </a:r>
          </a:p>
          <a:p>
            <a:pPr>
              <a:defRPr/>
            </a:pPr>
            <a:r>
              <a:rPr lang="en-US" dirty="0"/>
              <a:t>a function </a:t>
            </a:r>
          </a:p>
          <a:p>
            <a:pPr>
              <a:defRPr/>
            </a:pPr>
            <a:r>
              <a:rPr lang="en-US" dirty="0"/>
              <a:t>a date </a:t>
            </a:r>
          </a:p>
          <a:p>
            <a:pPr>
              <a:defRPr/>
            </a:pPr>
            <a:r>
              <a:rPr lang="en-US" dirty="0"/>
              <a:t>undefined </a:t>
            </a:r>
            <a:endParaRPr lang="en-US" sz="2000"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JSON-Data Types </a:t>
            </a:r>
          </a:p>
        </p:txBody>
      </p:sp>
    </p:spTree>
    <p:extLst>
      <p:ext uri="{BB962C8B-B14F-4D97-AF65-F5344CB8AC3E}">
        <p14:creationId xmlns:p14="http://schemas.microsoft.com/office/powerpoint/2010/main" val="59111688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78247" y="1039268"/>
            <a:ext cx="11377264" cy="1512168"/>
          </a:xfrm>
        </p:spPr>
        <p:txBody>
          <a:bodyPr/>
          <a:lstStyle/>
          <a:p>
            <a:pPr>
              <a:defRPr/>
            </a:pPr>
            <a:endParaRPr lang="en-US" dirty="0"/>
          </a:p>
          <a:p>
            <a:pPr>
              <a:defRPr/>
            </a:pPr>
            <a:r>
              <a:rPr lang="en-US" b="1" dirty="0"/>
              <a:t>JSON Numbers </a:t>
            </a:r>
          </a:p>
          <a:p>
            <a:pPr>
              <a:defRPr/>
            </a:pPr>
            <a:endParaRPr lang="en-US" dirty="0"/>
          </a:p>
          <a:p>
            <a:pPr>
              <a:defRPr/>
            </a:pPr>
            <a:r>
              <a:rPr lang="en-US" dirty="0"/>
              <a:t>Numbers in JSON must be an integer or a floating point. </a:t>
            </a:r>
          </a:p>
          <a:p>
            <a:pPr>
              <a:defRPr/>
            </a:pPr>
            <a:r>
              <a:rPr lang="en-US" dirty="0"/>
              <a:t>It is a double precision floating-point format in JavaScript and it depends on implementation. </a:t>
            </a:r>
          </a:p>
          <a:p>
            <a:pPr>
              <a:defRPr/>
            </a:pPr>
            <a:r>
              <a:rPr lang="en-US" dirty="0"/>
              <a:t> Octal and hexadecimal formats are not used. No </a:t>
            </a:r>
            <a:r>
              <a:rPr lang="en-US" dirty="0" err="1"/>
              <a:t>NaN</a:t>
            </a:r>
            <a:r>
              <a:rPr lang="en-US" dirty="0"/>
              <a:t> or Infinity is used in Number.	{ "age":30 } </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JSON-Data Types </a:t>
            </a:r>
          </a:p>
        </p:txBody>
      </p:sp>
      <p:pic>
        <p:nvPicPr>
          <p:cNvPr id="2" name="Picture 1">
            <a:extLst>
              <a:ext uri="{FF2B5EF4-FFF2-40B4-BE49-F238E27FC236}">
                <a16:creationId xmlns:a16="http://schemas.microsoft.com/office/drawing/2014/main" id="{1634BBE0-6C0C-459B-8B81-6A881B2DE9E3}"/>
              </a:ext>
            </a:extLst>
          </p:cNvPr>
          <p:cNvPicPr>
            <a:picLocks noChangeAspect="1"/>
          </p:cNvPicPr>
          <p:nvPr/>
        </p:nvPicPr>
        <p:blipFill>
          <a:blip r:embed="rId3"/>
          <a:stretch>
            <a:fillRect/>
          </a:stretch>
        </p:blipFill>
        <p:spPr>
          <a:xfrm>
            <a:off x="4511824" y="4077071"/>
            <a:ext cx="5734050" cy="2095500"/>
          </a:xfrm>
          <a:prstGeom prst="rect">
            <a:avLst/>
          </a:prstGeom>
          <a:ln>
            <a:solidFill>
              <a:schemeClr val="accent2"/>
            </a:solidFill>
          </a:ln>
        </p:spPr>
      </p:pic>
      <p:pic>
        <p:nvPicPr>
          <p:cNvPr id="3" name="Picture 2">
            <a:extLst>
              <a:ext uri="{FF2B5EF4-FFF2-40B4-BE49-F238E27FC236}">
                <a16:creationId xmlns:a16="http://schemas.microsoft.com/office/drawing/2014/main" id="{FD90C729-71B8-4853-BA89-152F5921E40C}"/>
              </a:ext>
            </a:extLst>
          </p:cNvPr>
          <p:cNvPicPr>
            <a:picLocks noChangeAspect="1"/>
          </p:cNvPicPr>
          <p:nvPr/>
        </p:nvPicPr>
        <p:blipFill>
          <a:blip r:embed="rId4"/>
          <a:stretch>
            <a:fillRect/>
          </a:stretch>
        </p:blipFill>
        <p:spPr>
          <a:xfrm>
            <a:off x="3863752" y="1252427"/>
            <a:ext cx="6715125" cy="1085850"/>
          </a:xfrm>
          <a:prstGeom prst="rect">
            <a:avLst/>
          </a:prstGeom>
        </p:spPr>
      </p:pic>
      <p:cxnSp>
        <p:nvCxnSpPr>
          <p:cNvPr id="6" name="Straight Connector 5">
            <a:extLst>
              <a:ext uri="{FF2B5EF4-FFF2-40B4-BE49-F238E27FC236}">
                <a16:creationId xmlns:a16="http://schemas.microsoft.com/office/drawing/2014/main" id="{62101EA9-0143-45BB-BE6F-EF8362354B68}"/>
              </a:ext>
            </a:extLst>
          </p:cNvPr>
          <p:cNvCxnSpPr>
            <a:stCxn id="3" idx="3"/>
          </p:cNvCxnSpPr>
          <p:nvPr/>
        </p:nvCxnSpPr>
        <p:spPr>
          <a:xfrm>
            <a:off x="10578877" y="1795352"/>
            <a:ext cx="0" cy="409512"/>
          </a:xfrm>
          <a:prstGeom prst="line">
            <a:avLst/>
          </a:prstGeom>
          <a:ln w="9525">
            <a:solidFill>
              <a:schemeClr val="accent1"/>
            </a:solidFill>
            <a:tailEnd type="non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E27D2A85-0FFA-4E20-B0F0-22487572B203}"/>
              </a:ext>
            </a:extLst>
          </p:cNvPr>
          <p:cNvPicPr>
            <a:picLocks noChangeAspect="1"/>
          </p:cNvPicPr>
          <p:nvPr/>
        </p:nvPicPr>
        <p:blipFill>
          <a:blip r:embed="rId5"/>
          <a:stretch>
            <a:fillRect/>
          </a:stretch>
        </p:blipFill>
        <p:spPr>
          <a:xfrm>
            <a:off x="983431" y="4725144"/>
            <a:ext cx="3507305" cy="532912"/>
          </a:xfrm>
          <a:prstGeom prst="rect">
            <a:avLst/>
          </a:prstGeom>
          <a:ln>
            <a:solidFill>
              <a:schemeClr val="accent2"/>
            </a:solidFill>
          </a:ln>
        </p:spPr>
      </p:pic>
    </p:spTree>
    <p:extLst>
      <p:ext uri="{BB962C8B-B14F-4D97-AF65-F5344CB8AC3E}">
        <p14:creationId xmlns:p14="http://schemas.microsoft.com/office/powerpoint/2010/main" val="421022341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pPr>
              <a:defRPr/>
            </a:pPr>
            <a:r>
              <a:rPr lang="en-US" b="1" dirty="0"/>
              <a:t>JSON Strings </a:t>
            </a:r>
          </a:p>
          <a:p>
            <a:pPr>
              <a:defRPr/>
            </a:pPr>
            <a:r>
              <a:rPr lang="en-US" dirty="0"/>
              <a:t>Strings in JSON must be written in double quotes. 	{ "</a:t>
            </a:r>
            <a:r>
              <a:rPr lang="en-US" dirty="0" err="1"/>
              <a:t>name":"John</a:t>
            </a:r>
            <a:r>
              <a:rPr lang="en-US" dirty="0"/>
              <a:t>" } </a:t>
            </a:r>
          </a:p>
          <a:p>
            <a:pPr>
              <a:defRPr/>
            </a:pPr>
            <a:r>
              <a:rPr lang="en-US" dirty="0"/>
              <a:t>It is a sequence of zero or more double quoted Unicode characters with backslash escaping. </a:t>
            </a:r>
          </a:p>
          <a:p>
            <a:pPr>
              <a:defRPr/>
            </a:pPr>
            <a:r>
              <a:rPr lang="en-US" dirty="0"/>
              <a:t> Character is a single character string i.e. a string with length 1.</a:t>
            </a:r>
          </a:p>
          <a:p>
            <a:pPr>
              <a:defRPr/>
            </a:pPr>
            <a:endParaRPr lang="en-US"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JSON-Data Types </a:t>
            </a:r>
          </a:p>
        </p:txBody>
      </p:sp>
      <p:pic>
        <p:nvPicPr>
          <p:cNvPr id="4" name="Picture 3">
            <a:extLst>
              <a:ext uri="{FF2B5EF4-FFF2-40B4-BE49-F238E27FC236}">
                <a16:creationId xmlns:a16="http://schemas.microsoft.com/office/drawing/2014/main" id="{887DB59D-04E9-4ACA-B4DA-CFA07A19933D}"/>
              </a:ext>
            </a:extLst>
          </p:cNvPr>
          <p:cNvPicPr>
            <a:picLocks noChangeAspect="1"/>
          </p:cNvPicPr>
          <p:nvPr/>
        </p:nvPicPr>
        <p:blipFill>
          <a:blip r:embed="rId3"/>
          <a:stretch>
            <a:fillRect/>
          </a:stretch>
        </p:blipFill>
        <p:spPr>
          <a:xfrm>
            <a:off x="2063552" y="3216290"/>
            <a:ext cx="7086600" cy="1905000"/>
          </a:xfrm>
          <a:prstGeom prst="rect">
            <a:avLst/>
          </a:prstGeom>
          <a:ln>
            <a:solidFill>
              <a:schemeClr val="accent2"/>
            </a:solidFill>
          </a:ln>
        </p:spPr>
      </p:pic>
    </p:spTree>
    <p:extLst>
      <p:ext uri="{BB962C8B-B14F-4D97-AF65-F5344CB8AC3E}">
        <p14:creationId xmlns:p14="http://schemas.microsoft.com/office/powerpoint/2010/main" val="285580068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6768752" cy="1512168"/>
          </a:xfrm>
        </p:spPr>
        <p:txBody>
          <a:bodyPr/>
          <a:lstStyle/>
          <a:p>
            <a:pPr>
              <a:defRPr/>
            </a:pPr>
            <a:r>
              <a:rPr lang="en-US" b="1" dirty="0"/>
              <a:t>JSON Strings </a:t>
            </a:r>
          </a:p>
          <a:p>
            <a:pPr>
              <a:defRPr/>
            </a:pPr>
            <a:r>
              <a:rPr lang="en-US" dirty="0"/>
              <a:t>The table shows various special characters that you can use in strings of a JSON document</a:t>
            </a:r>
          </a:p>
          <a:p>
            <a:pPr>
              <a:defRPr/>
            </a:pPr>
            <a:r>
              <a:rPr lang="en-US" dirty="0"/>
              <a:t>A </a:t>
            </a:r>
            <a:r>
              <a:rPr lang="en-US" i="1" dirty="0"/>
              <a:t>string</a:t>
            </a:r>
            <a:r>
              <a:rPr lang="en-US" dirty="0"/>
              <a:t> is a sequence of zero or more Unicode characters, wrapped in double quotes, using backslash escapes. </a:t>
            </a:r>
          </a:p>
          <a:p>
            <a:pPr>
              <a:defRPr/>
            </a:pPr>
            <a:r>
              <a:rPr lang="en-US" dirty="0"/>
              <a:t>A character is represented as a single character string. </a:t>
            </a:r>
          </a:p>
          <a:p>
            <a:pPr>
              <a:defRPr/>
            </a:pPr>
            <a:r>
              <a:rPr lang="en-US" dirty="0"/>
              <a:t>A string is very much like a C or Java string.</a:t>
            </a:r>
          </a:p>
          <a:p>
            <a:pPr>
              <a:defRPr/>
            </a:pPr>
            <a:endParaRPr lang="en-US"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JSON-Data Types </a:t>
            </a:r>
          </a:p>
        </p:txBody>
      </p:sp>
      <p:pic>
        <p:nvPicPr>
          <p:cNvPr id="2" name="Picture 1">
            <a:extLst>
              <a:ext uri="{FF2B5EF4-FFF2-40B4-BE49-F238E27FC236}">
                <a16:creationId xmlns:a16="http://schemas.microsoft.com/office/drawing/2014/main" id="{C832D9CC-F27E-4C2B-B0BD-3E83A34AA9AD}"/>
              </a:ext>
            </a:extLst>
          </p:cNvPr>
          <p:cNvPicPr>
            <a:picLocks noChangeAspect="1"/>
          </p:cNvPicPr>
          <p:nvPr/>
        </p:nvPicPr>
        <p:blipFill>
          <a:blip r:embed="rId3"/>
          <a:stretch>
            <a:fillRect/>
          </a:stretch>
        </p:blipFill>
        <p:spPr>
          <a:xfrm>
            <a:off x="7755804" y="1039268"/>
            <a:ext cx="4143375" cy="5818732"/>
          </a:xfrm>
          <a:prstGeom prst="rect">
            <a:avLst/>
          </a:prstGeom>
        </p:spPr>
      </p:pic>
    </p:spTree>
    <p:extLst>
      <p:ext uri="{BB962C8B-B14F-4D97-AF65-F5344CB8AC3E}">
        <p14:creationId xmlns:p14="http://schemas.microsoft.com/office/powerpoint/2010/main" val="113279228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7" y="1039268"/>
            <a:ext cx="10801201" cy="1512168"/>
          </a:xfrm>
        </p:spPr>
        <p:txBody>
          <a:bodyPr/>
          <a:lstStyle/>
          <a:p>
            <a:pPr>
              <a:defRPr/>
            </a:pPr>
            <a:r>
              <a:rPr lang="en-US" dirty="0"/>
              <a:t>JSON Objects Values in JSON can be objects.</a:t>
            </a:r>
          </a:p>
          <a:p>
            <a:pPr marL="0" indent="0">
              <a:buNone/>
              <a:defRPr/>
            </a:pPr>
            <a:r>
              <a:rPr lang="en-US" dirty="0"/>
              <a:t>	 { "employee":{ "</a:t>
            </a:r>
            <a:r>
              <a:rPr lang="en-US" dirty="0" err="1"/>
              <a:t>name":"John</a:t>
            </a:r>
            <a:r>
              <a:rPr lang="en-US" dirty="0"/>
              <a:t>", "age":30, "city":"</a:t>
            </a:r>
            <a:r>
              <a:rPr lang="en-US" dirty="0" err="1"/>
              <a:t>NewYork</a:t>
            </a:r>
            <a:r>
              <a:rPr lang="en-US" dirty="0"/>
              <a:t>" } }</a:t>
            </a:r>
          </a:p>
          <a:p>
            <a:pPr>
              <a:defRPr/>
            </a:pPr>
            <a:r>
              <a:rPr lang="en-US" dirty="0"/>
              <a:t> Objects as values in JSON must follow the same rules as JSON objects.</a:t>
            </a:r>
          </a:p>
          <a:p>
            <a:pPr>
              <a:defRPr/>
            </a:pPr>
            <a:r>
              <a:rPr lang="en-US" dirty="0"/>
              <a:t>It is an unordered set of name/value pairs.  Objects are enclosed in curly braces that is, it starts with '{' and ends with '}’. </a:t>
            </a:r>
          </a:p>
          <a:p>
            <a:pPr>
              <a:defRPr/>
            </a:pPr>
            <a:r>
              <a:rPr lang="en-US" dirty="0"/>
              <a:t> Each name is followed by ':'(colon) and the key/value pairs are separated by , (comma). </a:t>
            </a:r>
          </a:p>
          <a:p>
            <a:pPr>
              <a:defRPr/>
            </a:pPr>
            <a:r>
              <a:rPr lang="en-US" dirty="0"/>
              <a:t> The keys must be strings and should be different from each other.  Objects should be used when the key names are arbitrary strings. </a:t>
            </a:r>
          </a:p>
          <a:p>
            <a:pPr>
              <a:defRPr/>
            </a:pPr>
            <a:endParaRPr lang="en-US"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JSON-Data Types </a:t>
            </a:r>
          </a:p>
        </p:txBody>
      </p:sp>
      <p:pic>
        <p:nvPicPr>
          <p:cNvPr id="3" name="Picture 2">
            <a:extLst>
              <a:ext uri="{FF2B5EF4-FFF2-40B4-BE49-F238E27FC236}">
                <a16:creationId xmlns:a16="http://schemas.microsoft.com/office/drawing/2014/main" id="{2274AB08-5039-44E6-B04D-0B5B92E18D18}"/>
              </a:ext>
            </a:extLst>
          </p:cNvPr>
          <p:cNvPicPr>
            <a:picLocks noChangeAspect="1"/>
          </p:cNvPicPr>
          <p:nvPr/>
        </p:nvPicPr>
        <p:blipFill>
          <a:blip r:embed="rId3"/>
          <a:stretch>
            <a:fillRect/>
          </a:stretch>
        </p:blipFill>
        <p:spPr>
          <a:xfrm>
            <a:off x="1343472" y="4869160"/>
            <a:ext cx="3114675" cy="1047750"/>
          </a:xfrm>
          <a:prstGeom prst="rect">
            <a:avLst/>
          </a:prstGeom>
          <a:ln>
            <a:solidFill>
              <a:schemeClr val="tx1"/>
            </a:solidFill>
          </a:ln>
        </p:spPr>
      </p:pic>
      <p:pic>
        <p:nvPicPr>
          <p:cNvPr id="4" name="Picture 3">
            <a:extLst>
              <a:ext uri="{FF2B5EF4-FFF2-40B4-BE49-F238E27FC236}">
                <a16:creationId xmlns:a16="http://schemas.microsoft.com/office/drawing/2014/main" id="{C69246A3-78CB-4371-A899-7AFD4831F665}"/>
              </a:ext>
            </a:extLst>
          </p:cNvPr>
          <p:cNvPicPr>
            <a:picLocks noChangeAspect="1"/>
          </p:cNvPicPr>
          <p:nvPr/>
        </p:nvPicPr>
        <p:blipFill>
          <a:blip r:embed="rId4"/>
          <a:stretch>
            <a:fillRect/>
          </a:stretch>
        </p:blipFill>
        <p:spPr>
          <a:xfrm>
            <a:off x="9130208" y="4306565"/>
            <a:ext cx="2438400" cy="1857375"/>
          </a:xfrm>
          <a:prstGeom prst="rect">
            <a:avLst/>
          </a:prstGeom>
          <a:ln>
            <a:solidFill>
              <a:schemeClr val="tx1"/>
            </a:solidFill>
          </a:ln>
        </p:spPr>
      </p:pic>
    </p:spTree>
    <p:extLst>
      <p:ext uri="{BB962C8B-B14F-4D97-AF65-F5344CB8AC3E}">
        <p14:creationId xmlns:p14="http://schemas.microsoft.com/office/powerpoint/2010/main" val="363381124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pPr>
              <a:defRPr/>
            </a:pPr>
            <a:r>
              <a:rPr lang="en-US" dirty="0"/>
              <a:t>JSON Arrays </a:t>
            </a:r>
          </a:p>
          <a:p>
            <a:pPr>
              <a:defRPr/>
            </a:pPr>
            <a:r>
              <a:rPr lang="en-US" dirty="0"/>
              <a:t> It is an ordered collection of values. </a:t>
            </a:r>
          </a:p>
          <a:p>
            <a:pPr>
              <a:defRPr/>
            </a:pPr>
            <a:r>
              <a:rPr lang="en-US" dirty="0"/>
              <a:t> These are enclosed in square brackets which means that array begins with .[. and ends with .].. </a:t>
            </a:r>
          </a:p>
          <a:p>
            <a:pPr>
              <a:defRPr/>
            </a:pPr>
            <a:r>
              <a:rPr lang="en-US" dirty="0"/>
              <a:t> The values are separated by , (comma). </a:t>
            </a:r>
          </a:p>
          <a:p>
            <a:pPr>
              <a:defRPr/>
            </a:pPr>
            <a:r>
              <a:rPr lang="en-US" dirty="0"/>
              <a:t> Array indexing can be started at 0 or 1. </a:t>
            </a:r>
          </a:p>
          <a:p>
            <a:pPr>
              <a:defRPr/>
            </a:pPr>
            <a:r>
              <a:rPr lang="en-US" dirty="0"/>
              <a:t> Arrays should be used when the key names are sequential integers. </a:t>
            </a:r>
          </a:p>
          <a:p>
            <a:pPr>
              <a:defRPr/>
            </a:pPr>
            <a:r>
              <a:rPr lang="en-US" dirty="0"/>
              <a:t>Values in JSON can be arrays.</a:t>
            </a:r>
          </a:p>
          <a:p>
            <a:pPr marL="0" indent="0">
              <a:buNone/>
              <a:defRPr/>
            </a:pPr>
            <a:r>
              <a:rPr lang="en-US" dirty="0"/>
              <a:t> { "employees":[ "John", "Anna", "Peter" ] } </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JSON-Data Types </a:t>
            </a:r>
          </a:p>
        </p:txBody>
      </p:sp>
      <p:pic>
        <p:nvPicPr>
          <p:cNvPr id="3" name="Picture 2">
            <a:extLst>
              <a:ext uri="{FF2B5EF4-FFF2-40B4-BE49-F238E27FC236}">
                <a16:creationId xmlns:a16="http://schemas.microsoft.com/office/drawing/2014/main" id="{F60AC3BB-EFC8-4C4D-B468-CADCC1150910}"/>
              </a:ext>
            </a:extLst>
          </p:cNvPr>
          <p:cNvPicPr>
            <a:picLocks noChangeAspect="1"/>
          </p:cNvPicPr>
          <p:nvPr/>
        </p:nvPicPr>
        <p:blipFill>
          <a:blip r:embed="rId3"/>
          <a:stretch>
            <a:fillRect/>
          </a:stretch>
        </p:blipFill>
        <p:spPr>
          <a:xfrm>
            <a:off x="6744072" y="4077072"/>
            <a:ext cx="5038725" cy="1905000"/>
          </a:xfrm>
          <a:prstGeom prst="rect">
            <a:avLst/>
          </a:prstGeom>
          <a:ln>
            <a:solidFill>
              <a:schemeClr val="accent2"/>
            </a:solidFill>
          </a:ln>
        </p:spPr>
      </p:pic>
    </p:spTree>
    <p:extLst>
      <p:ext uri="{BB962C8B-B14F-4D97-AF65-F5344CB8AC3E}">
        <p14:creationId xmlns:p14="http://schemas.microsoft.com/office/powerpoint/2010/main" val="17053409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pPr>
              <a:defRPr/>
            </a:pPr>
            <a:r>
              <a:rPr lang="en-US" dirty="0"/>
              <a:t>JSON Booleans Values in JSON can be true/false. </a:t>
            </a:r>
          </a:p>
          <a:p>
            <a:pPr marL="0" indent="0">
              <a:buNone/>
              <a:defRPr/>
            </a:pPr>
            <a:r>
              <a:rPr lang="en-US" dirty="0"/>
              <a:t>	{ "</a:t>
            </a:r>
            <a:r>
              <a:rPr lang="en-US" dirty="0" err="1"/>
              <a:t>sale":true</a:t>
            </a:r>
            <a:r>
              <a:rPr lang="en-US" dirty="0"/>
              <a:t> } </a:t>
            </a:r>
          </a:p>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r>
              <a:rPr lang="en-US" dirty="0"/>
              <a:t>JSON null Values in JSON can be null. It means empty type. </a:t>
            </a:r>
          </a:p>
          <a:p>
            <a:pPr marL="0" indent="0">
              <a:buNone/>
              <a:defRPr/>
            </a:pPr>
            <a:r>
              <a:rPr lang="en-US" dirty="0"/>
              <a:t>			 { "</a:t>
            </a:r>
            <a:r>
              <a:rPr lang="en-US" dirty="0" err="1"/>
              <a:t>middlename</a:t>
            </a:r>
            <a:r>
              <a:rPr lang="en-US" dirty="0"/>
              <a:t>":null } </a:t>
            </a:r>
          </a:p>
          <a:p>
            <a:pPr>
              <a:defRPr/>
            </a:pPr>
            <a:r>
              <a:rPr lang="en-US" dirty="0" err="1"/>
              <a:t>Whitespace:It</a:t>
            </a:r>
            <a:r>
              <a:rPr lang="en-US" dirty="0"/>
              <a:t> can be inserted between any pair of tokens. It can be added to make a code more readable. Example shows declaration with and without whitespace:</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JSON-Data Types </a:t>
            </a:r>
          </a:p>
        </p:txBody>
      </p:sp>
      <p:pic>
        <p:nvPicPr>
          <p:cNvPr id="2" name="Picture 1">
            <a:extLst>
              <a:ext uri="{FF2B5EF4-FFF2-40B4-BE49-F238E27FC236}">
                <a16:creationId xmlns:a16="http://schemas.microsoft.com/office/drawing/2014/main" id="{B27C95BA-D72F-48FA-822C-018937E15F74}"/>
              </a:ext>
            </a:extLst>
          </p:cNvPr>
          <p:cNvPicPr>
            <a:picLocks noChangeAspect="1"/>
          </p:cNvPicPr>
          <p:nvPr/>
        </p:nvPicPr>
        <p:blipFill>
          <a:blip r:embed="rId3"/>
          <a:stretch>
            <a:fillRect/>
          </a:stretch>
        </p:blipFill>
        <p:spPr>
          <a:xfrm>
            <a:off x="3647728" y="1556792"/>
            <a:ext cx="6877050" cy="2286000"/>
          </a:xfrm>
          <a:prstGeom prst="rect">
            <a:avLst/>
          </a:prstGeom>
          <a:ln>
            <a:solidFill>
              <a:schemeClr val="tx1"/>
            </a:solidFill>
          </a:ln>
        </p:spPr>
      </p:pic>
    </p:spTree>
    <p:extLst>
      <p:ext uri="{BB962C8B-B14F-4D97-AF65-F5344CB8AC3E}">
        <p14:creationId xmlns:p14="http://schemas.microsoft.com/office/powerpoint/2010/main" val="282904525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JSON OBJECT</a:t>
            </a:r>
          </a:p>
        </p:txBody>
      </p:sp>
    </p:spTree>
    <p:extLst>
      <p:ext uri="{BB962C8B-B14F-4D97-AF65-F5344CB8AC3E}">
        <p14:creationId xmlns:p14="http://schemas.microsoft.com/office/powerpoint/2010/main" val="46239832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pPr>
              <a:defRPr/>
            </a:pPr>
            <a:r>
              <a:rPr lang="en-US" dirty="0"/>
              <a:t>Creating Simple Objects</a:t>
            </a:r>
          </a:p>
          <a:p>
            <a:pPr>
              <a:defRPr/>
            </a:pPr>
            <a:r>
              <a:rPr lang="en-US" dirty="0"/>
              <a:t>JSON objects can be created with JavaScript.</a:t>
            </a:r>
          </a:p>
          <a:p>
            <a:pPr>
              <a:defRPr/>
            </a:pPr>
            <a:endParaRPr lang="en-US"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JSON-Objects</a:t>
            </a:r>
          </a:p>
        </p:txBody>
      </p:sp>
      <p:pic>
        <p:nvPicPr>
          <p:cNvPr id="2" name="Picture 1">
            <a:extLst>
              <a:ext uri="{FF2B5EF4-FFF2-40B4-BE49-F238E27FC236}">
                <a16:creationId xmlns:a16="http://schemas.microsoft.com/office/drawing/2014/main" id="{BD4F3F41-3E30-4E9C-A13E-A044C3326BBA}"/>
              </a:ext>
            </a:extLst>
          </p:cNvPr>
          <p:cNvPicPr>
            <a:picLocks noChangeAspect="1"/>
          </p:cNvPicPr>
          <p:nvPr/>
        </p:nvPicPr>
        <p:blipFill>
          <a:blip r:embed="rId3"/>
          <a:stretch>
            <a:fillRect/>
          </a:stretch>
        </p:blipFill>
        <p:spPr>
          <a:xfrm>
            <a:off x="1343472" y="2060848"/>
            <a:ext cx="9787360" cy="3888432"/>
          </a:xfrm>
          <a:prstGeom prst="rect">
            <a:avLst/>
          </a:prstGeom>
          <a:ln>
            <a:solidFill>
              <a:schemeClr val="tx1"/>
            </a:solidFill>
          </a:ln>
        </p:spPr>
      </p:pic>
    </p:spTree>
    <p:extLst>
      <p:ext uri="{BB962C8B-B14F-4D97-AF65-F5344CB8AC3E}">
        <p14:creationId xmlns:p14="http://schemas.microsoft.com/office/powerpoint/2010/main" val="115673668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5054028"/>
          </a:xfrm>
        </p:spPr>
        <p:txBody>
          <a:bodyPr/>
          <a:lstStyle/>
          <a:p>
            <a:pPr>
              <a:defRPr/>
            </a:pPr>
            <a:r>
              <a:rPr lang="en-US" dirty="0"/>
              <a:t>You can access the object values by using dot (.) notation:</a:t>
            </a:r>
          </a:p>
          <a:p>
            <a:pPr marL="0" indent="0">
              <a:buNone/>
              <a:defRPr/>
            </a:pPr>
            <a:r>
              <a:rPr lang="en-US" dirty="0"/>
              <a:t>	 </a:t>
            </a:r>
            <a:r>
              <a:rPr lang="en-US" dirty="0" err="1">
                <a:latin typeface="Consolas" panose="020B0609020204030204" pitchFamily="49" charset="0"/>
              </a:rPr>
              <a:t>myObj</a:t>
            </a:r>
            <a:r>
              <a:rPr lang="en-US" dirty="0">
                <a:latin typeface="Consolas" panose="020B0609020204030204" pitchFamily="49" charset="0"/>
              </a:rPr>
              <a:t> = { "name":"John", "age":30, "car":null }; </a:t>
            </a:r>
          </a:p>
          <a:p>
            <a:pPr marL="0" indent="0">
              <a:buNone/>
              <a:defRPr/>
            </a:pPr>
            <a:r>
              <a:rPr lang="en-US" dirty="0">
                <a:latin typeface="Consolas" panose="020B0609020204030204" pitchFamily="49" charset="0"/>
              </a:rPr>
              <a:t>	 x = myObj.name; </a:t>
            </a:r>
          </a:p>
          <a:p>
            <a:pPr>
              <a:defRPr/>
            </a:pPr>
            <a:r>
              <a:rPr lang="en-US" dirty="0"/>
              <a:t>You can also access the object values by using bracket ([]) notation:</a:t>
            </a:r>
          </a:p>
          <a:p>
            <a:pPr marL="0" indent="0">
              <a:buNone/>
              <a:defRPr/>
            </a:pPr>
            <a:r>
              <a:rPr lang="en-US" dirty="0"/>
              <a:t>	 </a:t>
            </a:r>
            <a:r>
              <a:rPr lang="en-US" dirty="0" err="1">
                <a:latin typeface="Consolas" panose="020B0609020204030204" pitchFamily="49" charset="0"/>
              </a:rPr>
              <a:t>myObj</a:t>
            </a:r>
            <a:r>
              <a:rPr lang="en-US" dirty="0">
                <a:latin typeface="Consolas" panose="020B0609020204030204" pitchFamily="49" charset="0"/>
              </a:rPr>
              <a:t> = { "name":"John", "age":30, "car":null };</a:t>
            </a:r>
          </a:p>
          <a:p>
            <a:pPr marL="0" indent="0">
              <a:buNone/>
              <a:defRPr/>
            </a:pPr>
            <a:r>
              <a:rPr lang="en-US" dirty="0">
                <a:latin typeface="Consolas" panose="020B0609020204030204" pitchFamily="49" charset="0"/>
              </a:rPr>
              <a:t>	 x = </a:t>
            </a:r>
            <a:r>
              <a:rPr lang="en-US" dirty="0" err="1">
                <a:latin typeface="Consolas" panose="020B0609020204030204" pitchFamily="49" charset="0"/>
              </a:rPr>
              <a:t>myObj</a:t>
            </a:r>
            <a:r>
              <a:rPr lang="en-US" dirty="0">
                <a:latin typeface="Consolas" panose="020B0609020204030204" pitchFamily="49" charset="0"/>
              </a:rPr>
              <a:t>["name"]; </a:t>
            </a:r>
          </a:p>
          <a:p>
            <a:pPr>
              <a:defRPr/>
            </a:pPr>
            <a:r>
              <a:rPr lang="en-US" dirty="0"/>
              <a:t>You can loop through object properties by using the for-in loop: </a:t>
            </a:r>
          </a:p>
          <a:p>
            <a:pPr marL="0" indent="0">
              <a:buNone/>
              <a:defRPr/>
            </a:pPr>
            <a:r>
              <a:rPr lang="en-US" dirty="0"/>
              <a:t>	</a:t>
            </a:r>
            <a:r>
              <a:rPr lang="en-US" dirty="0">
                <a:latin typeface="Consolas" panose="020B0609020204030204" pitchFamily="49" charset="0"/>
              </a:rPr>
              <a:t>person = { "name":"John", "age":30, "car":null }; </a:t>
            </a:r>
          </a:p>
          <a:p>
            <a:pPr marL="0" indent="0">
              <a:buNone/>
              <a:defRPr/>
            </a:pPr>
            <a:r>
              <a:rPr lang="en-US" dirty="0">
                <a:latin typeface="Consolas" panose="020B0609020204030204" pitchFamily="49" charset="0"/>
              </a:rPr>
              <a:t>	for (x in person)</a:t>
            </a:r>
          </a:p>
          <a:p>
            <a:pPr marL="0" indent="0">
              <a:buNone/>
              <a:defRPr/>
            </a:pPr>
            <a:r>
              <a:rPr lang="en-US" dirty="0">
                <a:latin typeface="Consolas" panose="020B0609020204030204" pitchFamily="49" charset="0"/>
              </a:rPr>
              <a:t>	 {</a:t>
            </a:r>
          </a:p>
          <a:p>
            <a:pPr marL="0" indent="0">
              <a:buNone/>
              <a:defRPr/>
            </a:pPr>
            <a:r>
              <a:rPr lang="en-US" dirty="0">
                <a:latin typeface="Consolas" panose="020B0609020204030204" pitchFamily="49" charset="0"/>
              </a:rPr>
              <a:t>	 alert(x+"="+person[x])</a:t>
            </a:r>
          </a:p>
          <a:p>
            <a:pPr marL="0" indent="0">
              <a:buNone/>
              <a:defRPr/>
            </a:pPr>
            <a:r>
              <a:rPr lang="en-US" dirty="0">
                <a:latin typeface="Consolas" panose="020B0609020204030204" pitchFamily="49" charset="0"/>
              </a:rPr>
              <a:t>	 }</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Accessing JSON Objects</a:t>
            </a:r>
          </a:p>
        </p:txBody>
      </p:sp>
      <p:pic>
        <p:nvPicPr>
          <p:cNvPr id="3" name="Picture 2">
            <a:extLst>
              <a:ext uri="{FF2B5EF4-FFF2-40B4-BE49-F238E27FC236}">
                <a16:creationId xmlns:a16="http://schemas.microsoft.com/office/drawing/2014/main" id="{B90FD00B-141E-45F7-BAC4-C0BCCB8F9BAB}"/>
              </a:ext>
            </a:extLst>
          </p:cNvPr>
          <p:cNvPicPr>
            <a:picLocks noChangeAspect="1"/>
          </p:cNvPicPr>
          <p:nvPr/>
        </p:nvPicPr>
        <p:blipFill>
          <a:blip r:embed="rId3"/>
          <a:stretch>
            <a:fillRect/>
          </a:stretch>
        </p:blipFill>
        <p:spPr>
          <a:xfrm>
            <a:off x="7392144" y="4566913"/>
            <a:ext cx="1559496" cy="1533612"/>
          </a:xfrm>
          <a:prstGeom prst="rect">
            <a:avLst/>
          </a:prstGeom>
        </p:spPr>
      </p:pic>
    </p:spTree>
    <p:extLst>
      <p:ext uri="{BB962C8B-B14F-4D97-AF65-F5344CB8AC3E}">
        <p14:creationId xmlns:p14="http://schemas.microsoft.com/office/powerpoint/2010/main" val="304703129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Accessing JSON Object in JavaScript</a:t>
            </a:r>
          </a:p>
        </p:txBody>
      </p:sp>
      <p:pic>
        <p:nvPicPr>
          <p:cNvPr id="4" name="Picture 3">
            <a:extLst>
              <a:ext uri="{FF2B5EF4-FFF2-40B4-BE49-F238E27FC236}">
                <a16:creationId xmlns:a16="http://schemas.microsoft.com/office/drawing/2014/main" id="{FD76314D-6001-4DAA-9B12-4483DCF22984}"/>
              </a:ext>
            </a:extLst>
          </p:cNvPr>
          <p:cNvPicPr>
            <a:picLocks noChangeAspect="1"/>
          </p:cNvPicPr>
          <p:nvPr/>
        </p:nvPicPr>
        <p:blipFill>
          <a:blip r:embed="rId3"/>
          <a:stretch>
            <a:fillRect/>
          </a:stretch>
        </p:blipFill>
        <p:spPr>
          <a:xfrm>
            <a:off x="0" y="1039268"/>
            <a:ext cx="12192000" cy="2878762"/>
          </a:xfrm>
          <a:prstGeom prst="rect">
            <a:avLst/>
          </a:prstGeom>
        </p:spPr>
      </p:pic>
      <p:pic>
        <p:nvPicPr>
          <p:cNvPr id="6" name="Picture 5">
            <a:extLst>
              <a:ext uri="{FF2B5EF4-FFF2-40B4-BE49-F238E27FC236}">
                <a16:creationId xmlns:a16="http://schemas.microsoft.com/office/drawing/2014/main" id="{364211F5-22BE-4C7F-8347-CF60F0DF3E0C}"/>
              </a:ext>
            </a:extLst>
          </p:cNvPr>
          <p:cNvPicPr>
            <a:picLocks noChangeAspect="1"/>
          </p:cNvPicPr>
          <p:nvPr/>
        </p:nvPicPr>
        <p:blipFill>
          <a:blip r:embed="rId4"/>
          <a:stretch>
            <a:fillRect/>
          </a:stretch>
        </p:blipFill>
        <p:spPr>
          <a:xfrm>
            <a:off x="5951984" y="3888364"/>
            <a:ext cx="5934075" cy="2314575"/>
          </a:xfrm>
          <a:prstGeom prst="rect">
            <a:avLst/>
          </a:prstGeom>
          <a:ln>
            <a:solidFill>
              <a:schemeClr val="accent2"/>
            </a:solidFill>
          </a:ln>
        </p:spPr>
      </p:pic>
    </p:spTree>
    <p:extLst>
      <p:ext uri="{BB962C8B-B14F-4D97-AF65-F5344CB8AC3E}">
        <p14:creationId xmlns:p14="http://schemas.microsoft.com/office/powerpoint/2010/main" val="147801812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A860F1-4CF2-4BC7-8034-40F3BD952BF8}"/>
              </a:ext>
            </a:extLst>
          </p:cNvPr>
          <p:cNvPicPr>
            <a:picLocks noChangeAspect="1"/>
          </p:cNvPicPr>
          <p:nvPr/>
        </p:nvPicPr>
        <p:blipFill>
          <a:blip r:embed="rId3"/>
          <a:stretch>
            <a:fillRect/>
          </a:stretch>
        </p:blipFill>
        <p:spPr>
          <a:xfrm>
            <a:off x="659176" y="1124744"/>
            <a:ext cx="8277225" cy="3667125"/>
          </a:xfrm>
          <a:prstGeom prst="rect">
            <a:avLst/>
          </a:prstGeom>
        </p:spPr>
      </p:pic>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Accessing JSON Object in JavaScript</a:t>
            </a:r>
          </a:p>
        </p:txBody>
      </p:sp>
      <p:pic>
        <p:nvPicPr>
          <p:cNvPr id="3" name="Picture 2">
            <a:extLst>
              <a:ext uri="{FF2B5EF4-FFF2-40B4-BE49-F238E27FC236}">
                <a16:creationId xmlns:a16="http://schemas.microsoft.com/office/drawing/2014/main" id="{CCECB8CB-ED9E-47D6-BEF3-B6E031F894BA}"/>
              </a:ext>
            </a:extLst>
          </p:cNvPr>
          <p:cNvPicPr>
            <a:picLocks noChangeAspect="1"/>
          </p:cNvPicPr>
          <p:nvPr/>
        </p:nvPicPr>
        <p:blipFill>
          <a:blip r:embed="rId4"/>
          <a:stretch>
            <a:fillRect/>
          </a:stretch>
        </p:blipFill>
        <p:spPr>
          <a:xfrm>
            <a:off x="6083380" y="3816448"/>
            <a:ext cx="6010275" cy="2409825"/>
          </a:xfrm>
          <a:prstGeom prst="rect">
            <a:avLst/>
          </a:prstGeom>
          <a:ln>
            <a:solidFill>
              <a:schemeClr val="accent2"/>
            </a:solidFill>
          </a:ln>
        </p:spPr>
      </p:pic>
    </p:spTree>
    <p:extLst>
      <p:ext uri="{BB962C8B-B14F-4D97-AF65-F5344CB8AC3E}">
        <p14:creationId xmlns:p14="http://schemas.microsoft.com/office/powerpoint/2010/main" val="35022394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27618B7-F03A-43AD-B27F-3EADA54B5019}"/>
              </a:ext>
            </a:extLst>
          </p:cNvPr>
          <p:cNvPicPr>
            <a:picLocks noChangeAspect="1"/>
          </p:cNvPicPr>
          <p:nvPr/>
        </p:nvPicPr>
        <p:blipFill>
          <a:blip r:embed="rId3"/>
          <a:stretch>
            <a:fillRect/>
          </a:stretch>
        </p:blipFill>
        <p:spPr>
          <a:xfrm>
            <a:off x="623391" y="1124744"/>
            <a:ext cx="7685162" cy="4092996"/>
          </a:xfrm>
          <a:prstGeom prst="rect">
            <a:avLst/>
          </a:prstGeom>
        </p:spPr>
      </p:pic>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creation of an object in JavaScript using JSON,</a:t>
            </a:r>
          </a:p>
        </p:txBody>
      </p:sp>
      <p:pic>
        <p:nvPicPr>
          <p:cNvPr id="3" name="Picture 2">
            <a:extLst>
              <a:ext uri="{FF2B5EF4-FFF2-40B4-BE49-F238E27FC236}">
                <a16:creationId xmlns:a16="http://schemas.microsoft.com/office/drawing/2014/main" id="{7BA883F0-8538-43E1-A2A9-C4A594CC96A3}"/>
              </a:ext>
            </a:extLst>
          </p:cNvPr>
          <p:cNvPicPr>
            <a:picLocks noChangeAspect="1"/>
          </p:cNvPicPr>
          <p:nvPr/>
        </p:nvPicPr>
        <p:blipFill>
          <a:blip r:embed="rId4"/>
          <a:stretch>
            <a:fillRect/>
          </a:stretch>
        </p:blipFill>
        <p:spPr>
          <a:xfrm>
            <a:off x="6120309" y="3789040"/>
            <a:ext cx="5448300" cy="2362200"/>
          </a:xfrm>
          <a:prstGeom prst="rect">
            <a:avLst/>
          </a:prstGeom>
          <a:ln>
            <a:solidFill>
              <a:schemeClr val="accent2"/>
            </a:solidFill>
          </a:ln>
        </p:spPr>
      </p:pic>
    </p:spTree>
    <p:extLst>
      <p:ext uri="{BB962C8B-B14F-4D97-AF65-F5344CB8AC3E}">
        <p14:creationId xmlns:p14="http://schemas.microsoft.com/office/powerpoint/2010/main" val="378159288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5054028"/>
          </a:xfrm>
        </p:spPr>
        <p:txBody>
          <a:bodyPr/>
          <a:lstStyle/>
          <a:p>
            <a:pPr>
              <a:defRPr/>
            </a:pPr>
            <a:r>
              <a:rPr lang="en-US" dirty="0"/>
              <a:t>Values in a JSON object can be another JSON object.</a:t>
            </a:r>
          </a:p>
          <a:p>
            <a:pPr marL="0" indent="0">
              <a:buNone/>
              <a:defRPr/>
            </a:pPr>
            <a:r>
              <a:rPr lang="en-US" dirty="0"/>
              <a:t>	</a:t>
            </a:r>
            <a:r>
              <a:rPr lang="en-US" dirty="0">
                <a:latin typeface="Consolas" panose="020B0609020204030204" pitchFamily="49" charset="0"/>
              </a:rPr>
              <a:t> </a:t>
            </a:r>
            <a:r>
              <a:rPr lang="en-US" dirty="0" err="1">
                <a:latin typeface="Consolas" panose="020B0609020204030204" pitchFamily="49" charset="0"/>
              </a:rPr>
              <a:t>myObj</a:t>
            </a:r>
            <a:r>
              <a:rPr lang="en-US" dirty="0">
                <a:latin typeface="Consolas" panose="020B0609020204030204" pitchFamily="49" charset="0"/>
              </a:rPr>
              <a:t> = { "name":"John”, "age":30, </a:t>
            </a:r>
          </a:p>
          <a:p>
            <a:pPr marL="0" indent="0">
              <a:buNone/>
              <a:defRPr/>
            </a:pPr>
            <a:r>
              <a:rPr lang="en-US" dirty="0">
                <a:latin typeface="Consolas" panose="020B0609020204030204" pitchFamily="49" charset="0"/>
              </a:rPr>
              <a:t>		  "cars": { "car1":"Ford", "car2":"BMW", "car3":"Fiat" } </a:t>
            </a:r>
          </a:p>
          <a:p>
            <a:pPr marL="0" indent="0">
              <a:buNone/>
              <a:defRPr/>
            </a:pPr>
            <a:r>
              <a:rPr lang="en-US" dirty="0">
                <a:latin typeface="Consolas" panose="020B0609020204030204" pitchFamily="49" charset="0"/>
              </a:rPr>
              <a:t>		    } </a:t>
            </a:r>
          </a:p>
          <a:p>
            <a:pPr>
              <a:defRPr/>
            </a:pPr>
            <a:r>
              <a:rPr lang="en-US" dirty="0"/>
              <a:t> You can access nested JSON objects by using the dot notation or bracket notation: 	Example</a:t>
            </a:r>
          </a:p>
          <a:p>
            <a:pPr marL="0" indent="0">
              <a:buNone/>
              <a:defRPr/>
            </a:pPr>
            <a:r>
              <a:rPr lang="en-US" dirty="0"/>
              <a:t>	 x = myObj.cars.car2;</a:t>
            </a:r>
          </a:p>
          <a:p>
            <a:pPr marL="0" indent="0">
              <a:buNone/>
              <a:defRPr/>
            </a:pPr>
            <a:r>
              <a:rPr lang="en-US" dirty="0"/>
              <a:t>		or</a:t>
            </a:r>
          </a:p>
          <a:p>
            <a:pPr marL="0" indent="0">
              <a:buNone/>
              <a:defRPr/>
            </a:pPr>
            <a:r>
              <a:rPr lang="en-US" dirty="0"/>
              <a:t>	 x = </a:t>
            </a:r>
            <a:r>
              <a:rPr lang="en-US" dirty="0" err="1"/>
              <a:t>myObj.cars</a:t>
            </a:r>
            <a:r>
              <a:rPr lang="en-US" dirty="0"/>
              <a:t>["car2"]; </a:t>
            </a:r>
            <a:endParaRPr lang="en-US" dirty="0">
              <a:latin typeface="Consolas" panose="020B0609020204030204" pitchFamily="49" charset="0"/>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Nested JSON Objects</a:t>
            </a:r>
          </a:p>
        </p:txBody>
      </p:sp>
    </p:spTree>
    <p:extLst>
      <p:ext uri="{BB962C8B-B14F-4D97-AF65-F5344CB8AC3E}">
        <p14:creationId xmlns:p14="http://schemas.microsoft.com/office/powerpoint/2010/main" val="291336352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creation of an object in JavaScript using JSON,</a:t>
            </a:r>
          </a:p>
        </p:txBody>
      </p:sp>
      <p:pic>
        <p:nvPicPr>
          <p:cNvPr id="4" name="Picture 3">
            <a:extLst>
              <a:ext uri="{FF2B5EF4-FFF2-40B4-BE49-F238E27FC236}">
                <a16:creationId xmlns:a16="http://schemas.microsoft.com/office/drawing/2014/main" id="{0C333591-BD83-4850-9E98-0C10B4F3EA18}"/>
              </a:ext>
            </a:extLst>
          </p:cNvPr>
          <p:cNvPicPr>
            <a:picLocks noChangeAspect="1"/>
          </p:cNvPicPr>
          <p:nvPr/>
        </p:nvPicPr>
        <p:blipFill>
          <a:blip r:embed="rId3"/>
          <a:stretch>
            <a:fillRect/>
          </a:stretch>
        </p:blipFill>
        <p:spPr>
          <a:xfrm>
            <a:off x="602868" y="1039267"/>
            <a:ext cx="8949515" cy="5724313"/>
          </a:xfrm>
          <a:prstGeom prst="rect">
            <a:avLst/>
          </a:prstGeom>
        </p:spPr>
      </p:pic>
      <p:pic>
        <p:nvPicPr>
          <p:cNvPr id="7" name="Picture 6">
            <a:extLst>
              <a:ext uri="{FF2B5EF4-FFF2-40B4-BE49-F238E27FC236}">
                <a16:creationId xmlns:a16="http://schemas.microsoft.com/office/drawing/2014/main" id="{F0E944E5-4FA2-40EA-8130-A71E25FABCCF}"/>
              </a:ext>
            </a:extLst>
          </p:cNvPr>
          <p:cNvPicPr>
            <a:picLocks noChangeAspect="1"/>
          </p:cNvPicPr>
          <p:nvPr/>
        </p:nvPicPr>
        <p:blipFill>
          <a:blip r:embed="rId4"/>
          <a:stretch>
            <a:fillRect/>
          </a:stretch>
        </p:blipFill>
        <p:spPr>
          <a:xfrm>
            <a:off x="9624392" y="1268760"/>
            <a:ext cx="2202371" cy="2301439"/>
          </a:xfrm>
          <a:prstGeom prst="rect">
            <a:avLst/>
          </a:prstGeom>
          <a:solidFill>
            <a:schemeClr val="accent2"/>
          </a:solidFill>
          <a:ln>
            <a:solidFill>
              <a:schemeClr val="accent2">
                <a:lumMod val="60000"/>
                <a:lumOff val="40000"/>
              </a:schemeClr>
            </a:solidFill>
          </a:ln>
        </p:spPr>
      </p:pic>
    </p:spTree>
    <p:extLst>
      <p:ext uri="{BB962C8B-B14F-4D97-AF65-F5344CB8AC3E}">
        <p14:creationId xmlns:p14="http://schemas.microsoft.com/office/powerpoint/2010/main" val="3139149382"/>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creation of an object in JavaScript using JSON,</a:t>
            </a:r>
          </a:p>
        </p:txBody>
      </p:sp>
      <p:pic>
        <p:nvPicPr>
          <p:cNvPr id="2" name="Picture 1">
            <a:extLst>
              <a:ext uri="{FF2B5EF4-FFF2-40B4-BE49-F238E27FC236}">
                <a16:creationId xmlns:a16="http://schemas.microsoft.com/office/drawing/2014/main" id="{081E8B1F-9E1B-4DBC-BEBB-B3E578426323}"/>
              </a:ext>
            </a:extLst>
          </p:cNvPr>
          <p:cNvPicPr>
            <a:picLocks noChangeAspect="1"/>
          </p:cNvPicPr>
          <p:nvPr/>
        </p:nvPicPr>
        <p:blipFill>
          <a:blip r:embed="rId3"/>
          <a:stretch>
            <a:fillRect/>
          </a:stretch>
        </p:blipFill>
        <p:spPr>
          <a:xfrm>
            <a:off x="420614" y="908720"/>
            <a:ext cx="11524665" cy="5832648"/>
          </a:xfrm>
          <a:prstGeom prst="rect">
            <a:avLst/>
          </a:prstGeom>
        </p:spPr>
      </p:pic>
      <p:pic>
        <p:nvPicPr>
          <p:cNvPr id="3" name="Picture 2">
            <a:extLst>
              <a:ext uri="{FF2B5EF4-FFF2-40B4-BE49-F238E27FC236}">
                <a16:creationId xmlns:a16="http://schemas.microsoft.com/office/drawing/2014/main" id="{B282D035-03F0-47BE-941C-405A74C6CD11}"/>
              </a:ext>
            </a:extLst>
          </p:cNvPr>
          <p:cNvPicPr>
            <a:picLocks noChangeAspect="1"/>
          </p:cNvPicPr>
          <p:nvPr/>
        </p:nvPicPr>
        <p:blipFill>
          <a:blip r:embed="rId4"/>
          <a:stretch>
            <a:fillRect/>
          </a:stretch>
        </p:blipFill>
        <p:spPr>
          <a:xfrm>
            <a:off x="9677326" y="1196752"/>
            <a:ext cx="2088061" cy="2057578"/>
          </a:xfrm>
          <a:prstGeom prst="rect">
            <a:avLst/>
          </a:prstGeom>
          <a:ln>
            <a:solidFill>
              <a:schemeClr val="accent2"/>
            </a:solidFill>
          </a:ln>
        </p:spPr>
      </p:pic>
    </p:spTree>
    <p:extLst>
      <p:ext uri="{BB962C8B-B14F-4D97-AF65-F5344CB8AC3E}">
        <p14:creationId xmlns:p14="http://schemas.microsoft.com/office/powerpoint/2010/main" val="369663180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JSON SCHEMA</a:t>
            </a:r>
          </a:p>
        </p:txBody>
      </p:sp>
    </p:spTree>
    <p:extLst>
      <p:ext uri="{BB962C8B-B14F-4D97-AF65-F5344CB8AC3E}">
        <p14:creationId xmlns:p14="http://schemas.microsoft.com/office/powerpoint/2010/main" val="57413264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5054028"/>
          </a:xfrm>
        </p:spPr>
        <p:txBody>
          <a:bodyPr/>
          <a:lstStyle/>
          <a:p>
            <a:pPr>
              <a:defRPr/>
            </a:pPr>
            <a:r>
              <a:rPr lang="en-US" dirty="0">
                <a:highlight>
                  <a:srgbClr val="FFFF00"/>
                </a:highlight>
              </a:rPr>
              <a:t>JSON Schema </a:t>
            </a:r>
            <a:r>
              <a:rPr lang="en-US" dirty="0"/>
              <a:t>is a specification for JSON-based format for </a:t>
            </a:r>
            <a:r>
              <a:rPr lang="en-US" dirty="0">
                <a:highlight>
                  <a:srgbClr val="FFFF00"/>
                </a:highlight>
              </a:rPr>
              <a:t>defining the structure of JSON data</a:t>
            </a:r>
            <a:r>
              <a:rPr lang="en-US" dirty="0"/>
              <a:t>. </a:t>
            </a:r>
          </a:p>
          <a:p>
            <a:pPr>
              <a:defRPr/>
            </a:pPr>
            <a:r>
              <a:rPr lang="en-US" dirty="0"/>
              <a:t>It was written under IETF draft which expired in 2011. </a:t>
            </a:r>
          </a:p>
          <a:p>
            <a:pPr>
              <a:defRPr/>
            </a:pPr>
            <a:r>
              <a:rPr lang="en-US" dirty="0"/>
              <a:t>JSON Schema, </a:t>
            </a:r>
            <a:r>
              <a:rPr lang="en-US" dirty="0">
                <a:highlight>
                  <a:srgbClr val="FFFF00"/>
                </a:highlight>
              </a:rPr>
              <a:t>describes your existing data format</a:t>
            </a:r>
            <a:r>
              <a:rPr lang="en-US" dirty="0"/>
              <a:t>. </a:t>
            </a:r>
          </a:p>
          <a:p>
            <a:pPr>
              <a:defRPr/>
            </a:pPr>
            <a:r>
              <a:rPr lang="en-US" dirty="0"/>
              <a:t>JSON Schema is a powerful </a:t>
            </a:r>
            <a:r>
              <a:rPr lang="en-US" dirty="0">
                <a:highlight>
                  <a:srgbClr val="FFFF00"/>
                </a:highlight>
              </a:rPr>
              <a:t>tool for validating the structure of JSON data</a:t>
            </a:r>
            <a:r>
              <a:rPr lang="en-US" dirty="0"/>
              <a:t>.</a:t>
            </a:r>
          </a:p>
          <a:p>
            <a:pPr>
              <a:defRPr/>
            </a:pPr>
            <a:r>
              <a:rPr lang="en-US" dirty="0"/>
              <a:t>Complete structural validation, useful for automated testing, and validating client-submitted data.</a:t>
            </a:r>
          </a:p>
          <a:p>
            <a:pPr>
              <a:defRPr/>
            </a:pPr>
            <a:r>
              <a:rPr lang="en-US" dirty="0"/>
              <a:t>There are several JSON Schema Validation Libraries and validators currently available for different programming languages.</a:t>
            </a:r>
          </a:p>
          <a:p>
            <a:pPr>
              <a:defRPr/>
            </a:pPr>
            <a:r>
              <a:rPr lang="en-US" dirty="0">
                <a:highlight>
                  <a:srgbClr val="FFFF00"/>
                </a:highlight>
              </a:rPr>
              <a:t> JSON Schema itself is written in JSON</a:t>
            </a:r>
            <a:r>
              <a:rPr lang="en-US" dirty="0"/>
              <a:t>. </a:t>
            </a:r>
          </a:p>
          <a:p>
            <a:pPr>
              <a:defRPr/>
            </a:pPr>
            <a:r>
              <a:rPr lang="en-US" dirty="0"/>
              <a:t>It is data itself, not a computer program. It’s just a declarative format for “describing the structure of other data”.</a:t>
            </a:r>
            <a:endParaRPr lang="en-US" dirty="0">
              <a:latin typeface="Consolas" panose="020B0609020204030204" pitchFamily="49" charset="0"/>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 Schema</a:t>
            </a:r>
          </a:p>
        </p:txBody>
      </p:sp>
    </p:spTree>
    <p:extLst>
      <p:ext uri="{BB962C8B-B14F-4D97-AF65-F5344CB8AC3E}">
        <p14:creationId xmlns:p14="http://schemas.microsoft.com/office/powerpoint/2010/main" val="48389907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 Schema</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09600" y="1425600"/>
            <a:ext cx="4910336" cy="4698000"/>
          </a:xfrm>
        </p:spPr>
        <p:txBody>
          <a:bodyPr/>
          <a:lstStyle/>
          <a:p>
            <a:r>
              <a:rPr lang="en-US" dirty="0"/>
              <a:t>For example, you could imagine representing information about a person in JSON in different ways:</a:t>
            </a:r>
          </a:p>
          <a:p>
            <a:r>
              <a:rPr lang="en-US" dirty="0"/>
              <a:t>Both representations are equally valid, though one is clearly more formal than the other</a:t>
            </a:r>
          </a:p>
          <a:p>
            <a:r>
              <a:rPr lang="en-US" dirty="0"/>
              <a:t>Suppose we need to know what fields are expected, and how the values are represented. Means we want to validate the data</a:t>
            </a:r>
          </a:p>
          <a:p>
            <a:r>
              <a:rPr lang="en-US" dirty="0"/>
              <a:t>That’s where JSON Schema comes in. </a:t>
            </a:r>
          </a:p>
        </p:txBody>
      </p:sp>
      <p:pic>
        <p:nvPicPr>
          <p:cNvPr id="4" name="Picture 3">
            <a:extLst>
              <a:ext uri="{FF2B5EF4-FFF2-40B4-BE49-F238E27FC236}">
                <a16:creationId xmlns:a16="http://schemas.microsoft.com/office/drawing/2014/main" id="{DDE9C3C0-A2C6-4218-8741-897971905C23}"/>
              </a:ext>
            </a:extLst>
          </p:cNvPr>
          <p:cNvPicPr>
            <a:picLocks noChangeAspect="1"/>
          </p:cNvPicPr>
          <p:nvPr/>
        </p:nvPicPr>
        <p:blipFill>
          <a:blip r:embed="rId3"/>
          <a:stretch>
            <a:fillRect/>
          </a:stretch>
        </p:blipFill>
        <p:spPr>
          <a:xfrm>
            <a:off x="5519936" y="1136452"/>
            <a:ext cx="6336704" cy="4585095"/>
          </a:xfrm>
          <a:prstGeom prst="rect">
            <a:avLst/>
          </a:prstGeom>
          <a:ln>
            <a:solidFill>
              <a:schemeClr val="accent2"/>
            </a:solidFill>
          </a:ln>
        </p:spPr>
      </p:pic>
    </p:spTree>
    <p:extLst>
      <p:ext uri="{BB962C8B-B14F-4D97-AF65-F5344CB8AC3E}">
        <p14:creationId xmlns:p14="http://schemas.microsoft.com/office/powerpoint/2010/main" val="303449230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 Schema</a:t>
            </a:r>
          </a:p>
        </p:txBody>
      </p:sp>
      <p:pic>
        <p:nvPicPr>
          <p:cNvPr id="9" name="Picture 8">
            <a:extLst>
              <a:ext uri="{FF2B5EF4-FFF2-40B4-BE49-F238E27FC236}">
                <a16:creationId xmlns:a16="http://schemas.microsoft.com/office/drawing/2014/main" id="{F4E67A15-EE49-4F3C-A0C9-0E354CCE4925}"/>
              </a:ext>
            </a:extLst>
          </p:cNvPr>
          <p:cNvPicPr>
            <a:picLocks noChangeAspect="1"/>
          </p:cNvPicPr>
          <p:nvPr/>
        </p:nvPicPr>
        <p:blipFill>
          <a:blip r:embed="rId3"/>
          <a:stretch>
            <a:fillRect/>
          </a:stretch>
        </p:blipFill>
        <p:spPr>
          <a:xfrm>
            <a:off x="119336" y="1340768"/>
            <a:ext cx="5650162" cy="4267422"/>
          </a:xfrm>
          <a:prstGeom prst="rect">
            <a:avLst/>
          </a:prstGeom>
        </p:spPr>
      </p:pic>
      <p:pic>
        <p:nvPicPr>
          <p:cNvPr id="10" name="Picture 9">
            <a:extLst>
              <a:ext uri="{FF2B5EF4-FFF2-40B4-BE49-F238E27FC236}">
                <a16:creationId xmlns:a16="http://schemas.microsoft.com/office/drawing/2014/main" id="{F096228D-5743-4533-B571-A7F909D79F65}"/>
              </a:ext>
            </a:extLst>
          </p:cNvPr>
          <p:cNvPicPr>
            <a:picLocks noChangeAspect="1"/>
          </p:cNvPicPr>
          <p:nvPr/>
        </p:nvPicPr>
        <p:blipFill>
          <a:blip r:embed="rId4"/>
          <a:stretch>
            <a:fillRect/>
          </a:stretch>
        </p:blipFill>
        <p:spPr>
          <a:xfrm>
            <a:off x="6312024" y="1116532"/>
            <a:ext cx="4800600" cy="1171575"/>
          </a:xfrm>
          <a:prstGeom prst="rect">
            <a:avLst/>
          </a:prstGeom>
        </p:spPr>
      </p:pic>
      <p:pic>
        <p:nvPicPr>
          <p:cNvPr id="11" name="Picture 10">
            <a:extLst>
              <a:ext uri="{FF2B5EF4-FFF2-40B4-BE49-F238E27FC236}">
                <a16:creationId xmlns:a16="http://schemas.microsoft.com/office/drawing/2014/main" id="{38B6E273-76B0-4364-AE9F-3947E79FA2D6}"/>
              </a:ext>
            </a:extLst>
          </p:cNvPr>
          <p:cNvPicPr>
            <a:picLocks noChangeAspect="1"/>
          </p:cNvPicPr>
          <p:nvPr/>
        </p:nvPicPr>
        <p:blipFill>
          <a:blip r:embed="rId5"/>
          <a:stretch>
            <a:fillRect/>
          </a:stretch>
        </p:blipFill>
        <p:spPr>
          <a:xfrm>
            <a:off x="6312024" y="3493568"/>
            <a:ext cx="5619750" cy="2247900"/>
          </a:xfrm>
          <a:prstGeom prst="rect">
            <a:avLst/>
          </a:prstGeom>
        </p:spPr>
      </p:pic>
      <p:sp>
        <p:nvSpPr>
          <p:cNvPr id="12" name="TextBox 11">
            <a:extLst>
              <a:ext uri="{FF2B5EF4-FFF2-40B4-BE49-F238E27FC236}">
                <a16:creationId xmlns:a16="http://schemas.microsoft.com/office/drawing/2014/main" id="{BC8AB463-1B23-4CEF-B503-8027AAEF0C2F}"/>
              </a:ext>
            </a:extLst>
          </p:cNvPr>
          <p:cNvSpPr txBox="1"/>
          <p:nvPr/>
        </p:nvSpPr>
        <p:spPr>
          <a:xfrm>
            <a:off x="6023992" y="2512343"/>
            <a:ext cx="5976664" cy="743793"/>
          </a:xfrm>
          <a:prstGeom prst="rect">
            <a:avLst/>
          </a:prstGeom>
          <a:noFill/>
          <a:ln>
            <a:solidFill>
              <a:schemeClr val="accent2"/>
            </a:solidFill>
          </a:ln>
        </p:spPr>
        <p:txBody>
          <a:bodyPr wrap="square" lIns="0" tIns="36576" rIns="0" bIns="0" rtlCol="0">
            <a:spAutoFit/>
          </a:bodyPr>
          <a:lstStyle/>
          <a:p>
            <a:pPr>
              <a:lnSpc>
                <a:spcPct val="85000"/>
              </a:lnSpc>
              <a:spcAft>
                <a:spcPts val="600"/>
              </a:spcAft>
              <a:buClr>
                <a:schemeClr val="accent2"/>
              </a:buClr>
              <a:buSzPct val="70000"/>
            </a:pPr>
            <a:r>
              <a:rPr lang="en-US" dirty="0">
                <a:latin typeface="Consolas" panose="020B0609020204030204" pitchFamily="49" charset="0"/>
              </a:rPr>
              <a:t>By “validating” the first example against this schema, you can see that it fails. However, the second example passes:</a:t>
            </a:r>
            <a:endParaRPr lang="en-US" sz="1200" dirty="0">
              <a:latin typeface="Consolas" panose="020B0609020204030204" pitchFamily="49" charset="0"/>
            </a:endParaRPr>
          </a:p>
        </p:txBody>
      </p:sp>
      <p:cxnSp>
        <p:nvCxnSpPr>
          <p:cNvPr id="14" name="Straight Arrow Connector 13">
            <a:extLst>
              <a:ext uri="{FF2B5EF4-FFF2-40B4-BE49-F238E27FC236}">
                <a16:creationId xmlns:a16="http://schemas.microsoft.com/office/drawing/2014/main" id="{2C298CEA-FD09-4B03-92EC-D48F91BFB12E}"/>
              </a:ext>
            </a:extLst>
          </p:cNvPr>
          <p:cNvCxnSpPr/>
          <p:nvPr/>
        </p:nvCxnSpPr>
        <p:spPr>
          <a:xfrm>
            <a:off x="5447928" y="4005064"/>
            <a:ext cx="792088" cy="720080"/>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114C087-2EDC-46C7-8701-DDDE1ED39585}"/>
              </a:ext>
            </a:extLst>
          </p:cNvPr>
          <p:cNvCxnSpPr/>
          <p:nvPr/>
        </p:nvCxnSpPr>
        <p:spPr>
          <a:xfrm flipV="1">
            <a:off x="5225441" y="1268760"/>
            <a:ext cx="1014575" cy="504056"/>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196674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 Schema</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551384" y="1080000"/>
            <a:ext cx="11463064" cy="4698000"/>
          </a:xfrm>
        </p:spPr>
        <p:txBody>
          <a:bodyPr/>
          <a:lstStyle/>
          <a:p>
            <a:pPr fontAlgn="base"/>
            <a:r>
              <a:rPr lang="en-US" sz="2200" b="1" dirty="0"/>
              <a:t>Structure of a JSON Schema:</a:t>
            </a:r>
            <a:r>
              <a:rPr lang="en-US" sz="2200" dirty="0"/>
              <a:t> Since JSON format contains an object, array, and name-value pair elements. </a:t>
            </a:r>
          </a:p>
          <a:p>
            <a:pPr fontAlgn="base"/>
            <a:r>
              <a:rPr lang="en-US" sz="2200" dirty="0">
                <a:highlight>
                  <a:srgbClr val="FFFF00"/>
                </a:highlight>
              </a:rPr>
              <a:t>Name-value pairs are used for providing schema processing elements</a:t>
            </a:r>
            <a:r>
              <a:rPr lang="en-US" sz="2200" dirty="0"/>
              <a:t> as well as validating the JSON content. </a:t>
            </a:r>
          </a:p>
          <a:p>
            <a:pPr fontAlgn="base"/>
            <a:r>
              <a:rPr lang="en-US" sz="2200" b="1" dirty="0"/>
              <a:t>$schema:</a:t>
            </a:r>
            <a:r>
              <a:rPr lang="en-US" sz="2200" dirty="0"/>
              <a:t> To specify the version of JSON schema.</a:t>
            </a:r>
          </a:p>
          <a:p>
            <a:pPr fontAlgn="base"/>
            <a:r>
              <a:rPr lang="en-US" sz="2200" b="1" dirty="0"/>
              <a:t>title and description:</a:t>
            </a:r>
            <a:r>
              <a:rPr lang="en-US" sz="2200" dirty="0"/>
              <a:t> To provide information about the schema.</a:t>
            </a:r>
          </a:p>
          <a:p>
            <a:pPr fontAlgn="base"/>
            <a:r>
              <a:rPr lang="en-US" sz="2200" b="1" dirty="0"/>
              <a:t>required:</a:t>
            </a:r>
            <a:r>
              <a:rPr lang="en-US" sz="2200" dirty="0"/>
              <a:t> It’s an array of elements that indicates which elements should be present.</a:t>
            </a:r>
          </a:p>
          <a:p>
            <a:pPr fontAlgn="base"/>
            <a:r>
              <a:rPr lang="en-US" sz="2200" b="1" dirty="0" err="1"/>
              <a:t>additionalProperties</a:t>
            </a:r>
            <a:r>
              <a:rPr lang="en-US" sz="2200" b="1" dirty="0"/>
              <a:t>:</a:t>
            </a:r>
            <a:r>
              <a:rPr lang="en-US" sz="2200" dirty="0"/>
              <a:t> To indicate whether existence of specified elements are allowed or not.</a:t>
            </a:r>
          </a:p>
          <a:p>
            <a:pPr fontAlgn="base"/>
            <a:r>
              <a:rPr lang="en-US" sz="2200" b="1" dirty="0"/>
              <a:t>JSON content definition:</a:t>
            </a:r>
            <a:endParaRPr lang="en-US" sz="2200" dirty="0"/>
          </a:p>
          <a:p>
            <a:pPr fontAlgn="base"/>
            <a:r>
              <a:rPr lang="en-US" sz="2200" dirty="0"/>
              <a:t>When a JSON object is defined, JSON schema uses name-value pair </a:t>
            </a:r>
            <a:r>
              <a:rPr lang="en-US" sz="2200" b="1" dirty="0"/>
              <a:t>“</a:t>
            </a:r>
            <a:r>
              <a:rPr lang="en-US" sz="2200" b="1" dirty="0" err="1"/>
              <a:t>type”:”object</a:t>
            </a:r>
            <a:r>
              <a:rPr lang="en-US" sz="2200" b="1" dirty="0"/>
              <a:t>”</a:t>
            </a:r>
            <a:endParaRPr lang="en-US" sz="2200" dirty="0"/>
          </a:p>
          <a:p>
            <a:pPr fontAlgn="base"/>
            <a:r>
              <a:rPr lang="en-US" sz="2200" dirty="0"/>
              <a:t>When arrays are defined, JSON schema uses the name-value pair </a:t>
            </a:r>
            <a:r>
              <a:rPr lang="en-US" sz="2200" b="1" dirty="0"/>
              <a:t>“</a:t>
            </a:r>
            <a:r>
              <a:rPr lang="en-US" sz="2200" b="1" dirty="0" err="1"/>
              <a:t>type”:”array</a:t>
            </a:r>
            <a:r>
              <a:rPr lang="en-US" sz="2200" b="1" dirty="0"/>
              <a:t>”</a:t>
            </a:r>
            <a:endParaRPr lang="en-US" sz="2200" dirty="0"/>
          </a:p>
          <a:p>
            <a:endParaRPr lang="en-US" dirty="0"/>
          </a:p>
        </p:txBody>
      </p:sp>
    </p:spTree>
    <p:extLst>
      <p:ext uri="{BB962C8B-B14F-4D97-AF65-F5344CB8AC3E}">
        <p14:creationId xmlns:p14="http://schemas.microsoft.com/office/powerpoint/2010/main" val="143717081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ADB75A-42B4-485C-A789-C41349CEC2B8}"/>
              </a:ext>
            </a:extLst>
          </p:cNvPr>
          <p:cNvPicPr>
            <a:picLocks noChangeAspect="1"/>
          </p:cNvPicPr>
          <p:nvPr/>
        </p:nvPicPr>
        <p:blipFill>
          <a:blip r:embed="rId2"/>
          <a:stretch>
            <a:fillRect/>
          </a:stretch>
        </p:blipFill>
        <p:spPr>
          <a:xfrm>
            <a:off x="2601596" y="0"/>
            <a:ext cx="6988807" cy="6858000"/>
          </a:xfrm>
          <a:prstGeom prst="rect">
            <a:avLst/>
          </a:prstGeom>
          <a:ln>
            <a:solidFill>
              <a:schemeClr val="accent2"/>
            </a:solidFill>
          </a:ln>
        </p:spPr>
      </p:pic>
    </p:spTree>
    <p:extLst>
      <p:ext uri="{BB962C8B-B14F-4D97-AF65-F5344CB8AC3E}">
        <p14:creationId xmlns:p14="http://schemas.microsoft.com/office/powerpoint/2010/main" val="2391985891"/>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 Schema data to validate the schema</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23390" y="1297794"/>
            <a:ext cx="5112569" cy="4480206"/>
          </a:xfrm>
        </p:spPr>
        <p:txBody>
          <a:bodyPr/>
          <a:lstStyle/>
          <a:p>
            <a:pPr fontAlgn="base"/>
            <a:r>
              <a:rPr lang="en-US" sz="2000" dirty="0"/>
              <a:t>Check the http://json-schema.org for the complete list of keywords that can be used in defining a JSON schema.</a:t>
            </a:r>
          </a:p>
          <a:p>
            <a:pPr fontAlgn="base"/>
            <a:r>
              <a:rPr lang="en-US" sz="2000" dirty="0"/>
              <a:t>The above schema can be used to test the validity of the following JSON code:</a:t>
            </a:r>
            <a:endParaRPr lang="en-US" dirty="0"/>
          </a:p>
        </p:txBody>
      </p:sp>
      <p:pic>
        <p:nvPicPr>
          <p:cNvPr id="2" name="Picture 1">
            <a:extLst>
              <a:ext uri="{FF2B5EF4-FFF2-40B4-BE49-F238E27FC236}">
                <a16:creationId xmlns:a16="http://schemas.microsoft.com/office/drawing/2014/main" id="{64D7CBBA-E058-42B2-A5C9-CE1C93C8C117}"/>
              </a:ext>
            </a:extLst>
          </p:cNvPr>
          <p:cNvPicPr>
            <a:picLocks noChangeAspect="1"/>
          </p:cNvPicPr>
          <p:nvPr/>
        </p:nvPicPr>
        <p:blipFill>
          <a:blip r:embed="rId3"/>
          <a:stretch>
            <a:fillRect/>
          </a:stretch>
        </p:blipFill>
        <p:spPr>
          <a:xfrm>
            <a:off x="6240016" y="1297794"/>
            <a:ext cx="4010025" cy="4448175"/>
          </a:xfrm>
          <a:prstGeom prst="rect">
            <a:avLst/>
          </a:prstGeom>
        </p:spPr>
      </p:pic>
    </p:spTree>
    <p:extLst>
      <p:ext uri="{BB962C8B-B14F-4D97-AF65-F5344CB8AC3E}">
        <p14:creationId xmlns:p14="http://schemas.microsoft.com/office/powerpoint/2010/main" val="1888618157"/>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089E62-A57E-4EAC-95AC-753441B2A2A0}"/>
              </a:ext>
            </a:extLst>
          </p:cNvPr>
          <p:cNvPicPr>
            <a:picLocks noChangeAspect="1"/>
          </p:cNvPicPr>
          <p:nvPr/>
        </p:nvPicPr>
        <p:blipFill>
          <a:blip r:embed="rId2"/>
          <a:stretch>
            <a:fillRect/>
          </a:stretch>
        </p:blipFill>
        <p:spPr>
          <a:xfrm>
            <a:off x="2013857" y="0"/>
            <a:ext cx="8164286" cy="6858000"/>
          </a:xfrm>
          <a:prstGeom prst="rect">
            <a:avLst/>
          </a:prstGeom>
        </p:spPr>
      </p:pic>
    </p:spTree>
    <p:extLst>
      <p:ext uri="{BB962C8B-B14F-4D97-AF65-F5344CB8AC3E}">
        <p14:creationId xmlns:p14="http://schemas.microsoft.com/office/powerpoint/2010/main" val="2693951475"/>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9EFFA05-6880-4398-B06D-80A2C23C6866}"/>
              </a:ext>
            </a:extLst>
          </p:cNvPr>
          <p:cNvPicPr>
            <a:picLocks noChangeAspect="1"/>
          </p:cNvPicPr>
          <p:nvPr/>
        </p:nvPicPr>
        <p:blipFill>
          <a:blip r:embed="rId2"/>
          <a:stretch>
            <a:fillRect/>
          </a:stretch>
        </p:blipFill>
        <p:spPr>
          <a:xfrm>
            <a:off x="1566862" y="495300"/>
            <a:ext cx="9058275" cy="5867400"/>
          </a:xfrm>
          <a:prstGeom prst="rect">
            <a:avLst/>
          </a:prstGeom>
        </p:spPr>
      </p:pic>
    </p:spTree>
    <p:extLst>
      <p:ext uri="{BB962C8B-B14F-4D97-AF65-F5344CB8AC3E}">
        <p14:creationId xmlns:p14="http://schemas.microsoft.com/office/powerpoint/2010/main" val="357998298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 Schema-email pattern example</a:t>
            </a:r>
          </a:p>
        </p:txBody>
      </p:sp>
      <p:pic>
        <p:nvPicPr>
          <p:cNvPr id="8" name="Picture 7">
            <a:extLst>
              <a:ext uri="{FF2B5EF4-FFF2-40B4-BE49-F238E27FC236}">
                <a16:creationId xmlns:a16="http://schemas.microsoft.com/office/drawing/2014/main" id="{E3A4BAD7-E9AF-4908-9CC3-C36B626553C4}"/>
              </a:ext>
            </a:extLst>
          </p:cNvPr>
          <p:cNvPicPr>
            <a:picLocks noChangeAspect="1"/>
          </p:cNvPicPr>
          <p:nvPr/>
        </p:nvPicPr>
        <p:blipFill>
          <a:blip r:embed="rId3"/>
          <a:stretch>
            <a:fillRect/>
          </a:stretch>
        </p:blipFill>
        <p:spPr>
          <a:xfrm>
            <a:off x="1127448" y="1124744"/>
            <a:ext cx="9021115" cy="5085337"/>
          </a:xfrm>
          <a:prstGeom prst="rect">
            <a:avLst/>
          </a:prstGeom>
        </p:spPr>
      </p:pic>
    </p:spTree>
    <p:extLst>
      <p:ext uri="{BB962C8B-B14F-4D97-AF65-F5344CB8AC3E}">
        <p14:creationId xmlns:p14="http://schemas.microsoft.com/office/powerpoint/2010/main" val="1556194965"/>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document definition of a ‘Student document ‘using JSON Schema</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5" y="1858019"/>
            <a:ext cx="10873210" cy="4480206"/>
          </a:xfrm>
        </p:spPr>
        <p:txBody>
          <a:bodyPr/>
          <a:lstStyle/>
          <a:p>
            <a:endParaRPr lang="en-US" sz="2000" dirty="0"/>
          </a:p>
          <a:p>
            <a:endParaRPr lang="en-US" sz="2000" dirty="0"/>
          </a:p>
          <a:p>
            <a:endParaRPr lang="en-US" sz="2000" dirty="0"/>
          </a:p>
          <a:p>
            <a:endParaRPr lang="en-US" sz="2000" dirty="0"/>
          </a:p>
          <a:p>
            <a:endParaRPr lang="en-US" sz="2000" dirty="0"/>
          </a:p>
          <a:p>
            <a:r>
              <a:rPr lang="en-US" sz="2000" dirty="0"/>
              <a:t>$schema links to the resource that identifies the valid schemas</a:t>
            </a:r>
          </a:p>
          <a:p>
            <a:r>
              <a:rPr lang="en-US" sz="2000" dirty="0"/>
              <a:t>$id keyword identifies the schema resource.</a:t>
            </a:r>
          </a:p>
          <a:p>
            <a:r>
              <a:rPr lang="en-US" sz="2000" dirty="0"/>
              <a:t>The URI in this keyword is an identifier and not necessarily a network locator.</a:t>
            </a:r>
          </a:p>
          <a:p>
            <a:r>
              <a:rPr lang="en-US" sz="2000" dirty="0"/>
              <a:t>It must represent a valid URI reference that is normalized and resolves absolute URI.</a:t>
            </a:r>
          </a:p>
          <a:p>
            <a:r>
              <a:rPr lang="en-US" sz="2000" dirty="0"/>
              <a:t>It must not contain a non empty fragment . It should not contain an empty fragment.</a:t>
            </a:r>
          </a:p>
          <a:p>
            <a:r>
              <a:rPr lang="en-US" sz="2000" dirty="0"/>
              <a:t>title keyword gives a short description of the schema </a:t>
            </a:r>
          </a:p>
          <a:p>
            <a:r>
              <a:rPr lang="en-US" sz="2000" dirty="0"/>
              <a:t>description keyword to explain more about the schema</a:t>
            </a:r>
          </a:p>
        </p:txBody>
      </p:sp>
      <p:pic>
        <p:nvPicPr>
          <p:cNvPr id="9" name="Picture 8">
            <a:extLst>
              <a:ext uri="{FF2B5EF4-FFF2-40B4-BE49-F238E27FC236}">
                <a16:creationId xmlns:a16="http://schemas.microsoft.com/office/drawing/2014/main" id="{08447E9D-445B-483C-8ACF-B7AFA8A13DB8}"/>
              </a:ext>
            </a:extLst>
          </p:cNvPr>
          <p:cNvPicPr>
            <a:picLocks noChangeAspect="1"/>
          </p:cNvPicPr>
          <p:nvPr/>
        </p:nvPicPr>
        <p:blipFill>
          <a:blip r:embed="rId3"/>
          <a:stretch>
            <a:fillRect/>
          </a:stretch>
        </p:blipFill>
        <p:spPr>
          <a:xfrm>
            <a:off x="1055440" y="1039268"/>
            <a:ext cx="8877300" cy="2581275"/>
          </a:xfrm>
          <a:prstGeom prst="rect">
            <a:avLst/>
          </a:prstGeom>
        </p:spPr>
      </p:pic>
    </p:spTree>
    <p:extLst>
      <p:ext uri="{BB962C8B-B14F-4D97-AF65-F5344CB8AC3E}">
        <p14:creationId xmlns:p14="http://schemas.microsoft.com/office/powerpoint/2010/main" val="2233333381"/>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B826D7C-27DE-485C-BB87-80F11A7137CC}"/>
              </a:ext>
            </a:extLst>
          </p:cNvPr>
          <p:cNvPicPr>
            <a:picLocks noChangeAspect="1"/>
          </p:cNvPicPr>
          <p:nvPr/>
        </p:nvPicPr>
        <p:blipFill>
          <a:blip r:embed="rId2"/>
          <a:stretch>
            <a:fillRect/>
          </a:stretch>
        </p:blipFill>
        <p:spPr>
          <a:xfrm>
            <a:off x="1740000" y="0"/>
            <a:ext cx="8712000" cy="6858000"/>
          </a:xfrm>
          <a:prstGeom prst="rect">
            <a:avLst/>
          </a:prstGeom>
          <a:ln>
            <a:solidFill>
              <a:schemeClr val="accent2"/>
            </a:solidFill>
          </a:ln>
        </p:spPr>
      </p:pic>
    </p:spTree>
    <p:extLst>
      <p:ext uri="{BB962C8B-B14F-4D97-AF65-F5344CB8AC3E}">
        <p14:creationId xmlns:p14="http://schemas.microsoft.com/office/powerpoint/2010/main" val="3519430507"/>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5F0D8D-16A0-43CC-ADA0-49B5129083CF}"/>
              </a:ext>
            </a:extLst>
          </p:cNvPr>
          <p:cNvPicPr>
            <a:picLocks noChangeAspect="1"/>
          </p:cNvPicPr>
          <p:nvPr/>
        </p:nvPicPr>
        <p:blipFill>
          <a:blip r:embed="rId2"/>
          <a:stretch>
            <a:fillRect/>
          </a:stretch>
        </p:blipFill>
        <p:spPr>
          <a:xfrm>
            <a:off x="2135560" y="814916"/>
            <a:ext cx="7344816" cy="6043084"/>
          </a:xfrm>
          <a:prstGeom prst="rect">
            <a:avLst/>
          </a:prstGeom>
        </p:spPr>
      </p:pic>
      <p:sp>
        <p:nvSpPr>
          <p:cNvPr id="4" name="TextBox 3">
            <a:extLst>
              <a:ext uri="{FF2B5EF4-FFF2-40B4-BE49-F238E27FC236}">
                <a16:creationId xmlns:a16="http://schemas.microsoft.com/office/drawing/2014/main" id="{62EEF1C4-47CD-4104-8823-4DD0EDF35A26}"/>
              </a:ext>
            </a:extLst>
          </p:cNvPr>
          <p:cNvSpPr txBox="1"/>
          <p:nvPr/>
        </p:nvSpPr>
        <p:spPr>
          <a:xfrm>
            <a:off x="551384" y="0"/>
            <a:ext cx="11521280" cy="743280"/>
          </a:xfrm>
          <a:prstGeom prst="rect">
            <a:avLst/>
          </a:prstGeom>
          <a:noFill/>
        </p:spPr>
        <p:txBody>
          <a:bodyPr wrap="square" lIns="0" tIns="36576" rIns="0" bIns="0" rtlCol="0">
            <a:spAutoFit/>
          </a:bodyPr>
          <a:lstStyle/>
          <a:p>
            <a:pPr>
              <a:lnSpc>
                <a:spcPct val="85000"/>
              </a:lnSpc>
              <a:spcAft>
                <a:spcPts val="600"/>
              </a:spcAft>
              <a:buClr>
                <a:schemeClr val="accent2"/>
              </a:buClr>
              <a:buSzPct val="70000"/>
            </a:pPr>
            <a:r>
              <a:rPr lang="en-US" dirty="0" err="1"/>
              <a:t>Ajv</a:t>
            </a:r>
            <a:r>
              <a:rPr lang="en-US" dirty="0"/>
              <a:t> is a JSON Schema validator for JavaScript. It's a widely used library that allows you to validate JSON data against a JSON Schema. Validation of </a:t>
            </a:r>
            <a:r>
              <a:rPr lang="en-US" dirty="0" err="1"/>
              <a:t>Ajv</a:t>
            </a:r>
            <a:r>
              <a:rPr lang="en-US" dirty="0"/>
              <a:t> supports JSON Schema draft-04, draft-06, draft-07, and draft-2019-09. It provides a comprehensive set of features to validate JSON data based on a predefined schema.</a:t>
            </a:r>
            <a:endParaRPr lang="en-US" sz="1200" dirty="0"/>
          </a:p>
        </p:txBody>
      </p:sp>
    </p:spTree>
    <p:extLst>
      <p:ext uri="{BB962C8B-B14F-4D97-AF65-F5344CB8AC3E}">
        <p14:creationId xmlns:p14="http://schemas.microsoft.com/office/powerpoint/2010/main" val="3586769711"/>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JSON-STUDENTSCHEMA  ----University Question</a:t>
            </a:r>
          </a:p>
        </p:txBody>
      </p:sp>
      <p:pic>
        <p:nvPicPr>
          <p:cNvPr id="4" name="Content Placeholder 3">
            <a:extLst>
              <a:ext uri="{FF2B5EF4-FFF2-40B4-BE49-F238E27FC236}">
                <a16:creationId xmlns:a16="http://schemas.microsoft.com/office/drawing/2014/main" id="{9765E40B-5E11-45C7-84C9-D2AEE290CB4E}"/>
              </a:ext>
            </a:extLst>
          </p:cNvPr>
          <p:cNvPicPr>
            <a:picLocks noGrp="1" noChangeAspect="1"/>
          </p:cNvPicPr>
          <p:nvPr>
            <p:ph idx="1"/>
          </p:nvPr>
        </p:nvPicPr>
        <p:blipFill>
          <a:blip r:embed="rId3"/>
          <a:stretch>
            <a:fillRect/>
          </a:stretch>
        </p:blipFill>
        <p:spPr>
          <a:xfrm>
            <a:off x="714983" y="1015717"/>
            <a:ext cx="10762034" cy="5718056"/>
          </a:xfrm>
          <a:prstGeom prst="rect">
            <a:avLst/>
          </a:prstGeom>
        </p:spPr>
      </p:pic>
    </p:spTree>
    <p:extLst>
      <p:ext uri="{BB962C8B-B14F-4D97-AF65-F5344CB8AC3E}">
        <p14:creationId xmlns:p14="http://schemas.microsoft.com/office/powerpoint/2010/main" val="273286160"/>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JSON-STUDENTSCHEMA</a:t>
            </a:r>
          </a:p>
        </p:txBody>
      </p:sp>
      <p:sp>
        <p:nvSpPr>
          <p:cNvPr id="3" name="Content Placeholder 2">
            <a:extLst>
              <a:ext uri="{FF2B5EF4-FFF2-40B4-BE49-F238E27FC236}">
                <a16:creationId xmlns:a16="http://schemas.microsoft.com/office/drawing/2014/main" id="{901C198F-6D92-470B-97EF-E725511434B5}"/>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57D6BCF0-ABBD-47C2-89E9-031E568F6EC9}"/>
              </a:ext>
            </a:extLst>
          </p:cNvPr>
          <p:cNvPicPr>
            <a:picLocks noChangeAspect="1"/>
          </p:cNvPicPr>
          <p:nvPr/>
        </p:nvPicPr>
        <p:blipFill>
          <a:blip r:embed="rId3"/>
          <a:stretch>
            <a:fillRect/>
          </a:stretch>
        </p:blipFill>
        <p:spPr>
          <a:xfrm>
            <a:off x="839416" y="1022938"/>
            <a:ext cx="9650176" cy="5282493"/>
          </a:xfrm>
          <a:prstGeom prst="rect">
            <a:avLst/>
          </a:prstGeom>
        </p:spPr>
      </p:pic>
    </p:spTree>
    <p:extLst>
      <p:ext uri="{BB962C8B-B14F-4D97-AF65-F5344CB8AC3E}">
        <p14:creationId xmlns:p14="http://schemas.microsoft.com/office/powerpoint/2010/main" val="2426525705"/>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Manipulating JSON data with PHP Web</a:t>
            </a:r>
          </a:p>
        </p:txBody>
      </p:sp>
    </p:spTree>
    <p:extLst>
      <p:ext uri="{BB962C8B-B14F-4D97-AF65-F5344CB8AC3E}">
        <p14:creationId xmlns:p14="http://schemas.microsoft.com/office/powerpoint/2010/main" val="1467918917"/>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JSON ─ JSON with PHP</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5" y="1039268"/>
            <a:ext cx="10837205" cy="5298957"/>
          </a:xfrm>
        </p:spPr>
        <p:txBody>
          <a:bodyPr/>
          <a:lstStyle/>
          <a:p>
            <a:r>
              <a:rPr lang="en-US" sz="2000" dirty="0"/>
              <a:t>As of PHP 5.2.0, the JSON extension is bundled and compiled into PHP by default.</a:t>
            </a:r>
          </a:p>
          <a:p>
            <a:r>
              <a:rPr lang="en-US" sz="2000" dirty="0"/>
              <a:t>JSON Functions</a:t>
            </a:r>
          </a:p>
          <a:p>
            <a:r>
              <a:rPr lang="en-US" sz="2000" dirty="0"/>
              <a:t>PHP </a:t>
            </a:r>
            <a:r>
              <a:rPr lang="en-US" sz="2000" dirty="0" err="1"/>
              <a:t>json_encode</a:t>
            </a:r>
            <a:r>
              <a:rPr lang="en-US" sz="2000" dirty="0"/>
              <a:t>() function is used for encoding JSON in PHP. This function returns the JSON representation of a value on success or FALSE on failure.</a:t>
            </a:r>
          </a:p>
          <a:p>
            <a:r>
              <a:rPr lang="en-US" sz="2000" dirty="0"/>
              <a:t>PHP </a:t>
            </a:r>
            <a:r>
              <a:rPr lang="en-US" sz="2000" dirty="0" err="1"/>
              <a:t>json_decode</a:t>
            </a:r>
            <a:r>
              <a:rPr lang="en-US" sz="2000" dirty="0"/>
              <a:t>() function is used for decoding JSON in PHP. This function returns the value decoded from json to appropriate PHP type.</a:t>
            </a:r>
          </a:p>
          <a:p>
            <a:pPr lvl="1"/>
            <a:endParaRPr lang="en-US" sz="1600" dirty="0"/>
          </a:p>
          <a:p>
            <a:pPr lvl="1"/>
            <a:endParaRPr lang="en-US" sz="1600" dirty="0"/>
          </a:p>
        </p:txBody>
      </p:sp>
      <p:pic>
        <p:nvPicPr>
          <p:cNvPr id="2" name="Picture 1">
            <a:extLst>
              <a:ext uri="{FF2B5EF4-FFF2-40B4-BE49-F238E27FC236}">
                <a16:creationId xmlns:a16="http://schemas.microsoft.com/office/drawing/2014/main" id="{8E776763-C416-4629-8C91-BDB25D6B2C6D}"/>
              </a:ext>
            </a:extLst>
          </p:cNvPr>
          <p:cNvPicPr>
            <a:picLocks noChangeAspect="1"/>
          </p:cNvPicPr>
          <p:nvPr/>
        </p:nvPicPr>
        <p:blipFill>
          <a:blip r:embed="rId3"/>
          <a:stretch>
            <a:fillRect/>
          </a:stretch>
        </p:blipFill>
        <p:spPr>
          <a:xfrm>
            <a:off x="2711624" y="3284984"/>
            <a:ext cx="6524625" cy="2828925"/>
          </a:xfrm>
          <a:prstGeom prst="rect">
            <a:avLst/>
          </a:prstGeom>
        </p:spPr>
      </p:pic>
    </p:spTree>
    <p:extLst>
      <p:ext uri="{BB962C8B-B14F-4D97-AF65-F5344CB8AC3E}">
        <p14:creationId xmlns:p14="http://schemas.microsoft.com/office/powerpoint/2010/main" val="3031455245"/>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Encoding JSON in PHP (</a:t>
            </a:r>
            <a:r>
              <a:rPr lang="en-US" sz="2800" dirty="0" err="1"/>
              <a:t>json_encode</a:t>
            </a:r>
            <a:r>
              <a:rPr lang="en-US" sz="2800" dirty="0"/>
              <a:t>)</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5" y="1039268"/>
            <a:ext cx="10837205" cy="5298957"/>
          </a:xfrm>
        </p:spPr>
        <p:txBody>
          <a:bodyPr/>
          <a:lstStyle/>
          <a:p>
            <a:r>
              <a:rPr lang="en-US" sz="2000" dirty="0"/>
              <a:t>As of PHP 5.2.0, the JSON extension is bundled and compiled into PHP by default.</a:t>
            </a:r>
          </a:p>
          <a:p>
            <a:r>
              <a:rPr lang="en-US" sz="2000" dirty="0"/>
              <a:t>JSON Functions</a:t>
            </a:r>
          </a:p>
          <a:p>
            <a:r>
              <a:rPr lang="en-US" sz="2000" dirty="0"/>
              <a:t>PHP </a:t>
            </a:r>
            <a:r>
              <a:rPr lang="en-US" sz="2000" dirty="0" err="1"/>
              <a:t>json_encode</a:t>
            </a:r>
            <a:r>
              <a:rPr lang="en-US" sz="2000" dirty="0"/>
              <a:t>() function is used for encoding JSON in PHP. This function returns the JSON representation of a value on success or FALSE on failure.</a:t>
            </a:r>
          </a:p>
          <a:p>
            <a:r>
              <a:rPr lang="en-US" sz="2000" dirty="0"/>
              <a:t>PHP </a:t>
            </a:r>
            <a:r>
              <a:rPr lang="en-US" sz="2000" dirty="0" err="1"/>
              <a:t>json_decode</a:t>
            </a:r>
            <a:r>
              <a:rPr lang="en-US" sz="2000" dirty="0"/>
              <a:t>() function is used for decoding JSON in PHP. This function returns the value decoded from json to appropriate PHP type.</a:t>
            </a:r>
          </a:p>
          <a:p>
            <a:pPr lvl="1"/>
            <a:endParaRPr lang="en-US" sz="1600" dirty="0"/>
          </a:p>
          <a:p>
            <a:pPr lvl="1"/>
            <a:endParaRPr lang="en-US" sz="1600" dirty="0"/>
          </a:p>
        </p:txBody>
      </p:sp>
      <p:pic>
        <p:nvPicPr>
          <p:cNvPr id="4" name="Picture 3">
            <a:extLst>
              <a:ext uri="{FF2B5EF4-FFF2-40B4-BE49-F238E27FC236}">
                <a16:creationId xmlns:a16="http://schemas.microsoft.com/office/drawing/2014/main" id="{26D8C0DB-D608-48C0-9FD6-58FA2A927B9D}"/>
              </a:ext>
            </a:extLst>
          </p:cNvPr>
          <p:cNvPicPr>
            <a:picLocks noChangeAspect="1"/>
          </p:cNvPicPr>
          <p:nvPr/>
        </p:nvPicPr>
        <p:blipFill>
          <a:blip r:embed="rId3"/>
          <a:stretch>
            <a:fillRect/>
          </a:stretch>
        </p:blipFill>
        <p:spPr>
          <a:xfrm>
            <a:off x="1415480" y="3212976"/>
            <a:ext cx="9077325" cy="2917701"/>
          </a:xfrm>
          <a:prstGeom prst="rect">
            <a:avLst/>
          </a:prstGeom>
        </p:spPr>
      </p:pic>
    </p:spTree>
    <p:extLst>
      <p:ext uri="{BB962C8B-B14F-4D97-AF65-F5344CB8AC3E}">
        <p14:creationId xmlns:p14="http://schemas.microsoft.com/office/powerpoint/2010/main" val="3863159025"/>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551384" y="73943"/>
            <a:ext cx="10297145" cy="634605"/>
          </a:xfrm>
        </p:spPr>
        <p:txBody>
          <a:bodyPr vert="horz" lIns="0" tIns="0" rIns="0" bIns="0" rtlCol="0" anchor="t" anchorCtr="0">
            <a:noAutofit/>
          </a:bodyPr>
          <a:lstStyle/>
          <a:p>
            <a:r>
              <a:rPr lang="en-US" dirty="0"/>
              <a:t> </a:t>
            </a:r>
            <a:r>
              <a:rPr lang="en-US" sz="2800" dirty="0"/>
              <a:t>How the PHP objects can be converted into JSON?(</a:t>
            </a:r>
            <a:r>
              <a:rPr lang="en-US" sz="2800" dirty="0" err="1"/>
              <a:t>json_encode</a:t>
            </a:r>
            <a:r>
              <a:rPr lang="en-US" sz="2800" dirty="0"/>
              <a:t>)</a:t>
            </a:r>
          </a:p>
        </p:txBody>
      </p:sp>
      <p:pic>
        <p:nvPicPr>
          <p:cNvPr id="9" name="Picture 8">
            <a:extLst>
              <a:ext uri="{FF2B5EF4-FFF2-40B4-BE49-F238E27FC236}">
                <a16:creationId xmlns:a16="http://schemas.microsoft.com/office/drawing/2014/main" id="{F5F3D3E8-1460-48D2-8F9A-DE5904E87D49}"/>
              </a:ext>
            </a:extLst>
          </p:cNvPr>
          <p:cNvPicPr>
            <a:picLocks noChangeAspect="1"/>
          </p:cNvPicPr>
          <p:nvPr/>
        </p:nvPicPr>
        <p:blipFill>
          <a:blip r:embed="rId3"/>
          <a:stretch>
            <a:fillRect/>
          </a:stretch>
        </p:blipFill>
        <p:spPr>
          <a:xfrm>
            <a:off x="2495600" y="5541684"/>
            <a:ext cx="9401175" cy="1266825"/>
          </a:xfrm>
          <a:prstGeom prst="rect">
            <a:avLst/>
          </a:prstGeom>
          <a:ln>
            <a:solidFill>
              <a:schemeClr val="accent2"/>
            </a:solidFill>
          </a:ln>
        </p:spPr>
      </p:pic>
      <p:pic>
        <p:nvPicPr>
          <p:cNvPr id="10" name="Picture 9">
            <a:extLst>
              <a:ext uri="{FF2B5EF4-FFF2-40B4-BE49-F238E27FC236}">
                <a16:creationId xmlns:a16="http://schemas.microsoft.com/office/drawing/2014/main" id="{C8D6D7BC-44F2-438A-8948-0116E9EB076E}"/>
              </a:ext>
            </a:extLst>
          </p:cNvPr>
          <p:cNvPicPr>
            <a:picLocks noChangeAspect="1"/>
          </p:cNvPicPr>
          <p:nvPr/>
        </p:nvPicPr>
        <p:blipFill>
          <a:blip r:embed="rId4"/>
          <a:stretch>
            <a:fillRect/>
          </a:stretch>
        </p:blipFill>
        <p:spPr>
          <a:xfrm>
            <a:off x="623392" y="623697"/>
            <a:ext cx="9391650" cy="4953000"/>
          </a:xfrm>
          <a:prstGeom prst="rect">
            <a:avLst/>
          </a:prstGeom>
        </p:spPr>
      </p:pic>
    </p:spTree>
    <p:extLst>
      <p:ext uri="{BB962C8B-B14F-4D97-AF65-F5344CB8AC3E}">
        <p14:creationId xmlns:p14="http://schemas.microsoft.com/office/powerpoint/2010/main" val="2803140155"/>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how the PHP objects can be converted into JSON?(</a:t>
            </a:r>
            <a:r>
              <a:rPr lang="en-US" sz="2800" dirty="0" err="1"/>
              <a:t>json_encode</a:t>
            </a:r>
            <a:r>
              <a:rPr lang="en-US" sz="2800" dirty="0"/>
              <a:t>)</a:t>
            </a:r>
          </a:p>
        </p:txBody>
      </p:sp>
      <p:pic>
        <p:nvPicPr>
          <p:cNvPr id="2" name="Content Placeholder 1">
            <a:extLst>
              <a:ext uri="{FF2B5EF4-FFF2-40B4-BE49-F238E27FC236}">
                <a16:creationId xmlns:a16="http://schemas.microsoft.com/office/drawing/2014/main" id="{ED0ECD4C-1C6F-4108-9878-FCCB0C41B838}"/>
              </a:ext>
            </a:extLst>
          </p:cNvPr>
          <p:cNvPicPr>
            <a:picLocks noGrp="1" noChangeAspect="1"/>
          </p:cNvPicPr>
          <p:nvPr>
            <p:ph idx="1"/>
          </p:nvPr>
        </p:nvPicPr>
        <p:blipFill>
          <a:blip r:embed="rId3"/>
          <a:stretch>
            <a:fillRect/>
          </a:stretch>
        </p:blipFill>
        <p:spPr>
          <a:xfrm>
            <a:off x="1487488" y="1071562"/>
            <a:ext cx="8086725" cy="4714875"/>
          </a:xfrm>
          <a:prstGeom prst="rect">
            <a:avLst/>
          </a:prstGeom>
        </p:spPr>
      </p:pic>
      <p:pic>
        <p:nvPicPr>
          <p:cNvPr id="6" name="Picture 5">
            <a:extLst>
              <a:ext uri="{FF2B5EF4-FFF2-40B4-BE49-F238E27FC236}">
                <a16:creationId xmlns:a16="http://schemas.microsoft.com/office/drawing/2014/main" id="{5A10A7EF-0EF0-4C93-955F-40D85F856FC3}"/>
              </a:ext>
            </a:extLst>
          </p:cNvPr>
          <p:cNvPicPr>
            <a:picLocks noChangeAspect="1"/>
          </p:cNvPicPr>
          <p:nvPr/>
        </p:nvPicPr>
        <p:blipFill>
          <a:blip r:embed="rId4"/>
          <a:stretch>
            <a:fillRect/>
          </a:stretch>
        </p:blipFill>
        <p:spPr>
          <a:xfrm>
            <a:off x="1919536" y="5742662"/>
            <a:ext cx="9906000" cy="438150"/>
          </a:xfrm>
          <a:prstGeom prst="rect">
            <a:avLst/>
          </a:prstGeom>
          <a:ln>
            <a:solidFill>
              <a:srgbClr val="F04C3E"/>
            </a:solidFill>
          </a:ln>
        </p:spPr>
      </p:pic>
    </p:spTree>
    <p:extLst>
      <p:ext uri="{BB962C8B-B14F-4D97-AF65-F5344CB8AC3E}">
        <p14:creationId xmlns:p14="http://schemas.microsoft.com/office/powerpoint/2010/main" val="2595907530"/>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Decoding JSON in PHP (</a:t>
            </a:r>
            <a:r>
              <a:rPr lang="en-US" sz="2800" dirty="0" err="1"/>
              <a:t>json_decode</a:t>
            </a:r>
            <a:r>
              <a:rPr lang="en-US" sz="2800" dirty="0"/>
              <a:t>)</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5" y="1039268"/>
            <a:ext cx="10837205" cy="5298957"/>
          </a:xfrm>
        </p:spPr>
        <p:txBody>
          <a:bodyPr/>
          <a:lstStyle/>
          <a:p>
            <a:r>
              <a:rPr lang="en-US" sz="2000" dirty="0"/>
              <a:t>PHP </a:t>
            </a:r>
            <a:r>
              <a:rPr lang="en-US" sz="2000" dirty="0" err="1"/>
              <a:t>json_decode</a:t>
            </a:r>
            <a:r>
              <a:rPr lang="en-US" sz="2000" dirty="0"/>
              <a:t>() function is used for decoding JSON in PHP. This function returns the value decoded from json to appropriate PHP type.</a:t>
            </a:r>
            <a:endParaRPr lang="en-US" sz="1600" dirty="0"/>
          </a:p>
        </p:txBody>
      </p:sp>
      <p:pic>
        <p:nvPicPr>
          <p:cNvPr id="4" name="Picture 3">
            <a:extLst>
              <a:ext uri="{FF2B5EF4-FFF2-40B4-BE49-F238E27FC236}">
                <a16:creationId xmlns:a16="http://schemas.microsoft.com/office/drawing/2014/main" id="{259D4CD4-9B00-45C8-AB08-7532BDBAB0F7}"/>
              </a:ext>
            </a:extLst>
          </p:cNvPr>
          <p:cNvPicPr>
            <a:picLocks noChangeAspect="1"/>
          </p:cNvPicPr>
          <p:nvPr/>
        </p:nvPicPr>
        <p:blipFill>
          <a:blip r:embed="rId3"/>
          <a:stretch>
            <a:fillRect/>
          </a:stretch>
        </p:blipFill>
        <p:spPr>
          <a:xfrm>
            <a:off x="1585912" y="1862137"/>
            <a:ext cx="9020175" cy="3133725"/>
          </a:xfrm>
          <a:prstGeom prst="rect">
            <a:avLst/>
          </a:prstGeom>
        </p:spPr>
      </p:pic>
    </p:spTree>
    <p:extLst>
      <p:ext uri="{BB962C8B-B14F-4D97-AF65-F5344CB8AC3E}">
        <p14:creationId xmlns:p14="http://schemas.microsoft.com/office/powerpoint/2010/main" val="1085552308"/>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Decoding JSON in PHP (</a:t>
            </a:r>
            <a:r>
              <a:rPr lang="en-US" sz="2800" dirty="0" err="1"/>
              <a:t>json_decode</a:t>
            </a:r>
            <a:r>
              <a:rPr lang="en-US" sz="2800" dirty="0"/>
              <a:t>)</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5" y="1039268"/>
            <a:ext cx="10837205" cy="5298957"/>
          </a:xfrm>
        </p:spPr>
        <p:txBody>
          <a:bodyPr/>
          <a:lstStyle/>
          <a:p>
            <a:r>
              <a:rPr lang="en-US" sz="2000" dirty="0"/>
              <a:t>PHP </a:t>
            </a:r>
            <a:r>
              <a:rPr lang="en-US" sz="2000" dirty="0" err="1"/>
              <a:t>json_decode</a:t>
            </a:r>
            <a:r>
              <a:rPr lang="en-US" sz="2000" dirty="0"/>
              <a:t>() function is used for decoding JSON in PHP. This function returns the value decoded from json to appropriate PHP type.</a:t>
            </a:r>
            <a:endParaRPr lang="en-US" sz="1600" dirty="0"/>
          </a:p>
        </p:txBody>
      </p:sp>
      <p:pic>
        <p:nvPicPr>
          <p:cNvPr id="7" name="Picture 6">
            <a:extLst>
              <a:ext uri="{FF2B5EF4-FFF2-40B4-BE49-F238E27FC236}">
                <a16:creationId xmlns:a16="http://schemas.microsoft.com/office/drawing/2014/main" id="{149684DE-252C-4731-80A7-86228B2FB5BA}"/>
              </a:ext>
            </a:extLst>
          </p:cNvPr>
          <p:cNvPicPr>
            <a:picLocks noChangeAspect="1"/>
          </p:cNvPicPr>
          <p:nvPr/>
        </p:nvPicPr>
        <p:blipFill>
          <a:blip r:embed="rId3"/>
          <a:stretch>
            <a:fillRect/>
          </a:stretch>
        </p:blipFill>
        <p:spPr>
          <a:xfrm>
            <a:off x="335360" y="1687996"/>
            <a:ext cx="11706225" cy="2057400"/>
          </a:xfrm>
          <a:prstGeom prst="rect">
            <a:avLst/>
          </a:prstGeom>
        </p:spPr>
      </p:pic>
      <p:pic>
        <p:nvPicPr>
          <p:cNvPr id="8" name="Picture 7">
            <a:extLst>
              <a:ext uri="{FF2B5EF4-FFF2-40B4-BE49-F238E27FC236}">
                <a16:creationId xmlns:a16="http://schemas.microsoft.com/office/drawing/2014/main" id="{F6B2CFD2-A7A9-4ECA-947E-5F5EB6BC5F9C}"/>
              </a:ext>
            </a:extLst>
          </p:cNvPr>
          <p:cNvPicPr>
            <a:picLocks noChangeAspect="1"/>
          </p:cNvPicPr>
          <p:nvPr/>
        </p:nvPicPr>
        <p:blipFill>
          <a:blip r:embed="rId4"/>
          <a:stretch>
            <a:fillRect/>
          </a:stretch>
        </p:blipFill>
        <p:spPr>
          <a:xfrm>
            <a:off x="2855640" y="3861968"/>
            <a:ext cx="5324475" cy="1981200"/>
          </a:xfrm>
          <a:prstGeom prst="rect">
            <a:avLst/>
          </a:prstGeom>
          <a:ln>
            <a:solidFill>
              <a:schemeClr val="accent2"/>
            </a:solidFill>
          </a:ln>
        </p:spPr>
      </p:pic>
    </p:spTree>
    <p:extLst>
      <p:ext uri="{BB962C8B-B14F-4D97-AF65-F5344CB8AC3E}">
        <p14:creationId xmlns:p14="http://schemas.microsoft.com/office/powerpoint/2010/main" val="1095013815"/>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Decoding JSON in PHP (</a:t>
            </a:r>
            <a:r>
              <a:rPr lang="en-US" sz="2800" dirty="0" err="1"/>
              <a:t>json_decode</a:t>
            </a:r>
            <a:r>
              <a:rPr lang="en-US" sz="2800" dirty="0"/>
              <a:t>)</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5" y="1039268"/>
            <a:ext cx="10837205" cy="5298957"/>
          </a:xfrm>
        </p:spPr>
        <p:txBody>
          <a:bodyPr/>
          <a:lstStyle/>
          <a:p>
            <a:r>
              <a:rPr lang="en-US" sz="2000" dirty="0"/>
              <a:t>PHP </a:t>
            </a:r>
            <a:r>
              <a:rPr lang="en-US" sz="2000" dirty="0" err="1"/>
              <a:t>json_decode</a:t>
            </a:r>
            <a:r>
              <a:rPr lang="en-US" sz="2000" dirty="0"/>
              <a:t>() function is used for decoding JSON in PHP. This function returns the value decoded from json to appropriate PHP type.</a:t>
            </a:r>
            <a:endParaRPr lang="en-US" sz="1600" dirty="0"/>
          </a:p>
        </p:txBody>
      </p:sp>
      <p:pic>
        <p:nvPicPr>
          <p:cNvPr id="4" name="Picture 3">
            <a:extLst>
              <a:ext uri="{FF2B5EF4-FFF2-40B4-BE49-F238E27FC236}">
                <a16:creationId xmlns:a16="http://schemas.microsoft.com/office/drawing/2014/main" id="{F736945D-E2E7-42A1-B59F-CDCA2C429786}"/>
              </a:ext>
            </a:extLst>
          </p:cNvPr>
          <p:cNvPicPr>
            <a:picLocks noChangeAspect="1"/>
          </p:cNvPicPr>
          <p:nvPr/>
        </p:nvPicPr>
        <p:blipFill>
          <a:blip r:embed="rId3"/>
          <a:stretch>
            <a:fillRect/>
          </a:stretch>
        </p:blipFill>
        <p:spPr>
          <a:xfrm>
            <a:off x="1723811" y="4369287"/>
            <a:ext cx="9820275" cy="1933575"/>
          </a:xfrm>
          <a:prstGeom prst="rect">
            <a:avLst/>
          </a:prstGeom>
          <a:ln>
            <a:solidFill>
              <a:schemeClr val="accent2"/>
            </a:solidFill>
          </a:ln>
        </p:spPr>
      </p:pic>
      <p:pic>
        <p:nvPicPr>
          <p:cNvPr id="6" name="Picture 5">
            <a:extLst>
              <a:ext uri="{FF2B5EF4-FFF2-40B4-BE49-F238E27FC236}">
                <a16:creationId xmlns:a16="http://schemas.microsoft.com/office/drawing/2014/main" id="{EE6DDB9D-C458-49E2-84D1-AFD9325670FF}"/>
              </a:ext>
            </a:extLst>
          </p:cNvPr>
          <p:cNvPicPr>
            <a:picLocks noChangeAspect="1"/>
          </p:cNvPicPr>
          <p:nvPr/>
        </p:nvPicPr>
        <p:blipFill>
          <a:blip r:embed="rId4"/>
          <a:stretch>
            <a:fillRect/>
          </a:stretch>
        </p:blipFill>
        <p:spPr>
          <a:xfrm>
            <a:off x="407368" y="1071299"/>
            <a:ext cx="11591925" cy="3276600"/>
          </a:xfrm>
          <a:prstGeom prst="rect">
            <a:avLst/>
          </a:prstGeom>
        </p:spPr>
      </p:pic>
    </p:spTree>
    <p:extLst>
      <p:ext uri="{BB962C8B-B14F-4D97-AF65-F5344CB8AC3E}">
        <p14:creationId xmlns:p14="http://schemas.microsoft.com/office/powerpoint/2010/main" val="3646301675"/>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just"/>
            <a:r>
              <a:rPr lang="en-US" dirty="0"/>
              <a:t> Development Framework , Laravel</a:t>
            </a:r>
          </a:p>
        </p:txBody>
      </p:sp>
    </p:spTree>
    <p:extLst>
      <p:ext uri="{BB962C8B-B14F-4D97-AF65-F5344CB8AC3E}">
        <p14:creationId xmlns:p14="http://schemas.microsoft.com/office/powerpoint/2010/main" val="3946853802"/>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Web Development Frameworks:</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1271464" y="1039268"/>
            <a:ext cx="10225136" cy="5298957"/>
          </a:xfrm>
        </p:spPr>
        <p:txBody>
          <a:bodyPr/>
          <a:lstStyle/>
          <a:p>
            <a:r>
              <a:rPr lang="en-US" sz="2200" dirty="0"/>
              <a:t>Laravel Overview</a:t>
            </a:r>
          </a:p>
          <a:p>
            <a:r>
              <a:rPr lang="en-US" sz="2200" dirty="0"/>
              <a:t>Features of Laravel</a:t>
            </a:r>
          </a:p>
          <a:p>
            <a:r>
              <a:rPr lang="en-US" sz="2200" dirty="0"/>
              <a:t>Setting up a Laravel Development Environment</a:t>
            </a:r>
          </a:p>
          <a:p>
            <a:r>
              <a:rPr lang="en-US" sz="2200" dirty="0"/>
              <a:t>Application structure of Laravel</a:t>
            </a:r>
          </a:p>
          <a:p>
            <a:r>
              <a:rPr lang="en-US" sz="2200" dirty="0"/>
              <a:t>Routing </a:t>
            </a:r>
          </a:p>
          <a:p>
            <a:r>
              <a:rPr lang="en-US" sz="2200" dirty="0"/>
              <a:t>Middleware</a:t>
            </a:r>
          </a:p>
          <a:p>
            <a:r>
              <a:rPr lang="en-US" sz="2200" dirty="0"/>
              <a:t>Controllers</a:t>
            </a:r>
          </a:p>
          <a:p>
            <a:r>
              <a:rPr lang="en-US" sz="2200" dirty="0"/>
              <a:t>Route Model Binding</a:t>
            </a:r>
          </a:p>
          <a:p>
            <a:r>
              <a:rPr lang="en-US" sz="2200" dirty="0"/>
              <a:t>Views</a:t>
            </a:r>
          </a:p>
          <a:p>
            <a:r>
              <a:rPr lang="en-US" sz="2200" dirty="0"/>
              <a:t>Redirections</a:t>
            </a:r>
          </a:p>
          <a:p>
            <a:r>
              <a:rPr lang="en-US" sz="2200" dirty="0"/>
              <a:t>Request and Responses.</a:t>
            </a:r>
          </a:p>
        </p:txBody>
      </p:sp>
    </p:spTree>
    <p:extLst>
      <p:ext uri="{BB962C8B-B14F-4D97-AF65-F5344CB8AC3E}">
        <p14:creationId xmlns:p14="http://schemas.microsoft.com/office/powerpoint/2010/main" val="1908917167"/>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Web Development </a:t>
            </a:r>
            <a:r>
              <a:rPr lang="en-US" sz="2800" dirty="0" err="1"/>
              <a:t>Frameworks:Laravel</a:t>
            </a:r>
            <a:endParaRPr lang="en-US" sz="2800"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43785" y="1039268"/>
            <a:ext cx="10873209" cy="5298957"/>
          </a:xfrm>
        </p:spPr>
        <p:txBody>
          <a:bodyPr/>
          <a:lstStyle/>
          <a:p>
            <a:r>
              <a:rPr lang="en-US" sz="2200" dirty="0"/>
              <a:t>Frameworks like Laravel , </a:t>
            </a:r>
            <a:r>
              <a:rPr lang="en-US" sz="2200" dirty="0" err="1"/>
              <a:t>Symfony</a:t>
            </a:r>
            <a:r>
              <a:rPr lang="en-US" sz="2200" dirty="0"/>
              <a:t>, Silex, Lumen, and Slim — prepackage a collection of third-party components together with custom framework “glue” like configuration files, service providers, prescribed directory structures, and application bootstraps.</a:t>
            </a:r>
          </a:p>
          <a:p>
            <a:r>
              <a:rPr lang="en-US" dirty="0"/>
              <a:t>Laravel’s architecture is different from other PHP frameworks. This framework works on an </a:t>
            </a:r>
            <a:r>
              <a:rPr lang="en-US" dirty="0">
                <a:highlight>
                  <a:srgbClr val="FFFF00"/>
                </a:highlight>
              </a:rPr>
              <a:t>MVC-based design</a:t>
            </a:r>
            <a:r>
              <a:rPr lang="en-US" dirty="0"/>
              <a:t>.</a:t>
            </a:r>
          </a:p>
          <a:p>
            <a:r>
              <a:rPr lang="en-US" dirty="0"/>
              <a:t>Laravel uses one of the powerful default template engines i.e. </a:t>
            </a:r>
            <a:r>
              <a:rPr lang="en-US" dirty="0">
                <a:highlight>
                  <a:srgbClr val="FFFF00"/>
                </a:highlight>
              </a:rPr>
              <a:t>Blade template engine</a:t>
            </a:r>
            <a:r>
              <a:rPr lang="en-US" dirty="0"/>
              <a:t>. It allows Laravel developers to use plain PHP code. </a:t>
            </a:r>
          </a:p>
          <a:p>
            <a:r>
              <a:rPr lang="en-US" dirty="0"/>
              <a:t>Using this template engine ,we can create an app without additional costs.</a:t>
            </a:r>
          </a:p>
          <a:p>
            <a:pPr fontAlgn="base"/>
            <a:r>
              <a:rPr lang="en-US" dirty="0"/>
              <a:t>Laravel supports only these database languages</a:t>
            </a:r>
          </a:p>
          <a:p>
            <a:pPr lvl="1" fontAlgn="base"/>
            <a:r>
              <a:rPr lang="en-US" dirty="0"/>
              <a:t>MySQL</a:t>
            </a:r>
          </a:p>
          <a:p>
            <a:pPr lvl="1" fontAlgn="base"/>
            <a:r>
              <a:rPr lang="en-US" dirty="0"/>
              <a:t>PostgreSQL</a:t>
            </a:r>
          </a:p>
          <a:p>
            <a:pPr lvl="1" fontAlgn="base"/>
            <a:r>
              <a:rPr lang="en-US" dirty="0"/>
              <a:t>SQLite, and </a:t>
            </a:r>
          </a:p>
          <a:p>
            <a:pPr lvl="1" fontAlgn="base"/>
            <a:r>
              <a:rPr lang="en-US" dirty="0" err="1"/>
              <a:t>SQLServer</a:t>
            </a:r>
            <a:endParaRPr lang="en-US" dirty="0"/>
          </a:p>
          <a:p>
            <a:endParaRPr lang="en-US" sz="2200" dirty="0"/>
          </a:p>
          <a:p>
            <a:endParaRPr lang="en-US" sz="2200" dirty="0"/>
          </a:p>
        </p:txBody>
      </p:sp>
    </p:spTree>
    <p:extLst>
      <p:ext uri="{BB962C8B-B14F-4D97-AF65-F5344CB8AC3E}">
        <p14:creationId xmlns:p14="http://schemas.microsoft.com/office/powerpoint/2010/main" val="3521966837"/>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Web Development Frameworks : Laravel</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43785" y="1039268"/>
            <a:ext cx="10873209" cy="5298957"/>
          </a:xfrm>
        </p:spPr>
        <p:txBody>
          <a:bodyPr/>
          <a:lstStyle/>
          <a:p>
            <a:r>
              <a:rPr lang="en-US" sz="2200" dirty="0"/>
              <a:t>Laravel is a </a:t>
            </a:r>
            <a:r>
              <a:rPr lang="en-US" sz="2200" dirty="0">
                <a:highlight>
                  <a:srgbClr val="FFFF00"/>
                </a:highlight>
              </a:rPr>
              <a:t>web application framework </a:t>
            </a:r>
            <a:r>
              <a:rPr lang="en-US" sz="2200" dirty="0"/>
              <a:t>with expressive, elegant syntax. </a:t>
            </a:r>
          </a:p>
          <a:p>
            <a:r>
              <a:rPr lang="en-US" sz="2200" dirty="0"/>
              <a:t>Laravel is the </a:t>
            </a:r>
            <a:r>
              <a:rPr lang="en-US" sz="2200" dirty="0">
                <a:highlight>
                  <a:srgbClr val="FFFF00"/>
                </a:highlight>
              </a:rPr>
              <a:t>best choice for building modern, full-stack web applications</a:t>
            </a:r>
            <a:r>
              <a:rPr lang="en-US" sz="2200" dirty="0"/>
              <a:t>.</a:t>
            </a:r>
          </a:p>
          <a:p>
            <a:r>
              <a:rPr lang="en-US" sz="2200" dirty="0"/>
              <a:t>A Progressive Framework</a:t>
            </a:r>
          </a:p>
          <a:p>
            <a:pPr lvl="1"/>
            <a:r>
              <a:rPr lang="en-US" sz="2200" dirty="0"/>
              <a:t>Laravel grows with you. Laravel gives you robust tools for dependency injection, unit testing, queues, real-time events, and more.</a:t>
            </a:r>
          </a:p>
          <a:p>
            <a:r>
              <a:rPr lang="en-US" sz="2200" dirty="0"/>
              <a:t>A Scalable Framework</a:t>
            </a:r>
          </a:p>
          <a:p>
            <a:pPr lvl="1"/>
            <a:r>
              <a:rPr lang="en-US" sz="2200" dirty="0"/>
              <a:t>Laravel is incredibly scalable . Laravel's built-in support for fast, distributed cache systems , horizontal scaling with easily scaled to handle hundreds of millions of requests per month.</a:t>
            </a:r>
          </a:p>
          <a:p>
            <a:r>
              <a:rPr lang="en-US" sz="2200" dirty="0"/>
              <a:t>A Community Framework</a:t>
            </a:r>
          </a:p>
          <a:p>
            <a:pPr lvl="1"/>
            <a:r>
              <a:rPr lang="en-US" sz="2200" dirty="0"/>
              <a:t>Laravel combines the best packages in the PHP ecosystem to offer the most robust and developer friendly framework available.</a:t>
            </a:r>
          </a:p>
        </p:txBody>
      </p:sp>
    </p:spTree>
    <p:extLst>
      <p:ext uri="{BB962C8B-B14F-4D97-AF65-F5344CB8AC3E}">
        <p14:creationId xmlns:p14="http://schemas.microsoft.com/office/powerpoint/2010/main" val="3016401966"/>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Features of  Laravel</a:t>
            </a:r>
          </a:p>
        </p:txBody>
      </p:sp>
    </p:spTree>
    <p:extLst>
      <p:ext uri="{BB962C8B-B14F-4D97-AF65-F5344CB8AC3E}">
        <p14:creationId xmlns:p14="http://schemas.microsoft.com/office/powerpoint/2010/main" val="4215222943"/>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30EEBB-DF8F-424A-8225-77EB4F5FF37D}"/>
              </a:ext>
            </a:extLst>
          </p:cNvPr>
          <p:cNvPicPr>
            <a:picLocks noChangeAspect="1"/>
          </p:cNvPicPr>
          <p:nvPr/>
        </p:nvPicPr>
        <p:blipFill>
          <a:blip r:embed="rId2"/>
          <a:stretch>
            <a:fillRect/>
          </a:stretch>
        </p:blipFill>
        <p:spPr>
          <a:xfrm>
            <a:off x="2135560" y="0"/>
            <a:ext cx="6984776" cy="6858000"/>
          </a:xfrm>
          <a:prstGeom prst="rect">
            <a:avLst/>
          </a:prstGeom>
        </p:spPr>
      </p:pic>
    </p:spTree>
    <p:extLst>
      <p:ext uri="{BB962C8B-B14F-4D97-AF65-F5344CB8AC3E}">
        <p14:creationId xmlns:p14="http://schemas.microsoft.com/office/powerpoint/2010/main" val="1523984454"/>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Features of Laravel</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1" y="1083748"/>
            <a:ext cx="12192000" cy="5657619"/>
          </a:xfrm>
        </p:spPr>
        <p:txBody>
          <a:bodyPr/>
          <a:lstStyle/>
          <a:p>
            <a:r>
              <a:rPr lang="en-US" sz="2000" dirty="0"/>
              <a:t>Authentication</a:t>
            </a:r>
          </a:p>
          <a:p>
            <a:pPr lvl="1"/>
            <a:r>
              <a:rPr lang="en-US" dirty="0"/>
              <a:t>Laravel contains an </a:t>
            </a:r>
            <a:r>
              <a:rPr lang="en-US" dirty="0">
                <a:highlight>
                  <a:srgbClr val="FFFF00"/>
                </a:highlight>
              </a:rPr>
              <a:t>inbuilt authentication system</a:t>
            </a:r>
            <a:r>
              <a:rPr lang="en-US" dirty="0"/>
              <a:t>, you only need to configure models, views, and controllers to make the application work.</a:t>
            </a:r>
          </a:p>
          <a:p>
            <a:r>
              <a:rPr lang="en-US" sz="2000" dirty="0"/>
              <a:t>Innovative Template Engine</a:t>
            </a:r>
          </a:p>
          <a:p>
            <a:pPr lvl="1"/>
            <a:r>
              <a:rPr lang="en-US" dirty="0"/>
              <a:t>Laravel provides an </a:t>
            </a:r>
            <a:r>
              <a:rPr lang="en-US" dirty="0">
                <a:highlight>
                  <a:srgbClr val="FFFF00"/>
                </a:highlight>
              </a:rPr>
              <a:t>innovative template engine </a:t>
            </a:r>
            <a:r>
              <a:rPr lang="en-US" dirty="0"/>
              <a:t>which allows the developers to create solid structures for an application.</a:t>
            </a:r>
          </a:p>
          <a:p>
            <a:r>
              <a:rPr lang="en-US" sz="2000" dirty="0"/>
              <a:t>Effective ORM</a:t>
            </a:r>
          </a:p>
          <a:p>
            <a:pPr lvl="1"/>
            <a:r>
              <a:rPr lang="en-US" dirty="0"/>
              <a:t>Laravel contains an </a:t>
            </a:r>
            <a:r>
              <a:rPr lang="en-US" dirty="0">
                <a:highlight>
                  <a:srgbClr val="FFFF00"/>
                </a:highlight>
              </a:rPr>
              <a:t>inbuilt ORM (Object Relational Mapper),</a:t>
            </a:r>
            <a:r>
              <a:rPr lang="en-US" dirty="0"/>
              <a:t> known as Eloquent which allows the developers to </a:t>
            </a:r>
            <a:r>
              <a:rPr lang="en-US" dirty="0">
                <a:highlight>
                  <a:srgbClr val="FFFF00"/>
                </a:highlight>
              </a:rPr>
              <a:t>query the database tables </a:t>
            </a:r>
            <a:r>
              <a:rPr lang="en-US" dirty="0"/>
              <a:t>by using the simple PHP syntax without writing any SQL code. </a:t>
            </a:r>
          </a:p>
          <a:p>
            <a:r>
              <a:rPr lang="en-US" sz="2000" dirty="0"/>
              <a:t>MVC Architecture Support</a:t>
            </a:r>
          </a:p>
          <a:p>
            <a:pPr lvl="1"/>
            <a:r>
              <a:rPr lang="en-US" dirty="0"/>
              <a:t>Laravel </a:t>
            </a:r>
            <a:r>
              <a:rPr lang="en-US" dirty="0">
                <a:highlight>
                  <a:srgbClr val="FFFF00"/>
                </a:highlight>
              </a:rPr>
              <a:t>supports MVC architecture</a:t>
            </a:r>
            <a:r>
              <a:rPr lang="en-US" dirty="0"/>
              <a:t>. It provides faster development process as in MVC, and  it separates the business logic from the presentation logic.</a:t>
            </a:r>
          </a:p>
          <a:p>
            <a:r>
              <a:rPr lang="en-US" sz="2000" dirty="0"/>
              <a:t>Secure Migration System</a:t>
            </a:r>
          </a:p>
          <a:p>
            <a:pPr lvl="1"/>
            <a:r>
              <a:rPr lang="en-US" sz="1800" b="1" dirty="0"/>
              <a:t>Laravel framework</a:t>
            </a:r>
            <a:r>
              <a:rPr lang="en-US" sz="1800" dirty="0"/>
              <a:t> can expand the database and the </a:t>
            </a:r>
            <a:r>
              <a:rPr lang="en-US" sz="1800" dirty="0">
                <a:highlight>
                  <a:srgbClr val="FFFF00"/>
                </a:highlight>
              </a:rPr>
              <a:t>migration process of Laravel is very secure</a:t>
            </a:r>
            <a:r>
              <a:rPr lang="en-US" sz="1800" dirty="0"/>
              <a:t> and full-proof. In the whole process, </a:t>
            </a:r>
            <a:r>
              <a:rPr lang="en-US" sz="1800" b="1" dirty="0"/>
              <a:t>php code</a:t>
            </a:r>
            <a:r>
              <a:rPr lang="en-US" sz="1800" dirty="0"/>
              <a:t> is used rather than </a:t>
            </a:r>
            <a:r>
              <a:rPr lang="en-US" sz="1800" b="1" dirty="0"/>
              <a:t>SQL code</a:t>
            </a:r>
            <a:r>
              <a:rPr lang="en-US" sz="1800" dirty="0"/>
              <a:t>. </a:t>
            </a:r>
          </a:p>
        </p:txBody>
      </p:sp>
    </p:spTree>
    <p:extLst>
      <p:ext uri="{BB962C8B-B14F-4D97-AF65-F5344CB8AC3E}">
        <p14:creationId xmlns:p14="http://schemas.microsoft.com/office/powerpoint/2010/main" val="1282789747"/>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Features of Laravel</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43785" y="1039268"/>
            <a:ext cx="10873209" cy="5298957"/>
          </a:xfrm>
        </p:spPr>
        <p:txBody>
          <a:bodyPr/>
          <a:lstStyle/>
          <a:p>
            <a:r>
              <a:rPr lang="en-US" sz="2000" b="1" dirty="0"/>
              <a:t>Unique Unit-testing</a:t>
            </a:r>
          </a:p>
          <a:p>
            <a:r>
              <a:rPr lang="en-US" dirty="0"/>
              <a:t>Laravel provides a </a:t>
            </a:r>
            <a:r>
              <a:rPr lang="en-US" dirty="0">
                <a:highlight>
                  <a:srgbClr val="FFFF00"/>
                </a:highlight>
              </a:rPr>
              <a:t>unique unit-testing</a:t>
            </a:r>
            <a:r>
              <a:rPr lang="en-US" dirty="0"/>
              <a:t>. In Laravel, developers can also write the test cases in their own code.</a:t>
            </a:r>
          </a:p>
          <a:p>
            <a:r>
              <a:rPr lang="en-US" sz="2000" b="1" dirty="0"/>
              <a:t>Intact Security</a:t>
            </a:r>
          </a:p>
          <a:p>
            <a:r>
              <a:rPr lang="en-US" sz="2000" dirty="0"/>
              <a:t>Laravel has an </a:t>
            </a:r>
            <a:r>
              <a:rPr lang="en-US" sz="2000" dirty="0">
                <a:highlight>
                  <a:srgbClr val="FFFF00"/>
                </a:highlight>
              </a:rPr>
              <a:t>inbuilt web application security</a:t>
            </a:r>
            <a:r>
              <a:rPr lang="en-US" sz="2000" dirty="0"/>
              <a:t>, i.e., it itself takes care of the security of an application. It uses "</a:t>
            </a:r>
            <a:r>
              <a:rPr lang="en-US" sz="2000" dirty="0" err="1"/>
              <a:t>Bcrypt</a:t>
            </a:r>
            <a:r>
              <a:rPr lang="en-US" sz="2000" dirty="0"/>
              <a:t> Hashing Algorithm" to generate the salted password </a:t>
            </a:r>
          </a:p>
          <a:p>
            <a:r>
              <a:rPr lang="en-US" sz="2000" b="1" dirty="0"/>
              <a:t>Libraries and Modular</a:t>
            </a:r>
          </a:p>
          <a:p>
            <a:r>
              <a:rPr lang="en-US" sz="2000" dirty="0"/>
              <a:t>Laravel is very popular as some Object-oriented libraries, and pre-installed libraries are added in this framework, these </a:t>
            </a:r>
            <a:r>
              <a:rPr lang="en-US" sz="2000" dirty="0">
                <a:highlight>
                  <a:srgbClr val="FFFF00"/>
                </a:highlight>
              </a:rPr>
              <a:t>pre-installed libraries </a:t>
            </a:r>
            <a:r>
              <a:rPr lang="en-US" sz="2000" dirty="0"/>
              <a:t>are not added in other </a:t>
            </a:r>
            <a:r>
              <a:rPr lang="en-US" sz="2000" b="1" dirty="0"/>
              <a:t>php frameworks</a:t>
            </a:r>
            <a:r>
              <a:rPr lang="en-US" sz="2000" dirty="0"/>
              <a:t>. This framework is divided into </a:t>
            </a:r>
            <a:r>
              <a:rPr lang="en-US" sz="2000" dirty="0">
                <a:highlight>
                  <a:srgbClr val="FFFF00"/>
                </a:highlight>
              </a:rPr>
              <a:t>several modules </a:t>
            </a:r>
            <a:r>
              <a:rPr lang="en-US" sz="2000" dirty="0"/>
              <a:t>that follow the php principles allowing the developers to build responsive and modular apps.</a:t>
            </a:r>
          </a:p>
          <a:p>
            <a:r>
              <a:rPr lang="en-US" sz="2000" b="1" dirty="0"/>
              <a:t>Artisan</a:t>
            </a:r>
          </a:p>
          <a:p>
            <a:r>
              <a:rPr lang="en-US" sz="2000" dirty="0"/>
              <a:t>Laravel framework provides a built-in tool for a </a:t>
            </a:r>
            <a:r>
              <a:rPr lang="en-US" sz="2000" dirty="0">
                <a:highlight>
                  <a:srgbClr val="FFFF00"/>
                </a:highlight>
              </a:rPr>
              <a:t>command-line known as </a:t>
            </a:r>
            <a:r>
              <a:rPr lang="en-US" sz="2000" b="1" dirty="0">
                <a:highlight>
                  <a:srgbClr val="FFFF00"/>
                </a:highlight>
              </a:rPr>
              <a:t>Artisan</a:t>
            </a:r>
            <a:r>
              <a:rPr lang="en-US" sz="2000" dirty="0"/>
              <a:t> that performs the repetitive programming tasks that do not allow the php developers to perform manually. </a:t>
            </a:r>
          </a:p>
        </p:txBody>
      </p:sp>
    </p:spTree>
    <p:extLst>
      <p:ext uri="{BB962C8B-B14F-4D97-AF65-F5344CB8AC3E}">
        <p14:creationId xmlns:p14="http://schemas.microsoft.com/office/powerpoint/2010/main" val="555160947"/>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262D4B-D93B-419D-BCA7-E64B0BB2F36F}"/>
              </a:ext>
            </a:extLst>
          </p:cNvPr>
          <p:cNvPicPr>
            <a:picLocks noChangeAspect="1"/>
          </p:cNvPicPr>
          <p:nvPr/>
        </p:nvPicPr>
        <p:blipFill>
          <a:blip r:embed="rId2"/>
          <a:stretch>
            <a:fillRect/>
          </a:stretch>
        </p:blipFill>
        <p:spPr>
          <a:xfrm>
            <a:off x="47328" y="980728"/>
            <a:ext cx="8476051" cy="4193828"/>
          </a:xfrm>
          <a:prstGeom prst="rect">
            <a:avLst/>
          </a:prstGeom>
        </p:spPr>
      </p:pic>
      <p:pic>
        <p:nvPicPr>
          <p:cNvPr id="3" name="Picture 2">
            <a:extLst>
              <a:ext uri="{FF2B5EF4-FFF2-40B4-BE49-F238E27FC236}">
                <a16:creationId xmlns:a16="http://schemas.microsoft.com/office/drawing/2014/main" id="{A9266CB4-7C41-4F33-B5A6-E61DA7BE7181}"/>
              </a:ext>
            </a:extLst>
          </p:cNvPr>
          <p:cNvPicPr>
            <a:picLocks noChangeAspect="1"/>
          </p:cNvPicPr>
          <p:nvPr/>
        </p:nvPicPr>
        <p:blipFill>
          <a:blip r:embed="rId3"/>
          <a:stretch>
            <a:fillRect/>
          </a:stretch>
        </p:blipFill>
        <p:spPr>
          <a:xfrm>
            <a:off x="8461113" y="0"/>
            <a:ext cx="3674853" cy="6858000"/>
          </a:xfrm>
          <a:prstGeom prst="rect">
            <a:avLst/>
          </a:prstGeom>
        </p:spPr>
      </p:pic>
    </p:spTree>
    <p:extLst>
      <p:ext uri="{BB962C8B-B14F-4D97-AF65-F5344CB8AC3E}">
        <p14:creationId xmlns:p14="http://schemas.microsoft.com/office/powerpoint/2010/main" val="536391662"/>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MVC Architecture Of Laravel</a:t>
            </a:r>
          </a:p>
          <a:p>
            <a:pPr algn="ctr"/>
            <a:r>
              <a:rPr lang="en-US" dirty="0"/>
              <a:t> </a:t>
            </a:r>
          </a:p>
        </p:txBody>
      </p:sp>
    </p:spTree>
    <p:extLst>
      <p:ext uri="{BB962C8B-B14F-4D97-AF65-F5344CB8AC3E}">
        <p14:creationId xmlns:p14="http://schemas.microsoft.com/office/powerpoint/2010/main" val="1574850728"/>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MVC Architecture Of Laravel</a:t>
            </a:r>
            <a:br>
              <a:rPr lang="en-US" sz="2800" dirty="0"/>
            </a:br>
            <a:endParaRPr lang="en-US" sz="2800"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43785" y="1039268"/>
            <a:ext cx="10873209" cy="5298957"/>
          </a:xfrm>
        </p:spPr>
        <p:txBody>
          <a:bodyPr/>
          <a:lstStyle/>
          <a:p>
            <a:r>
              <a:rPr lang="en-US" dirty="0"/>
              <a:t>The Laravel Framework follows </a:t>
            </a:r>
            <a:r>
              <a:rPr lang="en-US" b="1" dirty="0"/>
              <a:t>MVC architecture</a:t>
            </a:r>
            <a:r>
              <a:rPr lang="en-US" dirty="0"/>
              <a:t>. MVC is an architectural design pattern that helps to develop web applications faster. </a:t>
            </a:r>
          </a:p>
          <a:p>
            <a:r>
              <a:rPr lang="en-US" b="1" dirty="0"/>
              <a:t>MVC</a:t>
            </a:r>
            <a:r>
              <a:rPr lang="en-US" dirty="0"/>
              <a:t> stands for </a:t>
            </a:r>
            <a:r>
              <a:rPr lang="en-US" b="1" dirty="0"/>
              <a:t>Model-View-Controller</a:t>
            </a:r>
            <a:r>
              <a:rPr lang="en-US" dirty="0"/>
              <a:t>.</a:t>
            </a:r>
          </a:p>
          <a:p>
            <a:r>
              <a:rPr lang="en-US" b="1" dirty="0"/>
              <a:t>Model (M)</a:t>
            </a:r>
            <a:r>
              <a:rPr lang="en-US" dirty="0"/>
              <a:t>–A model handles data used by the web application.</a:t>
            </a:r>
          </a:p>
          <a:p>
            <a:r>
              <a:rPr lang="en-US" b="1" dirty="0"/>
              <a:t>View (V)</a:t>
            </a:r>
            <a:r>
              <a:rPr lang="en-US" dirty="0"/>
              <a:t>–A view helps to display data to the user.</a:t>
            </a:r>
          </a:p>
          <a:p>
            <a:r>
              <a:rPr lang="en-US" b="1" dirty="0"/>
              <a:t>Controller (C)</a:t>
            </a:r>
            <a:r>
              <a:rPr lang="en-US" dirty="0"/>
              <a:t>–A controller interacts with the model to create data for the view.</a:t>
            </a:r>
          </a:p>
          <a:p>
            <a:r>
              <a:rPr lang="en-US" b="1" dirty="0"/>
              <a:t>The following figure shows the interactions between Model, View, and Controller.</a:t>
            </a:r>
            <a:br>
              <a:rPr lang="en-US" sz="2000" dirty="0"/>
            </a:br>
            <a:endParaRPr lang="en-US" sz="2000" dirty="0"/>
          </a:p>
        </p:txBody>
      </p:sp>
    </p:spTree>
    <p:extLst>
      <p:ext uri="{BB962C8B-B14F-4D97-AF65-F5344CB8AC3E}">
        <p14:creationId xmlns:p14="http://schemas.microsoft.com/office/powerpoint/2010/main" val="732105960"/>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MVC Architecture Of Laravel</a:t>
            </a:r>
            <a:br>
              <a:rPr lang="en-US" sz="2800" dirty="0"/>
            </a:br>
            <a:endParaRPr lang="en-US" sz="2800" dirty="0"/>
          </a:p>
        </p:txBody>
      </p:sp>
      <p:pic>
        <p:nvPicPr>
          <p:cNvPr id="6" name="Content Placeholder 5">
            <a:extLst>
              <a:ext uri="{FF2B5EF4-FFF2-40B4-BE49-F238E27FC236}">
                <a16:creationId xmlns:a16="http://schemas.microsoft.com/office/drawing/2014/main" id="{0D432B52-0C0B-4C22-B3FF-64D2A82107B9}"/>
              </a:ext>
            </a:extLst>
          </p:cNvPr>
          <p:cNvPicPr>
            <a:picLocks noGrp="1" noChangeAspect="1"/>
          </p:cNvPicPr>
          <p:nvPr>
            <p:ph idx="1"/>
          </p:nvPr>
        </p:nvPicPr>
        <p:blipFill>
          <a:blip r:embed="rId3">
            <a:grayscl/>
          </a:blip>
          <a:stretch>
            <a:fillRect/>
          </a:stretch>
        </p:blipFill>
        <p:spPr>
          <a:xfrm>
            <a:off x="2461592" y="1268760"/>
            <a:ext cx="7162800" cy="4429125"/>
          </a:xfrm>
          <a:prstGeom prst="rect">
            <a:avLst/>
          </a:prstGeom>
        </p:spPr>
      </p:pic>
    </p:spTree>
    <p:extLst>
      <p:ext uri="{BB962C8B-B14F-4D97-AF65-F5344CB8AC3E}">
        <p14:creationId xmlns:p14="http://schemas.microsoft.com/office/powerpoint/2010/main" val="4016294394"/>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a:t>
            </a:r>
            <a:r>
              <a:rPr lang="en-US" sz="3200" dirty="0"/>
              <a:t>Setting up a Laravel Development Environment</a:t>
            </a:r>
          </a:p>
          <a:p>
            <a:pPr algn="ctr"/>
            <a:endParaRPr lang="en-US" dirty="0"/>
          </a:p>
        </p:txBody>
      </p:sp>
    </p:spTree>
    <p:extLst>
      <p:ext uri="{BB962C8B-B14F-4D97-AF65-F5344CB8AC3E}">
        <p14:creationId xmlns:p14="http://schemas.microsoft.com/office/powerpoint/2010/main" val="2948503218"/>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Laravel 9.x </a:t>
            </a:r>
          </a:p>
        </p:txBody>
      </p:sp>
      <p:pic>
        <p:nvPicPr>
          <p:cNvPr id="2" name="Content Placeholder 1">
            <a:extLst>
              <a:ext uri="{FF2B5EF4-FFF2-40B4-BE49-F238E27FC236}">
                <a16:creationId xmlns:a16="http://schemas.microsoft.com/office/drawing/2014/main" id="{52B8D95A-D602-40C7-A6B2-F9B83828A0C2}"/>
              </a:ext>
            </a:extLst>
          </p:cNvPr>
          <p:cNvPicPr>
            <a:picLocks noGrp="1" noChangeAspect="1"/>
          </p:cNvPicPr>
          <p:nvPr>
            <p:ph idx="1"/>
          </p:nvPr>
        </p:nvPicPr>
        <p:blipFill>
          <a:blip r:embed="rId3"/>
          <a:stretch>
            <a:fillRect/>
          </a:stretch>
        </p:blipFill>
        <p:spPr>
          <a:xfrm>
            <a:off x="2176337" y="1039813"/>
            <a:ext cx="7809163" cy="5299075"/>
          </a:xfrm>
          <a:prstGeom prst="rect">
            <a:avLst/>
          </a:prstGeom>
        </p:spPr>
      </p:pic>
      <p:sp>
        <p:nvSpPr>
          <p:cNvPr id="4" name="Oval 3">
            <a:extLst>
              <a:ext uri="{FF2B5EF4-FFF2-40B4-BE49-F238E27FC236}">
                <a16:creationId xmlns:a16="http://schemas.microsoft.com/office/drawing/2014/main" id="{1111C210-5C31-43E4-976A-9BA0E2DF0CAF}"/>
              </a:ext>
            </a:extLst>
          </p:cNvPr>
          <p:cNvSpPr/>
          <p:nvPr/>
        </p:nvSpPr>
        <p:spPr>
          <a:xfrm>
            <a:off x="6672064" y="5301208"/>
            <a:ext cx="2592288" cy="432048"/>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Tree>
    <p:extLst>
      <p:ext uri="{BB962C8B-B14F-4D97-AF65-F5344CB8AC3E}">
        <p14:creationId xmlns:p14="http://schemas.microsoft.com/office/powerpoint/2010/main" val="2046702668"/>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composer installation</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43785" y="1039268"/>
            <a:ext cx="5705889" cy="5298957"/>
          </a:xfrm>
        </p:spPr>
        <p:txBody>
          <a:bodyPr/>
          <a:lstStyle/>
          <a:p>
            <a:r>
              <a:rPr lang="en-US" dirty="0"/>
              <a:t>Before creating your first Laravel project, you should ensure that your local machine has PHP and </a:t>
            </a:r>
            <a:r>
              <a:rPr lang="en-US" u="sng" dirty="0">
                <a:hlinkClick r:id="rId3"/>
              </a:rPr>
              <a:t>Composer</a:t>
            </a:r>
            <a:r>
              <a:rPr lang="en-US" dirty="0"/>
              <a:t> installed.</a:t>
            </a:r>
          </a:p>
          <a:p>
            <a:r>
              <a:rPr lang="en-US" dirty="0"/>
              <a:t>The installer - which requires that you have PHP already installed - will download Composer for you and set up your PATH environment variable so you can simply call composer from any directory.</a:t>
            </a:r>
          </a:p>
          <a:p>
            <a:r>
              <a:rPr lang="en-US" dirty="0"/>
              <a:t>Download and run Composer-Setup.exe - it will install the latest composer version whenever it is executed. </a:t>
            </a:r>
          </a:p>
          <a:p>
            <a:endParaRPr lang="en-US" dirty="0"/>
          </a:p>
          <a:p>
            <a:endParaRPr lang="en-US" sz="2000" dirty="0"/>
          </a:p>
        </p:txBody>
      </p:sp>
      <p:pic>
        <p:nvPicPr>
          <p:cNvPr id="2" name="Picture 1">
            <a:extLst>
              <a:ext uri="{FF2B5EF4-FFF2-40B4-BE49-F238E27FC236}">
                <a16:creationId xmlns:a16="http://schemas.microsoft.com/office/drawing/2014/main" id="{43F82340-73C4-4AAE-BC18-2E792188C4B3}"/>
              </a:ext>
            </a:extLst>
          </p:cNvPr>
          <p:cNvPicPr>
            <a:picLocks noChangeAspect="1"/>
          </p:cNvPicPr>
          <p:nvPr/>
        </p:nvPicPr>
        <p:blipFill>
          <a:blip r:embed="rId4"/>
          <a:stretch>
            <a:fillRect/>
          </a:stretch>
        </p:blipFill>
        <p:spPr>
          <a:xfrm>
            <a:off x="6349674" y="116632"/>
            <a:ext cx="5810250" cy="6741368"/>
          </a:xfrm>
          <a:prstGeom prst="rect">
            <a:avLst/>
          </a:prstGeom>
        </p:spPr>
      </p:pic>
    </p:spTree>
    <p:extLst>
      <p:ext uri="{BB962C8B-B14F-4D97-AF65-F5344CB8AC3E}">
        <p14:creationId xmlns:p14="http://schemas.microsoft.com/office/powerpoint/2010/main" val="3960339161"/>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Installation of Composer and </a:t>
            </a:r>
            <a:r>
              <a:rPr lang="en-US" sz="2800" dirty="0" err="1"/>
              <a:t>laravel</a:t>
            </a:r>
            <a:endParaRPr lang="en-US" sz="2800"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35807" y="1039268"/>
            <a:ext cx="4308066" cy="5298957"/>
          </a:xfrm>
        </p:spPr>
        <p:txBody>
          <a:bodyPr/>
          <a:lstStyle/>
          <a:p>
            <a:r>
              <a:rPr lang="en-US" dirty="0"/>
              <a:t>Composer is a </a:t>
            </a:r>
            <a:r>
              <a:rPr lang="en-US" b="1" dirty="0"/>
              <a:t>dependency manager for PHP</a:t>
            </a:r>
            <a:r>
              <a:rPr lang="en-US" dirty="0"/>
              <a:t>. Laravel uses the </a:t>
            </a:r>
            <a:r>
              <a:rPr lang="en-US" b="1" dirty="0"/>
              <a:t>Composer</a:t>
            </a:r>
            <a:r>
              <a:rPr lang="en-US" dirty="0"/>
              <a:t> to manage its dependencies.</a:t>
            </a:r>
          </a:p>
          <a:p>
            <a:r>
              <a:rPr lang="en-US" dirty="0"/>
              <a:t>You need to install the composer before installing Laravel</a:t>
            </a:r>
          </a:p>
          <a:p>
            <a:r>
              <a:rPr lang="en-US" dirty="0"/>
              <a:t>Install Composer-setup.exe</a:t>
            </a:r>
          </a:p>
          <a:p>
            <a:r>
              <a:rPr lang="en-US" dirty="0"/>
              <a:t>Composer doesn’t know how to install Laravel.so install  Laravel installer using the command</a:t>
            </a:r>
            <a:endParaRPr lang="en-US" sz="2000" dirty="0"/>
          </a:p>
        </p:txBody>
      </p:sp>
      <p:pic>
        <p:nvPicPr>
          <p:cNvPr id="6" name="Picture 5">
            <a:extLst>
              <a:ext uri="{FF2B5EF4-FFF2-40B4-BE49-F238E27FC236}">
                <a16:creationId xmlns:a16="http://schemas.microsoft.com/office/drawing/2014/main" id="{72D68439-2346-4588-A002-B1BB6D6ABB94}"/>
              </a:ext>
            </a:extLst>
          </p:cNvPr>
          <p:cNvPicPr>
            <a:picLocks noChangeAspect="1"/>
          </p:cNvPicPr>
          <p:nvPr/>
        </p:nvPicPr>
        <p:blipFill>
          <a:blip r:embed="rId3"/>
          <a:stretch>
            <a:fillRect/>
          </a:stretch>
        </p:blipFill>
        <p:spPr>
          <a:xfrm>
            <a:off x="5447928" y="1026342"/>
            <a:ext cx="6638925" cy="4343400"/>
          </a:xfrm>
          <a:prstGeom prst="rect">
            <a:avLst/>
          </a:prstGeom>
        </p:spPr>
      </p:pic>
      <p:pic>
        <p:nvPicPr>
          <p:cNvPr id="7" name="Picture 6">
            <a:extLst>
              <a:ext uri="{FF2B5EF4-FFF2-40B4-BE49-F238E27FC236}">
                <a16:creationId xmlns:a16="http://schemas.microsoft.com/office/drawing/2014/main" id="{95BA10FE-9C4F-4AED-97BA-EB5392850953}"/>
              </a:ext>
            </a:extLst>
          </p:cNvPr>
          <p:cNvPicPr>
            <a:picLocks noChangeAspect="1"/>
          </p:cNvPicPr>
          <p:nvPr/>
        </p:nvPicPr>
        <p:blipFill>
          <a:blip r:embed="rId4"/>
          <a:stretch>
            <a:fillRect/>
          </a:stretch>
        </p:blipFill>
        <p:spPr>
          <a:xfrm>
            <a:off x="5447928" y="5527226"/>
            <a:ext cx="5295900" cy="1123950"/>
          </a:xfrm>
          <a:prstGeom prst="rect">
            <a:avLst/>
          </a:prstGeom>
        </p:spPr>
      </p:pic>
      <p:cxnSp>
        <p:nvCxnSpPr>
          <p:cNvPr id="9" name="Straight Arrow Connector 8">
            <a:extLst>
              <a:ext uri="{FF2B5EF4-FFF2-40B4-BE49-F238E27FC236}">
                <a16:creationId xmlns:a16="http://schemas.microsoft.com/office/drawing/2014/main" id="{0BDFDAB5-7BCD-4EE3-BFCA-9ABA8191FBC3}"/>
              </a:ext>
            </a:extLst>
          </p:cNvPr>
          <p:cNvCxnSpPr/>
          <p:nvPr/>
        </p:nvCxnSpPr>
        <p:spPr>
          <a:xfrm>
            <a:off x="4655840" y="1196752"/>
            <a:ext cx="2880320" cy="1296144"/>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46A10CE-7F3A-4C96-855F-922D572F8199}"/>
              </a:ext>
            </a:extLst>
          </p:cNvPr>
          <p:cNvCxnSpPr>
            <a:cxnSpLocks/>
          </p:cNvCxnSpPr>
          <p:nvPr/>
        </p:nvCxnSpPr>
        <p:spPr>
          <a:xfrm>
            <a:off x="2711624" y="5527226"/>
            <a:ext cx="4320480" cy="854102"/>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9680411"/>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AB590E-A9A8-4978-B68D-BF9851F7EBA4}"/>
              </a:ext>
            </a:extLst>
          </p:cNvPr>
          <p:cNvPicPr>
            <a:picLocks noChangeAspect="1"/>
          </p:cNvPicPr>
          <p:nvPr/>
        </p:nvPicPr>
        <p:blipFill>
          <a:blip r:embed="rId2"/>
          <a:stretch>
            <a:fillRect/>
          </a:stretch>
        </p:blipFill>
        <p:spPr>
          <a:xfrm>
            <a:off x="241759" y="616563"/>
            <a:ext cx="5962650" cy="4219575"/>
          </a:xfrm>
          <a:prstGeom prst="rect">
            <a:avLst/>
          </a:prstGeom>
        </p:spPr>
      </p:pic>
      <p:sp>
        <p:nvSpPr>
          <p:cNvPr id="3" name="TextBox 2">
            <a:extLst>
              <a:ext uri="{FF2B5EF4-FFF2-40B4-BE49-F238E27FC236}">
                <a16:creationId xmlns:a16="http://schemas.microsoft.com/office/drawing/2014/main" id="{7F29954B-3F28-4504-9B8A-28755216F477}"/>
              </a:ext>
            </a:extLst>
          </p:cNvPr>
          <p:cNvSpPr txBox="1"/>
          <p:nvPr/>
        </p:nvSpPr>
        <p:spPr>
          <a:xfrm>
            <a:off x="695400" y="5298572"/>
            <a:ext cx="5400600" cy="246221"/>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r>
              <a:rPr lang="en-US" sz="1600" b="1" dirty="0"/>
              <a:t>Laravel installation is completed</a:t>
            </a:r>
          </a:p>
        </p:txBody>
      </p:sp>
      <p:pic>
        <p:nvPicPr>
          <p:cNvPr id="4" name="Picture 3">
            <a:extLst>
              <a:ext uri="{FF2B5EF4-FFF2-40B4-BE49-F238E27FC236}">
                <a16:creationId xmlns:a16="http://schemas.microsoft.com/office/drawing/2014/main" id="{9B3C26A1-5E6A-4F43-90F4-8CF83C6D46BB}"/>
              </a:ext>
            </a:extLst>
          </p:cNvPr>
          <p:cNvPicPr>
            <a:picLocks noChangeAspect="1"/>
          </p:cNvPicPr>
          <p:nvPr/>
        </p:nvPicPr>
        <p:blipFill>
          <a:blip r:embed="rId3"/>
          <a:stretch>
            <a:fillRect/>
          </a:stretch>
        </p:blipFill>
        <p:spPr>
          <a:xfrm>
            <a:off x="6384032" y="864212"/>
            <a:ext cx="5686425" cy="3724275"/>
          </a:xfrm>
          <a:prstGeom prst="rect">
            <a:avLst/>
          </a:prstGeom>
        </p:spPr>
      </p:pic>
      <p:sp>
        <p:nvSpPr>
          <p:cNvPr id="5" name="TextBox 4">
            <a:extLst>
              <a:ext uri="{FF2B5EF4-FFF2-40B4-BE49-F238E27FC236}">
                <a16:creationId xmlns:a16="http://schemas.microsoft.com/office/drawing/2014/main" id="{06F3086B-31D7-4042-88D4-9AC229D5FFDF}"/>
              </a:ext>
            </a:extLst>
          </p:cNvPr>
          <p:cNvSpPr txBox="1"/>
          <p:nvPr/>
        </p:nvSpPr>
        <p:spPr>
          <a:xfrm>
            <a:off x="6240016" y="260648"/>
            <a:ext cx="5400600" cy="246221"/>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r>
              <a:rPr lang="en-US" sz="1600" b="1" dirty="0"/>
              <a:t>Check the installation using the command ‘</a:t>
            </a:r>
            <a:r>
              <a:rPr lang="en-US" sz="1600" b="1" dirty="0" err="1"/>
              <a:t>laravel</a:t>
            </a:r>
            <a:r>
              <a:rPr lang="en-US" sz="1200" dirty="0"/>
              <a:t>’</a:t>
            </a:r>
          </a:p>
        </p:txBody>
      </p:sp>
      <p:sp>
        <p:nvSpPr>
          <p:cNvPr id="6" name="TextBox 5">
            <a:extLst>
              <a:ext uri="{FF2B5EF4-FFF2-40B4-BE49-F238E27FC236}">
                <a16:creationId xmlns:a16="http://schemas.microsoft.com/office/drawing/2014/main" id="{CA9300DC-2306-4F6D-B48A-33FE5161EAA5}"/>
              </a:ext>
            </a:extLst>
          </p:cNvPr>
          <p:cNvSpPr txBox="1"/>
          <p:nvPr/>
        </p:nvSpPr>
        <p:spPr>
          <a:xfrm>
            <a:off x="4799856" y="5305918"/>
            <a:ext cx="5112568" cy="532453"/>
          </a:xfrm>
          <a:prstGeom prst="rect">
            <a:avLst/>
          </a:prstGeom>
          <a:noFill/>
          <a:ln>
            <a:solidFill>
              <a:schemeClr val="accent2"/>
            </a:solidFill>
          </a:ln>
        </p:spPr>
        <p:txBody>
          <a:bodyPr wrap="square" lIns="0" tIns="36576" rIns="0" bIns="0" rtlCol="0">
            <a:spAutoFit/>
          </a:bodyPr>
          <a:lstStyle/>
          <a:p>
            <a:pPr>
              <a:lnSpc>
                <a:spcPct val="85000"/>
              </a:lnSpc>
              <a:spcAft>
                <a:spcPts val="600"/>
              </a:spcAft>
              <a:buClr>
                <a:schemeClr val="accent2"/>
              </a:buClr>
              <a:buSzPct val="70000"/>
            </a:pPr>
            <a:r>
              <a:rPr lang="en-US" sz="1600" b="1" dirty="0"/>
              <a:t>Create New project –go to command prompt</a:t>
            </a:r>
          </a:p>
          <a:p>
            <a:pPr>
              <a:lnSpc>
                <a:spcPct val="85000"/>
              </a:lnSpc>
              <a:spcAft>
                <a:spcPts val="600"/>
              </a:spcAft>
              <a:buClr>
                <a:schemeClr val="accent2"/>
              </a:buClr>
              <a:buSzPct val="70000"/>
            </a:pPr>
            <a:r>
              <a:rPr lang="en-US" sz="1600" b="1" dirty="0" err="1"/>
              <a:t>laravel</a:t>
            </a:r>
            <a:r>
              <a:rPr lang="en-US" sz="1600" b="1" dirty="0"/>
              <a:t> new example-smith</a:t>
            </a:r>
          </a:p>
        </p:txBody>
      </p:sp>
      <p:cxnSp>
        <p:nvCxnSpPr>
          <p:cNvPr id="8" name="Straight Arrow Connector 7">
            <a:extLst>
              <a:ext uri="{FF2B5EF4-FFF2-40B4-BE49-F238E27FC236}">
                <a16:creationId xmlns:a16="http://schemas.microsoft.com/office/drawing/2014/main" id="{BB1C4DE1-5AF5-46EB-BF8C-2DF9A0D6B7CA}"/>
              </a:ext>
            </a:extLst>
          </p:cNvPr>
          <p:cNvCxnSpPr/>
          <p:nvPr/>
        </p:nvCxnSpPr>
        <p:spPr>
          <a:xfrm flipV="1">
            <a:off x="2135560" y="4836138"/>
            <a:ext cx="216024" cy="462434"/>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7734375"/>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Installation of Composer and </a:t>
            </a:r>
            <a:r>
              <a:rPr lang="en-US" sz="2800" dirty="0" err="1"/>
              <a:t>laravel</a:t>
            </a:r>
            <a:endParaRPr lang="en-US" sz="2800"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35806" y="1039268"/>
            <a:ext cx="5316177" cy="5298957"/>
          </a:xfrm>
        </p:spPr>
        <p:txBody>
          <a:bodyPr/>
          <a:lstStyle/>
          <a:p>
            <a:r>
              <a:rPr lang="en-US" dirty="0"/>
              <a:t>Open command prompt and  type</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laravel</a:t>
            </a:r>
            <a:r>
              <a:rPr lang="en-US" sz="2000" dirty="0">
                <a:latin typeface="Consolas" panose="020B0609020204030204" pitchFamily="49" charset="0"/>
              </a:rPr>
              <a:t> new example-smith</a:t>
            </a:r>
          </a:p>
          <a:p>
            <a:endParaRPr lang="en-US" sz="2000" dirty="0">
              <a:latin typeface="Consolas" panose="020B0609020204030204" pitchFamily="49" charset="0"/>
            </a:endParaRPr>
          </a:p>
          <a:p>
            <a:endParaRPr lang="en-US" dirty="0"/>
          </a:p>
          <a:p>
            <a:endParaRPr lang="en-US" sz="2000" dirty="0"/>
          </a:p>
        </p:txBody>
      </p:sp>
      <p:pic>
        <p:nvPicPr>
          <p:cNvPr id="2" name="Picture 1">
            <a:extLst>
              <a:ext uri="{FF2B5EF4-FFF2-40B4-BE49-F238E27FC236}">
                <a16:creationId xmlns:a16="http://schemas.microsoft.com/office/drawing/2014/main" id="{6DD3201A-0C37-40EB-AC78-D9BDE38A64BD}"/>
              </a:ext>
            </a:extLst>
          </p:cNvPr>
          <p:cNvPicPr>
            <a:picLocks noChangeAspect="1"/>
          </p:cNvPicPr>
          <p:nvPr/>
        </p:nvPicPr>
        <p:blipFill>
          <a:blip r:embed="rId3"/>
          <a:stretch>
            <a:fillRect/>
          </a:stretch>
        </p:blipFill>
        <p:spPr>
          <a:xfrm>
            <a:off x="983432" y="1988840"/>
            <a:ext cx="6048375" cy="3190875"/>
          </a:xfrm>
          <a:prstGeom prst="rect">
            <a:avLst/>
          </a:prstGeom>
        </p:spPr>
      </p:pic>
      <p:pic>
        <p:nvPicPr>
          <p:cNvPr id="4" name="Picture 3">
            <a:extLst>
              <a:ext uri="{FF2B5EF4-FFF2-40B4-BE49-F238E27FC236}">
                <a16:creationId xmlns:a16="http://schemas.microsoft.com/office/drawing/2014/main" id="{2F7674FC-A2B8-49CD-AD20-888E6994F4ED}"/>
              </a:ext>
            </a:extLst>
          </p:cNvPr>
          <p:cNvPicPr>
            <a:picLocks noChangeAspect="1"/>
          </p:cNvPicPr>
          <p:nvPr/>
        </p:nvPicPr>
        <p:blipFill>
          <a:blip r:embed="rId4"/>
          <a:stretch>
            <a:fillRect/>
          </a:stretch>
        </p:blipFill>
        <p:spPr>
          <a:xfrm>
            <a:off x="8976320" y="0"/>
            <a:ext cx="3286125" cy="6819900"/>
          </a:xfrm>
          <a:prstGeom prst="rect">
            <a:avLst/>
          </a:prstGeom>
        </p:spPr>
      </p:pic>
    </p:spTree>
    <p:extLst>
      <p:ext uri="{BB962C8B-B14F-4D97-AF65-F5344CB8AC3E}">
        <p14:creationId xmlns:p14="http://schemas.microsoft.com/office/powerpoint/2010/main" val="3527487892"/>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 </a:t>
            </a:r>
            <a:r>
              <a:rPr lang="en-US" sz="2800" dirty="0"/>
              <a:t>installation of Laravel</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139672"/>
            <a:ext cx="5705889" cy="5298957"/>
          </a:xfrm>
        </p:spPr>
        <p:txBody>
          <a:bodyPr/>
          <a:lstStyle/>
          <a:p>
            <a:r>
              <a:rPr lang="en-US" dirty="0"/>
              <a:t>After the project has been created, start Laravel's local development server using the Laravel's Artisan CLI serve command:</a:t>
            </a:r>
          </a:p>
          <a:p>
            <a:r>
              <a:rPr lang="en-US" dirty="0"/>
              <a:t>Once you have started the Artisan development server, your application will be accessible in your web browser at [http://127.0.0.1:8000]</a:t>
            </a:r>
          </a:p>
          <a:p>
            <a:r>
              <a:rPr lang="en-US" sz="2000" dirty="0"/>
              <a:t>Laravel web server is ready at this URL.</a:t>
            </a:r>
          </a:p>
          <a:p>
            <a:r>
              <a:rPr lang="en-US" sz="2000" dirty="0"/>
              <a:t>As Laravel supports MVC ,it is the “</a:t>
            </a:r>
            <a:r>
              <a:rPr lang="en-US" sz="2000" dirty="0" err="1"/>
              <a:t>web.php</a:t>
            </a:r>
            <a:r>
              <a:rPr lang="en-US" sz="2000" dirty="0"/>
              <a:t>” file of routes directory ,displays the welcome page contents from “ views/</a:t>
            </a:r>
            <a:r>
              <a:rPr lang="en-US" sz="2000" dirty="0" err="1"/>
              <a:t>welcome.blade.php</a:t>
            </a:r>
            <a:r>
              <a:rPr lang="en-US" sz="2000" dirty="0"/>
              <a:t>”</a:t>
            </a:r>
          </a:p>
        </p:txBody>
      </p:sp>
      <p:pic>
        <p:nvPicPr>
          <p:cNvPr id="4" name="Picture 3">
            <a:extLst>
              <a:ext uri="{FF2B5EF4-FFF2-40B4-BE49-F238E27FC236}">
                <a16:creationId xmlns:a16="http://schemas.microsoft.com/office/drawing/2014/main" id="{C536F138-644F-4399-8919-E0EB0C64A0E9}"/>
              </a:ext>
            </a:extLst>
          </p:cNvPr>
          <p:cNvPicPr>
            <a:picLocks noChangeAspect="1"/>
          </p:cNvPicPr>
          <p:nvPr/>
        </p:nvPicPr>
        <p:blipFill>
          <a:blip r:embed="rId3"/>
          <a:stretch>
            <a:fillRect/>
          </a:stretch>
        </p:blipFill>
        <p:spPr>
          <a:xfrm>
            <a:off x="6672064" y="1532620"/>
            <a:ext cx="5365431" cy="1879540"/>
          </a:xfrm>
          <a:prstGeom prst="rect">
            <a:avLst/>
          </a:prstGeom>
        </p:spPr>
      </p:pic>
      <p:cxnSp>
        <p:nvCxnSpPr>
          <p:cNvPr id="8" name="Straight Arrow Connector 7">
            <a:extLst>
              <a:ext uri="{FF2B5EF4-FFF2-40B4-BE49-F238E27FC236}">
                <a16:creationId xmlns:a16="http://schemas.microsoft.com/office/drawing/2014/main" id="{D00FBBF2-1399-4E85-9B60-F48095ED6039}"/>
              </a:ext>
            </a:extLst>
          </p:cNvPr>
          <p:cNvCxnSpPr/>
          <p:nvPr/>
        </p:nvCxnSpPr>
        <p:spPr>
          <a:xfrm flipV="1">
            <a:off x="4655839" y="2961766"/>
            <a:ext cx="2232247" cy="1066201"/>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6969890"/>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A434F2-14A1-4A3A-9218-BE9D836A9BDD}"/>
              </a:ext>
            </a:extLst>
          </p:cNvPr>
          <p:cNvPicPr>
            <a:picLocks noChangeAspect="1"/>
          </p:cNvPicPr>
          <p:nvPr/>
        </p:nvPicPr>
        <p:blipFill>
          <a:blip r:embed="rId2"/>
          <a:stretch>
            <a:fillRect/>
          </a:stretch>
        </p:blipFill>
        <p:spPr>
          <a:xfrm>
            <a:off x="1847528" y="28933"/>
            <a:ext cx="7516097" cy="6581892"/>
          </a:xfrm>
          <a:prstGeom prst="rect">
            <a:avLst/>
          </a:prstGeom>
        </p:spPr>
      </p:pic>
    </p:spTree>
    <p:extLst>
      <p:ext uri="{BB962C8B-B14F-4D97-AF65-F5344CB8AC3E}">
        <p14:creationId xmlns:p14="http://schemas.microsoft.com/office/powerpoint/2010/main" val="4107100064"/>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9CB1B5F-CE5F-43DD-A69A-B5327D0A4EA3}"/>
              </a:ext>
            </a:extLst>
          </p:cNvPr>
          <p:cNvPicPr>
            <a:picLocks noChangeAspect="1"/>
          </p:cNvPicPr>
          <p:nvPr/>
        </p:nvPicPr>
        <p:blipFill>
          <a:blip r:embed="rId2"/>
          <a:stretch>
            <a:fillRect/>
          </a:stretch>
        </p:blipFill>
        <p:spPr>
          <a:xfrm>
            <a:off x="1262661" y="0"/>
            <a:ext cx="9666678" cy="6858000"/>
          </a:xfrm>
          <a:prstGeom prst="rect">
            <a:avLst/>
          </a:prstGeom>
        </p:spPr>
      </p:pic>
    </p:spTree>
    <p:extLst>
      <p:ext uri="{BB962C8B-B14F-4D97-AF65-F5344CB8AC3E}">
        <p14:creationId xmlns:p14="http://schemas.microsoft.com/office/powerpoint/2010/main" val="2967426099"/>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671F28-E255-481C-B3D6-200A75F2A5BB}"/>
              </a:ext>
            </a:extLst>
          </p:cNvPr>
          <p:cNvPicPr>
            <a:picLocks noChangeAspect="1"/>
          </p:cNvPicPr>
          <p:nvPr/>
        </p:nvPicPr>
        <p:blipFill>
          <a:blip r:embed="rId2"/>
          <a:stretch>
            <a:fillRect/>
          </a:stretch>
        </p:blipFill>
        <p:spPr>
          <a:xfrm>
            <a:off x="1537138" y="0"/>
            <a:ext cx="9117724" cy="6858000"/>
          </a:xfrm>
          <a:prstGeom prst="rect">
            <a:avLst/>
          </a:prstGeom>
        </p:spPr>
      </p:pic>
    </p:spTree>
    <p:extLst>
      <p:ext uri="{BB962C8B-B14F-4D97-AF65-F5344CB8AC3E}">
        <p14:creationId xmlns:p14="http://schemas.microsoft.com/office/powerpoint/2010/main" val="3990905596"/>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65F6F3-0181-45DD-A193-4E0E9470B9C8}"/>
              </a:ext>
            </a:extLst>
          </p:cNvPr>
          <p:cNvPicPr>
            <a:picLocks noChangeAspect="1"/>
          </p:cNvPicPr>
          <p:nvPr/>
        </p:nvPicPr>
        <p:blipFill>
          <a:blip r:embed="rId2"/>
          <a:stretch>
            <a:fillRect/>
          </a:stretch>
        </p:blipFill>
        <p:spPr>
          <a:xfrm>
            <a:off x="1554655" y="0"/>
            <a:ext cx="9082690" cy="6858000"/>
          </a:xfrm>
          <a:prstGeom prst="rect">
            <a:avLst/>
          </a:prstGeom>
        </p:spPr>
      </p:pic>
    </p:spTree>
    <p:extLst>
      <p:ext uri="{BB962C8B-B14F-4D97-AF65-F5344CB8AC3E}">
        <p14:creationId xmlns:p14="http://schemas.microsoft.com/office/powerpoint/2010/main" val="4160422062"/>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Route Definitions</a:t>
            </a:r>
            <a:endParaRPr lang="en-US" sz="2800"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191343" y="1039268"/>
            <a:ext cx="11161240" cy="5298957"/>
          </a:xfrm>
        </p:spPr>
        <p:txBody>
          <a:bodyPr/>
          <a:lstStyle/>
          <a:p>
            <a:r>
              <a:rPr lang="en-US" sz="2200" dirty="0"/>
              <a:t>In a Laravel application, you will define your “web” routes in routes/</a:t>
            </a:r>
            <a:r>
              <a:rPr lang="en-US" sz="2200" dirty="0" err="1"/>
              <a:t>web.php</a:t>
            </a:r>
            <a:r>
              <a:rPr lang="en-US" sz="2200" dirty="0"/>
              <a:t> and your “API” routes in routes/</a:t>
            </a:r>
            <a:r>
              <a:rPr lang="en-US" sz="2200" dirty="0" err="1"/>
              <a:t>api.php</a:t>
            </a:r>
            <a:r>
              <a:rPr lang="en-US" sz="2200" dirty="0"/>
              <a:t>. Web routes are those that will be visited by your end users; API routes are those for your API, if you have one</a:t>
            </a:r>
          </a:p>
        </p:txBody>
      </p:sp>
      <p:pic>
        <p:nvPicPr>
          <p:cNvPr id="6" name="Picture 5">
            <a:extLst>
              <a:ext uri="{FF2B5EF4-FFF2-40B4-BE49-F238E27FC236}">
                <a16:creationId xmlns:a16="http://schemas.microsoft.com/office/drawing/2014/main" id="{44F70FD2-65ED-4753-A751-EB43FEEAE65A}"/>
              </a:ext>
            </a:extLst>
          </p:cNvPr>
          <p:cNvPicPr>
            <a:picLocks noChangeAspect="1"/>
          </p:cNvPicPr>
          <p:nvPr/>
        </p:nvPicPr>
        <p:blipFill>
          <a:blip r:embed="rId3"/>
          <a:stretch>
            <a:fillRect/>
          </a:stretch>
        </p:blipFill>
        <p:spPr>
          <a:xfrm>
            <a:off x="263352" y="2033753"/>
            <a:ext cx="8079407" cy="4419584"/>
          </a:xfrm>
          <a:prstGeom prst="rect">
            <a:avLst/>
          </a:prstGeom>
        </p:spPr>
      </p:pic>
      <p:pic>
        <p:nvPicPr>
          <p:cNvPr id="7" name="Picture 6">
            <a:extLst>
              <a:ext uri="{FF2B5EF4-FFF2-40B4-BE49-F238E27FC236}">
                <a16:creationId xmlns:a16="http://schemas.microsoft.com/office/drawing/2014/main" id="{2C242DDF-4611-41C5-B2F8-5E49A99E3AA0}"/>
              </a:ext>
            </a:extLst>
          </p:cNvPr>
          <p:cNvPicPr>
            <a:picLocks noChangeAspect="1"/>
          </p:cNvPicPr>
          <p:nvPr/>
        </p:nvPicPr>
        <p:blipFill>
          <a:blip r:embed="rId4"/>
          <a:stretch>
            <a:fillRect/>
          </a:stretch>
        </p:blipFill>
        <p:spPr>
          <a:xfrm>
            <a:off x="8414768" y="3538695"/>
            <a:ext cx="3705225" cy="1409700"/>
          </a:xfrm>
          <a:prstGeom prst="rect">
            <a:avLst/>
          </a:prstGeom>
          <a:ln>
            <a:solidFill>
              <a:schemeClr val="accent2"/>
            </a:solidFill>
          </a:ln>
        </p:spPr>
      </p:pic>
    </p:spTree>
    <p:extLst>
      <p:ext uri="{BB962C8B-B14F-4D97-AF65-F5344CB8AC3E}">
        <p14:creationId xmlns:p14="http://schemas.microsoft.com/office/powerpoint/2010/main" val="1064598793"/>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Route Definitions-using view</a:t>
            </a:r>
            <a:endParaRPr lang="en-US" sz="2800"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139672"/>
            <a:ext cx="11161240" cy="5298957"/>
          </a:xfrm>
        </p:spPr>
        <p:txBody>
          <a:bodyPr/>
          <a:lstStyle/>
          <a:p>
            <a:r>
              <a:rPr lang="en-US" dirty="0"/>
              <a:t>In a Laravel application, you will define your “web” routes in routes/</a:t>
            </a:r>
            <a:r>
              <a:rPr lang="en-US" dirty="0" err="1"/>
              <a:t>web.php</a:t>
            </a:r>
            <a:endParaRPr lang="en-US" dirty="0"/>
          </a:p>
          <a:p>
            <a:endParaRPr lang="en-US" sz="2000" dirty="0"/>
          </a:p>
        </p:txBody>
      </p:sp>
      <p:pic>
        <p:nvPicPr>
          <p:cNvPr id="2" name="Picture 1">
            <a:extLst>
              <a:ext uri="{FF2B5EF4-FFF2-40B4-BE49-F238E27FC236}">
                <a16:creationId xmlns:a16="http://schemas.microsoft.com/office/drawing/2014/main" id="{3C5DC82B-B1A6-4B5E-8637-EF935F2662AD}"/>
              </a:ext>
            </a:extLst>
          </p:cNvPr>
          <p:cNvPicPr>
            <a:picLocks noChangeAspect="1"/>
          </p:cNvPicPr>
          <p:nvPr/>
        </p:nvPicPr>
        <p:blipFill>
          <a:blip r:embed="rId3"/>
          <a:stretch>
            <a:fillRect/>
          </a:stretch>
        </p:blipFill>
        <p:spPr>
          <a:xfrm>
            <a:off x="623391" y="1643868"/>
            <a:ext cx="7362825" cy="4048125"/>
          </a:xfrm>
          <a:prstGeom prst="rect">
            <a:avLst/>
          </a:prstGeom>
        </p:spPr>
      </p:pic>
      <p:pic>
        <p:nvPicPr>
          <p:cNvPr id="8" name="Picture 7">
            <a:extLst>
              <a:ext uri="{FF2B5EF4-FFF2-40B4-BE49-F238E27FC236}">
                <a16:creationId xmlns:a16="http://schemas.microsoft.com/office/drawing/2014/main" id="{E84578E5-0A5A-4E6A-A851-AD32D07A0E61}"/>
              </a:ext>
            </a:extLst>
          </p:cNvPr>
          <p:cNvPicPr>
            <a:picLocks noChangeAspect="1"/>
          </p:cNvPicPr>
          <p:nvPr/>
        </p:nvPicPr>
        <p:blipFill>
          <a:blip r:embed="rId4"/>
          <a:stretch>
            <a:fillRect/>
          </a:stretch>
        </p:blipFill>
        <p:spPr>
          <a:xfrm>
            <a:off x="8400256" y="3155737"/>
            <a:ext cx="3695700" cy="1266825"/>
          </a:xfrm>
          <a:prstGeom prst="rect">
            <a:avLst/>
          </a:prstGeom>
          <a:ln>
            <a:solidFill>
              <a:schemeClr val="accent2"/>
            </a:solidFill>
          </a:ln>
        </p:spPr>
      </p:pic>
      <p:cxnSp>
        <p:nvCxnSpPr>
          <p:cNvPr id="11" name="Straight Arrow Connector 10">
            <a:extLst>
              <a:ext uri="{FF2B5EF4-FFF2-40B4-BE49-F238E27FC236}">
                <a16:creationId xmlns:a16="http://schemas.microsoft.com/office/drawing/2014/main" id="{BB50D908-07A1-4230-BA60-81B29389F8FB}"/>
              </a:ext>
            </a:extLst>
          </p:cNvPr>
          <p:cNvCxnSpPr>
            <a:cxnSpLocks/>
          </p:cNvCxnSpPr>
          <p:nvPr/>
        </p:nvCxnSpPr>
        <p:spPr>
          <a:xfrm flipV="1">
            <a:off x="6312024" y="4422562"/>
            <a:ext cx="2016224" cy="446599"/>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98FFD7A-41D2-4DD1-A95D-A3731621A96F}"/>
              </a:ext>
            </a:extLst>
          </p:cNvPr>
          <p:cNvCxnSpPr/>
          <p:nvPr/>
        </p:nvCxnSpPr>
        <p:spPr>
          <a:xfrm flipV="1">
            <a:off x="5159896" y="3429000"/>
            <a:ext cx="6624736" cy="1008112"/>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9807139"/>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Route Definitions-using view</a:t>
            </a:r>
            <a:endParaRPr lang="en-US" sz="2800"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131260"/>
            <a:ext cx="11161240" cy="5298957"/>
          </a:xfrm>
        </p:spPr>
        <p:txBody>
          <a:bodyPr/>
          <a:lstStyle/>
          <a:p>
            <a:r>
              <a:rPr lang="en-US" dirty="0"/>
              <a:t>Define your “webpage ” contents in views/</a:t>
            </a:r>
            <a:r>
              <a:rPr lang="en-US" dirty="0" err="1"/>
              <a:t>hello.blade.php</a:t>
            </a:r>
            <a:endParaRPr lang="en-US" dirty="0"/>
          </a:p>
          <a:p>
            <a:endParaRPr lang="en-US" sz="2000" dirty="0"/>
          </a:p>
        </p:txBody>
      </p:sp>
      <p:pic>
        <p:nvPicPr>
          <p:cNvPr id="4" name="Picture 3">
            <a:extLst>
              <a:ext uri="{FF2B5EF4-FFF2-40B4-BE49-F238E27FC236}">
                <a16:creationId xmlns:a16="http://schemas.microsoft.com/office/drawing/2014/main" id="{4F967AC6-41B7-4D33-B2ED-A1A8EC714936}"/>
              </a:ext>
            </a:extLst>
          </p:cNvPr>
          <p:cNvPicPr>
            <a:picLocks noChangeAspect="1"/>
          </p:cNvPicPr>
          <p:nvPr/>
        </p:nvPicPr>
        <p:blipFill>
          <a:blip r:embed="rId3"/>
          <a:stretch>
            <a:fillRect/>
          </a:stretch>
        </p:blipFill>
        <p:spPr>
          <a:xfrm>
            <a:off x="623391" y="1556792"/>
            <a:ext cx="9505950" cy="5193487"/>
          </a:xfrm>
          <a:prstGeom prst="rect">
            <a:avLst/>
          </a:prstGeom>
        </p:spPr>
      </p:pic>
    </p:spTree>
    <p:extLst>
      <p:ext uri="{BB962C8B-B14F-4D97-AF65-F5344CB8AC3E}">
        <p14:creationId xmlns:p14="http://schemas.microsoft.com/office/powerpoint/2010/main" val="2106701608"/>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Route Definitions-using view</a:t>
            </a:r>
            <a:endParaRPr lang="en-US" sz="2800"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131260"/>
            <a:ext cx="11161240" cy="5298957"/>
          </a:xfrm>
        </p:spPr>
        <p:txBody>
          <a:bodyPr/>
          <a:lstStyle/>
          <a:p>
            <a:r>
              <a:rPr lang="en-US" dirty="0"/>
              <a:t>Define your “webpage ” contents in views/hello1.blade.php</a:t>
            </a:r>
          </a:p>
          <a:p>
            <a:endParaRPr lang="en-US" sz="2000" dirty="0"/>
          </a:p>
        </p:txBody>
      </p:sp>
      <p:pic>
        <p:nvPicPr>
          <p:cNvPr id="2" name="Picture 1">
            <a:extLst>
              <a:ext uri="{FF2B5EF4-FFF2-40B4-BE49-F238E27FC236}">
                <a16:creationId xmlns:a16="http://schemas.microsoft.com/office/drawing/2014/main" id="{2CA37C94-58CF-456F-9196-EA624D14956A}"/>
              </a:ext>
            </a:extLst>
          </p:cNvPr>
          <p:cNvPicPr>
            <a:picLocks noChangeAspect="1"/>
          </p:cNvPicPr>
          <p:nvPr/>
        </p:nvPicPr>
        <p:blipFill>
          <a:blip r:embed="rId3"/>
          <a:stretch>
            <a:fillRect/>
          </a:stretch>
        </p:blipFill>
        <p:spPr>
          <a:xfrm>
            <a:off x="119336" y="2204864"/>
            <a:ext cx="8905875" cy="3962400"/>
          </a:xfrm>
          <a:prstGeom prst="rect">
            <a:avLst/>
          </a:prstGeom>
        </p:spPr>
      </p:pic>
      <p:pic>
        <p:nvPicPr>
          <p:cNvPr id="6" name="Picture 5">
            <a:extLst>
              <a:ext uri="{FF2B5EF4-FFF2-40B4-BE49-F238E27FC236}">
                <a16:creationId xmlns:a16="http://schemas.microsoft.com/office/drawing/2014/main" id="{0C3D577C-863A-4A8E-83FD-33BA855FA385}"/>
              </a:ext>
            </a:extLst>
          </p:cNvPr>
          <p:cNvPicPr>
            <a:picLocks noChangeAspect="1"/>
          </p:cNvPicPr>
          <p:nvPr/>
        </p:nvPicPr>
        <p:blipFill>
          <a:blip r:embed="rId4"/>
          <a:stretch>
            <a:fillRect/>
          </a:stretch>
        </p:blipFill>
        <p:spPr>
          <a:xfrm>
            <a:off x="7608168" y="1941911"/>
            <a:ext cx="4219575" cy="885825"/>
          </a:xfrm>
          <a:prstGeom prst="rect">
            <a:avLst/>
          </a:prstGeom>
        </p:spPr>
      </p:pic>
      <p:sp>
        <p:nvSpPr>
          <p:cNvPr id="7" name="TextBox 6">
            <a:extLst>
              <a:ext uri="{FF2B5EF4-FFF2-40B4-BE49-F238E27FC236}">
                <a16:creationId xmlns:a16="http://schemas.microsoft.com/office/drawing/2014/main" id="{01DB6D1D-C185-4719-82C1-4C1D27A49AD7}"/>
              </a:ext>
            </a:extLst>
          </p:cNvPr>
          <p:cNvSpPr txBox="1"/>
          <p:nvPr/>
        </p:nvSpPr>
        <p:spPr>
          <a:xfrm>
            <a:off x="9169227" y="1131260"/>
            <a:ext cx="1895325" cy="298543"/>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r>
              <a:rPr lang="en-US" sz="2000" b="1" dirty="0" err="1"/>
              <a:t>web.php</a:t>
            </a:r>
            <a:endParaRPr lang="en-US" sz="2000" b="1" dirty="0"/>
          </a:p>
        </p:txBody>
      </p:sp>
      <p:cxnSp>
        <p:nvCxnSpPr>
          <p:cNvPr id="9" name="Straight Arrow Connector 8">
            <a:extLst>
              <a:ext uri="{FF2B5EF4-FFF2-40B4-BE49-F238E27FC236}">
                <a16:creationId xmlns:a16="http://schemas.microsoft.com/office/drawing/2014/main" id="{6C78827D-A070-4D50-B8C4-F0BBA5088553}"/>
              </a:ext>
            </a:extLst>
          </p:cNvPr>
          <p:cNvCxnSpPr>
            <a:cxnSpLocks/>
            <a:stCxn id="7" idx="2"/>
          </p:cNvCxnSpPr>
          <p:nvPr/>
        </p:nvCxnSpPr>
        <p:spPr>
          <a:xfrm flipH="1">
            <a:off x="9912424" y="1429803"/>
            <a:ext cx="204466" cy="512108"/>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9801407"/>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Route Definitions-using view</a:t>
            </a:r>
            <a:endParaRPr lang="en-US" sz="2800"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131260"/>
            <a:ext cx="11161240" cy="5298957"/>
          </a:xfrm>
        </p:spPr>
        <p:txBody>
          <a:bodyPr/>
          <a:lstStyle/>
          <a:p>
            <a:r>
              <a:rPr lang="en-US" dirty="0"/>
              <a:t>Define your “webpage ” contents in views</a:t>
            </a:r>
            <a:r>
              <a:rPr lang="en-US"/>
              <a:t>/hello1.</a:t>
            </a:r>
            <a:r>
              <a:rPr lang="en-US" dirty="0" err="1"/>
              <a:t>blade.php</a:t>
            </a:r>
            <a:endParaRPr lang="en-US" dirty="0"/>
          </a:p>
          <a:p>
            <a:endParaRPr lang="en-US" sz="2000" dirty="0"/>
          </a:p>
        </p:txBody>
      </p:sp>
      <p:pic>
        <p:nvPicPr>
          <p:cNvPr id="4" name="Picture 3">
            <a:extLst>
              <a:ext uri="{FF2B5EF4-FFF2-40B4-BE49-F238E27FC236}">
                <a16:creationId xmlns:a16="http://schemas.microsoft.com/office/drawing/2014/main" id="{30F424A7-1971-422E-BC30-2F08B258D961}"/>
              </a:ext>
            </a:extLst>
          </p:cNvPr>
          <p:cNvPicPr>
            <a:picLocks noChangeAspect="1"/>
          </p:cNvPicPr>
          <p:nvPr/>
        </p:nvPicPr>
        <p:blipFill>
          <a:blip r:embed="rId3"/>
          <a:stretch>
            <a:fillRect/>
          </a:stretch>
        </p:blipFill>
        <p:spPr>
          <a:xfrm>
            <a:off x="0" y="1673701"/>
            <a:ext cx="12192000" cy="4214074"/>
          </a:xfrm>
          <a:prstGeom prst="rect">
            <a:avLst/>
          </a:prstGeom>
        </p:spPr>
      </p:pic>
      <p:sp>
        <p:nvSpPr>
          <p:cNvPr id="6" name="Oval 5">
            <a:extLst>
              <a:ext uri="{FF2B5EF4-FFF2-40B4-BE49-F238E27FC236}">
                <a16:creationId xmlns:a16="http://schemas.microsoft.com/office/drawing/2014/main" id="{C363977E-0F59-487D-8617-ADF4F5C39ABD}"/>
              </a:ext>
            </a:extLst>
          </p:cNvPr>
          <p:cNvSpPr/>
          <p:nvPr/>
        </p:nvSpPr>
        <p:spPr>
          <a:xfrm>
            <a:off x="623391" y="4581128"/>
            <a:ext cx="2016225" cy="36004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Tree>
    <p:extLst>
      <p:ext uri="{BB962C8B-B14F-4D97-AF65-F5344CB8AC3E}">
        <p14:creationId xmlns:p14="http://schemas.microsoft.com/office/powerpoint/2010/main" val="3597976851"/>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a:t>
            </a:r>
            <a:r>
              <a:rPr lang="en-US" sz="3200" dirty="0"/>
              <a:t>Application structure of Laravel</a:t>
            </a:r>
          </a:p>
          <a:p>
            <a:pPr algn="ctr"/>
            <a:endParaRPr lang="en-US" dirty="0"/>
          </a:p>
        </p:txBody>
      </p:sp>
    </p:spTree>
    <p:extLst>
      <p:ext uri="{BB962C8B-B14F-4D97-AF65-F5344CB8AC3E}">
        <p14:creationId xmlns:p14="http://schemas.microsoft.com/office/powerpoint/2010/main" val="3167465203"/>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Laravel PHP Project Structure</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1" y="1131260"/>
            <a:ext cx="5812478" cy="5298957"/>
          </a:xfrm>
        </p:spPr>
        <p:txBody>
          <a:bodyPr/>
          <a:lstStyle/>
          <a:p>
            <a:r>
              <a:rPr lang="en-US" sz="2000" dirty="0"/>
              <a:t>Open your project from the </a:t>
            </a:r>
            <a:r>
              <a:rPr lang="en-US" sz="2000" b="1" dirty="0"/>
              <a:t>File Explorer</a:t>
            </a:r>
            <a:r>
              <a:rPr lang="en-US" sz="2000" dirty="0"/>
              <a:t> to see the root directory structure of the Laravel project. </a:t>
            </a:r>
          </a:p>
          <a:p>
            <a:r>
              <a:rPr lang="en-US" sz="2000" b="1" dirty="0"/>
              <a:t>app/Http directory:</a:t>
            </a:r>
            <a:r>
              <a:rPr lang="en-US" sz="2000" dirty="0"/>
              <a:t> This directory contains sub-directories for </a:t>
            </a:r>
            <a:r>
              <a:rPr lang="en-US" sz="2000" b="1" dirty="0"/>
              <a:t>Controllers  &amp;</a:t>
            </a:r>
            <a:r>
              <a:rPr lang="en-US" sz="2000" dirty="0"/>
              <a:t> </a:t>
            </a:r>
            <a:r>
              <a:rPr lang="en-US" sz="2000" b="1" dirty="0"/>
              <a:t>Middleware.</a:t>
            </a:r>
          </a:p>
          <a:p>
            <a:r>
              <a:rPr lang="en-US" sz="2000" b="1" dirty="0"/>
              <a:t>app/</a:t>
            </a:r>
            <a:r>
              <a:rPr lang="en-US" sz="2000" b="1" dirty="0" err="1"/>
              <a:t>User.php</a:t>
            </a:r>
            <a:r>
              <a:rPr lang="en-US" sz="2000" b="1" dirty="0"/>
              <a:t> file:</a:t>
            </a:r>
            <a:r>
              <a:rPr lang="en-US" sz="2000" dirty="0"/>
              <a:t> This is the default </a:t>
            </a:r>
            <a:r>
              <a:rPr lang="en-US" sz="2000" b="1" dirty="0"/>
              <a:t>Model</a:t>
            </a:r>
            <a:r>
              <a:rPr lang="en-US" sz="2000" dirty="0"/>
              <a:t> provided by Laravel.</a:t>
            </a:r>
          </a:p>
          <a:p>
            <a:r>
              <a:rPr lang="en-US" sz="2000" dirty="0"/>
              <a:t>resources/</a:t>
            </a:r>
            <a:r>
              <a:rPr lang="en-US" sz="2000" b="1" dirty="0"/>
              <a:t>views</a:t>
            </a:r>
            <a:r>
              <a:rPr lang="en-US" sz="2000" dirty="0"/>
              <a:t> </a:t>
            </a:r>
            <a:r>
              <a:rPr lang="en-US" sz="2000" b="1" dirty="0"/>
              <a:t>directory:</a:t>
            </a:r>
            <a:r>
              <a:rPr lang="en-US" sz="2000" dirty="0"/>
              <a:t> This directory contains </a:t>
            </a:r>
            <a:r>
              <a:rPr lang="en-US" sz="2000" b="1" dirty="0"/>
              <a:t>HTML files or templates</a:t>
            </a:r>
            <a:r>
              <a:rPr lang="en-US" sz="2000" dirty="0"/>
              <a:t> which help to display data to the user.</a:t>
            </a:r>
          </a:p>
          <a:p>
            <a:r>
              <a:rPr lang="en-US" sz="2000" b="1" dirty="0"/>
              <a:t>routes</a:t>
            </a:r>
            <a:r>
              <a:rPr lang="en-US" sz="2000" dirty="0"/>
              <a:t> </a:t>
            </a:r>
            <a:r>
              <a:rPr lang="en-US" sz="2000" b="1" dirty="0"/>
              <a:t>directory:</a:t>
            </a:r>
            <a:r>
              <a:rPr lang="en-US" sz="2000" dirty="0"/>
              <a:t> This directory contains all the </a:t>
            </a:r>
            <a:r>
              <a:rPr lang="en-US" sz="2000" b="1" dirty="0"/>
              <a:t>routes definitions</a:t>
            </a:r>
            <a:r>
              <a:rPr lang="en-US" sz="2000" dirty="0"/>
              <a:t> for the Laravel PHP application.</a:t>
            </a:r>
          </a:p>
          <a:p>
            <a:r>
              <a:rPr lang="en-US" sz="2000" dirty="0"/>
              <a:t>The bootstrap directory contains the </a:t>
            </a:r>
            <a:r>
              <a:rPr lang="en-US" sz="2000" dirty="0" err="1"/>
              <a:t>app.php</a:t>
            </a:r>
            <a:r>
              <a:rPr lang="en-US" sz="2000" dirty="0"/>
              <a:t> file which bootstraps the framework. </a:t>
            </a:r>
          </a:p>
          <a:p>
            <a:endParaRPr lang="en-US" dirty="0"/>
          </a:p>
          <a:p>
            <a:endParaRPr lang="en-US" dirty="0"/>
          </a:p>
          <a:p>
            <a:endParaRPr lang="en-US" sz="2000" dirty="0"/>
          </a:p>
        </p:txBody>
      </p:sp>
      <p:pic>
        <p:nvPicPr>
          <p:cNvPr id="2" name="Picture 1">
            <a:extLst>
              <a:ext uri="{FF2B5EF4-FFF2-40B4-BE49-F238E27FC236}">
                <a16:creationId xmlns:a16="http://schemas.microsoft.com/office/drawing/2014/main" id="{804B7F72-6F31-48F0-A422-5179394C1C6C}"/>
              </a:ext>
            </a:extLst>
          </p:cNvPr>
          <p:cNvPicPr>
            <a:picLocks noChangeAspect="1"/>
          </p:cNvPicPr>
          <p:nvPr/>
        </p:nvPicPr>
        <p:blipFill>
          <a:blip r:embed="rId3"/>
          <a:stretch>
            <a:fillRect/>
          </a:stretch>
        </p:blipFill>
        <p:spPr>
          <a:xfrm>
            <a:off x="5812479" y="-12459"/>
            <a:ext cx="6419850" cy="6819900"/>
          </a:xfrm>
          <a:prstGeom prst="rect">
            <a:avLst/>
          </a:prstGeom>
        </p:spPr>
      </p:pic>
    </p:spTree>
    <p:extLst>
      <p:ext uri="{BB962C8B-B14F-4D97-AF65-F5344CB8AC3E}">
        <p14:creationId xmlns:p14="http://schemas.microsoft.com/office/powerpoint/2010/main" val="2417767606"/>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Laravel PHP Project Structure</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1" y="1131260"/>
            <a:ext cx="5812478" cy="5298957"/>
          </a:xfrm>
        </p:spPr>
        <p:txBody>
          <a:bodyPr/>
          <a:lstStyle/>
          <a:p>
            <a:r>
              <a:rPr lang="en-US" sz="2000" dirty="0"/>
              <a:t>The config directory, as the name implies, contains all of your application's configuration files.</a:t>
            </a:r>
          </a:p>
          <a:p>
            <a:r>
              <a:rPr lang="en-US" sz="2000" dirty="0"/>
              <a:t>The database directory contains your database migrations, model factories, and seeds.</a:t>
            </a:r>
          </a:p>
          <a:p>
            <a:r>
              <a:rPr lang="en-US" sz="2000" dirty="0"/>
              <a:t>The </a:t>
            </a:r>
            <a:r>
              <a:rPr lang="en-US" sz="2000" dirty="0" err="1"/>
              <a:t>lang</a:t>
            </a:r>
            <a:r>
              <a:rPr lang="en-US" sz="2000" dirty="0"/>
              <a:t> directory houses all of your application's language files.</a:t>
            </a:r>
          </a:p>
          <a:p>
            <a:r>
              <a:rPr lang="en-US" sz="2000" dirty="0"/>
              <a:t>The public directory contains the </a:t>
            </a:r>
            <a:r>
              <a:rPr lang="en-US" sz="2000" dirty="0" err="1"/>
              <a:t>index.php</a:t>
            </a:r>
            <a:r>
              <a:rPr lang="en-US" sz="2000" dirty="0"/>
              <a:t> file, which is the entry point for all requests entering your application and configures autoloading. This directory also houses your assets such as images, JavaScript, and CSS.</a:t>
            </a:r>
          </a:p>
          <a:p>
            <a:r>
              <a:rPr lang="en-US" sz="2000" dirty="0"/>
              <a:t>The resources directory contains your views as well as your raw, un-compiled assets such as CSS or JavaScript.</a:t>
            </a:r>
          </a:p>
        </p:txBody>
      </p:sp>
      <p:pic>
        <p:nvPicPr>
          <p:cNvPr id="2" name="Picture 1">
            <a:extLst>
              <a:ext uri="{FF2B5EF4-FFF2-40B4-BE49-F238E27FC236}">
                <a16:creationId xmlns:a16="http://schemas.microsoft.com/office/drawing/2014/main" id="{804B7F72-6F31-48F0-A422-5179394C1C6C}"/>
              </a:ext>
            </a:extLst>
          </p:cNvPr>
          <p:cNvPicPr>
            <a:picLocks noChangeAspect="1"/>
          </p:cNvPicPr>
          <p:nvPr/>
        </p:nvPicPr>
        <p:blipFill>
          <a:blip r:embed="rId3"/>
          <a:stretch>
            <a:fillRect/>
          </a:stretch>
        </p:blipFill>
        <p:spPr>
          <a:xfrm>
            <a:off x="5812479" y="-12459"/>
            <a:ext cx="6419850" cy="6819900"/>
          </a:xfrm>
          <a:prstGeom prst="rect">
            <a:avLst/>
          </a:prstGeom>
        </p:spPr>
      </p:pic>
    </p:spTree>
    <p:extLst>
      <p:ext uri="{BB962C8B-B14F-4D97-AF65-F5344CB8AC3E}">
        <p14:creationId xmlns:p14="http://schemas.microsoft.com/office/powerpoint/2010/main" val="3774993223"/>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529BA6-8D98-4587-89B5-A6E23FF0C501}"/>
              </a:ext>
            </a:extLst>
          </p:cNvPr>
          <p:cNvPicPr>
            <a:picLocks noChangeAspect="1"/>
          </p:cNvPicPr>
          <p:nvPr/>
        </p:nvPicPr>
        <p:blipFill>
          <a:blip r:embed="rId2"/>
          <a:stretch>
            <a:fillRect/>
          </a:stretch>
        </p:blipFill>
        <p:spPr>
          <a:xfrm>
            <a:off x="1262661" y="0"/>
            <a:ext cx="9666678" cy="6858000"/>
          </a:xfrm>
          <a:prstGeom prst="rect">
            <a:avLst/>
          </a:prstGeom>
        </p:spPr>
      </p:pic>
    </p:spTree>
    <p:extLst>
      <p:ext uri="{BB962C8B-B14F-4D97-AF65-F5344CB8AC3E}">
        <p14:creationId xmlns:p14="http://schemas.microsoft.com/office/powerpoint/2010/main" val="1036758694"/>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a:t>
            </a:r>
            <a:r>
              <a:rPr lang="en-US" sz="3200" dirty="0"/>
              <a:t>Laravel routes</a:t>
            </a:r>
          </a:p>
          <a:p>
            <a:pPr algn="ctr"/>
            <a:endParaRPr lang="en-US" dirty="0"/>
          </a:p>
        </p:txBody>
      </p:sp>
    </p:spTree>
    <p:extLst>
      <p:ext uri="{BB962C8B-B14F-4D97-AF65-F5344CB8AC3E}">
        <p14:creationId xmlns:p14="http://schemas.microsoft.com/office/powerpoint/2010/main" val="1127084520"/>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Introduction To Laravel Routes</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131260"/>
            <a:ext cx="11305256" cy="5298957"/>
          </a:xfrm>
        </p:spPr>
        <p:txBody>
          <a:bodyPr/>
          <a:lstStyle/>
          <a:p>
            <a:r>
              <a:rPr lang="en-US" sz="2200" dirty="0"/>
              <a:t>Routing accepts the request and redirects it to the relevant controller function.</a:t>
            </a:r>
          </a:p>
          <a:p>
            <a:r>
              <a:rPr lang="en-US" sz="2200" dirty="0"/>
              <a:t>There are two main route files in the Laravel Framework:</a:t>
            </a:r>
          </a:p>
          <a:p>
            <a:r>
              <a:rPr lang="en-US" sz="2200" dirty="0"/>
              <a:t>routes/</a:t>
            </a:r>
            <a:r>
              <a:rPr lang="en-US" sz="2200" dirty="0" err="1"/>
              <a:t>web.php</a:t>
            </a:r>
            <a:r>
              <a:rPr lang="en-US" sz="2200" dirty="0"/>
              <a:t>: This file is used to register web routes.</a:t>
            </a:r>
          </a:p>
          <a:p>
            <a:r>
              <a:rPr lang="en-US" sz="2200" dirty="0"/>
              <a:t>routes/</a:t>
            </a:r>
            <a:r>
              <a:rPr lang="en-US" sz="2200" dirty="0" err="1"/>
              <a:t>api.php</a:t>
            </a:r>
            <a:r>
              <a:rPr lang="en-US" sz="2200" dirty="0"/>
              <a:t>: This file is used to register API routes.</a:t>
            </a:r>
          </a:p>
          <a:p>
            <a:r>
              <a:rPr lang="en-US" sz="2200" dirty="0"/>
              <a:t>The following code segment shows the default web route registered by Laravel to display the welcome page from views/</a:t>
            </a:r>
            <a:r>
              <a:rPr lang="en-US" sz="2200" dirty="0" err="1"/>
              <a:t>welcome.blade.php</a:t>
            </a:r>
            <a:r>
              <a:rPr lang="en-US" sz="2200" dirty="0"/>
              <a:t>.</a:t>
            </a:r>
          </a:p>
          <a:p>
            <a:pPr marL="0" indent="0">
              <a:buNone/>
            </a:pPr>
            <a:r>
              <a:rPr lang="en-US" sz="2200" dirty="0"/>
              <a:t>	Route::get('/', function () {</a:t>
            </a:r>
          </a:p>
          <a:p>
            <a:pPr marL="0" indent="0">
              <a:buNone/>
            </a:pPr>
            <a:r>
              <a:rPr lang="en-US" sz="2200" dirty="0"/>
              <a:t>	return view('welcome’);</a:t>
            </a:r>
          </a:p>
          <a:p>
            <a:pPr marL="0" indent="0">
              <a:buNone/>
            </a:pPr>
            <a:r>
              <a:rPr lang="en-US" sz="2200" dirty="0"/>
              <a:t>	});</a:t>
            </a:r>
          </a:p>
          <a:p>
            <a:r>
              <a:rPr lang="en-US" sz="2200" dirty="0"/>
              <a:t>In the above route, Route is the class used to define the function get().</a:t>
            </a:r>
          </a:p>
          <a:p>
            <a:r>
              <a:rPr lang="en-US" sz="2200" dirty="0"/>
              <a:t> The function get() has a parameter “/” which indicates the root URL of the Laravel application.</a:t>
            </a:r>
          </a:p>
          <a:p>
            <a:endParaRPr lang="en-US" sz="2000" dirty="0"/>
          </a:p>
        </p:txBody>
      </p:sp>
    </p:spTree>
    <p:extLst>
      <p:ext uri="{BB962C8B-B14F-4D97-AF65-F5344CB8AC3E}">
        <p14:creationId xmlns:p14="http://schemas.microsoft.com/office/powerpoint/2010/main" val="400429440"/>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Introduction To Laravel Routes</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131260"/>
            <a:ext cx="11305256" cy="5298957"/>
          </a:xfrm>
        </p:spPr>
        <p:txBody>
          <a:bodyPr/>
          <a:lstStyle/>
          <a:p>
            <a:r>
              <a:rPr lang="en-US" sz="2200" dirty="0"/>
              <a:t>Creating a Route</a:t>
            </a:r>
          </a:p>
          <a:p>
            <a:r>
              <a:rPr lang="en-US" sz="2200" dirty="0"/>
              <a:t>Step 1: </a:t>
            </a:r>
          </a:p>
          <a:p>
            <a:r>
              <a:rPr lang="en-US" sz="2200" dirty="0"/>
              <a:t>Add the following code segment in routes/</a:t>
            </a:r>
            <a:r>
              <a:rPr lang="en-US" sz="2200" dirty="0" err="1"/>
              <a:t>web.php</a:t>
            </a:r>
            <a:r>
              <a:rPr lang="en-US" sz="2200" dirty="0"/>
              <a:t> file to register a new route.</a:t>
            </a:r>
          </a:p>
          <a:p>
            <a:endParaRPr lang="en-US" sz="2200" dirty="0"/>
          </a:p>
          <a:p>
            <a:endParaRPr lang="en-US" sz="2200" dirty="0"/>
          </a:p>
          <a:p>
            <a:endParaRPr lang="en-US" sz="2200" dirty="0"/>
          </a:p>
          <a:p>
            <a:r>
              <a:rPr lang="en-US" sz="2200" dirty="0"/>
              <a:t>Step 2: Visit the URL: http://127.0.0.1:8000/example to see the output.</a:t>
            </a:r>
          </a:p>
          <a:p>
            <a:r>
              <a:rPr lang="en-US" sz="2200" dirty="0"/>
              <a:t>Step 3: The following screenshot shows the output.</a:t>
            </a:r>
          </a:p>
          <a:p>
            <a:endParaRPr lang="en-US" sz="2000" dirty="0"/>
          </a:p>
        </p:txBody>
      </p:sp>
      <p:pic>
        <p:nvPicPr>
          <p:cNvPr id="6" name="Picture 5">
            <a:extLst>
              <a:ext uri="{FF2B5EF4-FFF2-40B4-BE49-F238E27FC236}">
                <a16:creationId xmlns:a16="http://schemas.microsoft.com/office/drawing/2014/main" id="{BFF0BEA9-6429-42C2-8B88-61C250B0D21D}"/>
              </a:ext>
            </a:extLst>
          </p:cNvPr>
          <p:cNvPicPr>
            <a:picLocks noChangeAspect="1"/>
          </p:cNvPicPr>
          <p:nvPr/>
        </p:nvPicPr>
        <p:blipFill>
          <a:blip r:embed="rId3"/>
          <a:stretch>
            <a:fillRect/>
          </a:stretch>
        </p:blipFill>
        <p:spPr>
          <a:xfrm>
            <a:off x="839416" y="2420888"/>
            <a:ext cx="5112568" cy="995664"/>
          </a:xfrm>
          <a:prstGeom prst="rect">
            <a:avLst/>
          </a:prstGeom>
        </p:spPr>
      </p:pic>
      <p:pic>
        <p:nvPicPr>
          <p:cNvPr id="7" name="Picture 6" descr="route (output)">
            <a:hlinkClick r:id="rId4"/>
            <a:extLst>
              <a:ext uri="{FF2B5EF4-FFF2-40B4-BE49-F238E27FC236}">
                <a16:creationId xmlns:a16="http://schemas.microsoft.com/office/drawing/2014/main" id="{92C757CA-180B-4DA1-BC6C-B5B551101AF9}"/>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1127448" y="4423726"/>
            <a:ext cx="3600400" cy="1165513"/>
          </a:xfrm>
          <a:prstGeom prst="rect">
            <a:avLst/>
          </a:prstGeom>
          <a:noFill/>
          <a:ln>
            <a:noFill/>
          </a:ln>
        </p:spPr>
      </p:pic>
    </p:spTree>
    <p:extLst>
      <p:ext uri="{BB962C8B-B14F-4D97-AF65-F5344CB8AC3E}">
        <p14:creationId xmlns:p14="http://schemas.microsoft.com/office/powerpoint/2010/main" val="1084074578"/>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Introduction To Laravel Routes</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131260"/>
            <a:ext cx="11737304" cy="5298957"/>
          </a:xfrm>
        </p:spPr>
        <p:txBody>
          <a:bodyPr/>
          <a:lstStyle/>
          <a:p>
            <a:r>
              <a:rPr lang="en-US" b="1" dirty="0"/>
              <a:t>Routing Parameters</a:t>
            </a:r>
            <a:endParaRPr lang="en-US" dirty="0"/>
          </a:p>
          <a:p>
            <a:r>
              <a:rPr lang="en-US" dirty="0"/>
              <a:t>The Laravel Framework uses two types of route parameters.</a:t>
            </a:r>
          </a:p>
          <a:p>
            <a:r>
              <a:rPr lang="en-US" b="1" dirty="0"/>
              <a:t>#1) Required parameters</a:t>
            </a:r>
            <a:endParaRPr lang="en-US" dirty="0"/>
          </a:p>
          <a:p>
            <a:r>
              <a:rPr lang="en-US" dirty="0"/>
              <a:t>The required parameters are the parameters that pass to the URL as shown below.</a:t>
            </a:r>
          </a:p>
          <a:p>
            <a:endParaRPr lang="en-US" dirty="0"/>
          </a:p>
          <a:p>
            <a:endParaRPr lang="en-US" dirty="0"/>
          </a:p>
          <a:p>
            <a:endParaRPr lang="en-US" dirty="0"/>
          </a:p>
          <a:p>
            <a:r>
              <a:rPr lang="en-US" b="1" dirty="0"/>
              <a:t>#2) Optional parameters</a:t>
            </a:r>
            <a:endParaRPr lang="en-US" dirty="0"/>
          </a:p>
          <a:p>
            <a:r>
              <a:rPr lang="en-US" dirty="0"/>
              <a:t>Place “</a:t>
            </a:r>
            <a:r>
              <a:rPr lang="en-US" b="1" dirty="0"/>
              <a:t>?</a:t>
            </a:r>
            <a:r>
              <a:rPr lang="en-US" dirty="0"/>
              <a:t>” after the router parameter to make it </a:t>
            </a:r>
            <a:r>
              <a:rPr lang="en-US" b="1" dirty="0"/>
              <a:t>optional</a:t>
            </a:r>
            <a:r>
              <a:rPr lang="en-US" dirty="0"/>
              <a:t> as shown below.</a:t>
            </a:r>
          </a:p>
          <a:p>
            <a:endParaRPr lang="en-US" dirty="0"/>
          </a:p>
          <a:p>
            <a:endParaRPr lang="en-US" sz="2000" dirty="0"/>
          </a:p>
        </p:txBody>
      </p:sp>
      <p:pic>
        <p:nvPicPr>
          <p:cNvPr id="2" name="Picture 1">
            <a:extLst>
              <a:ext uri="{FF2B5EF4-FFF2-40B4-BE49-F238E27FC236}">
                <a16:creationId xmlns:a16="http://schemas.microsoft.com/office/drawing/2014/main" id="{92178330-78B5-458B-9EFD-2DAA0CBA115D}"/>
              </a:ext>
            </a:extLst>
          </p:cNvPr>
          <p:cNvPicPr>
            <a:picLocks noChangeAspect="1"/>
          </p:cNvPicPr>
          <p:nvPr/>
        </p:nvPicPr>
        <p:blipFill>
          <a:blip r:embed="rId3"/>
          <a:stretch>
            <a:fillRect/>
          </a:stretch>
        </p:blipFill>
        <p:spPr>
          <a:xfrm>
            <a:off x="479376" y="3140968"/>
            <a:ext cx="6210300" cy="800100"/>
          </a:xfrm>
          <a:prstGeom prst="rect">
            <a:avLst/>
          </a:prstGeom>
        </p:spPr>
      </p:pic>
      <p:pic>
        <p:nvPicPr>
          <p:cNvPr id="4" name="Picture 3">
            <a:extLst>
              <a:ext uri="{FF2B5EF4-FFF2-40B4-BE49-F238E27FC236}">
                <a16:creationId xmlns:a16="http://schemas.microsoft.com/office/drawing/2014/main" id="{91AC6220-B1ED-42F0-B27E-FE93FC1078D1}"/>
              </a:ext>
            </a:extLst>
          </p:cNvPr>
          <p:cNvPicPr>
            <a:picLocks noChangeAspect="1"/>
          </p:cNvPicPr>
          <p:nvPr/>
        </p:nvPicPr>
        <p:blipFill>
          <a:blip r:embed="rId4"/>
          <a:stretch>
            <a:fillRect/>
          </a:stretch>
        </p:blipFill>
        <p:spPr>
          <a:xfrm>
            <a:off x="7341612" y="3068960"/>
            <a:ext cx="4524375" cy="1266825"/>
          </a:xfrm>
          <a:prstGeom prst="rect">
            <a:avLst/>
          </a:prstGeom>
          <a:ln>
            <a:solidFill>
              <a:schemeClr val="accent2"/>
            </a:solidFill>
          </a:ln>
        </p:spPr>
      </p:pic>
      <p:pic>
        <p:nvPicPr>
          <p:cNvPr id="8" name="Picture 7">
            <a:extLst>
              <a:ext uri="{FF2B5EF4-FFF2-40B4-BE49-F238E27FC236}">
                <a16:creationId xmlns:a16="http://schemas.microsoft.com/office/drawing/2014/main" id="{C39E16E0-71EF-43F3-ABBE-1D275282D2C5}"/>
              </a:ext>
            </a:extLst>
          </p:cNvPr>
          <p:cNvPicPr>
            <a:picLocks noChangeAspect="1"/>
          </p:cNvPicPr>
          <p:nvPr/>
        </p:nvPicPr>
        <p:blipFill>
          <a:blip r:embed="rId5"/>
          <a:stretch>
            <a:fillRect/>
          </a:stretch>
        </p:blipFill>
        <p:spPr>
          <a:xfrm>
            <a:off x="422057" y="5157192"/>
            <a:ext cx="6238875" cy="952500"/>
          </a:xfrm>
          <a:prstGeom prst="rect">
            <a:avLst/>
          </a:prstGeom>
        </p:spPr>
      </p:pic>
      <p:pic>
        <p:nvPicPr>
          <p:cNvPr id="9" name="Picture 8">
            <a:extLst>
              <a:ext uri="{FF2B5EF4-FFF2-40B4-BE49-F238E27FC236}">
                <a16:creationId xmlns:a16="http://schemas.microsoft.com/office/drawing/2014/main" id="{44F8895F-FCC3-4EC1-8244-39BC9E2EF1F1}"/>
              </a:ext>
            </a:extLst>
          </p:cNvPr>
          <p:cNvPicPr>
            <a:picLocks noChangeAspect="1"/>
          </p:cNvPicPr>
          <p:nvPr/>
        </p:nvPicPr>
        <p:blipFill>
          <a:blip r:embed="rId6"/>
          <a:stretch>
            <a:fillRect/>
          </a:stretch>
        </p:blipFill>
        <p:spPr>
          <a:xfrm>
            <a:off x="7332323" y="5008572"/>
            <a:ext cx="3505200" cy="1114425"/>
          </a:xfrm>
          <a:prstGeom prst="rect">
            <a:avLst/>
          </a:prstGeom>
          <a:ln>
            <a:solidFill>
              <a:schemeClr val="accent2"/>
            </a:solidFill>
          </a:ln>
        </p:spPr>
      </p:pic>
      <p:cxnSp>
        <p:nvCxnSpPr>
          <p:cNvPr id="11" name="Straight Arrow Connector 10">
            <a:extLst>
              <a:ext uri="{FF2B5EF4-FFF2-40B4-BE49-F238E27FC236}">
                <a16:creationId xmlns:a16="http://schemas.microsoft.com/office/drawing/2014/main" id="{87C05EA1-1EC7-40DF-BBD2-7DFF4DA707DA}"/>
              </a:ext>
            </a:extLst>
          </p:cNvPr>
          <p:cNvCxnSpPr/>
          <p:nvPr/>
        </p:nvCxnSpPr>
        <p:spPr>
          <a:xfrm>
            <a:off x="6689676" y="5445224"/>
            <a:ext cx="558452" cy="188218"/>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09FBB85-29E6-4E8B-A8C6-5AAE22DBBD06}"/>
              </a:ext>
            </a:extLst>
          </p:cNvPr>
          <p:cNvCxnSpPr/>
          <p:nvPr/>
        </p:nvCxnSpPr>
        <p:spPr>
          <a:xfrm>
            <a:off x="6689676" y="3541018"/>
            <a:ext cx="651936" cy="464046"/>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3353440"/>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Route verbs</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131260"/>
            <a:ext cx="4680520" cy="5298957"/>
          </a:xfrm>
        </p:spPr>
        <p:txBody>
          <a:bodyPr/>
          <a:lstStyle/>
          <a:p>
            <a:r>
              <a:rPr lang="en-US" sz="2200" dirty="0"/>
              <a:t>Routing accepts the request and redirects it to the relevant controller function.</a:t>
            </a:r>
          </a:p>
          <a:p>
            <a:r>
              <a:rPr lang="en-US" sz="2000" dirty="0"/>
              <a:t>Route::get is used  in our route definitions. </a:t>
            </a:r>
          </a:p>
          <a:p>
            <a:r>
              <a:rPr lang="en-US" sz="2000" dirty="0"/>
              <a:t>This means we’re telling Laravel to only match for these routes when the HTTP request uses the GET action</a:t>
            </a:r>
          </a:p>
          <a:p>
            <a:r>
              <a:rPr lang="en-US" sz="2000" dirty="0"/>
              <a:t>The most common are GET and POST, followed by PUT, DELETE, and PATCH.</a:t>
            </a:r>
          </a:p>
          <a:p>
            <a:r>
              <a:rPr lang="en-US" sz="2000" dirty="0"/>
              <a:t>Each method communicates a different thing to the server, and to your code, about the intentions of the caller</a:t>
            </a:r>
          </a:p>
        </p:txBody>
      </p:sp>
      <p:pic>
        <p:nvPicPr>
          <p:cNvPr id="2" name="Picture 1">
            <a:extLst>
              <a:ext uri="{FF2B5EF4-FFF2-40B4-BE49-F238E27FC236}">
                <a16:creationId xmlns:a16="http://schemas.microsoft.com/office/drawing/2014/main" id="{0C3134E3-D090-41B3-84F1-70840E13F92C}"/>
              </a:ext>
            </a:extLst>
          </p:cNvPr>
          <p:cNvPicPr>
            <a:picLocks noChangeAspect="1"/>
          </p:cNvPicPr>
          <p:nvPr/>
        </p:nvPicPr>
        <p:blipFill>
          <a:blip r:embed="rId3"/>
          <a:stretch>
            <a:fillRect/>
          </a:stretch>
        </p:blipFill>
        <p:spPr>
          <a:xfrm>
            <a:off x="5489748" y="1557337"/>
            <a:ext cx="6438900" cy="3743325"/>
          </a:xfrm>
          <a:prstGeom prst="rect">
            <a:avLst/>
          </a:prstGeom>
          <a:ln>
            <a:solidFill>
              <a:schemeClr val="accent2"/>
            </a:solidFill>
          </a:ln>
        </p:spPr>
      </p:pic>
    </p:spTree>
    <p:extLst>
      <p:ext uri="{BB962C8B-B14F-4D97-AF65-F5344CB8AC3E}">
        <p14:creationId xmlns:p14="http://schemas.microsoft.com/office/powerpoint/2010/main" val="2382956199"/>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Route verbs</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039268"/>
            <a:ext cx="5688632" cy="5390949"/>
          </a:xfrm>
        </p:spPr>
        <p:txBody>
          <a:bodyPr/>
          <a:lstStyle/>
          <a:p>
            <a:pPr algn="just"/>
            <a:r>
              <a:rPr lang="en-US" sz="2000" b="1" dirty="0"/>
              <a:t>Route::get </a:t>
            </a:r>
            <a:r>
              <a:rPr lang="en-US" sz="2000" dirty="0"/>
              <a:t>method is used to define routes that respond to HTTP GET requests specifically</a:t>
            </a:r>
          </a:p>
          <a:p>
            <a:pPr algn="just"/>
            <a:r>
              <a:rPr lang="en-US" sz="2000" b="1" dirty="0"/>
              <a:t>Route::post</a:t>
            </a:r>
            <a:r>
              <a:rPr lang="en-US" sz="2000" dirty="0"/>
              <a:t>- route is intended to handle HTTP POST requests to the /example URL.</a:t>
            </a:r>
          </a:p>
          <a:p>
            <a:pPr algn="just"/>
            <a:r>
              <a:rPr lang="en-US" sz="2000" b="1" dirty="0"/>
              <a:t>Route::put</a:t>
            </a:r>
            <a:r>
              <a:rPr lang="en-US" sz="2000" dirty="0"/>
              <a:t>-route is designed to handle HTTP PUT requests, often used for updating resources.</a:t>
            </a:r>
          </a:p>
          <a:p>
            <a:pPr algn="just"/>
            <a:r>
              <a:rPr lang="en-US" sz="2000" b="1" dirty="0"/>
              <a:t>Route::delete</a:t>
            </a:r>
            <a:r>
              <a:rPr lang="en-US" sz="2000" dirty="0"/>
              <a:t>- route is meant for handling HTTP DELETE requests, typically used for resource deletion </a:t>
            </a:r>
          </a:p>
          <a:p>
            <a:pPr algn="just"/>
            <a:r>
              <a:rPr lang="en-US" sz="2000" b="1" dirty="0"/>
              <a:t>Route::any</a:t>
            </a:r>
            <a:r>
              <a:rPr lang="en-US" sz="2000" dirty="0"/>
              <a:t>- any method allows a route to respond to any HTTP request method (GET, POST, PUT, DELETE, etc.).</a:t>
            </a:r>
          </a:p>
          <a:p>
            <a:pPr algn="just"/>
            <a:r>
              <a:rPr lang="en-US" sz="2000" b="1" dirty="0"/>
              <a:t>Route::match- </a:t>
            </a:r>
            <a:r>
              <a:rPr lang="en-US" sz="2000" dirty="0"/>
              <a:t>match method allows you to specify an array of HTTP methods that a route should respond to.</a:t>
            </a:r>
          </a:p>
          <a:p>
            <a:endParaRPr lang="en-US" sz="2000" dirty="0"/>
          </a:p>
        </p:txBody>
      </p:sp>
      <p:pic>
        <p:nvPicPr>
          <p:cNvPr id="2" name="Picture 1">
            <a:extLst>
              <a:ext uri="{FF2B5EF4-FFF2-40B4-BE49-F238E27FC236}">
                <a16:creationId xmlns:a16="http://schemas.microsoft.com/office/drawing/2014/main" id="{0C3134E3-D090-41B3-84F1-70840E13F92C}"/>
              </a:ext>
            </a:extLst>
          </p:cNvPr>
          <p:cNvPicPr>
            <a:picLocks noChangeAspect="1"/>
          </p:cNvPicPr>
          <p:nvPr/>
        </p:nvPicPr>
        <p:blipFill>
          <a:blip r:embed="rId3"/>
          <a:stretch>
            <a:fillRect/>
          </a:stretch>
        </p:blipFill>
        <p:spPr>
          <a:xfrm>
            <a:off x="6096000" y="1557338"/>
            <a:ext cx="5832648" cy="3432736"/>
          </a:xfrm>
          <a:prstGeom prst="rect">
            <a:avLst/>
          </a:prstGeom>
          <a:ln>
            <a:solidFill>
              <a:schemeClr val="accent2"/>
            </a:solidFill>
          </a:ln>
        </p:spPr>
      </p:pic>
    </p:spTree>
    <p:extLst>
      <p:ext uri="{BB962C8B-B14F-4D97-AF65-F5344CB8AC3E}">
        <p14:creationId xmlns:p14="http://schemas.microsoft.com/office/powerpoint/2010/main" val="488174795"/>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b="0" dirty="0"/>
              <a:t>Laravel's routing mechanisms:</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039268"/>
            <a:ext cx="11377264" cy="5390949"/>
          </a:xfrm>
        </p:spPr>
        <p:txBody>
          <a:bodyPr/>
          <a:lstStyle/>
          <a:p>
            <a:r>
              <a:rPr lang="en-US" sz="2000" b="1" dirty="0"/>
              <a:t>Basic </a:t>
            </a:r>
            <a:r>
              <a:rPr lang="en-US" sz="2000" b="1" dirty="0" err="1"/>
              <a:t>Routing</a:t>
            </a:r>
            <a:r>
              <a:rPr lang="en-US" sz="2000" dirty="0" err="1"/>
              <a:t>:In</a:t>
            </a:r>
            <a:r>
              <a:rPr lang="en-US" sz="2000" dirty="0"/>
              <a:t> Laravel, the basic routing is defined in the routes/</a:t>
            </a:r>
            <a:r>
              <a:rPr lang="en-US" sz="2000" dirty="0" err="1"/>
              <a:t>web.php</a:t>
            </a:r>
            <a:r>
              <a:rPr lang="en-US" sz="2000" dirty="0"/>
              <a:t> file for web routes </a:t>
            </a:r>
          </a:p>
          <a:p>
            <a:endParaRPr lang="en-US" sz="2000" b="1" dirty="0"/>
          </a:p>
          <a:p>
            <a:endParaRPr lang="en-US" sz="2000" b="1" dirty="0"/>
          </a:p>
          <a:p>
            <a:r>
              <a:rPr lang="en-US" sz="2000" b="1" dirty="0"/>
              <a:t>Route Parameters:</a:t>
            </a:r>
          </a:p>
          <a:p>
            <a:r>
              <a:rPr lang="en-US" sz="2000" dirty="0"/>
              <a:t>Routes can have parameters that capture parts of the URI. These parameters are passed to the route's closure or controller method.</a:t>
            </a:r>
          </a:p>
          <a:p>
            <a:endParaRPr lang="en-US" sz="2000" dirty="0"/>
          </a:p>
          <a:p>
            <a:endParaRPr lang="en-US" sz="2000" dirty="0"/>
          </a:p>
          <a:p>
            <a:endParaRPr lang="en-US" sz="2000" dirty="0"/>
          </a:p>
          <a:p>
            <a:r>
              <a:rPr lang="en-US" sz="2000" b="1" dirty="0"/>
              <a:t>Controller Routing:</a:t>
            </a:r>
          </a:p>
          <a:p>
            <a:r>
              <a:rPr lang="en-US" sz="2000" dirty="0"/>
              <a:t>Instead of handling logic directly in the closure, you can direct a route to a controller method.</a:t>
            </a:r>
          </a:p>
          <a:p>
            <a:endParaRPr lang="en-US" sz="2000" dirty="0"/>
          </a:p>
          <a:p>
            <a:endParaRPr lang="en-US" sz="2000" dirty="0"/>
          </a:p>
          <a:p>
            <a:r>
              <a:rPr lang="en-US" sz="2000" dirty="0"/>
              <a:t>Controllers are typically stored in the app/Http/Controllers directory.</a:t>
            </a:r>
          </a:p>
        </p:txBody>
      </p:sp>
      <p:pic>
        <p:nvPicPr>
          <p:cNvPr id="6" name="Picture 5">
            <a:extLst>
              <a:ext uri="{FF2B5EF4-FFF2-40B4-BE49-F238E27FC236}">
                <a16:creationId xmlns:a16="http://schemas.microsoft.com/office/drawing/2014/main" id="{0AFEF33B-286E-461B-9951-9801BBC2C369}"/>
              </a:ext>
            </a:extLst>
          </p:cNvPr>
          <p:cNvPicPr>
            <a:picLocks noChangeAspect="1"/>
          </p:cNvPicPr>
          <p:nvPr/>
        </p:nvPicPr>
        <p:blipFill>
          <a:blip r:embed="rId3"/>
          <a:stretch>
            <a:fillRect/>
          </a:stretch>
        </p:blipFill>
        <p:spPr>
          <a:xfrm>
            <a:off x="3113268" y="5301208"/>
            <a:ext cx="7704856" cy="681846"/>
          </a:xfrm>
          <a:prstGeom prst="rect">
            <a:avLst/>
          </a:prstGeom>
        </p:spPr>
      </p:pic>
      <p:pic>
        <p:nvPicPr>
          <p:cNvPr id="7" name="Picture 6">
            <a:extLst>
              <a:ext uri="{FF2B5EF4-FFF2-40B4-BE49-F238E27FC236}">
                <a16:creationId xmlns:a16="http://schemas.microsoft.com/office/drawing/2014/main" id="{C69FADC7-18B4-4580-89E5-689EAA0ACBD3}"/>
              </a:ext>
            </a:extLst>
          </p:cNvPr>
          <p:cNvPicPr>
            <a:picLocks noChangeAspect="1"/>
          </p:cNvPicPr>
          <p:nvPr/>
        </p:nvPicPr>
        <p:blipFill>
          <a:blip r:embed="rId4"/>
          <a:stretch>
            <a:fillRect/>
          </a:stretch>
        </p:blipFill>
        <p:spPr>
          <a:xfrm>
            <a:off x="3143672" y="3518494"/>
            <a:ext cx="7200800" cy="923180"/>
          </a:xfrm>
          <a:prstGeom prst="rect">
            <a:avLst/>
          </a:prstGeom>
        </p:spPr>
      </p:pic>
      <p:pic>
        <p:nvPicPr>
          <p:cNvPr id="8" name="Picture 7">
            <a:extLst>
              <a:ext uri="{FF2B5EF4-FFF2-40B4-BE49-F238E27FC236}">
                <a16:creationId xmlns:a16="http://schemas.microsoft.com/office/drawing/2014/main" id="{71B4DF7B-5392-4DDD-B2FF-37ACE544EC89}"/>
              </a:ext>
            </a:extLst>
          </p:cNvPr>
          <p:cNvPicPr>
            <a:picLocks noChangeAspect="1"/>
          </p:cNvPicPr>
          <p:nvPr/>
        </p:nvPicPr>
        <p:blipFill>
          <a:blip r:embed="rId5"/>
          <a:stretch>
            <a:fillRect/>
          </a:stretch>
        </p:blipFill>
        <p:spPr>
          <a:xfrm>
            <a:off x="3359696" y="1412776"/>
            <a:ext cx="4032448" cy="1003551"/>
          </a:xfrm>
          <a:prstGeom prst="rect">
            <a:avLst/>
          </a:prstGeom>
        </p:spPr>
      </p:pic>
    </p:spTree>
    <p:extLst>
      <p:ext uri="{BB962C8B-B14F-4D97-AF65-F5344CB8AC3E}">
        <p14:creationId xmlns:p14="http://schemas.microsoft.com/office/powerpoint/2010/main" val="4133693278"/>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a:t>
            </a:r>
            <a:r>
              <a:rPr lang="en-US" sz="3200" dirty="0"/>
              <a:t>Laravel Views</a:t>
            </a:r>
          </a:p>
          <a:p>
            <a:pPr algn="ctr"/>
            <a:endParaRPr lang="en-US" dirty="0"/>
          </a:p>
        </p:txBody>
      </p:sp>
    </p:spTree>
    <p:extLst>
      <p:ext uri="{BB962C8B-B14F-4D97-AF65-F5344CB8AC3E}">
        <p14:creationId xmlns:p14="http://schemas.microsoft.com/office/powerpoint/2010/main" val="3842410067"/>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Introduction To Views</a:t>
            </a:r>
            <a:br>
              <a:rPr lang="en-US"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72374" y="1167319"/>
            <a:ext cx="11296234" cy="5262898"/>
          </a:xfrm>
        </p:spPr>
        <p:txBody>
          <a:bodyPr/>
          <a:lstStyle/>
          <a:p>
            <a:r>
              <a:rPr lang="en-US" dirty="0"/>
              <a:t>In MVC architecture, the character ‘V’ stands for </a:t>
            </a:r>
            <a:r>
              <a:rPr lang="en-US" b="1" dirty="0"/>
              <a:t>View</a:t>
            </a:r>
            <a:r>
              <a:rPr lang="en-US" dirty="0"/>
              <a:t>. Views contain HTML, CSS and JavaScript. </a:t>
            </a:r>
          </a:p>
          <a:p>
            <a:r>
              <a:rPr lang="en-US" dirty="0"/>
              <a:t>The </a:t>
            </a:r>
            <a:r>
              <a:rPr lang="en-US" b="1" dirty="0"/>
              <a:t>Views</a:t>
            </a:r>
            <a:r>
              <a:rPr lang="en-US" dirty="0"/>
              <a:t> represent the </a:t>
            </a:r>
            <a:r>
              <a:rPr lang="en-US" b="1" dirty="0"/>
              <a:t>frontend</a:t>
            </a:r>
            <a:r>
              <a:rPr lang="en-US" dirty="0"/>
              <a:t> of the Laravel application, and it is used to display the content for the user.</a:t>
            </a:r>
          </a:p>
          <a:p>
            <a:r>
              <a:rPr lang="en-US" dirty="0"/>
              <a:t>All the views are stored in the </a:t>
            </a:r>
            <a:r>
              <a:rPr lang="en-US" b="1" dirty="0"/>
              <a:t>resources/views </a:t>
            </a:r>
            <a:r>
              <a:rPr lang="en-US" dirty="0"/>
              <a:t>directory. By default, the Laravel Framework provides the </a:t>
            </a:r>
            <a:r>
              <a:rPr lang="en-US" b="1" dirty="0" err="1"/>
              <a:t>welcome.blade.php</a:t>
            </a:r>
            <a:r>
              <a:rPr lang="en-US" dirty="0"/>
              <a:t> file.</a:t>
            </a:r>
          </a:p>
          <a:p>
            <a:r>
              <a:rPr lang="en-US" b="1" dirty="0"/>
              <a:t>Creating a View</a:t>
            </a:r>
            <a:endParaRPr lang="en-US" dirty="0"/>
          </a:p>
          <a:p>
            <a:r>
              <a:rPr lang="en-US" b="1" dirty="0"/>
              <a:t>Step 1:</a:t>
            </a:r>
            <a:r>
              <a:rPr lang="en-US" dirty="0"/>
              <a:t> Create a view named </a:t>
            </a:r>
            <a:r>
              <a:rPr lang="en-US" b="1" dirty="0" err="1"/>
              <a:t>index.php</a:t>
            </a:r>
            <a:r>
              <a:rPr lang="en-US" dirty="0"/>
              <a:t> in the </a:t>
            </a:r>
            <a:r>
              <a:rPr lang="en-US" b="1" dirty="0"/>
              <a:t>resources/views </a:t>
            </a:r>
            <a:r>
              <a:rPr lang="en-US" dirty="0"/>
              <a:t>directory and save the following code</a:t>
            </a:r>
            <a:endParaRPr lang="en-US" sz="2000" dirty="0"/>
          </a:p>
        </p:txBody>
      </p:sp>
      <p:pic>
        <p:nvPicPr>
          <p:cNvPr id="2" name="Picture 1">
            <a:extLst>
              <a:ext uri="{FF2B5EF4-FFF2-40B4-BE49-F238E27FC236}">
                <a16:creationId xmlns:a16="http://schemas.microsoft.com/office/drawing/2014/main" id="{4090147D-6612-4803-98DE-725B45FC9847}"/>
              </a:ext>
            </a:extLst>
          </p:cNvPr>
          <p:cNvPicPr>
            <a:picLocks noChangeAspect="1"/>
          </p:cNvPicPr>
          <p:nvPr/>
        </p:nvPicPr>
        <p:blipFill>
          <a:blip r:embed="rId3"/>
          <a:stretch>
            <a:fillRect/>
          </a:stretch>
        </p:blipFill>
        <p:spPr>
          <a:xfrm>
            <a:off x="4655840" y="4419554"/>
            <a:ext cx="5343525" cy="1990725"/>
          </a:xfrm>
          <a:prstGeom prst="rect">
            <a:avLst/>
          </a:prstGeom>
        </p:spPr>
      </p:pic>
    </p:spTree>
    <p:extLst>
      <p:ext uri="{BB962C8B-B14F-4D97-AF65-F5344CB8AC3E}">
        <p14:creationId xmlns:p14="http://schemas.microsoft.com/office/powerpoint/2010/main" val="28175444"/>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introduction To Views</a:t>
            </a:r>
            <a:br>
              <a:rPr lang="en-US"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72374" y="1167319"/>
            <a:ext cx="11296234" cy="5262898"/>
          </a:xfrm>
        </p:spPr>
        <p:txBody>
          <a:bodyPr/>
          <a:lstStyle/>
          <a:p>
            <a:r>
              <a:rPr lang="en-US" b="1" dirty="0"/>
              <a:t>Step 2:</a:t>
            </a:r>
            <a:r>
              <a:rPr lang="en-US" dirty="0"/>
              <a:t> Add the following code segment in the </a:t>
            </a:r>
            <a:r>
              <a:rPr lang="en-US" b="1" dirty="0"/>
              <a:t>routes/</a:t>
            </a:r>
            <a:r>
              <a:rPr lang="en-US" b="1" dirty="0" err="1"/>
              <a:t>web.php</a:t>
            </a:r>
            <a:r>
              <a:rPr lang="en-US" b="1" dirty="0"/>
              <a:t> </a:t>
            </a:r>
            <a:r>
              <a:rPr lang="en-US" dirty="0"/>
              <a:t>file to register a new route.</a:t>
            </a:r>
          </a:p>
          <a:p>
            <a:endParaRPr lang="en-US" dirty="0"/>
          </a:p>
          <a:p>
            <a:endParaRPr lang="en-US" dirty="0"/>
          </a:p>
          <a:p>
            <a:r>
              <a:rPr lang="en-US" b="1" dirty="0"/>
              <a:t>Step 3:</a:t>
            </a:r>
            <a:r>
              <a:rPr lang="en-US" dirty="0"/>
              <a:t> Visit the </a:t>
            </a:r>
            <a:r>
              <a:rPr lang="en-US" b="1" dirty="0"/>
              <a:t>URL: http://127.0.0.1:8000/index</a:t>
            </a:r>
            <a:r>
              <a:rPr lang="en-US" dirty="0"/>
              <a:t> to see the output.</a:t>
            </a:r>
          </a:p>
          <a:p>
            <a:r>
              <a:rPr lang="en-US" b="1" dirty="0"/>
              <a:t>Step 4:</a:t>
            </a:r>
            <a:r>
              <a:rPr lang="en-US" dirty="0"/>
              <a:t> The following screenshot shows the output.</a:t>
            </a:r>
          </a:p>
          <a:p>
            <a:endParaRPr lang="en-US" dirty="0"/>
          </a:p>
        </p:txBody>
      </p:sp>
      <p:pic>
        <p:nvPicPr>
          <p:cNvPr id="2" name="Picture 1">
            <a:extLst>
              <a:ext uri="{FF2B5EF4-FFF2-40B4-BE49-F238E27FC236}">
                <a16:creationId xmlns:a16="http://schemas.microsoft.com/office/drawing/2014/main" id="{F587077F-CF6A-48A7-A9B7-E09C4CBA593D}"/>
              </a:ext>
            </a:extLst>
          </p:cNvPr>
          <p:cNvPicPr>
            <a:picLocks noChangeAspect="1"/>
          </p:cNvPicPr>
          <p:nvPr/>
        </p:nvPicPr>
        <p:blipFill>
          <a:blip r:embed="rId3"/>
          <a:stretch>
            <a:fillRect/>
          </a:stretch>
        </p:blipFill>
        <p:spPr>
          <a:xfrm>
            <a:off x="2639616" y="1628800"/>
            <a:ext cx="5312683" cy="1080120"/>
          </a:xfrm>
          <a:prstGeom prst="rect">
            <a:avLst/>
          </a:prstGeom>
        </p:spPr>
      </p:pic>
      <p:pic>
        <p:nvPicPr>
          <p:cNvPr id="4" name="Picture 3">
            <a:extLst>
              <a:ext uri="{FF2B5EF4-FFF2-40B4-BE49-F238E27FC236}">
                <a16:creationId xmlns:a16="http://schemas.microsoft.com/office/drawing/2014/main" id="{56DF6BAE-B5C7-463E-8BB7-FE6A408562C1}"/>
              </a:ext>
            </a:extLst>
          </p:cNvPr>
          <p:cNvPicPr>
            <a:picLocks noChangeAspect="1"/>
          </p:cNvPicPr>
          <p:nvPr/>
        </p:nvPicPr>
        <p:blipFill>
          <a:blip r:embed="rId4"/>
          <a:stretch>
            <a:fillRect/>
          </a:stretch>
        </p:blipFill>
        <p:spPr>
          <a:xfrm>
            <a:off x="2639616" y="3773988"/>
            <a:ext cx="4514850" cy="1524000"/>
          </a:xfrm>
          <a:prstGeom prst="rect">
            <a:avLst/>
          </a:prstGeom>
        </p:spPr>
      </p:pic>
    </p:spTree>
    <p:extLst>
      <p:ext uri="{BB962C8B-B14F-4D97-AF65-F5344CB8AC3E}">
        <p14:creationId xmlns:p14="http://schemas.microsoft.com/office/powerpoint/2010/main" val="217239155"/>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Passing Data to Views</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72374" y="1167319"/>
            <a:ext cx="11296234" cy="5262898"/>
          </a:xfrm>
        </p:spPr>
        <p:txBody>
          <a:bodyPr/>
          <a:lstStyle/>
          <a:p>
            <a:r>
              <a:rPr lang="en-US" b="1" dirty="0"/>
              <a:t>Step 1:</a:t>
            </a:r>
            <a:r>
              <a:rPr lang="en-US" dirty="0"/>
              <a:t> Create a view named </a:t>
            </a:r>
            <a:r>
              <a:rPr lang="en-US" b="1" dirty="0" err="1"/>
              <a:t>user.php</a:t>
            </a:r>
            <a:r>
              <a:rPr lang="en-US" dirty="0"/>
              <a:t> in the </a:t>
            </a:r>
            <a:r>
              <a:rPr lang="en-US" b="1" dirty="0"/>
              <a:t>resources/views </a:t>
            </a:r>
            <a:r>
              <a:rPr lang="en-US" dirty="0"/>
              <a:t>directory and save the following code.</a:t>
            </a:r>
          </a:p>
          <a:p>
            <a:endParaRPr lang="en-US" dirty="0"/>
          </a:p>
          <a:p>
            <a:endParaRPr lang="en-US" dirty="0"/>
          </a:p>
          <a:p>
            <a:endParaRPr lang="en-US" dirty="0"/>
          </a:p>
          <a:p>
            <a:r>
              <a:rPr lang="en-US" b="1" dirty="0"/>
              <a:t>Step 2:</a:t>
            </a:r>
            <a:r>
              <a:rPr lang="en-US" dirty="0"/>
              <a:t> Add the following code segment in the </a:t>
            </a:r>
            <a:r>
              <a:rPr lang="en-US" b="1" dirty="0"/>
              <a:t>routes/</a:t>
            </a:r>
            <a:r>
              <a:rPr lang="en-US" b="1" dirty="0" err="1"/>
              <a:t>web.php</a:t>
            </a:r>
            <a:r>
              <a:rPr lang="en-US" dirty="0"/>
              <a:t> file to register a new route.</a:t>
            </a:r>
          </a:p>
          <a:p>
            <a:endParaRPr lang="en-US" dirty="0"/>
          </a:p>
          <a:p>
            <a:r>
              <a:rPr lang="en-US" b="1" dirty="0"/>
              <a:t>Step 3:</a:t>
            </a:r>
            <a:r>
              <a:rPr lang="en-US" dirty="0"/>
              <a:t> Visit the </a:t>
            </a:r>
            <a:r>
              <a:rPr lang="en-US" b="1" dirty="0"/>
              <a:t>URL: http://127.0.0.1:8000/user </a:t>
            </a:r>
            <a:r>
              <a:rPr lang="en-US" dirty="0"/>
              <a:t>to see the output.</a:t>
            </a:r>
          </a:p>
          <a:p>
            <a:r>
              <a:rPr lang="en-US" b="1" dirty="0"/>
              <a:t>Step 4:</a:t>
            </a:r>
            <a:r>
              <a:rPr lang="en-US" dirty="0"/>
              <a:t> The following screenshot shows the output.</a:t>
            </a:r>
          </a:p>
          <a:p>
            <a:endParaRPr lang="en-US" b="1" dirty="0"/>
          </a:p>
          <a:p>
            <a:endParaRPr lang="en-US" dirty="0"/>
          </a:p>
        </p:txBody>
      </p:sp>
      <p:pic>
        <p:nvPicPr>
          <p:cNvPr id="6" name="Picture 5">
            <a:extLst>
              <a:ext uri="{FF2B5EF4-FFF2-40B4-BE49-F238E27FC236}">
                <a16:creationId xmlns:a16="http://schemas.microsoft.com/office/drawing/2014/main" id="{494172B0-6CB5-4F2B-A158-F0F221B84919}"/>
              </a:ext>
            </a:extLst>
          </p:cNvPr>
          <p:cNvPicPr>
            <a:picLocks noChangeAspect="1"/>
          </p:cNvPicPr>
          <p:nvPr/>
        </p:nvPicPr>
        <p:blipFill>
          <a:blip r:embed="rId3"/>
          <a:stretch>
            <a:fillRect/>
          </a:stretch>
        </p:blipFill>
        <p:spPr>
          <a:xfrm>
            <a:off x="3503713" y="1628800"/>
            <a:ext cx="6264696" cy="1690733"/>
          </a:xfrm>
          <a:prstGeom prst="rect">
            <a:avLst/>
          </a:prstGeom>
        </p:spPr>
      </p:pic>
      <p:pic>
        <p:nvPicPr>
          <p:cNvPr id="7" name="Picture 6">
            <a:extLst>
              <a:ext uri="{FF2B5EF4-FFF2-40B4-BE49-F238E27FC236}">
                <a16:creationId xmlns:a16="http://schemas.microsoft.com/office/drawing/2014/main" id="{69DD0790-FCE8-4CD2-B479-0D557A8CB997}"/>
              </a:ext>
            </a:extLst>
          </p:cNvPr>
          <p:cNvPicPr>
            <a:picLocks noChangeAspect="1"/>
          </p:cNvPicPr>
          <p:nvPr/>
        </p:nvPicPr>
        <p:blipFill>
          <a:blip r:embed="rId4"/>
          <a:stretch>
            <a:fillRect/>
          </a:stretch>
        </p:blipFill>
        <p:spPr>
          <a:xfrm>
            <a:off x="3503713" y="3645024"/>
            <a:ext cx="6019800" cy="876300"/>
          </a:xfrm>
          <a:prstGeom prst="rect">
            <a:avLst/>
          </a:prstGeom>
        </p:spPr>
      </p:pic>
      <p:pic>
        <p:nvPicPr>
          <p:cNvPr id="8" name="Picture 7">
            <a:extLst>
              <a:ext uri="{FF2B5EF4-FFF2-40B4-BE49-F238E27FC236}">
                <a16:creationId xmlns:a16="http://schemas.microsoft.com/office/drawing/2014/main" id="{CE72C768-A1A2-411F-92E9-19F2F9E67CB9}"/>
              </a:ext>
            </a:extLst>
          </p:cNvPr>
          <p:cNvPicPr>
            <a:picLocks noChangeAspect="1"/>
          </p:cNvPicPr>
          <p:nvPr/>
        </p:nvPicPr>
        <p:blipFill>
          <a:blip r:embed="rId5"/>
          <a:stretch>
            <a:fillRect/>
          </a:stretch>
        </p:blipFill>
        <p:spPr>
          <a:xfrm>
            <a:off x="3935760" y="5316862"/>
            <a:ext cx="4448175" cy="1533525"/>
          </a:xfrm>
          <a:prstGeom prst="rect">
            <a:avLst/>
          </a:prstGeom>
          <a:ln>
            <a:solidFill>
              <a:schemeClr val="accent2"/>
            </a:solidFill>
          </a:ln>
        </p:spPr>
      </p:pic>
    </p:spTree>
    <p:extLst>
      <p:ext uri="{BB962C8B-B14F-4D97-AF65-F5344CB8AC3E}">
        <p14:creationId xmlns:p14="http://schemas.microsoft.com/office/powerpoint/2010/main" val="2937335549"/>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Introduction to blade template</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72374" y="1167319"/>
            <a:ext cx="11296234" cy="5262898"/>
          </a:xfrm>
        </p:spPr>
        <p:txBody>
          <a:bodyPr/>
          <a:lstStyle/>
          <a:p>
            <a:r>
              <a:rPr lang="en-US" dirty="0"/>
              <a:t>Blade templates use </a:t>
            </a:r>
            <a:r>
              <a:rPr lang="en-US" b="1" dirty="0"/>
              <a:t>.</a:t>
            </a:r>
            <a:r>
              <a:rPr lang="en-US" b="1" dirty="0" err="1"/>
              <a:t>blade.php</a:t>
            </a:r>
            <a:r>
              <a:rPr lang="en-US" b="1" dirty="0"/>
              <a:t> </a:t>
            </a:r>
            <a:r>
              <a:rPr lang="en-US" dirty="0"/>
              <a:t>extension. The blade templates stored in the </a:t>
            </a:r>
            <a:r>
              <a:rPr lang="en-US" b="1" dirty="0"/>
              <a:t>resources/views </a:t>
            </a:r>
            <a:r>
              <a:rPr lang="en-US" dirty="0"/>
              <a:t>directory.</a:t>
            </a:r>
          </a:p>
          <a:p>
            <a:r>
              <a:rPr lang="en-US" b="1" dirty="0"/>
              <a:t>Usage of Blade Templates</a:t>
            </a:r>
            <a:endParaRPr lang="en-US" dirty="0"/>
          </a:p>
          <a:p>
            <a:pPr lvl="0"/>
            <a:r>
              <a:rPr lang="en-US" b="1" dirty="0"/>
              <a:t>Usage 1: variable values</a:t>
            </a:r>
            <a:endParaRPr lang="en-US" dirty="0"/>
          </a:p>
          <a:p>
            <a:r>
              <a:rPr lang="en-US" dirty="0"/>
              <a:t>In blade templates, </a:t>
            </a:r>
            <a:r>
              <a:rPr lang="en-US" dirty="0">
                <a:highlight>
                  <a:srgbClr val="FFFF00"/>
                </a:highlight>
              </a:rPr>
              <a:t>we can use </a:t>
            </a:r>
            <a:r>
              <a:rPr lang="en-US" b="1" dirty="0">
                <a:highlight>
                  <a:srgbClr val="FFFF00"/>
                </a:highlight>
              </a:rPr>
              <a:t>{{ $variable }}</a:t>
            </a:r>
            <a:r>
              <a:rPr lang="en-US" dirty="0">
                <a:highlight>
                  <a:srgbClr val="FFFF00"/>
                </a:highlight>
              </a:rPr>
              <a:t> to print the value of a variable </a:t>
            </a:r>
            <a:r>
              <a:rPr lang="en-US" dirty="0"/>
              <a:t>instead of </a:t>
            </a:r>
            <a:r>
              <a:rPr lang="en-US" b="1" dirty="0"/>
              <a:t>&lt;?php echo $variable ?&gt;</a:t>
            </a:r>
            <a:r>
              <a:rPr lang="en-US" dirty="0"/>
              <a:t> As you see, there is </a:t>
            </a:r>
            <a:r>
              <a:rPr lang="en-US" b="1" dirty="0"/>
              <a:t>no</a:t>
            </a:r>
            <a:r>
              <a:rPr lang="en-US" dirty="0"/>
              <a:t> need to write </a:t>
            </a:r>
            <a:r>
              <a:rPr lang="en-US" b="1" dirty="0"/>
              <a:t>PHP tags</a:t>
            </a:r>
            <a:r>
              <a:rPr lang="en-US" dirty="0"/>
              <a:t> or the </a:t>
            </a:r>
            <a:r>
              <a:rPr lang="en-US" b="1" dirty="0"/>
              <a:t>echo</a:t>
            </a:r>
            <a:r>
              <a:rPr lang="en-US" dirty="0"/>
              <a:t> keyword.</a:t>
            </a:r>
          </a:p>
          <a:p>
            <a:r>
              <a:rPr lang="en-US" b="1" dirty="0"/>
              <a:t>Step 1:</a:t>
            </a:r>
            <a:r>
              <a:rPr lang="en-US" dirty="0"/>
              <a:t> Rename the file </a:t>
            </a:r>
            <a:r>
              <a:rPr lang="en-US" b="1" dirty="0" err="1"/>
              <a:t>user.php</a:t>
            </a:r>
            <a:r>
              <a:rPr lang="en-US" dirty="0"/>
              <a:t> to </a:t>
            </a:r>
            <a:r>
              <a:rPr lang="en-US" b="1" dirty="0" err="1"/>
              <a:t>user.blade.php</a:t>
            </a:r>
            <a:r>
              <a:rPr lang="en-US" dirty="0"/>
              <a:t> (in the  </a:t>
            </a:r>
            <a:r>
              <a:rPr lang="en-US" b="1" dirty="0"/>
              <a:t>resources/views </a:t>
            </a:r>
            <a:r>
              <a:rPr lang="en-US" dirty="0"/>
              <a:t>directory) and modify the existing code as shown below.</a:t>
            </a:r>
          </a:p>
          <a:p>
            <a:r>
              <a:rPr lang="en-US" b="1" dirty="0"/>
              <a:t>Step 2:</a:t>
            </a:r>
            <a:r>
              <a:rPr lang="en-US" dirty="0"/>
              <a:t> Visit the </a:t>
            </a:r>
            <a:r>
              <a:rPr lang="en-US" b="1" dirty="0"/>
              <a:t>URL: http://127.0.0.1:8000/user</a:t>
            </a:r>
            <a:r>
              <a:rPr lang="en-US" dirty="0"/>
              <a:t>.</a:t>
            </a:r>
          </a:p>
          <a:p>
            <a:endParaRPr lang="en-US" dirty="0"/>
          </a:p>
          <a:p>
            <a:endParaRPr lang="en-US" dirty="0"/>
          </a:p>
        </p:txBody>
      </p:sp>
      <p:pic>
        <p:nvPicPr>
          <p:cNvPr id="9" name="Picture 8">
            <a:extLst>
              <a:ext uri="{FF2B5EF4-FFF2-40B4-BE49-F238E27FC236}">
                <a16:creationId xmlns:a16="http://schemas.microsoft.com/office/drawing/2014/main" id="{C49A9BC8-354B-4D2E-B76B-F4D295FFDC5A}"/>
              </a:ext>
            </a:extLst>
          </p:cNvPr>
          <p:cNvPicPr>
            <a:picLocks noChangeAspect="1"/>
          </p:cNvPicPr>
          <p:nvPr/>
        </p:nvPicPr>
        <p:blipFill>
          <a:blip r:embed="rId3"/>
          <a:stretch>
            <a:fillRect/>
          </a:stretch>
        </p:blipFill>
        <p:spPr>
          <a:xfrm>
            <a:off x="7608168" y="5230341"/>
            <a:ext cx="4448175" cy="1533525"/>
          </a:xfrm>
          <a:prstGeom prst="rect">
            <a:avLst/>
          </a:prstGeom>
          <a:ln>
            <a:solidFill>
              <a:schemeClr val="accent2"/>
            </a:solidFill>
          </a:ln>
        </p:spPr>
      </p:pic>
      <p:pic>
        <p:nvPicPr>
          <p:cNvPr id="4" name="Picture 3">
            <a:extLst>
              <a:ext uri="{FF2B5EF4-FFF2-40B4-BE49-F238E27FC236}">
                <a16:creationId xmlns:a16="http://schemas.microsoft.com/office/drawing/2014/main" id="{AA535925-853F-4FAB-A867-8E8E3CF3F66A}"/>
              </a:ext>
            </a:extLst>
          </p:cNvPr>
          <p:cNvPicPr>
            <a:picLocks noChangeAspect="1"/>
          </p:cNvPicPr>
          <p:nvPr/>
        </p:nvPicPr>
        <p:blipFill>
          <a:blip r:embed="rId4"/>
          <a:stretch>
            <a:fillRect/>
          </a:stretch>
        </p:blipFill>
        <p:spPr>
          <a:xfrm>
            <a:off x="2005508" y="5222379"/>
            <a:ext cx="5114925" cy="1390650"/>
          </a:xfrm>
          <a:prstGeom prst="rect">
            <a:avLst/>
          </a:prstGeom>
        </p:spPr>
      </p:pic>
    </p:spTree>
    <p:extLst>
      <p:ext uri="{BB962C8B-B14F-4D97-AF65-F5344CB8AC3E}">
        <p14:creationId xmlns:p14="http://schemas.microsoft.com/office/powerpoint/2010/main" val="533796249"/>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Example Laravel Routes-with parameter</a:t>
            </a:r>
            <a:br>
              <a:rPr lang="en-US" sz="3200" dirty="0"/>
            </a:br>
            <a:endParaRPr lang="en-US" dirty="0"/>
          </a:p>
        </p:txBody>
      </p:sp>
      <p:cxnSp>
        <p:nvCxnSpPr>
          <p:cNvPr id="13" name="Straight Arrow Connector 12">
            <a:extLst>
              <a:ext uri="{FF2B5EF4-FFF2-40B4-BE49-F238E27FC236}">
                <a16:creationId xmlns:a16="http://schemas.microsoft.com/office/drawing/2014/main" id="{109FBB85-29E6-4E8B-A8C6-5AAE22DBBD06}"/>
              </a:ext>
            </a:extLst>
          </p:cNvPr>
          <p:cNvCxnSpPr/>
          <p:nvPr/>
        </p:nvCxnSpPr>
        <p:spPr>
          <a:xfrm>
            <a:off x="6689676" y="3541018"/>
            <a:ext cx="651936" cy="464046"/>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F7D7F52-0CF1-4A0F-8C1F-826AED9A4DB4}"/>
              </a:ext>
            </a:extLst>
          </p:cNvPr>
          <p:cNvSpPr txBox="1"/>
          <p:nvPr/>
        </p:nvSpPr>
        <p:spPr>
          <a:xfrm>
            <a:off x="983432" y="1110125"/>
            <a:ext cx="1080120" cy="193899"/>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r>
              <a:rPr lang="en-US" sz="1200" dirty="0" err="1"/>
              <a:t>Web.php</a:t>
            </a:r>
            <a:endParaRPr lang="en-US" sz="1200" dirty="0"/>
          </a:p>
        </p:txBody>
      </p:sp>
      <p:pic>
        <p:nvPicPr>
          <p:cNvPr id="14" name="Picture 13">
            <a:extLst>
              <a:ext uri="{FF2B5EF4-FFF2-40B4-BE49-F238E27FC236}">
                <a16:creationId xmlns:a16="http://schemas.microsoft.com/office/drawing/2014/main" id="{B2665D86-FBD3-4BA7-89F2-0B8AA3148CA7}"/>
              </a:ext>
            </a:extLst>
          </p:cNvPr>
          <p:cNvPicPr>
            <a:picLocks noChangeAspect="1"/>
          </p:cNvPicPr>
          <p:nvPr/>
        </p:nvPicPr>
        <p:blipFill>
          <a:blip r:embed="rId3"/>
          <a:stretch>
            <a:fillRect/>
          </a:stretch>
        </p:blipFill>
        <p:spPr>
          <a:xfrm>
            <a:off x="963117" y="2286934"/>
            <a:ext cx="10081120" cy="2987393"/>
          </a:xfrm>
          <a:prstGeom prst="rect">
            <a:avLst/>
          </a:prstGeom>
        </p:spPr>
      </p:pic>
      <p:pic>
        <p:nvPicPr>
          <p:cNvPr id="15" name="Picture 14">
            <a:extLst>
              <a:ext uri="{FF2B5EF4-FFF2-40B4-BE49-F238E27FC236}">
                <a16:creationId xmlns:a16="http://schemas.microsoft.com/office/drawing/2014/main" id="{ACF3F962-A552-447B-81C3-65DDCBDEE582}"/>
              </a:ext>
            </a:extLst>
          </p:cNvPr>
          <p:cNvPicPr>
            <a:picLocks noChangeAspect="1"/>
          </p:cNvPicPr>
          <p:nvPr/>
        </p:nvPicPr>
        <p:blipFill>
          <a:blip r:embed="rId4"/>
          <a:stretch>
            <a:fillRect/>
          </a:stretch>
        </p:blipFill>
        <p:spPr>
          <a:xfrm>
            <a:off x="2295526" y="1000444"/>
            <a:ext cx="8769025" cy="1266825"/>
          </a:xfrm>
          <a:prstGeom prst="rect">
            <a:avLst/>
          </a:prstGeom>
        </p:spPr>
      </p:pic>
      <p:pic>
        <p:nvPicPr>
          <p:cNvPr id="17" name="Picture 16">
            <a:extLst>
              <a:ext uri="{FF2B5EF4-FFF2-40B4-BE49-F238E27FC236}">
                <a16:creationId xmlns:a16="http://schemas.microsoft.com/office/drawing/2014/main" id="{39B7CFA7-7440-48FE-B29D-2C75D4E0AE45}"/>
              </a:ext>
            </a:extLst>
          </p:cNvPr>
          <p:cNvPicPr>
            <a:picLocks noChangeAspect="1"/>
          </p:cNvPicPr>
          <p:nvPr/>
        </p:nvPicPr>
        <p:blipFill>
          <a:blip r:embed="rId5"/>
          <a:stretch>
            <a:fillRect/>
          </a:stretch>
        </p:blipFill>
        <p:spPr>
          <a:xfrm>
            <a:off x="5519936" y="4873504"/>
            <a:ext cx="6672064" cy="2027096"/>
          </a:xfrm>
          <a:prstGeom prst="rect">
            <a:avLst/>
          </a:prstGeom>
        </p:spPr>
      </p:pic>
    </p:spTree>
    <p:extLst>
      <p:ext uri="{BB962C8B-B14F-4D97-AF65-F5344CB8AC3E}">
        <p14:creationId xmlns:p14="http://schemas.microsoft.com/office/powerpoint/2010/main" val="15665898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Introduction to blade template</a:t>
            </a:r>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72374" y="1167319"/>
            <a:ext cx="11296234" cy="5262898"/>
          </a:xfrm>
        </p:spPr>
        <p:txBody>
          <a:bodyPr/>
          <a:lstStyle/>
          <a:p>
            <a:pPr lvl="0"/>
            <a:r>
              <a:rPr lang="en-US" b="1" dirty="0"/>
              <a:t>Usage 2: ternary operators</a:t>
            </a:r>
            <a:endParaRPr lang="en-US" dirty="0"/>
          </a:p>
          <a:p>
            <a:r>
              <a:rPr lang="en-US" dirty="0"/>
              <a:t>In blade templates, we can use</a:t>
            </a:r>
            <a:r>
              <a:rPr lang="en-US" b="1" dirty="0"/>
              <a:t> {{ $variable or ‘</a:t>
            </a:r>
            <a:r>
              <a:rPr lang="en-US" b="1" dirty="0" err="1"/>
              <a:t>default_value</a:t>
            </a:r>
            <a:r>
              <a:rPr lang="en-US" b="1" dirty="0"/>
              <a:t>’ }}</a:t>
            </a:r>
            <a:r>
              <a:rPr lang="en-US" dirty="0"/>
              <a:t> instead of </a:t>
            </a:r>
            <a:r>
              <a:rPr lang="en-US" b="1" dirty="0"/>
              <a:t>&lt;?</a:t>
            </a:r>
            <a:r>
              <a:rPr lang="en-US" b="1" dirty="0" err="1"/>
              <a:t>phpisset</a:t>
            </a:r>
            <a:r>
              <a:rPr lang="en-US" b="1" dirty="0"/>
              <a:t>($variable) ?</a:t>
            </a:r>
            <a:r>
              <a:rPr lang="en-US" dirty="0"/>
              <a:t> </a:t>
            </a:r>
            <a:r>
              <a:rPr lang="en-US" b="1" dirty="0"/>
              <a:t>$variable : ?</a:t>
            </a:r>
            <a:r>
              <a:rPr lang="en-US" b="1" dirty="0" err="1"/>
              <a:t>default_value</a:t>
            </a:r>
            <a:r>
              <a:rPr lang="en-US" b="1" dirty="0"/>
              <a:t>? ?&gt;</a:t>
            </a:r>
            <a:r>
              <a:rPr lang="en-US" dirty="0"/>
              <a:t> to write ternary operators.</a:t>
            </a:r>
          </a:p>
          <a:p>
            <a:endParaRPr lang="en-US" dirty="0"/>
          </a:p>
          <a:p>
            <a:endParaRPr lang="en-US" dirty="0"/>
          </a:p>
        </p:txBody>
      </p:sp>
      <p:pic>
        <p:nvPicPr>
          <p:cNvPr id="2" name="Picture 1">
            <a:extLst>
              <a:ext uri="{FF2B5EF4-FFF2-40B4-BE49-F238E27FC236}">
                <a16:creationId xmlns:a16="http://schemas.microsoft.com/office/drawing/2014/main" id="{1C56594D-50AE-427D-883A-55A441BB01DF}"/>
              </a:ext>
            </a:extLst>
          </p:cNvPr>
          <p:cNvPicPr>
            <a:picLocks noChangeAspect="1"/>
          </p:cNvPicPr>
          <p:nvPr/>
        </p:nvPicPr>
        <p:blipFill>
          <a:blip r:embed="rId3"/>
          <a:stretch>
            <a:fillRect/>
          </a:stretch>
        </p:blipFill>
        <p:spPr>
          <a:xfrm>
            <a:off x="1127448" y="2996952"/>
            <a:ext cx="7651540" cy="1131208"/>
          </a:xfrm>
          <a:prstGeom prst="rect">
            <a:avLst/>
          </a:prstGeom>
        </p:spPr>
      </p:pic>
    </p:spTree>
    <p:extLst>
      <p:ext uri="{BB962C8B-B14F-4D97-AF65-F5344CB8AC3E}">
        <p14:creationId xmlns:p14="http://schemas.microsoft.com/office/powerpoint/2010/main" val="3116794936"/>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a:t>
            </a:r>
            <a:r>
              <a:rPr lang="en-US" sz="3200" dirty="0"/>
              <a:t>Laravel controllers</a:t>
            </a:r>
          </a:p>
          <a:p>
            <a:pPr algn="ctr"/>
            <a:endParaRPr lang="en-US" dirty="0"/>
          </a:p>
        </p:txBody>
      </p:sp>
    </p:spTree>
    <p:extLst>
      <p:ext uri="{BB962C8B-B14F-4D97-AF65-F5344CB8AC3E}">
        <p14:creationId xmlns:p14="http://schemas.microsoft.com/office/powerpoint/2010/main" val="1457608647"/>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Laravel Controllers</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72374" y="1167319"/>
            <a:ext cx="11296234" cy="5262898"/>
          </a:xfrm>
        </p:spPr>
        <p:txBody>
          <a:bodyPr/>
          <a:lstStyle/>
          <a:p>
            <a:r>
              <a:rPr lang="en-US" sz="2200" dirty="0"/>
              <a:t>In MVC architecture, the character ‘C’ stands for Controller. </a:t>
            </a:r>
          </a:p>
          <a:p>
            <a:r>
              <a:rPr lang="en-US" sz="2200" dirty="0"/>
              <a:t>A controller communicates with the relevant model if necessary and loads the view to display the content for the user.</a:t>
            </a:r>
          </a:p>
          <a:p>
            <a:r>
              <a:rPr lang="en-US" sz="2200" dirty="0"/>
              <a:t>All the controllers are stored in the app/Http/Controllers directory.</a:t>
            </a:r>
          </a:p>
          <a:p>
            <a:r>
              <a:rPr lang="en-US" sz="2200" dirty="0"/>
              <a:t>Creating a Controller</a:t>
            </a:r>
          </a:p>
          <a:p>
            <a:r>
              <a:rPr lang="en-US" sz="2200" dirty="0"/>
              <a:t>Run the following command in the command prompt to create a controller named </a:t>
            </a:r>
            <a:r>
              <a:rPr lang="en-US" sz="2200" dirty="0" err="1"/>
              <a:t>testController</a:t>
            </a:r>
            <a:r>
              <a:rPr lang="en-US" sz="2200" dirty="0"/>
              <a:t>. 	</a:t>
            </a:r>
            <a:r>
              <a:rPr lang="en-US" sz="2200" dirty="0">
                <a:highlight>
                  <a:srgbClr val="FFFF00"/>
                </a:highlight>
                <a:latin typeface="Consolas" panose="020B0609020204030204" pitchFamily="49" charset="0"/>
              </a:rPr>
              <a:t>php artisan </a:t>
            </a:r>
            <a:r>
              <a:rPr lang="en-US" sz="2200" dirty="0" err="1">
                <a:highlight>
                  <a:srgbClr val="FFFF00"/>
                </a:highlight>
                <a:latin typeface="Consolas" panose="020B0609020204030204" pitchFamily="49" charset="0"/>
              </a:rPr>
              <a:t>make:controller</a:t>
            </a:r>
            <a:r>
              <a:rPr lang="en-US" sz="2200" dirty="0">
                <a:highlight>
                  <a:srgbClr val="FFFF00"/>
                </a:highlight>
                <a:latin typeface="Consolas" panose="020B0609020204030204" pitchFamily="49" charset="0"/>
              </a:rPr>
              <a:t> </a:t>
            </a:r>
            <a:r>
              <a:rPr lang="en-US" sz="2200" dirty="0" err="1">
                <a:highlight>
                  <a:srgbClr val="FFFF00"/>
                </a:highlight>
                <a:latin typeface="Consolas" panose="020B0609020204030204" pitchFamily="49" charset="0"/>
              </a:rPr>
              <a:t>testController</a:t>
            </a:r>
            <a:endParaRPr lang="en-US" sz="2200" dirty="0">
              <a:highlight>
                <a:srgbClr val="FFFF00"/>
              </a:highlight>
              <a:latin typeface="Consolas" panose="020B0609020204030204" pitchFamily="49" charset="0"/>
            </a:endParaRPr>
          </a:p>
          <a:p>
            <a:r>
              <a:rPr lang="en-US" sz="2200" dirty="0"/>
              <a:t>This command will create a file named </a:t>
            </a:r>
            <a:r>
              <a:rPr lang="en-US" sz="2200" dirty="0" err="1"/>
              <a:t>testController.php</a:t>
            </a:r>
            <a:r>
              <a:rPr lang="en-US" sz="2200" dirty="0"/>
              <a:t> in the app/Http/Controllers directory. By default, the </a:t>
            </a:r>
            <a:r>
              <a:rPr lang="en-US" sz="2200" dirty="0" err="1"/>
              <a:t>Controller.php</a:t>
            </a:r>
            <a:r>
              <a:rPr lang="en-US" sz="2200" dirty="0"/>
              <a:t> file is included with the Laravel Framework.</a:t>
            </a:r>
          </a:p>
          <a:p>
            <a:r>
              <a:rPr lang="en-US" sz="2200" dirty="0"/>
              <a:t>Calling Controllers from Routes</a:t>
            </a:r>
          </a:p>
          <a:p>
            <a:r>
              <a:rPr lang="en-US" sz="2200" dirty="0"/>
              <a:t>The following syntax can be used to call controllers from routes in </a:t>
            </a:r>
            <a:r>
              <a:rPr lang="en-US" sz="2200" dirty="0" err="1"/>
              <a:t>web.php</a:t>
            </a:r>
            <a:r>
              <a:rPr lang="en-US" sz="2200" dirty="0"/>
              <a:t> file.</a:t>
            </a:r>
          </a:p>
          <a:p>
            <a:pPr marL="0" indent="0">
              <a:buNone/>
            </a:pPr>
            <a:r>
              <a:rPr lang="en-US" sz="2200" dirty="0"/>
              <a:t>			</a:t>
            </a:r>
            <a:endParaRPr lang="en-US" sz="2200" dirty="0">
              <a:highlight>
                <a:srgbClr val="FFFF00"/>
              </a:highlight>
              <a:latin typeface="Consolas" panose="020B0609020204030204" pitchFamily="49" charset="0"/>
            </a:endParaRPr>
          </a:p>
          <a:p>
            <a:endParaRPr lang="en-US" sz="2000" dirty="0"/>
          </a:p>
        </p:txBody>
      </p:sp>
      <p:pic>
        <p:nvPicPr>
          <p:cNvPr id="2" name="Picture 1">
            <a:extLst>
              <a:ext uri="{FF2B5EF4-FFF2-40B4-BE49-F238E27FC236}">
                <a16:creationId xmlns:a16="http://schemas.microsoft.com/office/drawing/2014/main" id="{D7756BAF-768C-4591-9557-D9BC0C89329B}"/>
              </a:ext>
            </a:extLst>
          </p:cNvPr>
          <p:cNvPicPr>
            <a:picLocks noChangeAspect="1"/>
          </p:cNvPicPr>
          <p:nvPr/>
        </p:nvPicPr>
        <p:blipFill>
          <a:blip r:embed="rId3"/>
          <a:stretch>
            <a:fillRect/>
          </a:stretch>
        </p:blipFill>
        <p:spPr>
          <a:xfrm>
            <a:off x="2279575" y="5373216"/>
            <a:ext cx="6984776" cy="1032441"/>
          </a:xfrm>
          <a:prstGeom prst="rect">
            <a:avLst/>
          </a:prstGeom>
        </p:spPr>
      </p:pic>
    </p:spTree>
    <p:extLst>
      <p:ext uri="{BB962C8B-B14F-4D97-AF65-F5344CB8AC3E}">
        <p14:creationId xmlns:p14="http://schemas.microsoft.com/office/powerpoint/2010/main" val="2602200991"/>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Simple Example using Laravel Controllers</a:t>
            </a:r>
            <a:br>
              <a:rPr lang="en-US" sz="3200" dirty="0"/>
            </a:br>
            <a:endParaRPr lang="en-US" dirty="0"/>
          </a:p>
        </p:txBody>
      </p:sp>
      <p:sp>
        <p:nvSpPr>
          <p:cNvPr id="3" name="Content Placeholder 2">
            <a:extLst>
              <a:ext uri="{FF2B5EF4-FFF2-40B4-BE49-F238E27FC236}">
                <a16:creationId xmlns:a16="http://schemas.microsoft.com/office/drawing/2014/main" id="{4424A202-B915-49FF-B4EF-F7272D9F27A7}"/>
              </a:ext>
            </a:extLst>
          </p:cNvPr>
          <p:cNvSpPr>
            <a:spLocks noGrp="1"/>
          </p:cNvSpPr>
          <p:nvPr>
            <p:ph idx="1"/>
          </p:nvPr>
        </p:nvSpPr>
        <p:spPr>
          <a:xfrm>
            <a:off x="479376" y="1124744"/>
            <a:ext cx="11305256" cy="4163640"/>
          </a:xfrm>
        </p:spPr>
        <p:txBody>
          <a:bodyPr/>
          <a:lstStyle/>
          <a:p>
            <a:r>
              <a:rPr lang="en-US" b="1" dirty="0"/>
              <a:t>Step 1:</a:t>
            </a:r>
            <a:r>
              <a:rPr lang="en-US" dirty="0"/>
              <a:t>Run the command prompt and make the controller named </a:t>
            </a:r>
            <a:r>
              <a:rPr lang="en-US" dirty="0" err="1"/>
              <a:t>AuthController</a:t>
            </a:r>
            <a:endParaRPr lang="en-US" dirty="0"/>
          </a:p>
          <a:p>
            <a:endParaRPr lang="en-US" dirty="0"/>
          </a:p>
          <a:p>
            <a:endParaRPr lang="en-US" dirty="0"/>
          </a:p>
          <a:p>
            <a:r>
              <a:rPr lang="en-US" dirty="0"/>
              <a:t>Step 2: Add the following code segment in the http</a:t>
            </a:r>
            <a:r>
              <a:rPr lang="en-US" b="1" dirty="0"/>
              <a:t>/</a:t>
            </a:r>
            <a:r>
              <a:rPr lang="en-US" b="1" dirty="0" err="1"/>
              <a:t>AuthController.php</a:t>
            </a:r>
            <a:r>
              <a:rPr lang="en-US" dirty="0"/>
              <a:t> and </a:t>
            </a:r>
            <a:r>
              <a:rPr lang="en-US" dirty="0" err="1"/>
              <a:t>web.php</a:t>
            </a:r>
            <a:endParaRPr lang="en-US" dirty="0"/>
          </a:p>
          <a:p>
            <a:endParaRPr lang="en-US" dirty="0"/>
          </a:p>
        </p:txBody>
      </p:sp>
      <p:pic>
        <p:nvPicPr>
          <p:cNvPr id="2" name="Picture 1">
            <a:extLst>
              <a:ext uri="{FF2B5EF4-FFF2-40B4-BE49-F238E27FC236}">
                <a16:creationId xmlns:a16="http://schemas.microsoft.com/office/drawing/2014/main" id="{76DFF772-A6C5-4689-B713-706E7392566E}"/>
              </a:ext>
            </a:extLst>
          </p:cNvPr>
          <p:cNvPicPr>
            <a:picLocks noChangeAspect="1"/>
          </p:cNvPicPr>
          <p:nvPr/>
        </p:nvPicPr>
        <p:blipFill>
          <a:blip r:embed="rId3"/>
          <a:stretch>
            <a:fillRect/>
          </a:stretch>
        </p:blipFill>
        <p:spPr>
          <a:xfrm>
            <a:off x="911424" y="1700808"/>
            <a:ext cx="10664480" cy="648072"/>
          </a:xfrm>
          <a:prstGeom prst="rect">
            <a:avLst/>
          </a:prstGeom>
        </p:spPr>
      </p:pic>
      <p:pic>
        <p:nvPicPr>
          <p:cNvPr id="6" name="Picture 5">
            <a:extLst>
              <a:ext uri="{FF2B5EF4-FFF2-40B4-BE49-F238E27FC236}">
                <a16:creationId xmlns:a16="http://schemas.microsoft.com/office/drawing/2014/main" id="{C993AF40-C49D-4A9D-8226-E9AD3C30CD55}"/>
              </a:ext>
            </a:extLst>
          </p:cNvPr>
          <p:cNvPicPr>
            <a:picLocks noChangeAspect="1"/>
          </p:cNvPicPr>
          <p:nvPr/>
        </p:nvPicPr>
        <p:blipFill>
          <a:blip r:embed="rId4"/>
          <a:stretch>
            <a:fillRect/>
          </a:stretch>
        </p:blipFill>
        <p:spPr>
          <a:xfrm>
            <a:off x="1127448" y="3284984"/>
            <a:ext cx="4675217" cy="2984007"/>
          </a:xfrm>
          <a:prstGeom prst="rect">
            <a:avLst/>
          </a:prstGeom>
        </p:spPr>
      </p:pic>
      <p:pic>
        <p:nvPicPr>
          <p:cNvPr id="7" name="Picture 6">
            <a:extLst>
              <a:ext uri="{FF2B5EF4-FFF2-40B4-BE49-F238E27FC236}">
                <a16:creationId xmlns:a16="http://schemas.microsoft.com/office/drawing/2014/main" id="{51109A82-2CA9-4EB3-8DE6-0C2AB6B73FB3}"/>
              </a:ext>
            </a:extLst>
          </p:cNvPr>
          <p:cNvPicPr>
            <a:picLocks noChangeAspect="1"/>
          </p:cNvPicPr>
          <p:nvPr/>
        </p:nvPicPr>
        <p:blipFill>
          <a:blip r:embed="rId5"/>
          <a:stretch>
            <a:fillRect/>
          </a:stretch>
        </p:blipFill>
        <p:spPr>
          <a:xfrm>
            <a:off x="5951984" y="3498564"/>
            <a:ext cx="5997460" cy="640135"/>
          </a:xfrm>
          <a:prstGeom prst="rect">
            <a:avLst/>
          </a:prstGeom>
        </p:spPr>
      </p:pic>
      <p:pic>
        <p:nvPicPr>
          <p:cNvPr id="9" name="Picture 8">
            <a:extLst>
              <a:ext uri="{FF2B5EF4-FFF2-40B4-BE49-F238E27FC236}">
                <a16:creationId xmlns:a16="http://schemas.microsoft.com/office/drawing/2014/main" id="{A782280C-7E21-4F6A-A924-9EEFE71FF2EF}"/>
              </a:ext>
            </a:extLst>
          </p:cNvPr>
          <p:cNvPicPr>
            <a:picLocks noChangeAspect="1"/>
          </p:cNvPicPr>
          <p:nvPr/>
        </p:nvPicPr>
        <p:blipFill>
          <a:blip r:embed="rId6"/>
          <a:stretch>
            <a:fillRect/>
          </a:stretch>
        </p:blipFill>
        <p:spPr>
          <a:xfrm>
            <a:off x="7104112" y="4929960"/>
            <a:ext cx="2911092" cy="1188823"/>
          </a:xfrm>
          <a:prstGeom prst="rect">
            <a:avLst/>
          </a:prstGeom>
          <a:ln>
            <a:solidFill>
              <a:schemeClr val="accent2"/>
            </a:solidFill>
          </a:ln>
        </p:spPr>
      </p:pic>
      <p:cxnSp>
        <p:nvCxnSpPr>
          <p:cNvPr id="11" name="Straight Arrow Connector 10">
            <a:extLst>
              <a:ext uri="{FF2B5EF4-FFF2-40B4-BE49-F238E27FC236}">
                <a16:creationId xmlns:a16="http://schemas.microsoft.com/office/drawing/2014/main" id="{4000095E-3CAE-4D2F-9816-95A722A5B7B3}"/>
              </a:ext>
            </a:extLst>
          </p:cNvPr>
          <p:cNvCxnSpPr/>
          <p:nvPr/>
        </p:nvCxnSpPr>
        <p:spPr>
          <a:xfrm>
            <a:off x="8256240" y="4360893"/>
            <a:ext cx="0" cy="523545"/>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1166977"/>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Laravel Controllers-Second example HelloWorld</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131260"/>
            <a:ext cx="11305256" cy="5298957"/>
          </a:xfrm>
        </p:spPr>
        <p:txBody>
          <a:bodyPr/>
          <a:lstStyle/>
          <a:p>
            <a:r>
              <a:rPr lang="en-US" b="1" dirty="0"/>
              <a:t>Step 1:</a:t>
            </a:r>
            <a:r>
              <a:rPr lang="en-US" dirty="0"/>
              <a:t> Run the following command in the command prompt to create a controller named </a:t>
            </a:r>
            <a:r>
              <a:rPr lang="en-US" b="1" dirty="0" err="1"/>
              <a:t>HelloWorldController</a:t>
            </a:r>
            <a:endParaRPr lang="en-US" b="1" dirty="0"/>
          </a:p>
          <a:p>
            <a:endParaRPr lang="en-US" b="1" dirty="0"/>
          </a:p>
          <a:p>
            <a:endParaRPr lang="en-US" dirty="0"/>
          </a:p>
          <a:p>
            <a:r>
              <a:rPr lang="en-US" dirty="0"/>
              <a:t>This command will create a file named </a:t>
            </a:r>
            <a:r>
              <a:rPr lang="en-US" b="1" dirty="0" err="1"/>
              <a:t>HelloWorldController.php</a:t>
            </a:r>
            <a:r>
              <a:rPr lang="en-US" dirty="0"/>
              <a:t> in the </a:t>
            </a:r>
            <a:r>
              <a:rPr lang="en-US" b="1" dirty="0"/>
              <a:t>app/Http/Controllers</a:t>
            </a:r>
            <a:r>
              <a:rPr lang="en-US" dirty="0"/>
              <a:t> directory.</a:t>
            </a:r>
          </a:p>
          <a:p>
            <a:r>
              <a:rPr lang="en-US" b="1" dirty="0"/>
              <a:t>Step 2:</a:t>
            </a:r>
            <a:r>
              <a:rPr lang="en-US" dirty="0"/>
              <a:t> Add the following code segment in the </a:t>
            </a:r>
            <a:r>
              <a:rPr lang="en-US" b="1" dirty="0"/>
              <a:t>routes/</a:t>
            </a:r>
            <a:r>
              <a:rPr lang="en-US" b="1" dirty="0" err="1"/>
              <a:t>web.php</a:t>
            </a:r>
            <a:r>
              <a:rPr lang="en-US" dirty="0"/>
              <a:t> file to register a new route.</a:t>
            </a:r>
          </a:p>
          <a:p>
            <a:endParaRPr lang="en-US" b="1" dirty="0"/>
          </a:p>
          <a:p>
            <a:r>
              <a:rPr lang="en-US" b="1" dirty="0"/>
              <a:t>Step 3:</a:t>
            </a:r>
            <a:r>
              <a:rPr lang="en-US" dirty="0"/>
              <a:t> Create the </a:t>
            </a:r>
            <a:r>
              <a:rPr lang="en-US" b="1" dirty="0"/>
              <a:t>index</a:t>
            </a:r>
            <a:r>
              <a:rPr lang="en-US" dirty="0"/>
              <a:t> function in the </a:t>
            </a:r>
            <a:r>
              <a:rPr lang="en-US" b="1" dirty="0"/>
              <a:t> </a:t>
            </a:r>
            <a:r>
              <a:rPr lang="en-US" b="1" dirty="0" err="1"/>
              <a:t>HelloWorldController</a:t>
            </a:r>
            <a:r>
              <a:rPr lang="en-US" b="1" dirty="0"/>
              <a:t> </a:t>
            </a:r>
            <a:r>
              <a:rPr lang="en-US" dirty="0"/>
              <a:t>as shown below</a:t>
            </a:r>
          </a:p>
          <a:p>
            <a:endParaRPr lang="en-US" sz="2000" dirty="0"/>
          </a:p>
        </p:txBody>
      </p:sp>
      <p:pic>
        <p:nvPicPr>
          <p:cNvPr id="7" name="Picture 6">
            <a:extLst>
              <a:ext uri="{FF2B5EF4-FFF2-40B4-BE49-F238E27FC236}">
                <a16:creationId xmlns:a16="http://schemas.microsoft.com/office/drawing/2014/main" id="{876243FE-EC40-404C-8216-645472711ECD}"/>
              </a:ext>
            </a:extLst>
          </p:cNvPr>
          <p:cNvPicPr>
            <a:picLocks noChangeAspect="1"/>
          </p:cNvPicPr>
          <p:nvPr/>
        </p:nvPicPr>
        <p:blipFill>
          <a:blip r:embed="rId3"/>
          <a:stretch>
            <a:fillRect/>
          </a:stretch>
        </p:blipFill>
        <p:spPr>
          <a:xfrm>
            <a:off x="2279576" y="4077073"/>
            <a:ext cx="9050999" cy="720080"/>
          </a:xfrm>
          <a:prstGeom prst="rect">
            <a:avLst/>
          </a:prstGeom>
        </p:spPr>
      </p:pic>
      <p:pic>
        <p:nvPicPr>
          <p:cNvPr id="8" name="Picture 7">
            <a:extLst>
              <a:ext uri="{FF2B5EF4-FFF2-40B4-BE49-F238E27FC236}">
                <a16:creationId xmlns:a16="http://schemas.microsoft.com/office/drawing/2014/main" id="{AAD5352A-BA4E-4B83-B108-592C677DF500}"/>
              </a:ext>
            </a:extLst>
          </p:cNvPr>
          <p:cNvPicPr>
            <a:picLocks noChangeAspect="1"/>
          </p:cNvPicPr>
          <p:nvPr/>
        </p:nvPicPr>
        <p:blipFill>
          <a:blip r:embed="rId4"/>
          <a:stretch>
            <a:fillRect/>
          </a:stretch>
        </p:blipFill>
        <p:spPr>
          <a:xfrm>
            <a:off x="655506" y="1906767"/>
            <a:ext cx="11081379" cy="874161"/>
          </a:xfrm>
          <a:prstGeom prst="rect">
            <a:avLst/>
          </a:prstGeom>
        </p:spPr>
      </p:pic>
    </p:spTree>
    <p:extLst>
      <p:ext uri="{BB962C8B-B14F-4D97-AF65-F5344CB8AC3E}">
        <p14:creationId xmlns:p14="http://schemas.microsoft.com/office/powerpoint/2010/main" val="1494062779"/>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00459" y="61968"/>
            <a:ext cx="10297145" cy="634605"/>
          </a:xfrm>
        </p:spPr>
        <p:txBody>
          <a:bodyPr vert="horz" lIns="0" tIns="0" rIns="0" bIns="0" rtlCol="0" anchor="t" anchorCtr="0">
            <a:noAutofit/>
          </a:bodyPr>
          <a:lstStyle/>
          <a:p>
            <a:r>
              <a:rPr lang="en-US" sz="3200" dirty="0"/>
              <a:t>Laravel Controllers-</a:t>
            </a:r>
            <a:br>
              <a:rPr lang="en-US" sz="3200" dirty="0"/>
            </a:br>
            <a:r>
              <a:rPr lang="en-US" sz="3200" dirty="0"/>
              <a:t>Second example HelloWorld</a:t>
            </a:r>
            <a:br>
              <a:rPr lang="en-US" sz="3200" dirty="0"/>
            </a:br>
            <a:endParaRPr lang="en-US" dirty="0"/>
          </a:p>
        </p:txBody>
      </p:sp>
      <p:sp>
        <p:nvSpPr>
          <p:cNvPr id="7" name="Content Placeholder 2">
            <a:extLst>
              <a:ext uri="{FF2B5EF4-FFF2-40B4-BE49-F238E27FC236}">
                <a16:creationId xmlns:a16="http://schemas.microsoft.com/office/drawing/2014/main" id="{D7C3E011-D0DB-41D9-8FDE-6FC2CDDD03E4}"/>
              </a:ext>
            </a:extLst>
          </p:cNvPr>
          <p:cNvSpPr txBox="1">
            <a:spLocks/>
          </p:cNvSpPr>
          <p:nvPr/>
        </p:nvSpPr>
        <p:spPr>
          <a:xfrm>
            <a:off x="479376" y="1167319"/>
            <a:ext cx="5269656" cy="5262898"/>
          </a:xfrm>
          <a:prstGeom prst="rect">
            <a:avLst/>
          </a:prstGeom>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Step 4:</a:t>
            </a:r>
            <a:r>
              <a:rPr lang="en-US" dirty="0"/>
              <a:t> Create a view named </a:t>
            </a:r>
            <a:r>
              <a:rPr lang="en-US" b="1" dirty="0" err="1"/>
              <a:t>hello.blade.php</a:t>
            </a:r>
            <a:r>
              <a:rPr lang="en-US" dirty="0"/>
              <a:t> in the </a:t>
            </a:r>
            <a:r>
              <a:rPr lang="en-US" b="1" dirty="0"/>
              <a:t>resources/views </a:t>
            </a:r>
            <a:r>
              <a:rPr lang="en-US" dirty="0"/>
              <a:t>directory and save the following code.</a:t>
            </a:r>
          </a:p>
          <a:p>
            <a:r>
              <a:rPr lang="en-US" b="1" dirty="0"/>
              <a:t>Step 5:</a:t>
            </a:r>
            <a:r>
              <a:rPr lang="en-US" dirty="0"/>
              <a:t> Visit the </a:t>
            </a:r>
            <a:r>
              <a:rPr lang="en-US" b="1" dirty="0"/>
              <a:t>URL: </a:t>
            </a:r>
            <a:r>
              <a:rPr lang="en-US" sz="2000" b="1" dirty="0">
                <a:latin typeface="Consolas" panose="020B0609020204030204" pitchFamily="49" charset="0"/>
                <a:hlinkClick r:id="rId3"/>
              </a:rPr>
              <a:t>http://127.0.0.1:8000/</a:t>
            </a:r>
            <a:r>
              <a:rPr lang="en-US" sz="2000" b="1" dirty="0">
                <a:latin typeface="Consolas" panose="020B0609020204030204" pitchFamily="49" charset="0"/>
              </a:rPr>
              <a:t>hellocon</a:t>
            </a:r>
          </a:p>
          <a:p>
            <a:pPr marL="0" indent="0">
              <a:buNone/>
            </a:pPr>
            <a:r>
              <a:rPr lang="en-US" sz="2000" b="1" dirty="0">
                <a:latin typeface="Consolas" panose="020B0609020204030204" pitchFamily="49" charset="0"/>
              </a:rPr>
              <a:t>	</a:t>
            </a:r>
            <a:r>
              <a:rPr lang="en-US" dirty="0"/>
              <a:t> to see the output.</a:t>
            </a:r>
          </a:p>
          <a:p>
            <a:r>
              <a:rPr lang="en-US" b="1" dirty="0"/>
              <a:t>Step 6:</a:t>
            </a:r>
            <a:r>
              <a:rPr lang="en-US" dirty="0"/>
              <a:t> The following screenshot shows the output.</a:t>
            </a:r>
          </a:p>
          <a:p>
            <a:endParaRPr lang="en-US" dirty="0"/>
          </a:p>
          <a:p>
            <a:endParaRPr lang="en-US" sz="2000" dirty="0"/>
          </a:p>
        </p:txBody>
      </p:sp>
      <p:cxnSp>
        <p:nvCxnSpPr>
          <p:cNvPr id="10" name="Straight Arrow Connector 9">
            <a:extLst>
              <a:ext uri="{FF2B5EF4-FFF2-40B4-BE49-F238E27FC236}">
                <a16:creationId xmlns:a16="http://schemas.microsoft.com/office/drawing/2014/main" id="{989D0C83-0AAD-40D6-AE27-2334EEE84FC9}"/>
              </a:ext>
            </a:extLst>
          </p:cNvPr>
          <p:cNvCxnSpPr/>
          <p:nvPr/>
        </p:nvCxnSpPr>
        <p:spPr>
          <a:xfrm>
            <a:off x="3863752" y="2384884"/>
            <a:ext cx="1885280" cy="2088232"/>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14901C0-5C01-42FA-96E4-4521E7FF2F06}"/>
              </a:ext>
            </a:extLst>
          </p:cNvPr>
          <p:cNvPicPr>
            <a:picLocks noChangeAspect="1"/>
          </p:cNvPicPr>
          <p:nvPr/>
        </p:nvPicPr>
        <p:blipFill>
          <a:blip r:embed="rId4"/>
          <a:stretch>
            <a:fillRect/>
          </a:stretch>
        </p:blipFill>
        <p:spPr>
          <a:xfrm>
            <a:off x="5879976" y="188640"/>
            <a:ext cx="6084507" cy="3345470"/>
          </a:xfrm>
          <a:prstGeom prst="rect">
            <a:avLst/>
          </a:prstGeom>
        </p:spPr>
      </p:pic>
      <p:pic>
        <p:nvPicPr>
          <p:cNvPr id="9" name="Picture 8">
            <a:extLst>
              <a:ext uri="{FF2B5EF4-FFF2-40B4-BE49-F238E27FC236}">
                <a16:creationId xmlns:a16="http://schemas.microsoft.com/office/drawing/2014/main" id="{A0A4C346-BE6C-4358-8A98-0F8484FB3DD0}"/>
              </a:ext>
            </a:extLst>
          </p:cNvPr>
          <p:cNvPicPr>
            <a:picLocks noChangeAspect="1"/>
          </p:cNvPicPr>
          <p:nvPr/>
        </p:nvPicPr>
        <p:blipFill>
          <a:blip r:embed="rId5"/>
          <a:stretch>
            <a:fillRect/>
          </a:stretch>
        </p:blipFill>
        <p:spPr>
          <a:xfrm>
            <a:off x="5879976" y="3621037"/>
            <a:ext cx="6241321" cy="1104996"/>
          </a:xfrm>
          <a:prstGeom prst="rect">
            <a:avLst/>
          </a:prstGeom>
        </p:spPr>
      </p:pic>
      <p:pic>
        <p:nvPicPr>
          <p:cNvPr id="13" name="Picture 12">
            <a:extLst>
              <a:ext uri="{FF2B5EF4-FFF2-40B4-BE49-F238E27FC236}">
                <a16:creationId xmlns:a16="http://schemas.microsoft.com/office/drawing/2014/main" id="{EB69E054-B3C1-494E-A019-5B536B435297}"/>
              </a:ext>
            </a:extLst>
          </p:cNvPr>
          <p:cNvPicPr>
            <a:picLocks noChangeAspect="1"/>
          </p:cNvPicPr>
          <p:nvPr/>
        </p:nvPicPr>
        <p:blipFill>
          <a:blip r:embed="rId6"/>
          <a:stretch>
            <a:fillRect/>
          </a:stretch>
        </p:blipFill>
        <p:spPr>
          <a:xfrm>
            <a:off x="623391" y="4772103"/>
            <a:ext cx="8474174" cy="2057578"/>
          </a:xfrm>
          <a:prstGeom prst="rect">
            <a:avLst/>
          </a:prstGeom>
        </p:spPr>
      </p:pic>
    </p:spTree>
    <p:extLst>
      <p:ext uri="{BB962C8B-B14F-4D97-AF65-F5344CB8AC3E}">
        <p14:creationId xmlns:p14="http://schemas.microsoft.com/office/powerpoint/2010/main" val="1120149431"/>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Laravel Controllers-Third example Sum of two number</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131260"/>
            <a:ext cx="11305256" cy="5298957"/>
          </a:xfrm>
        </p:spPr>
        <p:txBody>
          <a:bodyPr/>
          <a:lstStyle/>
          <a:p>
            <a:r>
              <a:rPr lang="en-US" b="1" dirty="0"/>
              <a:t>Step 1:</a:t>
            </a:r>
            <a:r>
              <a:rPr lang="en-US" dirty="0"/>
              <a:t> Run the following command in the command prompt to create a controller named </a:t>
            </a:r>
            <a:r>
              <a:rPr lang="en-US" b="1" dirty="0" err="1"/>
              <a:t>MathController</a:t>
            </a:r>
            <a:endParaRPr lang="en-US" b="1" dirty="0"/>
          </a:p>
          <a:p>
            <a:endParaRPr lang="en-US" b="1" dirty="0"/>
          </a:p>
          <a:p>
            <a:endParaRPr lang="en-US" dirty="0"/>
          </a:p>
          <a:p>
            <a:r>
              <a:rPr lang="en-US" dirty="0"/>
              <a:t>This command will create a file named </a:t>
            </a:r>
            <a:r>
              <a:rPr lang="en-US" b="1" dirty="0" err="1"/>
              <a:t>MathController.php</a:t>
            </a:r>
            <a:r>
              <a:rPr lang="en-US" dirty="0"/>
              <a:t> in the </a:t>
            </a:r>
            <a:r>
              <a:rPr lang="en-US" b="1" dirty="0"/>
              <a:t>app/Http/Controllers</a:t>
            </a:r>
            <a:r>
              <a:rPr lang="en-US" dirty="0"/>
              <a:t> directory.</a:t>
            </a:r>
          </a:p>
          <a:p>
            <a:r>
              <a:rPr lang="en-US" b="1" dirty="0"/>
              <a:t>Step 2:</a:t>
            </a:r>
            <a:r>
              <a:rPr lang="en-US" dirty="0"/>
              <a:t> Add the following code segment in the </a:t>
            </a:r>
            <a:r>
              <a:rPr lang="en-US" b="1" dirty="0"/>
              <a:t>routes/</a:t>
            </a:r>
            <a:r>
              <a:rPr lang="en-US" b="1" dirty="0" err="1"/>
              <a:t>web.php</a:t>
            </a:r>
            <a:r>
              <a:rPr lang="en-US" dirty="0"/>
              <a:t> file to register a new route.</a:t>
            </a:r>
          </a:p>
          <a:p>
            <a:endParaRPr lang="en-US" b="1" dirty="0"/>
          </a:p>
          <a:p>
            <a:endParaRPr lang="en-US" b="1" dirty="0"/>
          </a:p>
          <a:p>
            <a:r>
              <a:rPr lang="en-US" b="1" dirty="0"/>
              <a:t>Step 3:</a:t>
            </a:r>
            <a:r>
              <a:rPr lang="en-US" dirty="0"/>
              <a:t> Create the </a:t>
            </a:r>
            <a:r>
              <a:rPr lang="en-US" b="1" dirty="0" err="1"/>
              <a:t>showForm</a:t>
            </a:r>
            <a:r>
              <a:rPr lang="en-US" b="1" dirty="0"/>
              <a:t> and </a:t>
            </a:r>
            <a:r>
              <a:rPr lang="en-US" b="1" dirty="0" err="1"/>
              <a:t>calculateSum</a:t>
            </a:r>
            <a:r>
              <a:rPr lang="en-US" dirty="0"/>
              <a:t> function in the </a:t>
            </a:r>
            <a:r>
              <a:rPr lang="en-US" b="1" dirty="0"/>
              <a:t> </a:t>
            </a:r>
            <a:r>
              <a:rPr lang="en-US" b="1" dirty="0" err="1"/>
              <a:t>MathController</a:t>
            </a:r>
            <a:r>
              <a:rPr lang="en-US" b="1" dirty="0"/>
              <a:t> </a:t>
            </a:r>
            <a:r>
              <a:rPr lang="en-US" dirty="0"/>
              <a:t>as shown below</a:t>
            </a:r>
          </a:p>
          <a:p>
            <a:endParaRPr lang="en-US" sz="2000" dirty="0"/>
          </a:p>
        </p:txBody>
      </p:sp>
      <p:pic>
        <p:nvPicPr>
          <p:cNvPr id="2" name="Picture 1">
            <a:extLst>
              <a:ext uri="{FF2B5EF4-FFF2-40B4-BE49-F238E27FC236}">
                <a16:creationId xmlns:a16="http://schemas.microsoft.com/office/drawing/2014/main" id="{B0699F78-61CE-42C3-9FCC-F09A7CFEF32A}"/>
              </a:ext>
            </a:extLst>
          </p:cNvPr>
          <p:cNvPicPr>
            <a:picLocks noChangeAspect="1"/>
          </p:cNvPicPr>
          <p:nvPr/>
        </p:nvPicPr>
        <p:blipFill>
          <a:blip r:embed="rId3"/>
          <a:stretch>
            <a:fillRect/>
          </a:stretch>
        </p:blipFill>
        <p:spPr>
          <a:xfrm>
            <a:off x="1105125" y="1988840"/>
            <a:ext cx="9815411" cy="708721"/>
          </a:xfrm>
          <a:prstGeom prst="rect">
            <a:avLst/>
          </a:prstGeom>
        </p:spPr>
      </p:pic>
      <p:pic>
        <p:nvPicPr>
          <p:cNvPr id="4" name="Picture 3">
            <a:extLst>
              <a:ext uri="{FF2B5EF4-FFF2-40B4-BE49-F238E27FC236}">
                <a16:creationId xmlns:a16="http://schemas.microsoft.com/office/drawing/2014/main" id="{E9521F3D-DAC2-4B07-9A38-79D50AC3CA1C}"/>
              </a:ext>
            </a:extLst>
          </p:cNvPr>
          <p:cNvPicPr>
            <a:picLocks noChangeAspect="1"/>
          </p:cNvPicPr>
          <p:nvPr/>
        </p:nvPicPr>
        <p:blipFill>
          <a:blip r:embed="rId4"/>
          <a:stretch>
            <a:fillRect/>
          </a:stretch>
        </p:blipFill>
        <p:spPr>
          <a:xfrm>
            <a:off x="2135560" y="4159736"/>
            <a:ext cx="8136904" cy="965074"/>
          </a:xfrm>
          <a:prstGeom prst="rect">
            <a:avLst/>
          </a:prstGeom>
        </p:spPr>
      </p:pic>
    </p:spTree>
    <p:extLst>
      <p:ext uri="{BB962C8B-B14F-4D97-AF65-F5344CB8AC3E}">
        <p14:creationId xmlns:p14="http://schemas.microsoft.com/office/powerpoint/2010/main" val="181811552"/>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Laravel Controllers-Third example Sum of two number</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63352" y="1131260"/>
            <a:ext cx="11305256" cy="5298957"/>
          </a:xfrm>
        </p:spPr>
        <p:txBody>
          <a:bodyPr/>
          <a:lstStyle/>
          <a:p>
            <a:r>
              <a:rPr lang="en-US" b="1" dirty="0"/>
              <a:t>Step 3:</a:t>
            </a:r>
            <a:r>
              <a:rPr lang="en-US" dirty="0"/>
              <a:t> Create the </a:t>
            </a:r>
            <a:r>
              <a:rPr lang="en-US" b="1" dirty="0" err="1"/>
              <a:t>showForm</a:t>
            </a:r>
            <a:r>
              <a:rPr lang="en-US" b="1" dirty="0"/>
              <a:t> and </a:t>
            </a:r>
            <a:r>
              <a:rPr lang="en-US" b="1" dirty="0" err="1"/>
              <a:t>calculateSum</a:t>
            </a:r>
            <a:r>
              <a:rPr lang="en-US" dirty="0"/>
              <a:t> function in the </a:t>
            </a:r>
            <a:r>
              <a:rPr lang="en-US" b="1" dirty="0"/>
              <a:t> </a:t>
            </a:r>
            <a:r>
              <a:rPr lang="en-US" b="1" dirty="0" err="1"/>
              <a:t>MathController</a:t>
            </a:r>
            <a:r>
              <a:rPr lang="en-US" b="1" dirty="0"/>
              <a:t> </a:t>
            </a:r>
            <a:r>
              <a:rPr lang="en-US" dirty="0"/>
              <a:t>as shown below</a:t>
            </a:r>
          </a:p>
          <a:p>
            <a:endParaRPr lang="en-US" sz="2000" dirty="0"/>
          </a:p>
        </p:txBody>
      </p:sp>
      <p:pic>
        <p:nvPicPr>
          <p:cNvPr id="6" name="Picture 5">
            <a:extLst>
              <a:ext uri="{FF2B5EF4-FFF2-40B4-BE49-F238E27FC236}">
                <a16:creationId xmlns:a16="http://schemas.microsoft.com/office/drawing/2014/main" id="{455C390A-D7E9-46FD-A2A3-FAFA9174F7E4}"/>
              </a:ext>
            </a:extLst>
          </p:cNvPr>
          <p:cNvPicPr>
            <a:picLocks noChangeAspect="1"/>
          </p:cNvPicPr>
          <p:nvPr/>
        </p:nvPicPr>
        <p:blipFill>
          <a:blip r:embed="rId3"/>
          <a:stretch>
            <a:fillRect/>
          </a:stretch>
        </p:blipFill>
        <p:spPr>
          <a:xfrm>
            <a:off x="2567634" y="1916832"/>
            <a:ext cx="8280894" cy="4808637"/>
          </a:xfrm>
          <a:prstGeom prst="rect">
            <a:avLst/>
          </a:prstGeom>
        </p:spPr>
      </p:pic>
    </p:spTree>
    <p:extLst>
      <p:ext uri="{BB962C8B-B14F-4D97-AF65-F5344CB8AC3E}">
        <p14:creationId xmlns:p14="http://schemas.microsoft.com/office/powerpoint/2010/main" val="3332871396"/>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839416" y="65918"/>
            <a:ext cx="10297145" cy="634605"/>
          </a:xfrm>
        </p:spPr>
        <p:txBody>
          <a:bodyPr vert="horz" lIns="0" tIns="0" rIns="0" bIns="0" rtlCol="0" anchor="t" anchorCtr="0">
            <a:noAutofit/>
          </a:bodyPr>
          <a:lstStyle/>
          <a:p>
            <a:r>
              <a:rPr lang="en-US" sz="3200" dirty="0"/>
              <a:t>Laravel Controllers-Third example Add 2 numbers</a:t>
            </a:r>
            <a:endParaRPr lang="en-US" dirty="0"/>
          </a:p>
        </p:txBody>
      </p:sp>
      <p:sp>
        <p:nvSpPr>
          <p:cNvPr id="7" name="Content Placeholder 2">
            <a:extLst>
              <a:ext uri="{FF2B5EF4-FFF2-40B4-BE49-F238E27FC236}">
                <a16:creationId xmlns:a16="http://schemas.microsoft.com/office/drawing/2014/main" id="{D7C3E011-D0DB-41D9-8FDE-6FC2CDDD03E4}"/>
              </a:ext>
            </a:extLst>
          </p:cNvPr>
          <p:cNvSpPr txBox="1">
            <a:spLocks/>
          </p:cNvSpPr>
          <p:nvPr/>
        </p:nvSpPr>
        <p:spPr>
          <a:xfrm>
            <a:off x="551384" y="1052736"/>
            <a:ext cx="11377264" cy="5262898"/>
          </a:xfrm>
          <a:prstGeom prst="rect">
            <a:avLst/>
          </a:prstGeom>
        </p:spPr>
        <p:txBody>
          <a:bodyPr vert="horz" lIns="0" tIns="0" rIns="0" bIns="0" rtlCol="0" anchor="t" anchorCtr="0">
            <a:noAutofit/>
          </a:bodyPr>
          <a:lst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Step 4:</a:t>
            </a:r>
            <a:r>
              <a:rPr lang="en-US" dirty="0"/>
              <a:t> Create a view named </a:t>
            </a:r>
            <a:r>
              <a:rPr lang="en-US" b="1" dirty="0" err="1"/>
              <a:t>add.blade.php</a:t>
            </a:r>
            <a:r>
              <a:rPr lang="en-US" dirty="0"/>
              <a:t> in the </a:t>
            </a:r>
            <a:r>
              <a:rPr lang="en-US" b="1" dirty="0"/>
              <a:t>resources/views </a:t>
            </a:r>
            <a:r>
              <a:rPr lang="en-US" dirty="0"/>
              <a:t>directory and save the following code</a:t>
            </a:r>
          </a:p>
          <a:p>
            <a:endParaRPr lang="en-US" dirty="0"/>
          </a:p>
          <a:p>
            <a:endParaRPr lang="en-US" dirty="0"/>
          </a:p>
          <a:p>
            <a:endParaRPr lang="en-US" dirty="0"/>
          </a:p>
          <a:p>
            <a:endParaRPr lang="en-US" b="1" dirty="0"/>
          </a:p>
          <a:p>
            <a:endParaRPr lang="en-US" dirty="0"/>
          </a:p>
          <a:p>
            <a:endParaRPr lang="en-US" b="1" dirty="0"/>
          </a:p>
          <a:p>
            <a:endParaRPr lang="en-US" b="1" dirty="0"/>
          </a:p>
          <a:p>
            <a:endParaRPr lang="en-US" b="1" dirty="0"/>
          </a:p>
          <a:p>
            <a:endParaRPr lang="en-US" b="1" dirty="0"/>
          </a:p>
          <a:p>
            <a:r>
              <a:rPr lang="en-US" b="1" dirty="0"/>
              <a:t>Step 5:</a:t>
            </a:r>
            <a:r>
              <a:rPr lang="en-US" dirty="0"/>
              <a:t> Visit the </a:t>
            </a:r>
            <a:r>
              <a:rPr lang="en-US" b="1" dirty="0"/>
              <a:t>URL: </a:t>
            </a:r>
            <a:r>
              <a:rPr lang="en-US" sz="2000" b="1" dirty="0">
                <a:latin typeface="Consolas" panose="020B0609020204030204" pitchFamily="49" charset="0"/>
                <a:hlinkClick r:id="rId3"/>
              </a:rPr>
              <a:t>http://127.0.0.1:8000/add</a:t>
            </a:r>
            <a:r>
              <a:rPr lang="en-US" sz="2000" b="1" dirty="0">
                <a:latin typeface="Consolas" panose="020B0609020204030204" pitchFamily="49" charset="0"/>
              </a:rPr>
              <a:t> </a:t>
            </a:r>
            <a:r>
              <a:rPr lang="en-US" dirty="0"/>
              <a:t>to see the output.</a:t>
            </a:r>
          </a:p>
          <a:p>
            <a:endParaRPr lang="en-US" dirty="0"/>
          </a:p>
          <a:p>
            <a:endParaRPr lang="en-US" sz="2000" dirty="0"/>
          </a:p>
        </p:txBody>
      </p:sp>
      <p:cxnSp>
        <p:nvCxnSpPr>
          <p:cNvPr id="10" name="Straight Arrow Connector 9">
            <a:extLst>
              <a:ext uri="{FF2B5EF4-FFF2-40B4-BE49-F238E27FC236}">
                <a16:creationId xmlns:a16="http://schemas.microsoft.com/office/drawing/2014/main" id="{989D0C83-0AAD-40D6-AE27-2334EEE84FC9}"/>
              </a:ext>
            </a:extLst>
          </p:cNvPr>
          <p:cNvCxnSpPr/>
          <p:nvPr/>
        </p:nvCxnSpPr>
        <p:spPr>
          <a:xfrm>
            <a:off x="3863752" y="2384884"/>
            <a:ext cx="1885280" cy="2088232"/>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CBEE6CCE-7D38-44E4-944E-018A047F1C36}"/>
              </a:ext>
            </a:extLst>
          </p:cNvPr>
          <p:cNvPicPr>
            <a:picLocks noChangeAspect="1"/>
          </p:cNvPicPr>
          <p:nvPr/>
        </p:nvPicPr>
        <p:blipFill>
          <a:blip r:embed="rId4"/>
          <a:stretch>
            <a:fillRect/>
          </a:stretch>
        </p:blipFill>
        <p:spPr>
          <a:xfrm>
            <a:off x="3071664" y="1791230"/>
            <a:ext cx="7304818" cy="4014034"/>
          </a:xfrm>
          <a:prstGeom prst="rect">
            <a:avLst/>
          </a:prstGeom>
        </p:spPr>
      </p:pic>
    </p:spTree>
    <p:extLst>
      <p:ext uri="{BB962C8B-B14F-4D97-AF65-F5344CB8AC3E}">
        <p14:creationId xmlns:p14="http://schemas.microsoft.com/office/powerpoint/2010/main" val="939370420"/>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839416" y="65918"/>
            <a:ext cx="10297145" cy="634605"/>
          </a:xfrm>
        </p:spPr>
        <p:txBody>
          <a:bodyPr vert="horz" lIns="0" tIns="0" rIns="0" bIns="0" rtlCol="0" anchor="t" anchorCtr="0">
            <a:noAutofit/>
          </a:bodyPr>
          <a:lstStyle/>
          <a:p>
            <a:r>
              <a:rPr lang="en-US" sz="3200" dirty="0"/>
              <a:t>Laravel Controllers-Third example Add 2 numbers</a:t>
            </a:r>
            <a:endParaRPr lang="en-US" dirty="0"/>
          </a:p>
        </p:txBody>
      </p:sp>
      <p:pic>
        <p:nvPicPr>
          <p:cNvPr id="3" name="Picture 2">
            <a:extLst>
              <a:ext uri="{FF2B5EF4-FFF2-40B4-BE49-F238E27FC236}">
                <a16:creationId xmlns:a16="http://schemas.microsoft.com/office/drawing/2014/main" id="{D003916C-696A-4E73-BC70-B0CFBE8577F6}"/>
              </a:ext>
            </a:extLst>
          </p:cNvPr>
          <p:cNvPicPr>
            <a:picLocks noChangeAspect="1"/>
          </p:cNvPicPr>
          <p:nvPr/>
        </p:nvPicPr>
        <p:blipFill>
          <a:blip r:embed="rId3"/>
          <a:stretch>
            <a:fillRect/>
          </a:stretch>
        </p:blipFill>
        <p:spPr>
          <a:xfrm>
            <a:off x="695400" y="1052736"/>
            <a:ext cx="9505056" cy="2245611"/>
          </a:xfrm>
          <a:prstGeom prst="rect">
            <a:avLst/>
          </a:prstGeom>
        </p:spPr>
      </p:pic>
      <p:pic>
        <p:nvPicPr>
          <p:cNvPr id="4" name="Picture 3">
            <a:extLst>
              <a:ext uri="{FF2B5EF4-FFF2-40B4-BE49-F238E27FC236}">
                <a16:creationId xmlns:a16="http://schemas.microsoft.com/office/drawing/2014/main" id="{43B9A717-5A6B-4AB1-AB05-9AF9FC4625D7}"/>
              </a:ext>
            </a:extLst>
          </p:cNvPr>
          <p:cNvPicPr>
            <a:picLocks noChangeAspect="1"/>
          </p:cNvPicPr>
          <p:nvPr/>
        </p:nvPicPr>
        <p:blipFill>
          <a:blip r:embed="rId4"/>
          <a:stretch>
            <a:fillRect/>
          </a:stretch>
        </p:blipFill>
        <p:spPr>
          <a:xfrm>
            <a:off x="839416" y="3655038"/>
            <a:ext cx="8786621" cy="2552921"/>
          </a:xfrm>
          <a:prstGeom prst="rect">
            <a:avLst/>
          </a:prstGeom>
        </p:spPr>
      </p:pic>
    </p:spTree>
    <p:extLst>
      <p:ext uri="{BB962C8B-B14F-4D97-AF65-F5344CB8AC3E}">
        <p14:creationId xmlns:p14="http://schemas.microsoft.com/office/powerpoint/2010/main" val="29188539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Login Example using Laravel Controllers</a:t>
            </a:r>
            <a:br>
              <a:rPr lang="en-US" sz="3200" dirty="0"/>
            </a:br>
            <a:endParaRPr lang="en-US" dirty="0"/>
          </a:p>
        </p:txBody>
      </p:sp>
      <p:sp>
        <p:nvSpPr>
          <p:cNvPr id="3" name="Content Placeholder 2">
            <a:extLst>
              <a:ext uri="{FF2B5EF4-FFF2-40B4-BE49-F238E27FC236}">
                <a16:creationId xmlns:a16="http://schemas.microsoft.com/office/drawing/2014/main" id="{4424A202-B915-49FF-B4EF-F7272D9F27A7}"/>
              </a:ext>
            </a:extLst>
          </p:cNvPr>
          <p:cNvSpPr>
            <a:spLocks noGrp="1"/>
          </p:cNvSpPr>
          <p:nvPr>
            <p:ph idx="1"/>
          </p:nvPr>
        </p:nvSpPr>
        <p:spPr>
          <a:xfrm>
            <a:off x="479376" y="1124744"/>
            <a:ext cx="11809312" cy="4163640"/>
          </a:xfrm>
        </p:spPr>
        <p:txBody>
          <a:bodyPr/>
          <a:lstStyle/>
          <a:p>
            <a:r>
              <a:rPr lang="en-US" b="1" dirty="0"/>
              <a:t>Step 3:</a:t>
            </a:r>
            <a:r>
              <a:rPr lang="en-US" dirty="0"/>
              <a:t>Add the following code segment in the </a:t>
            </a:r>
            <a:r>
              <a:rPr lang="en-US" b="1" dirty="0"/>
              <a:t>routes/</a:t>
            </a:r>
            <a:r>
              <a:rPr lang="en-US" b="1" dirty="0" err="1"/>
              <a:t>web.php</a:t>
            </a:r>
            <a:r>
              <a:rPr lang="en-US" dirty="0"/>
              <a:t> file to register a new route.</a:t>
            </a:r>
          </a:p>
          <a:p>
            <a:endParaRPr lang="en-US" dirty="0"/>
          </a:p>
          <a:p>
            <a:endParaRPr lang="en-US" dirty="0"/>
          </a:p>
          <a:p>
            <a:endParaRPr lang="en-US" dirty="0"/>
          </a:p>
          <a:p>
            <a:r>
              <a:rPr lang="en-US" b="1" dirty="0"/>
              <a:t>Step 4</a:t>
            </a:r>
            <a:r>
              <a:rPr lang="en-US" dirty="0"/>
              <a:t>:create a view named </a:t>
            </a:r>
            <a:r>
              <a:rPr lang="en-US" dirty="0" err="1"/>
              <a:t>login.blade.php</a:t>
            </a:r>
            <a:r>
              <a:rPr lang="en-US" dirty="0"/>
              <a:t> in </a:t>
            </a:r>
            <a:r>
              <a:rPr lang="en-US" b="1" dirty="0"/>
              <a:t>resources</a:t>
            </a:r>
            <a:r>
              <a:rPr lang="en-US" dirty="0"/>
              <a:t>/</a:t>
            </a:r>
            <a:r>
              <a:rPr lang="en-US" b="1" dirty="0"/>
              <a:t>views/</a:t>
            </a:r>
            <a:r>
              <a:rPr lang="en-US" b="1" dirty="0" err="1"/>
              <a:t>login.blade.php</a:t>
            </a:r>
            <a:endParaRPr lang="en-US" b="1" dirty="0"/>
          </a:p>
          <a:p>
            <a:endParaRPr lang="en-US" b="1" dirty="0"/>
          </a:p>
          <a:p>
            <a:endParaRPr lang="en-US" b="1" dirty="0"/>
          </a:p>
          <a:p>
            <a:r>
              <a:rPr lang="en-US" b="1" dirty="0"/>
              <a:t>Step5:</a:t>
            </a:r>
            <a:r>
              <a:rPr lang="en-US" dirty="0"/>
              <a:t>Visit the </a:t>
            </a:r>
            <a:r>
              <a:rPr lang="en-US" b="1" dirty="0"/>
              <a:t>URL: </a:t>
            </a:r>
            <a:r>
              <a:rPr lang="en-US" sz="2800" b="1" dirty="0">
                <a:latin typeface="Consolas" panose="020B0609020204030204" pitchFamily="49" charset="0"/>
                <a:hlinkClick r:id="rId3"/>
              </a:rPr>
              <a:t>http://127.0.0.1:8000/</a:t>
            </a:r>
            <a:r>
              <a:rPr lang="en-US" sz="2800" b="1" u="sng" dirty="0">
                <a:latin typeface="Consolas" panose="020B0609020204030204" pitchFamily="49" charset="0"/>
                <a:hlinkClick r:id="rId3"/>
              </a:rPr>
              <a:t>login</a:t>
            </a:r>
            <a:r>
              <a:rPr lang="en-US" sz="2800" b="1" u="sng" dirty="0">
                <a:latin typeface="Consolas" panose="020B0609020204030204" pitchFamily="49" charset="0"/>
              </a:rPr>
              <a:t> </a:t>
            </a:r>
            <a:r>
              <a:rPr lang="en-US" dirty="0"/>
              <a:t>to see the output.</a:t>
            </a:r>
          </a:p>
          <a:p>
            <a:r>
              <a:rPr lang="en-US" dirty="0"/>
              <a:t>Step 6: The following screenshot shows the output</a:t>
            </a:r>
          </a:p>
          <a:p>
            <a:endParaRPr lang="en-US" b="1" dirty="0"/>
          </a:p>
          <a:p>
            <a:endParaRPr lang="en-US" b="1" dirty="0"/>
          </a:p>
          <a:p>
            <a:endParaRPr lang="en-US" dirty="0"/>
          </a:p>
          <a:p>
            <a:endParaRPr lang="en-US" dirty="0"/>
          </a:p>
        </p:txBody>
      </p:sp>
      <p:pic>
        <p:nvPicPr>
          <p:cNvPr id="2" name="Picture 1">
            <a:extLst>
              <a:ext uri="{FF2B5EF4-FFF2-40B4-BE49-F238E27FC236}">
                <a16:creationId xmlns:a16="http://schemas.microsoft.com/office/drawing/2014/main" id="{13C98C9A-BE0D-488F-BBD9-48507E2BDCB4}"/>
              </a:ext>
            </a:extLst>
          </p:cNvPr>
          <p:cNvPicPr>
            <a:picLocks noChangeAspect="1"/>
          </p:cNvPicPr>
          <p:nvPr/>
        </p:nvPicPr>
        <p:blipFill>
          <a:blip r:embed="rId4"/>
          <a:stretch>
            <a:fillRect/>
          </a:stretch>
        </p:blipFill>
        <p:spPr>
          <a:xfrm>
            <a:off x="3824411" y="1492064"/>
            <a:ext cx="7096125" cy="1714500"/>
          </a:xfrm>
          <a:prstGeom prst="rect">
            <a:avLst/>
          </a:prstGeom>
        </p:spPr>
      </p:pic>
      <p:pic>
        <p:nvPicPr>
          <p:cNvPr id="6" name="Picture 5">
            <a:extLst>
              <a:ext uri="{FF2B5EF4-FFF2-40B4-BE49-F238E27FC236}">
                <a16:creationId xmlns:a16="http://schemas.microsoft.com/office/drawing/2014/main" id="{778998D9-902C-4BAD-8F94-0E774CEC4940}"/>
              </a:ext>
            </a:extLst>
          </p:cNvPr>
          <p:cNvPicPr>
            <a:picLocks noChangeAspect="1"/>
          </p:cNvPicPr>
          <p:nvPr/>
        </p:nvPicPr>
        <p:blipFill>
          <a:blip r:embed="rId5"/>
          <a:stretch>
            <a:fillRect/>
          </a:stretch>
        </p:blipFill>
        <p:spPr>
          <a:xfrm>
            <a:off x="3781425" y="3655002"/>
            <a:ext cx="4629150" cy="904875"/>
          </a:xfrm>
          <a:prstGeom prst="rect">
            <a:avLst/>
          </a:prstGeom>
        </p:spPr>
      </p:pic>
      <p:pic>
        <p:nvPicPr>
          <p:cNvPr id="7" name="Picture 6">
            <a:extLst>
              <a:ext uri="{FF2B5EF4-FFF2-40B4-BE49-F238E27FC236}">
                <a16:creationId xmlns:a16="http://schemas.microsoft.com/office/drawing/2014/main" id="{97862464-1433-4128-879D-DE37024B1964}"/>
              </a:ext>
            </a:extLst>
          </p:cNvPr>
          <p:cNvPicPr>
            <a:picLocks noChangeAspect="1"/>
          </p:cNvPicPr>
          <p:nvPr/>
        </p:nvPicPr>
        <p:blipFill>
          <a:blip r:embed="rId6"/>
          <a:stretch>
            <a:fillRect/>
          </a:stretch>
        </p:blipFill>
        <p:spPr>
          <a:xfrm>
            <a:off x="8083599" y="5157192"/>
            <a:ext cx="3629025" cy="1419225"/>
          </a:xfrm>
          <a:prstGeom prst="rect">
            <a:avLst/>
          </a:prstGeom>
        </p:spPr>
      </p:pic>
      <p:cxnSp>
        <p:nvCxnSpPr>
          <p:cNvPr id="9" name="Straight Arrow Connector 8">
            <a:extLst>
              <a:ext uri="{FF2B5EF4-FFF2-40B4-BE49-F238E27FC236}">
                <a16:creationId xmlns:a16="http://schemas.microsoft.com/office/drawing/2014/main" id="{6EF20CB8-1B1A-49FC-9678-7504773DC103}"/>
              </a:ext>
            </a:extLst>
          </p:cNvPr>
          <p:cNvCxnSpPr/>
          <p:nvPr/>
        </p:nvCxnSpPr>
        <p:spPr>
          <a:xfrm>
            <a:off x="6168008" y="5365936"/>
            <a:ext cx="1872208" cy="439328"/>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8831061"/>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Login Example using Laravel Controllers</a:t>
            </a:r>
            <a:br>
              <a:rPr lang="en-US" sz="3200" dirty="0"/>
            </a:br>
            <a:endParaRPr lang="en-US" dirty="0"/>
          </a:p>
        </p:txBody>
      </p:sp>
      <p:sp>
        <p:nvSpPr>
          <p:cNvPr id="3" name="Content Placeholder 2">
            <a:extLst>
              <a:ext uri="{FF2B5EF4-FFF2-40B4-BE49-F238E27FC236}">
                <a16:creationId xmlns:a16="http://schemas.microsoft.com/office/drawing/2014/main" id="{4424A202-B915-49FF-B4EF-F7272D9F27A7}"/>
              </a:ext>
            </a:extLst>
          </p:cNvPr>
          <p:cNvSpPr>
            <a:spLocks noGrp="1"/>
          </p:cNvSpPr>
          <p:nvPr>
            <p:ph idx="1"/>
          </p:nvPr>
        </p:nvSpPr>
        <p:spPr>
          <a:xfrm>
            <a:off x="479376" y="1124744"/>
            <a:ext cx="11809312" cy="4163640"/>
          </a:xfrm>
        </p:spPr>
        <p:txBody>
          <a:bodyPr/>
          <a:lstStyle/>
          <a:p>
            <a:r>
              <a:rPr lang="en-US" dirty="0"/>
              <a:t>Modify the Login Page</a:t>
            </a:r>
          </a:p>
          <a:p>
            <a:endParaRPr lang="en-US" dirty="0"/>
          </a:p>
        </p:txBody>
      </p:sp>
      <p:pic>
        <p:nvPicPr>
          <p:cNvPr id="7" name="Picture 6">
            <a:extLst>
              <a:ext uri="{FF2B5EF4-FFF2-40B4-BE49-F238E27FC236}">
                <a16:creationId xmlns:a16="http://schemas.microsoft.com/office/drawing/2014/main" id="{97862464-1433-4128-879D-DE37024B1964}"/>
              </a:ext>
            </a:extLst>
          </p:cNvPr>
          <p:cNvPicPr>
            <a:picLocks noChangeAspect="1"/>
          </p:cNvPicPr>
          <p:nvPr/>
        </p:nvPicPr>
        <p:blipFill>
          <a:blip r:embed="rId3"/>
          <a:stretch>
            <a:fillRect/>
          </a:stretch>
        </p:blipFill>
        <p:spPr>
          <a:xfrm>
            <a:off x="8562975" y="30382"/>
            <a:ext cx="3629025" cy="1419225"/>
          </a:xfrm>
          <a:prstGeom prst="rect">
            <a:avLst/>
          </a:prstGeom>
          <a:ln>
            <a:solidFill>
              <a:schemeClr val="accent2"/>
            </a:solidFill>
          </a:ln>
        </p:spPr>
      </p:pic>
      <p:pic>
        <p:nvPicPr>
          <p:cNvPr id="8" name="Picture 7">
            <a:extLst>
              <a:ext uri="{FF2B5EF4-FFF2-40B4-BE49-F238E27FC236}">
                <a16:creationId xmlns:a16="http://schemas.microsoft.com/office/drawing/2014/main" id="{05D355CA-A0A3-4B37-8B11-970F19979BFF}"/>
              </a:ext>
            </a:extLst>
          </p:cNvPr>
          <p:cNvPicPr>
            <a:picLocks noChangeAspect="1"/>
          </p:cNvPicPr>
          <p:nvPr/>
        </p:nvPicPr>
        <p:blipFill>
          <a:blip r:embed="rId4"/>
          <a:stretch>
            <a:fillRect/>
          </a:stretch>
        </p:blipFill>
        <p:spPr>
          <a:xfrm>
            <a:off x="407368" y="1546597"/>
            <a:ext cx="10439400" cy="3562350"/>
          </a:xfrm>
          <a:prstGeom prst="rect">
            <a:avLst/>
          </a:prstGeom>
        </p:spPr>
      </p:pic>
      <p:pic>
        <p:nvPicPr>
          <p:cNvPr id="10" name="Picture 9">
            <a:extLst>
              <a:ext uri="{FF2B5EF4-FFF2-40B4-BE49-F238E27FC236}">
                <a16:creationId xmlns:a16="http://schemas.microsoft.com/office/drawing/2014/main" id="{5963ABA1-3A80-4E68-88AA-FE2429F89C76}"/>
              </a:ext>
            </a:extLst>
          </p:cNvPr>
          <p:cNvPicPr>
            <a:picLocks noChangeAspect="1"/>
          </p:cNvPicPr>
          <p:nvPr/>
        </p:nvPicPr>
        <p:blipFill>
          <a:blip r:embed="rId5"/>
          <a:stretch>
            <a:fillRect/>
          </a:stretch>
        </p:blipFill>
        <p:spPr>
          <a:xfrm>
            <a:off x="8496300" y="4370168"/>
            <a:ext cx="3695700" cy="2457450"/>
          </a:xfrm>
          <a:prstGeom prst="rect">
            <a:avLst/>
          </a:prstGeom>
          <a:ln>
            <a:solidFill>
              <a:schemeClr val="accent2"/>
            </a:solidFill>
          </a:ln>
        </p:spPr>
      </p:pic>
      <p:cxnSp>
        <p:nvCxnSpPr>
          <p:cNvPr id="12" name="Straight Arrow Connector 11">
            <a:extLst>
              <a:ext uri="{FF2B5EF4-FFF2-40B4-BE49-F238E27FC236}">
                <a16:creationId xmlns:a16="http://schemas.microsoft.com/office/drawing/2014/main" id="{071374DF-E9EE-4EFE-853D-F7966B078B9A}"/>
              </a:ext>
            </a:extLst>
          </p:cNvPr>
          <p:cNvCxnSpPr/>
          <p:nvPr/>
        </p:nvCxnSpPr>
        <p:spPr>
          <a:xfrm>
            <a:off x="11496600" y="1453272"/>
            <a:ext cx="0" cy="2801863"/>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5588711"/>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Login Example using Laravel Controllers</a:t>
            </a:r>
            <a:br>
              <a:rPr lang="en-US" sz="3200" dirty="0"/>
            </a:br>
            <a:endParaRPr lang="en-US" dirty="0"/>
          </a:p>
        </p:txBody>
      </p:sp>
      <p:sp>
        <p:nvSpPr>
          <p:cNvPr id="3" name="Content Placeholder 2">
            <a:extLst>
              <a:ext uri="{FF2B5EF4-FFF2-40B4-BE49-F238E27FC236}">
                <a16:creationId xmlns:a16="http://schemas.microsoft.com/office/drawing/2014/main" id="{4424A202-B915-49FF-B4EF-F7272D9F27A7}"/>
              </a:ext>
            </a:extLst>
          </p:cNvPr>
          <p:cNvSpPr>
            <a:spLocks noGrp="1"/>
          </p:cNvSpPr>
          <p:nvPr>
            <p:ph idx="1"/>
          </p:nvPr>
        </p:nvSpPr>
        <p:spPr>
          <a:xfrm>
            <a:off x="479376" y="1124744"/>
            <a:ext cx="11809312" cy="4163640"/>
          </a:xfrm>
        </p:spPr>
        <p:txBody>
          <a:bodyPr/>
          <a:lstStyle/>
          <a:p>
            <a:r>
              <a:rPr lang="en-US" dirty="0"/>
              <a:t>Modify the </a:t>
            </a:r>
            <a:r>
              <a:rPr lang="en-US" dirty="0" err="1"/>
              <a:t>UserController</a:t>
            </a:r>
            <a:r>
              <a:rPr lang="en-US" dirty="0"/>
              <a:t> Page</a:t>
            </a:r>
          </a:p>
          <a:p>
            <a:endParaRPr lang="en-US" dirty="0"/>
          </a:p>
        </p:txBody>
      </p:sp>
      <p:cxnSp>
        <p:nvCxnSpPr>
          <p:cNvPr id="12" name="Straight Arrow Connector 11">
            <a:extLst>
              <a:ext uri="{FF2B5EF4-FFF2-40B4-BE49-F238E27FC236}">
                <a16:creationId xmlns:a16="http://schemas.microsoft.com/office/drawing/2014/main" id="{071374DF-E9EE-4EFE-853D-F7966B078B9A}"/>
              </a:ext>
            </a:extLst>
          </p:cNvPr>
          <p:cNvCxnSpPr/>
          <p:nvPr/>
        </p:nvCxnSpPr>
        <p:spPr>
          <a:xfrm>
            <a:off x="9840416" y="1700808"/>
            <a:ext cx="0" cy="2801863"/>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B38A14B0-A0C4-42C7-8428-BEE8AF362E84}"/>
              </a:ext>
            </a:extLst>
          </p:cNvPr>
          <p:cNvPicPr>
            <a:picLocks noChangeAspect="1"/>
          </p:cNvPicPr>
          <p:nvPr/>
        </p:nvPicPr>
        <p:blipFill>
          <a:blip r:embed="rId3"/>
          <a:stretch>
            <a:fillRect/>
          </a:stretch>
        </p:blipFill>
        <p:spPr>
          <a:xfrm>
            <a:off x="1055440" y="1844824"/>
            <a:ext cx="5495925" cy="3038475"/>
          </a:xfrm>
          <a:prstGeom prst="rect">
            <a:avLst/>
          </a:prstGeom>
        </p:spPr>
      </p:pic>
      <p:pic>
        <p:nvPicPr>
          <p:cNvPr id="4" name="Picture 3">
            <a:extLst>
              <a:ext uri="{FF2B5EF4-FFF2-40B4-BE49-F238E27FC236}">
                <a16:creationId xmlns:a16="http://schemas.microsoft.com/office/drawing/2014/main" id="{E0490599-0ABA-4C2A-A9C7-7102BFE03592}"/>
              </a:ext>
            </a:extLst>
          </p:cNvPr>
          <p:cNvPicPr>
            <a:picLocks noChangeAspect="1"/>
          </p:cNvPicPr>
          <p:nvPr/>
        </p:nvPicPr>
        <p:blipFill>
          <a:blip r:embed="rId4"/>
          <a:stretch>
            <a:fillRect/>
          </a:stretch>
        </p:blipFill>
        <p:spPr>
          <a:xfrm>
            <a:off x="8496300" y="-66286"/>
            <a:ext cx="3600450" cy="2486025"/>
          </a:xfrm>
          <a:prstGeom prst="rect">
            <a:avLst/>
          </a:prstGeom>
          <a:ln>
            <a:solidFill>
              <a:schemeClr val="accent2"/>
            </a:solidFill>
          </a:ln>
        </p:spPr>
      </p:pic>
      <p:pic>
        <p:nvPicPr>
          <p:cNvPr id="6" name="Picture 5">
            <a:extLst>
              <a:ext uri="{FF2B5EF4-FFF2-40B4-BE49-F238E27FC236}">
                <a16:creationId xmlns:a16="http://schemas.microsoft.com/office/drawing/2014/main" id="{37C87DDC-3BA1-4E7E-AEA0-93548824B63A}"/>
              </a:ext>
            </a:extLst>
          </p:cNvPr>
          <p:cNvPicPr>
            <a:picLocks noChangeAspect="1"/>
          </p:cNvPicPr>
          <p:nvPr/>
        </p:nvPicPr>
        <p:blipFill>
          <a:blip r:embed="rId5"/>
          <a:stretch>
            <a:fillRect/>
          </a:stretch>
        </p:blipFill>
        <p:spPr>
          <a:xfrm>
            <a:off x="2567608" y="4962186"/>
            <a:ext cx="8810625" cy="1352550"/>
          </a:xfrm>
          <a:prstGeom prst="rect">
            <a:avLst/>
          </a:prstGeom>
          <a:ln>
            <a:solidFill>
              <a:schemeClr val="accent2"/>
            </a:solidFill>
          </a:ln>
        </p:spPr>
      </p:pic>
    </p:spTree>
    <p:extLst>
      <p:ext uri="{BB962C8B-B14F-4D97-AF65-F5344CB8AC3E}">
        <p14:creationId xmlns:p14="http://schemas.microsoft.com/office/powerpoint/2010/main" val="3596285539"/>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336569"/>
            <a:ext cx="10297145" cy="634605"/>
          </a:xfrm>
        </p:spPr>
        <p:txBody>
          <a:bodyPr vert="horz" lIns="0" tIns="0" rIns="0" bIns="0" rtlCol="0" anchor="t" anchorCtr="0">
            <a:noAutofit/>
          </a:bodyPr>
          <a:lstStyle/>
          <a:p>
            <a:r>
              <a:rPr lang="en-US" sz="3200" dirty="0"/>
              <a:t>Login Example using Laravel Controllers</a:t>
            </a:r>
            <a:br>
              <a:rPr lang="en-US" sz="3200" dirty="0"/>
            </a:br>
            <a:endParaRPr lang="en-US" dirty="0"/>
          </a:p>
        </p:txBody>
      </p:sp>
      <p:sp>
        <p:nvSpPr>
          <p:cNvPr id="3" name="Content Placeholder 2">
            <a:extLst>
              <a:ext uri="{FF2B5EF4-FFF2-40B4-BE49-F238E27FC236}">
                <a16:creationId xmlns:a16="http://schemas.microsoft.com/office/drawing/2014/main" id="{4424A202-B915-49FF-B4EF-F7272D9F27A7}"/>
              </a:ext>
            </a:extLst>
          </p:cNvPr>
          <p:cNvSpPr>
            <a:spLocks noGrp="1"/>
          </p:cNvSpPr>
          <p:nvPr>
            <p:ph idx="1"/>
          </p:nvPr>
        </p:nvSpPr>
        <p:spPr>
          <a:xfrm>
            <a:off x="479376" y="1124744"/>
            <a:ext cx="11809312" cy="4163640"/>
          </a:xfrm>
        </p:spPr>
        <p:txBody>
          <a:bodyPr/>
          <a:lstStyle/>
          <a:p>
            <a:r>
              <a:rPr lang="en-US" dirty="0"/>
              <a:t>Modify the Login Page for Validation</a:t>
            </a:r>
          </a:p>
          <a:p>
            <a:endParaRPr lang="en-US" dirty="0"/>
          </a:p>
        </p:txBody>
      </p:sp>
      <p:pic>
        <p:nvPicPr>
          <p:cNvPr id="2" name="Picture 1">
            <a:extLst>
              <a:ext uri="{FF2B5EF4-FFF2-40B4-BE49-F238E27FC236}">
                <a16:creationId xmlns:a16="http://schemas.microsoft.com/office/drawing/2014/main" id="{C8C2D9E0-509B-40B3-8D88-033863A3E411}"/>
              </a:ext>
            </a:extLst>
          </p:cNvPr>
          <p:cNvPicPr>
            <a:picLocks noChangeAspect="1"/>
          </p:cNvPicPr>
          <p:nvPr/>
        </p:nvPicPr>
        <p:blipFill>
          <a:blip r:embed="rId3"/>
          <a:stretch>
            <a:fillRect/>
          </a:stretch>
        </p:blipFill>
        <p:spPr>
          <a:xfrm>
            <a:off x="1271464" y="2499841"/>
            <a:ext cx="9277350" cy="3333750"/>
          </a:xfrm>
          <a:prstGeom prst="rect">
            <a:avLst/>
          </a:prstGeom>
        </p:spPr>
      </p:pic>
      <p:pic>
        <p:nvPicPr>
          <p:cNvPr id="9" name="Picture 8">
            <a:extLst>
              <a:ext uri="{FF2B5EF4-FFF2-40B4-BE49-F238E27FC236}">
                <a16:creationId xmlns:a16="http://schemas.microsoft.com/office/drawing/2014/main" id="{32E53199-8C55-4265-BE98-8FD7DCFE609A}"/>
              </a:ext>
            </a:extLst>
          </p:cNvPr>
          <p:cNvPicPr>
            <a:picLocks noChangeAspect="1"/>
          </p:cNvPicPr>
          <p:nvPr/>
        </p:nvPicPr>
        <p:blipFill>
          <a:blip r:embed="rId4"/>
          <a:stretch>
            <a:fillRect/>
          </a:stretch>
        </p:blipFill>
        <p:spPr>
          <a:xfrm>
            <a:off x="7872909" y="38243"/>
            <a:ext cx="3695700" cy="2457450"/>
          </a:xfrm>
          <a:prstGeom prst="rect">
            <a:avLst/>
          </a:prstGeom>
          <a:ln>
            <a:solidFill>
              <a:schemeClr val="accent2"/>
            </a:solidFill>
          </a:ln>
        </p:spPr>
      </p:pic>
    </p:spTree>
    <p:extLst>
      <p:ext uri="{BB962C8B-B14F-4D97-AF65-F5344CB8AC3E}">
        <p14:creationId xmlns:p14="http://schemas.microsoft.com/office/powerpoint/2010/main" val="465748983"/>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Login Example using Laravel Controllers</a:t>
            </a:r>
            <a:br>
              <a:rPr lang="en-US" sz="3200" dirty="0"/>
            </a:br>
            <a:endParaRPr lang="en-US" dirty="0"/>
          </a:p>
        </p:txBody>
      </p:sp>
      <p:sp>
        <p:nvSpPr>
          <p:cNvPr id="3" name="Content Placeholder 2">
            <a:extLst>
              <a:ext uri="{FF2B5EF4-FFF2-40B4-BE49-F238E27FC236}">
                <a16:creationId xmlns:a16="http://schemas.microsoft.com/office/drawing/2014/main" id="{4424A202-B915-49FF-B4EF-F7272D9F27A7}"/>
              </a:ext>
            </a:extLst>
          </p:cNvPr>
          <p:cNvSpPr>
            <a:spLocks noGrp="1"/>
          </p:cNvSpPr>
          <p:nvPr>
            <p:ph idx="1"/>
          </p:nvPr>
        </p:nvSpPr>
        <p:spPr>
          <a:xfrm>
            <a:off x="479376" y="1124744"/>
            <a:ext cx="11809312" cy="4163640"/>
          </a:xfrm>
        </p:spPr>
        <p:txBody>
          <a:bodyPr/>
          <a:lstStyle/>
          <a:p>
            <a:r>
              <a:rPr lang="en-US" dirty="0"/>
              <a:t>Modify the </a:t>
            </a:r>
            <a:r>
              <a:rPr lang="en-US" dirty="0" err="1"/>
              <a:t>UserController</a:t>
            </a:r>
            <a:r>
              <a:rPr lang="en-US" dirty="0"/>
              <a:t> Page</a:t>
            </a:r>
          </a:p>
          <a:p>
            <a:endParaRPr lang="en-US" dirty="0"/>
          </a:p>
        </p:txBody>
      </p:sp>
      <p:pic>
        <p:nvPicPr>
          <p:cNvPr id="6" name="Picture 5">
            <a:extLst>
              <a:ext uri="{FF2B5EF4-FFF2-40B4-BE49-F238E27FC236}">
                <a16:creationId xmlns:a16="http://schemas.microsoft.com/office/drawing/2014/main" id="{37C87DDC-3BA1-4E7E-AEA0-93548824B63A}"/>
              </a:ext>
            </a:extLst>
          </p:cNvPr>
          <p:cNvPicPr>
            <a:picLocks noChangeAspect="1"/>
          </p:cNvPicPr>
          <p:nvPr/>
        </p:nvPicPr>
        <p:blipFill>
          <a:blip r:embed="rId3"/>
          <a:stretch>
            <a:fillRect/>
          </a:stretch>
        </p:blipFill>
        <p:spPr>
          <a:xfrm>
            <a:off x="1035193" y="4926528"/>
            <a:ext cx="8810625" cy="1352550"/>
          </a:xfrm>
          <a:prstGeom prst="rect">
            <a:avLst/>
          </a:prstGeom>
          <a:ln>
            <a:solidFill>
              <a:schemeClr val="accent2"/>
            </a:solidFill>
          </a:ln>
        </p:spPr>
      </p:pic>
      <p:pic>
        <p:nvPicPr>
          <p:cNvPr id="7" name="Picture 6">
            <a:extLst>
              <a:ext uri="{FF2B5EF4-FFF2-40B4-BE49-F238E27FC236}">
                <a16:creationId xmlns:a16="http://schemas.microsoft.com/office/drawing/2014/main" id="{1FDDCD12-1769-4B94-A42B-D8D9AD4C97B5}"/>
              </a:ext>
            </a:extLst>
          </p:cNvPr>
          <p:cNvPicPr>
            <a:picLocks noChangeAspect="1"/>
          </p:cNvPicPr>
          <p:nvPr/>
        </p:nvPicPr>
        <p:blipFill>
          <a:blip r:embed="rId4"/>
          <a:stretch>
            <a:fillRect/>
          </a:stretch>
        </p:blipFill>
        <p:spPr>
          <a:xfrm>
            <a:off x="335360" y="1692089"/>
            <a:ext cx="9020175" cy="3028950"/>
          </a:xfrm>
          <a:prstGeom prst="rect">
            <a:avLst/>
          </a:prstGeom>
        </p:spPr>
      </p:pic>
      <p:pic>
        <p:nvPicPr>
          <p:cNvPr id="8" name="Picture 7">
            <a:extLst>
              <a:ext uri="{FF2B5EF4-FFF2-40B4-BE49-F238E27FC236}">
                <a16:creationId xmlns:a16="http://schemas.microsoft.com/office/drawing/2014/main" id="{401F6235-D6A3-4A4E-B23C-01433DF3C68C}"/>
              </a:ext>
            </a:extLst>
          </p:cNvPr>
          <p:cNvPicPr>
            <a:picLocks noChangeAspect="1"/>
          </p:cNvPicPr>
          <p:nvPr/>
        </p:nvPicPr>
        <p:blipFill>
          <a:blip r:embed="rId5"/>
          <a:stretch>
            <a:fillRect/>
          </a:stretch>
        </p:blipFill>
        <p:spPr>
          <a:xfrm>
            <a:off x="8515350" y="22192"/>
            <a:ext cx="3676650" cy="2857500"/>
          </a:xfrm>
          <a:prstGeom prst="rect">
            <a:avLst/>
          </a:prstGeom>
          <a:ln>
            <a:solidFill>
              <a:schemeClr val="accent2"/>
            </a:solidFill>
          </a:ln>
        </p:spPr>
      </p:pic>
      <p:cxnSp>
        <p:nvCxnSpPr>
          <p:cNvPr id="10" name="Straight Arrow Connector 9">
            <a:extLst>
              <a:ext uri="{FF2B5EF4-FFF2-40B4-BE49-F238E27FC236}">
                <a16:creationId xmlns:a16="http://schemas.microsoft.com/office/drawing/2014/main" id="{F616BB47-C4B6-4280-91FB-6BB77499D566}"/>
              </a:ext>
            </a:extLst>
          </p:cNvPr>
          <p:cNvCxnSpPr/>
          <p:nvPr/>
        </p:nvCxnSpPr>
        <p:spPr>
          <a:xfrm flipH="1">
            <a:off x="9840416" y="2924944"/>
            <a:ext cx="864096" cy="2037242"/>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F2CD81A1-99BF-4A3B-830C-5AFBEC08BED3}"/>
              </a:ext>
            </a:extLst>
          </p:cNvPr>
          <p:cNvPicPr>
            <a:picLocks noChangeAspect="1"/>
          </p:cNvPicPr>
          <p:nvPr/>
        </p:nvPicPr>
        <p:blipFill>
          <a:blip r:embed="rId6"/>
          <a:stretch>
            <a:fillRect/>
          </a:stretch>
        </p:blipFill>
        <p:spPr>
          <a:xfrm>
            <a:off x="9280524" y="2907159"/>
            <a:ext cx="2847975" cy="2009775"/>
          </a:xfrm>
          <a:prstGeom prst="rect">
            <a:avLst/>
          </a:prstGeom>
        </p:spPr>
      </p:pic>
      <p:cxnSp>
        <p:nvCxnSpPr>
          <p:cNvPr id="14" name="Straight Arrow Connector 13">
            <a:extLst>
              <a:ext uri="{FF2B5EF4-FFF2-40B4-BE49-F238E27FC236}">
                <a16:creationId xmlns:a16="http://schemas.microsoft.com/office/drawing/2014/main" id="{5F35BC3F-4954-4207-BEDA-347215BC8D81}"/>
              </a:ext>
            </a:extLst>
          </p:cNvPr>
          <p:cNvCxnSpPr/>
          <p:nvPr/>
        </p:nvCxnSpPr>
        <p:spPr>
          <a:xfrm flipH="1">
            <a:off x="9984432" y="4916934"/>
            <a:ext cx="1584176" cy="888330"/>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6312688"/>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a:t>
            </a:r>
            <a:r>
              <a:rPr lang="en-US" sz="3200" dirty="0"/>
              <a:t>Redirection</a:t>
            </a:r>
          </a:p>
          <a:p>
            <a:pPr algn="ctr"/>
            <a:endParaRPr lang="en-US" dirty="0"/>
          </a:p>
        </p:txBody>
      </p:sp>
    </p:spTree>
    <p:extLst>
      <p:ext uri="{BB962C8B-B14F-4D97-AF65-F5344CB8AC3E}">
        <p14:creationId xmlns:p14="http://schemas.microsoft.com/office/powerpoint/2010/main" val="2667224102"/>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Redirection</a:t>
            </a: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6" y="1089373"/>
            <a:ext cx="10873208" cy="5262898"/>
          </a:xfrm>
        </p:spPr>
        <p:txBody>
          <a:bodyPr/>
          <a:lstStyle/>
          <a:p>
            <a:r>
              <a:rPr lang="en-US" sz="2200" dirty="0"/>
              <a:t>Creating Redirects</a:t>
            </a:r>
          </a:p>
          <a:p>
            <a:r>
              <a:rPr lang="en-US" sz="2200" dirty="0"/>
              <a:t>Redirect responses are instances of the Illuminate\Http\</a:t>
            </a:r>
            <a:r>
              <a:rPr lang="en-US" sz="2200" dirty="0" err="1"/>
              <a:t>RedirectResponse</a:t>
            </a:r>
            <a:r>
              <a:rPr lang="en-US" sz="2200" dirty="0"/>
              <a:t> class, and contain the proper headers needed to redirect the user to another URL.</a:t>
            </a:r>
          </a:p>
          <a:p>
            <a:r>
              <a:rPr lang="en-US" sz="2200" dirty="0"/>
              <a:t> There are several ways to generate a Redirect Response instance.</a:t>
            </a:r>
          </a:p>
          <a:p>
            <a:r>
              <a:rPr lang="en-US" sz="2200" dirty="0"/>
              <a:t> The simplest method is to use the global redirect helper</a:t>
            </a:r>
          </a:p>
          <a:p>
            <a:endParaRPr lang="en-US" sz="2200" dirty="0"/>
          </a:p>
          <a:p>
            <a:endParaRPr lang="en-US" sz="2200" dirty="0"/>
          </a:p>
          <a:p>
            <a:endParaRPr lang="en-US" sz="2200" dirty="0"/>
          </a:p>
          <a:p>
            <a:r>
              <a:rPr lang="en-US" sz="2200" dirty="0"/>
              <a:t>To redirect the user to their previous location, such as when a submitted form is invalid. You may use the global back helper function.</a:t>
            </a:r>
          </a:p>
          <a:p>
            <a:endParaRPr lang="en-US" sz="2200" dirty="0"/>
          </a:p>
          <a:p>
            <a:endParaRPr lang="en-US" sz="2200" dirty="0"/>
          </a:p>
          <a:p>
            <a:endParaRPr lang="en-US" sz="2000" dirty="0"/>
          </a:p>
        </p:txBody>
      </p:sp>
      <p:pic>
        <p:nvPicPr>
          <p:cNvPr id="9" name="Picture 8">
            <a:extLst>
              <a:ext uri="{FF2B5EF4-FFF2-40B4-BE49-F238E27FC236}">
                <a16:creationId xmlns:a16="http://schemas.microsoft.com/office/drawing/2014/main" id="{F8E3CBF2-AD0B-4FA6-87D1-FE21EFFD066F}"/>
              </a:ext>
            </a:extLst>
          </p:cNvPr>
          <p:cNvPicPr>
            <a:picLocks noChangeAspect="1"/>
          </p:cNvPicPr>
          <p:nvPr/>
        </p:nvPicPr>
        <p:blipFill>
          <a:blip r:embed="rId3"/>
          <a:stretch>
            <a:fillRect/>
          </a:stretch>
        </p:blipFill>
        <p:spPr>
          <a:xfrm>
            <a:off x="1045472" y="4939554"/>
            <a:ext cx="5838825" cy="1304925"/>
          </a:xfrm>
          <a:prstGeom prst="rect">
            <a:avLst/>
          </a:prstGeom>
        </p:spPr>
      </p:pic>
      <p:pic>
        <p:nvPicPr>
          <p:cNvPr id="2" name="Picture 1">
            <a:extLst>
              <a:ext uri="{FF2B5EF4-FFF2-40B4-BE49-F238E27FC236}">
                <a16:creationId xmlns:a16="http://schemas.microsoft.com/office/drawing/2014/main" id="{B5034718-A761-49F6-A2AB-139AD9D12D5A}"/>
              </a:ext>
            </a:extLst>
          </p:cNvPr>
          <p:cNvPicPr>
            <a:picLocks noChangeAspect="1"/>
          </p:cNvPicPr>
          <p:nvPr/>
        </p:nvPicPr>
        <p:blipFill>
          <a:blip r:embed="rId4"/>
          <a:stretch>
            <a:fillRect/>
          </a:stretch>
        </p:blipFill>
        <p:spPr>
          <a:xfrm>
            <a:off x="1045472" y="3068960"/>
            <a:ext cx="5068153" cy="1174183"/>
          </a:xfrm>
          <a:prstGeom prst="rect">
            <a:avLst/>
          </a:prstGeom>
        </p:spPr>
      </p:pic>
      <p:pic>
        <p:nvPicPr>
          <p:cNvPr id="4" name="Picture 3">
            <a:extLst>
              <a:ext uri="{FF2B5EF4-FFF2-40B4-BE49-F238E27FC236}">
                <a16:creationId xmlns:a16="http://schemas.microsoft.com/office/drawing/2014/main" id="{FC2B1070-FBEE-4A6A-BC02-BBC1DB3E4173}"/>
              </a:ext>
            </a:extLst>
          </p:cNvPr>
          <p:cNvPicPr>
            <a:picLocks noChangeAspect="1"/>
          </p:cNvPicPr>
          <p:nvPr/>
        </p:nvPicPr>
        <p:blipFill>
          <a:blip r:embed="rId5"/>
          <a:stretch>
            <a:fillRect/>
          </a:stretch>
        </p:blipFill>
        <p:spPr>
          <a:xfrm>
            <a:off x="7320136" y="3085881"/>
            <a:ext cx="3168352" cy="1071649"/>
          </a:xfrm>
          <a:prstGeom prst="rect">
            <a:avLst/>
          </a:prstGeom>
        </p:spPr>
      </p:pic>
      <p:cxnSp>
        <p:nvCxnSpPr>
          <p:cNvPr id="8" name="Straight Arrow Connector 7">
            <a:extLst>
              <a:ext uri="{FF2B5EF4-FFF2-40B4-BE49-F238E27FC236}">
                <a16:creationId xmlns:a16="http://schemas.microsoft.com/office/drawing/2014/main" id="{5D3C9974-620A-4D66-A75E-323296CC0B71}"/>
              </a:ext>
            </a:extLst>
          </p:cNvPr>
          <p:cNvCxnSpPr>
            <a:stCxn id="2" idx="3"/>
          </p:cNvCxnSpPr>
          <p:nvPr/>
        </p:nvCxnSpPr>
        <p:spPr>
          <a:xfrm flipV="1">
            <a:off x="6113625" y="3656051"/>
            <a:ext cx="1125313" cy="1"/>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9DA23C77-9674-410F-BFC5-24814DC7F13C}"/>
              </a:ext>
            </a:extLst>
          </p:cNvPr>
          <p:cNvPicPr>
            <a:picLocks noChangeAspect="1"/>
          </p:cNvPicPr>
          <p:nvPr/>
        </p:nvPicPr>
        <p:blipFill>
          <a:blip r:embed="rId6"/>
          <a:stretch>
            <a:fillRect/>
          </a:stretch>
        </p:blipFill>
        <p:spPr>
          <a:xfrm>
            <a:off x="8870416" y="4652905"/>
            <a:ext cx="3048264" cy="1524132"/>
          </a:xfrm>
          <a:prstGeom prst="rect">
            <a:avLst/>
          </a:prstGeom>
        </p:spPr>
      </p:pic>
      <p:cxnSp>
        <p:nvCxnSpPr>
          <p:cNvPr id="12" name="Connector: Elbow 11">
            <a:extLst>
              <a:ext uri="{FF2B5EF4-FFF2-40B4-BE49-F238E27FC236}">
                <a16:creationId xmlns:a16="http://schemas.microsoft.com/office/drawing/2014/main" id="{1CCB66F5-8847-4DC2-8440-0936DB6C7596}"/>
              </a:ext>
            </a:extLst>
          </p:cNvPr>
          <p:cNvCxnSpPr/>
          <p:nvPr/>
        </p:nvCxnSpPr>
        <p:spPr>
          <a:xfrm rot="16200000" flipH="1">
            <a:off x="10321595" y="3667901"/>
            <a:ext cx="991826" cy="658040"/>
          </a:xfrm>
          <a:prstGeom prst="bentConnector3">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5910333"/>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Redirection</a:t>
            </a: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6" y="1089373"/>
            <a:ext cx="10873208" cy="5262898"/>
          </a:xfrm>
        </p:spPr>
        <p:txBody>
          <a:bodyPr/>
          <a:lstStyle/>
          <a:p>
            <a:r>
              <a:rPr lang="en-US" b="1" dirty="0"/>
              <a:t>Redirecting To Named Routes</a:t>
            </a:r>
          </a:p>
          <a:p>
            <a:r>
              <a:rPr lang="en-US" dirty="0"/>
              <a:t>When you call the redirect helper with no parameters, an instance of Illuminate\Routing\Redirector is returned, allowing you to call any method on the Redirector instance.</a:t>
            </a:r>
          </a:p>
          <a:p>
            <a:r>
              <a:rPr lang="en-US" dirty="0"/>
              <a:t> For example, </a:t>
            </a:r>
            <a:r>
              <a:rPr lang="en-US" dirty="0">
                <a:highlight>
                  <a:srgbClr val="FFFF00"/>
                </a:highlight>
              </a:rPr>
              <a:t>to generate a </a:t>
            </a:r>
            <a:r>
              <a:rPr lang="en-US" dirty="0" err="1">
                <a:highlight>
                  <a:srgbClr val="FFFF00"/>
                </a:highlight>
              </a:rPr>
              <a:t>RedirectResponse</a:t>
            </a:r>
            <a:r>
              <a:rPr lang="en-US" dirty="0">
                <a:highlight>
                  <a:srgbClr val="FFFF00"/>
                </a:highlight>
              </a:rPr>
              <a:t> to a named route</a:t>
            </a:r>
            <a:r>
              <a:rPr lang="en-US" dirty="0"/>
              <a:t>, you may use the route method:</a:t>
            </a:r>
          </a:p>
          <a:p>
            <a:endParaRPr lang="en-US" dirty="0"/>
          </a:p>
          <a:p>
            <a:r>
              <a:rPr lang="en-US" dirty="0"/>
              <a:t>If your route has parameters, you may pass them as the second argument to the route method:</a:t>
            </a:r>
          </a:p>
          <a:p>
            <a:r>
              <a:rPr lang="en-US" dirty="0"/>
              <a:t>// For a route with the following URI: profile/{id}</a:t>
            </a:r>
          </a:p>
          <a:p>
            <a:pPr marL="0" indent="0">
              <a:buNone/>
            </a:pPr>
            <a:r>
              <a:rPr lang="en-US" sz="2200" dirty="0"/>
              <a:t> </a:t>
            </a:r>
          </a:p>
        </p:txBody>
      </p:sp>
      <p:pic>
        <p:nvPicPr>
          <p:cNvPr id="2" name="Picture 1">
            <a:extLst>
              <a:ext uri="{FF2B5EF4-FFF2-40B4-BE49-F238E27FC236}">
                <a16:creationId xmlns:a16="http://schemas.microsoft.com/office/drawing/2014/main" id="{6D910FDE-821B-4990-95C0-5227462513A6}"/>
              </a:ext>
            </a:extLst>
          </p:cNvPr>
          <p:cNvPicPr>
            <a:picLocks noChangeAspect="1"/>
          </p:cNvPicPr>
          <p:nvPr/>
        </p:nvPicPr>
        <p:blipFill>
          <a:blip r:embed="rId3"/>
          <a:stretch>
            <a:fillRect/>
          </a:stretch>
        </p:blipFill>
        <p:spPr>
          <a:xfrm>
            <a:off x="3575720" y="3409728"/>
            <a:ext cx="6281420" cy="448673"/>
          </a:xfrm>
          <a:prstGeom prst="rect">
            <a:avLst/>
          </a:prstGeom>
        </p:spPr>
      </p:pic>
      <p:pic>
        <p:nvPicPr>
          <p:cNvPr id="4" name="Picture 3">
            <a:extLst>
              <a:ext uri="{FF2B5EF4-FFF2-40B4-BE49-F238E27FC236}">
                <a16:creationId xmlns:a16="http://schemas.microsoft.com/office/drawing/2014/main" id="{95C86554-1D7A-493D-952D-2D7DBA191175}"/>
              </a:ext>
            </a:extLst>
          </p:cNvPr>
          <p:cNvPicPr>
            <a:picLocks noChangeAspect="1"/>
          </p:cNvPicPr>
          <p:nvPr/>
        </p:nvPicPr>
        <p:blipFill>
          <a:blip r:embed="rId4"/>
          <a:stretch>
            <a:fillRect/>
          </a:stretch>
        </p:blipFill>
        <p:spPr>
          <a:xfrm>
            <a:off x="1343472" y="5543967"/>
            <a:ext cx="9088548" cy="448027"/>
          </a:xfrm>
          <a:prstGeom prst="rect">
            <a:avLst/>
          </a:prstGeom>
        </p:spPr>
      </p:pic>
    </p:spTree>
    <p:extLst>
      <p:ext uri="{BB962C8B-B14F-4D97-AF65-F5344CB8AC3E}">
        <p14:creationId xmlns:p14="http://schemas.microsoft.com/office/powerpoint/2010/main" val="186941422"/>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Redirection</a:t>
            </a: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6" y="1089373"/>
            <a:ext cx="10873208" cy="5262898"/>
          </a:xfrm>
        </p:spPr>
        <p:txBody>
          <a:bodyPr/>
          <a:lstStyle/>
          <a:p>
            <a:r>
              <a:rPr lang="en-US" b="1" dirty="0"/>
              <a:t>Redirecting To Named Routes</a:t>
            </a:r>
          </a:p>
          <a:p>
            <a:pPr marL="0" indent="0">
              <a:buNone/>
            </a:pPr>
            <a:endParaRPr lang="en-US" sz="2200" dirty="0"/>
          </a:p>
        </p:txBody>
      </p:sp>
      <p:pic>
        <p:nvPicPr>
          <p:cNvPr id="7" name="Picture 6">
            <a:extLst>
              <a:ext uri="{FF2B5EF4-FFF2-40B4-BE49-F238E27FC236}">
                <a16:creationId xmlns:a16="http://schemas.microsoft.com/office/drawing/2014/main" id="{C56FC540-A067-44FB-9355-AF00541632AE}"/>
              </a:ext>
            </a:extLst>
          </p:cNvPr>
          <p:cNvPicPr>
            <a:picLocks noChangeAspect="1"/>
          </p:cNvPicPr>
          <p:nvPr/>
        </p:nvPicPr>
        <p:blipFill>
          <a:blip r:embed="rId3"/>
          <a:stretch>
            <a:fillRect/>
          </a:stretch>
        </p:blipFill>
        <p:spPr>
          <a:xfrm>
            <a:off x="7968208" y="2708920"/>
            <a:ext cx="3162574" cy="1592718"/>
          </a:xfrm>
          <a:prstGeom prst="rect">
            <a:avLst/>
          </a:prstGeom>
        </p:spPr>
      </p:pic>
      <p:pic>
        <p:nvPicPr>
          <p:cNvPr id="8" name="Picture 7">
            <a:extLst>
              <a:ext uri="{FF2B5EF4-FFF2-40B4-BE49-F238E27FC236}">
                <a16:creationId xmlns:a16="http://schemas.microsoft.com/office/drawing/2014/main" id="{765725E1-9B55-4907-BA67-550E720F4F90}"/>
              </a:ext>
            </a:extLst>
          </p:cNvPr>
          <p:cNvPicPr>
            <a:picLocks noChangeAspect="1"/>
          </p:cNvPicPr>
          <p:nvPr/>
        </p:nvPicPr>
        <p:blipFill>
          <a:blip r:embed="rId4"/>
          <a:stretch>
            <a:fillRect/>
          </a:stretch>
        </p:blipFill>
        <p:spPr>
          <a:xfrm>
            <a:off x="1271464" y="1855333"/>
            <a:ext cx="6294922" cy="3975234"/>
          </a:xfrm>
          <a:prstGeom prst="rect">
            <a:avLst/>
          </a:prstGeom>
        </p:spPr>
      </p:pic>
    </p:spTree>
    <p:extLst>
      <p:ext uri="{BB962C8B-B14F-4D97-AF65-F5344CB8AC3E}">
        <p14:creationId xmlns:p14="http://schemas.microsoft.com/office/powerpoint/2010/main" val="2356166965"/>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a:t>
            </a:r>
            <a:r>
              <a:rPr lang="en-US" sz="3200" dirty="0"/>
              <a:t>Request &amp; Response</a:t>
            </a:r>
          </a:p>
          <a:p>
            <a:pPr algn="ctr"/>
            <a:endParaRPr lang="en-US" dirty="0"/>
          </a:p>
        </p:txBody>
      </p:sp>
    </p:spTree>
    <p:extLst>
      <p:ext uri="{BB962C8B-B14F-4D97-AF65-F5344CB8AC3E}">
        <p14:creationId xmlns:p14="http://schemas.microsoft.com/office/powerpoint/2010/main" val="1832177073"/>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Response</a:t>
            </a: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6" y="1089373"/>
            <a:ext cx="10873208" cy="4931915"/>
          </a:xfrm>
        </p:spPr>
        <p:txBody>
          <a:bodyPr/>
          <a:lstStyle/>
          <a:p>
            <a:r>
              <a:rPr lang="en-US" dirty="0"/>
              <a:t>A web application responds to a user’s request in many ways depending on many parameters</a:t>
            </a:r>
          </a:p>
          <a:p>
            <a:r>
              <a:rPr lang="en-US" dirty="0"/>
              <a:t>Laravel provides several different ways to return response. </a:t>
            </a:r>
          </a:p>
          <a:p>
            <a:r>
              <a:rPr lang="en-US" dirty="0"/>
              <a:t>Response can be sent either from route or from controller. </a:t>
            </a:r>
          </a:p>
          <a:p>
            <a:r>
              <a:rPr lang="en-US" dirty="0"/>
              <a:t>The basic response that can be sent is simple string </a:t>
            </a:r>
          </a:p>
          <a:p>
            <a:r>
              <a:rPr lang="en-US" sz="2200" dirty="0"/>
              <a:t>Creating Responses</a:t>
            </a:r>
          </a:p>
          <a:p>
            <a:r>
              <a:rPr lang="en-US" sz="2200" dirty="0"/>
              <a:t>Strings &amp; Arrays</a:t>
            </a:r>
          </a:p>
          <a:p>
            <a:r>
              <a:rPr lang="en-US" sz="2200" dirty="0"/>
              <a:t>All routes and controllers should return a response to be sent back to the user's browser.</a:t>
            </a:r>
          </a:p>
          <a:p>
            <a:r>
              <a:rPr lang="en-US" sz="2200" dirty="0"/>
              <a:t> Laravel framework will automatically convert the string into a full HTTP response:</a:t>
            </a:r>
          </a:p>
          <a:p>
            <a:endParaRPr lang="en-US" sz="2000" dirty="0"/>
          </a:p>
        </p:txBody>
      </p:sp>
      <p:pic>
        <p:nvPicPr>
          <p:cNvPr id="2" name="Picture 1">
            <a:extLst>
              <a:ext uri="{FF2B5EF4-FFF2-40B4-BE49-F238E27FC236}">
                <a16:creationId xmlns:a16="http://schemas.microsoft.com/office/drawing/2014/main" id="{8817FF96-93F3-4B90-9261-C8891251A38F}"/>
              </a:ext>
            </a:extLst>
          </p:cNvPr>
          <p:cNvPicPr>
            <a:picLocks noChangeAspect="1"/>
          </p:cNvPicPr>
          <p:nvPr/>
        </p:nvPicPr>
        <p:blipFill>
          <a:blip r:embed="rId3"/>
          <a:stretch>
            <a:fillRect/>
          </a:stretch>
        </p:blipFill>
        <p:spPr>
          <a:xfrm>
            <a:off x="767408" y="5085184"/>
            <a:ext cx="4276725" cy="1114425"/>
          </a:xfrm>
          <a:prstGeom prst="rect">
            <a:avLst/>
          </a:prstGeom>
        </p:spPr>
      </p:pic>
      <p:pic>
        <p:nvPicPr>
          <p:cNvPr id="4" name="Picture 3">
            <a:extLst>
              <a:ext uri="{FF2B5EF4-FFF2-40B4-BE49-F238E27FC236}">
                <a16:creationId xmlns:a16="http://schemas.microsoft.com/office/drawing/2014/main" id="{B2EADFAE-05C7-4FE1-B079-C50384B2B71D}"/>
              </a:ext>
            </a:extLst>
          </p:cNvPr>
          <p:cNvPicPr>
            <a:picLocks noChangeAspect="1"/>
          </p:cNvPicPr>
          <p:nvPr/>
        </p:nvPicPr>
        <p:blipFill>
          <a:blip r:embed="rId4"/>
          <a:stretch>
            <a:fillRect/>
          </a:stretch>
        </p:blipFill>
        <p:spPr>
          <a:xfrm>
            <a:off x="5231904" y="5085184"/>
            <a:ext cx="4162036" cy="1114425"/>
          </a:xfrm>
          <a:prstGeom prst="rect">
            <a:avLst/>
          </a:prstGeom>
        </p:spPr>
      </p:pic>
    </p:spTree>
    <p:extLst>
      <p:ext uri="{BB962C8B-B14F-4D97-AF65-F5344CB8AC3E}">
        <p14:creationId xmlns:p14="http://schemas.microsoft.com/office/powerpoint/2010/main" val="3395677945"/>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Response</a:t>
            </a: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6" y="1089373"/>
            <a:ext cx="10873208" cy="4931915"/>
          </a:xfrm>
        </p:spPr>
        <p:txBody>
          <a:bodyPr/>
          <a:lstStyle/>
          <a:p>
            <a:r>
              <a:rPr lang="en-US" dirty="0"/>
              <a:t>Response Objects</a:t>
            </a:r>
          </a:p>
          <a:p>
            <a:r>
              <a:rPr lang="en-US" dirty="0"/>
              <a:t>Typically, instead of returning simple strings or arrays from your route actions., we will be returning full Illuminate\Http\Response instances or views.</a:t>
            </a:r>
          </a:p>
          <a:p>
            <a:r>
              <a:rPr lang="en-US" dirty="0">
                <a:highlight>
                  <a:srgbClr val="FFFF00"/>
                </a:highlight>
              </a:rPr>
              <a:t>Returning a full Response instance allows you to customize the response's HTTP status code and headers</a:t>
            </a:r>
            <a:r>
              <a:rPr lang="en-US" dirty="0"/>
              <a:t>. </a:t>
            </a:r>
          </a:p>
          <a:p>
            <a:r>
              <a:rPr lang="en-US" dirty="0"/>
              <a:t>A Response instance inherits from the </a:t>
            </a:r>
            <a:r>
              <a:rPr lang="en-US" dirty="0" err="1"/>
              <a:t>Symfony</a:t>
            </a:r>
            <a:r>
              <a:rPr lang="en-US" dirty="0"/>
              <a:t>\Component\</a:t>
            </a:r>
            <a:r>
              <a:rPr lang="en-US" dirty="0" err="1"/>
              <a:t>HttpFoundation</a:t>
            </a:r>
            <a:r>
              <a:rPr lang="en-US" dirty="0"/>
              <a:t>\Response class, which provides a variety of methods for building HTTP responses:</a:t>
            </a:r>
            <a:endParaRPr lang="en-US" sz="2000" dirty="0"/>
          </a:p>
        </p:txBody>
      </p:sp>
      <p:pic>
        <p:nvPicPr>
          <p:cNvPr id="6" name="Picture 5">
            <a:extLst>
              <a:ext uri="{FF2B5EF4-FFF2-40B4-BE49-F238E27FC236}">
                <a16:creationId xmlns:a16="http://schemas.microsoft.com/office/drawing/2014/main" id="{A9C3B516-AB34-46F8-B425-D8200A3718DE}"/>
              </a:ext>
            </a:extLst>
          </p:cNvPr>
          <p:cNvPicPr>
            <a:picLocks noChangeAspect="1"/>
          </p:cNvPicPr>
          <p:nvPr/>
        </p:nvPicPr>
        <p:blipFill>
          <a:blip r:embed="rId3"/>
          <a:stretch>
            <a:fillRect/>
          </a:stretch>
        </p:blipFill>
        <p:spPr>
          <a:xfrm>
            <a:off x="839416" y="4509120"/>
            <a:ext cx="6553200" cy="1123950"/>
          </a:xfrm>
          <a:prstGeom prst="rect">
            <a:avLst/>
          </a:prstGeom>
        </p:spPr>
      </p:pic>
      <p:pic>
        <p:nvPicPr>
          <p:cNvPr id="7" name="Picture 6">
            <a:extLst>
              <a:ext uri="{FF2B5EF4-FFF2-40B4-BE49-F238E27FC236}">
                <a16:creationId xmlns:a16="http://schemas.microsoft.com/office/drawing/2014/main" id="{D8A45F24-7E2C-4124-936A-9E1DA7D154D8}"/>
              </a:ext>
            </a:extLst>
          </p:cNvPr>
          <p:cNvPicPr>
            <a:picLocks noChangeAspect="1"/>
          </p:cNvPicPr>
          <p:nvPr/>
        </p:nvPicPr>
        <p:blipFill>
          <a:blip r:embed="rId4"/>
          <a:stretch>
            <a:fillRect/>
          </a:stretch>
        </p:blipFill>
        <p:spPr>
          <a:xfrm>
            <a:off x="8112224" y="4347195"/>
            <a:ext cx="3733800" cy="1447800"/>
          </a:xfrm>
          <a:prstGeom prst="rect">
            <a:avLst/>
          </a:prstGeom>
          <a:ln>
            <a:solidFill>
              <a:schemeClr val="accent2"/>
            </a:solidFill>
          </a:ln>
        </p:spPr>
      </p:pic>
    </p:spTree>
    <p:extLst>
      <p:ext uri="{BB962C8B-B14F-4D97-AF65-F5344CB8AC3E}">
        <p14:creationId xmlns:p14="http://schemas.microsoft.com/office/powerpoint/2010/main" val="268343878"/>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Request</a:t>
            </a: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6" y="1089373"/>
            <a:ext cx="10873208" cy="4931915"/>
          </a:xfrm>
        </p:spPr>
        <p:txBody>
          <a:bodyPr/>
          <a:lstStyle/>
          <a:p>
            <a:r>
              <a:rPr lang="en-US" dirty="0"/>
              <a:t>Laravel's Illuminate\Http\Request class provides an object-oriented way to interact with the current HTTP request being handled by your application as well as retrieve the input, cookies, and files that were submitted with the request.</a:t>
            </a:r>
          </a:p>
          <a:p>
            <a:r>
              <a:rPr lang="en-US" dirty="0"/>
              <a:t> The Laravel service container will automatically inject the incoming request instance:</a:t>
            </a:r>
          </a:p>
          <a:p>
            <a:endParaRPr lang="en-US" dirty="0"/>
          </a:p>
          <a:p>
            <a:endParaRPr lang="en-US" dirty="0"/>
          </a:p>
          <a:p>
            <a:r>
              <a:rPr lang="en-US" dirty="0"/>
              <a:t>Retrieving The Request </a:t>
            </a:r>
            <a:r>
              <a:rPr lang="en-US" dirty="0" err="1"/>
              <a:t>Path:The</a:t>
            </a:r>
            <a:r>
              <a:rPr lang="en-US" dirty="0"/>
              <a:t> path method returns the request's path information. So, if the incoming request is targeted at http://abc.com/foo/bar, the path method will return foo/bar:</a:t>
            </a:r>
          </a:p>
          <a:p>
            <a:endParaRPr lang="en-US" dirty="0"/>
          </a:p>
          <a:p>
            <a:endParaRPr lang="en-US" dirty="0"/>
          </a:p>
        </p:txBody>
      </p:sp>
      <p:pic>
        <p:nvPicPr>
          <p:cNvPr id="2" name="Picture 1">
            <a:extLst>
              <a:ext uri="{FF2B5EF4-FFF2-40B4-BE49-F238E27FC236}">
                <a16:creationId xmlns:a16="http://schemas.microsoft.com/office/drawing/2014/main" id="{43DC76E5-8D0F-4A59-92CB-63B09FFBB734}"/>
              </a:ext>
            </a:extLst>
          </p:cNvPr>
          <p:cNvPicPr>
            <a:picLocks noChangeAspect="1"/>
          </p:cNvPicPr>
          <p:nvPr/>
        </p:nvPicPr>
        <p:blipFill>
          <a:blip r:embed="rId3"/>
          <a:stretch>
            <a:fillRect/>
          </a:stretch>
        </p:blipFill>
        <p:spPr>
          <a:xfrm>
            <a:off x="4079776" y="2996952"/>
            <a:ext cx="5772150" cy="1352550"/>
          </a:xfrm>
          <a:prstGeom prst="rect">
            <a:avLst/>
          </a:prstGeom>
        </p:spPr>
      </p:pic>
      <p:pic>
        <p:nvPicPr>
          <p:cNvPr id="4" name="Picture 3">
            <a:extLst>
              <a:ext uri="{FF2B5EF4-FFF2-40B4-BE49-F238E27FC236}">
                <a16:creationId xmlns:a16="http://schemas.microsoft.com/office/drawing/2014/main" id="{4C2923CD-2242-45EE-ACFE-F3294F84DC7E}"/>
              </a:ext>
            </a:extLst>
          </p:cNvPr>
          <p:cNvPicPr>
            <a:picLocks noChangeAspect="1"/>
          </p:cNvPicPr>
          <p:nvPr/>
        </p:nvPicPr>
        <p:blipFill>
          <a:blip r:embed="rId4"/>
          <a:stretch>
            <a:fillRect/>
          </a:stretch>
        </p:blipFill>
        <p:spPr>
          <a:xfrm>
            <a:off x="6095999" y="5157192"/>
            <a:ext cx="4995555" cy="432048"/>
          </a:xfrm>
          <a:prstGeom prst="rect">
            <a:avLst/>
          </a:prstGeom>
        </p:spPr>
      </p:pic>
    </p:spTree>
    <p:extLst>
      <p:ext uri="{BB962C8B-B14F-4D97-AF65-F5344CB8AC3E}">
        <p14:creationId xmlns:p14="http://schemas.microsoft.com/office/powerpoint/2010/main" val="2777264891"/>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Request</a:t>
            </a: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6" y="1089373"/>
            <a:ext cx="10873208" cy="4931915"/>
          </a:xfrm>
        </p:spPr>
        <p:txBody>
          <a:bodyPr/>
          <a:lstStyle/>
          <a:p>
            <a:r>
              <a:rPr lang="en-US" dirty="0"/>
              <a:t>Retrieving The Request Method</a:t>
            </a:r>
          </a:p>
          <a:p>
            <a:r>
              <a:rPr lang="en-US" dirty="0"/>
              <a:t>The method ‘method’ will return the HTTP verb for the request. You may use the </a:t>
            </a:r>
            <a:r>
              <a:rPr lang="en-US" dirty="0" err="1"/>
              <a:t>isMethod</a:t>
            </a:r>
            <a:r>
              <a:rPr lang="en-US" dirty="0"/>
              <a:t> method to verify that the HTTP verb matches a given string:</a:t>
            </a:r>
          </a:p>
          <a:p>
            <a:endParaRPr lang="en-US" dirty="0"/>
          </a:p>
          <a:p>
            <a:endParaRPr lang="en-US" dirty="0"/>
          </a:p>
          <a:p>
            <a:endParaRPr lang="en-US" dirty="0"/>
          </a:p>
          <a:p>
            <a:endParaRPr lang="en-US" dirty="0"/>
          </a:p>
          <a:p>
            <a:r>
              <a:rPr lang="en-US" dirty="0"/>
              <a:t>Retrieving All Input Data</a:t>
            </a:r>
          </a:p>
          <a:p>
            <a:r>
              <a:rPr lang="en-US" dirty="0"/>
              <a:t>You may </a:t>
            </a:r>
            <a:r>
              <a:rPr lang="en-US" dirty="0">
                <a:highlight>
                  <a:srgbClr val="FFFF00"/>
                </a:highlight>
              </a:rPr>
              <a:t>retrieve all of the incoming request's input data as an array using the all method</a:t>
            </a:r>
            <a:r>
              <a:rPr lang="en-US" dirty="0"/>
              <a:t>. This method may be used regardless of whether the incoming request is from an HTML form or is an XHR request:</a:t>
            </a:r>
          </a:p>
          <a:p>
            <a:endParaRPr lang="en-US" dirty="0"/>
          </a:p>
          <a:p>
            <a:pPr marL="0" indent="0">
              <a:buNone/>
            </a:pPr>
            <a:endParaRPr lang="en-US" dirty="0"/>
          </a:p>
        </p:txBody>
      </p:sp>
      <p:pic>
        <p:nvPicPr>
          <p:cNvPr id="7" name="Picture 6">
            <a:extLst>
              <a:ext uri="{FF2B5EF4-FFF2-40B4-BE49-F238E27FC236}">
                <a16:creationId xmlns:a16="http://schemas.microsoft.com/office/drawing/2014/main" id="{B4EDBEEC-ED74-4AC8-8841-4ED5D0D882FC}"/>
              </a:ext>
            </a:extLst>
          </p:cNvPr>
          <p:cNvPicPr>
            <a:picLocks noChangeAspect="1"/>
          </p:cNvPicPr>
          <p:nvPr/>
        </p:nvPicPr>
        <p:blipFill>
          <a:blip r:embed="rId3"/>
          <a:stretch>
            <a:fillRect/>
          </a:stretch>
        </p:blipFill>
        <p:spPr>
          <a:xfrm>
            <a:off x="3215680" y="2420888"/>
            <a:ext cx="3981450" cy="1495425"/>
          </a:xfrm>
          <a:prstGeom prst="rect">
            <a:avLst/>
          </a:prstGeom>
        </p:spPr>
      </p:pic>
      <p:pic>
        <p:nvPicPr>
          <p:cNvPr id="8" name="Picture 7">
            <a:extLst>
              <a:ext uri="{FF2B5EF4-FFF2-40B4-BE49-F238E27FC236}">
                <a16:creationId xmlns:a16="http://schemas.microsoft.com/office/drawing/2014/main" id="{189818B4-8A33-497D-BED2-3F37544397CD}"/>
              </a:ext>
            </a:extLst>
          </p:cNvPr>
          <p:cNvPicPr>
            <a:picLocks noChangeAspect="1"/>
          </p:cNvPicPr>
          <p:nvPr/>
        </p:nvPicPr>
        <p:blipFill>
          <a:blip r:embed="rId4"/>
          <a:stretch>
            <a:fillRect/>
          </a:stretch>
        </p:blipFill>
        <p:spPr>
          <a:xfrm>
            <a:off x="3215680" y="5708535"/>
            <a:ext cx="3981450" cy="396905"/>
          </a:xfrm>
          <a:prstGeom prst="rect">
            <a:avLst/>
          </a:prstGeom>
        </p:spPr>
      </p:pic>
    </p:spTree>
    <p:extLst>
      <p:ext uri="{BB962C8B-B14F-4D97-AF65-F5344CB8AC3E}">
        <p14:creationId xmlns:p14="http://schemas.microsoft.com/office/powerpoint/2010/main" val="2210222372"/>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Student Data Request and Response</a:t>
            </a:r>
            <a:endParaRPr lang="en-US" dirty="0"/>
          </a:p>
        </p:txBody>
      </p:sp>
      <p:pic>
        <p:nvPicPr>
          <p:cNvPr id="4" name="Content Placeholder 3">
            <a:extLst>
              <a:ext uri="{FF2B5EF4-FFF2-40B4-BE49-F238E27FC236}">
                <a16:creationId xmlns:a16="http://schemas.microsoft.com/office/drawing/2014/main" id="{E10C5CF9-ACA5-45E8-9FFC-38499BAA38DA}"/>
              </a:ext>
            </a:extLst>
          </p:cNvPr>
          <p:cNvPicPr>
            <a:picLocks noGrp="1" noChangeAspect="1"/>
          </p:cNvPicPr>
          <p:nvPr>
            <p:ph idx="1"/>
          </p:nvPr>
        </p:nvPicPr>
        <p:blipFill>
          <a:blip r:embed="rId3"/>
          <a:stretch>
            <a:fillRect/>
          </a:stretch>
        </p:blipFill>
        <p:spPr>
          <a:xfrm>
            <a:off x="407368" y="2399032"/>
            <a:ext cx="7019925" cy="3333750"/>
          </a:xfrm>
          <a:prstGeom prst="rect">
            <a:avLst/>
          </a:prstGeom>
        </p:spPr>
      </p:pic>
      <p:pic>
        <p:nvPicPr>
          <p:cNvPr id="2" name="Picture 1">
            <a:extLst>
              <a:ext uri="{FF2B5EF4-FFF2-40B4-BE49-F238E27FC236}">
                <a16:creationId xmlns:a16="http://schemas.microsoft.com/office/drawing/2014/main" id="{F92EC6D4-50C2-4DD4-8E18-F16294B4FFB8}"/>
              </a:ext>
            </a:extLst>
          </p:cNvPr>
          <p:cNvPicPr>
            <a:picLocks noChangeAspect="1"/>
          </p:cNvPicPr>
          <p:nvPr/>
        </p:nvPicPr>
        <p:blipFill>
          <a:blip r:embed="rId4"/>
          <a:stretch>
            <a:fillRect/>
          </a:stretch>
        </p:blipFill>
        <p:spPr>
          <a:xfrm>
            <a:off x="407368" y="1095669"/>
            <a:ext cx="11493932" cy="1115491"/>
          </a:xfrm>
          <a:prstGeom prst="rect">
            <a:avLst/>
          </a:prstGeom>
        </p:spPr>
      </p:pic>
    </p:spTree>
    <p:extLst>
      <p:ext uri="{BB962C8B-B14F-4D97-AF65-F5344CB8AC3E}">
        <p14:creationId xmlns:p14="http://schemas.microsoft.com/office/powerpoint/2010/main" val="3345484521"/>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Student Data Request and Response</a:t>
            </a:r>
            <a:endParaRPr lang="en-US" dirty="0"/>
          </a:p>
        </p:txBody>
      </p:sp>
      <p:pic>
        <p:nvPicPr>
          <p:cNvPr id="7" name="Content Placeholder 6">
            <a:extLst>
              <a:ext uri="{FF2B5EF4-FFF2-40B4-BE49-F238E27FC236}">
                <a16:creationId xmlns:a16="http://schemas.microsoft.com/office/drawing/2014/main" id="{20039BB0-9362-4337-B300-EE1BB9D7B43D}"/>
              </a:ext>
            </a:extLst>
          </p:cNvPr>
          <p:cNvPicPr>
            <a:picLocks noGrp="1" noChangeAspect="1"/>
          </p:cNvPicPr>
          <p:nvPr>
            <p:ph idx="1"/>
          </p:nvPr>
        </p:nvPicPr>
        <p:blipFill>
          <a:blip r:embed="rId3"/>
          <a:stretch>
            <a:fillRect/>
          </a:stretch>
        </p:blipFill>
        <p:spPr>
          <a:xfrm>
            <a:off x="1055440" y="1196752"/>
            <a:ext cx="5638800" cy="4657725"/>
          </a:xfrm>
          <a:prstGeom prst="rect">
            <a:avLst/>
          </a:prstGeom>
        </p:spPr>
      </p:pic>
    </p:spTree>
    <p:extLst>
      <p:ext uri="{BB962C8B-B14F-4D97-AF65-F5344CB8AC3E}">
        <p14:creationId xmlns:p14="http://schemas.microsoft.com/office/powerpoint/2010/main" val="390851256"/>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Student Data Request and Response</a:t>
            </a:r>
            <a:endParaRPr lang="en-US" dirty="0"/>
          </a:p>
        </p:txBody>
      </p:sp>
      <p:pic>
        <p:nvPicPr>
          <p:cNvPr id="2" name="Content Placeholder 1">
            <a:extLst>
              <a:ext uri="{FF2B5EF4-FFF2-40B4-BE49-F238E27FC236}">
                <a16:creationId xmlns:a16="http://schemas.microsoft.com/office/drawing/2014/main" id="{D7260792-1F71-4C53-9D07-3DE061FA9EAB}"/>
              </a:ext>
            </a:extLst>
          </p:cNvPr>
          <p:cNvPicPr>
            <a:picLocks noGrp="1" noChangeAspect="1"/>
          </p:cNvPicPr>
          <p:nvPr>
            <p:ph idx="1"/>
          </p:nvPr>
        </p:nvPicPr>
        <p:blipFill>
          <a:blip r:embed="rId3"/>
          <a:stretch>
            <a:fillRect/>
          </a:stretch>
        </p:blipFill>
        <p:spPr>
          <a:xfrm>
            <a:off x="119336" y="836712"/>
            <a:ext cx="8349988" cy="4932363"/>
          </a:xfrm>
          <a:prstGeom prst="rect">
            <a:avLst/>
          </a:prstGeom>
        </p:spPr>
      </p:pic>
      <p:pic>
        <p:nvPicPr>
          <p:cNvPr id="4" name="Picture 3">
            <a:extLst>
              <a:ext uri="{FF2B5EF4-FFF2-40B4-BE49-F238E27FC236}">
                <a16:creationId xmlns:a16="http://schemas.microsoft.com/office/drawing/2014/main" id="{55BF55E8-996B-45F3-9B33-82313A94E460}"/>
              </a:ext>
            </a:extLst>
          </p:cNvPr>
          <p:cNvPicPr>
            <a:picLocks noChangeAspect="1"/>
          </p:cNvPicPr>
          <p:nvPr/>
        </p:nvPicPr>
        <p:blipFill>
          <a:blip r:embed="rId4"/>
          <a:stretch>
            <a:fillRect/>
          </a:stretch>
        </p:blipFill>
        <p:spPr>
          <a:xfrm>
            <a:off x="8469324" y="1196752"/>
            <a:ext cx="3722676" cy="3571875"/>
          </a:xfrm>
          <a:prstGeom prst="rect">
            <a:avLst/>
          </a:prstGeom>
          <a:ln>
            <a:solidFill>
              <a:schemeClr val="accent2"/>
            </a:solidFill>
          </a:ln>
        </p:spPr>
      </p:pic>
      <p:pic>
        <p:nvPicPr>
          <p:cNvPr id="6" name="Picture 5">
            <a:extLst>
              <a:ext uri="{FF2B5EF4-FFF2-40B4-BE49-F238E27FC236}">
                <a16:creationId xmlns:a16="http://schemas.microsoft.com/office/drawing/2014/main" id="{36879E39-0D09-46F6-99DF-8A4117AB2850}"/>
              </a:ext>
            </a:extLst>
          </p:cNvPr>
          <p:cNvPicPr>
            <a:picLocks noChangeAspect="1"/>
          </p:cNvPicPr>
          <p:nvPr/>
        </p:nvPicPr>
        <p:blipFill>
          <a:blip r:embed="rId5"/>
          <a:stretch>
            <a:fillRect/>
          </a:stretch>
        </p:blipFill>
        <p:spPr>
          <a:xfrm>
            <a:off x="5752" y="5661248"/>
            <a:ext cx="10620375" cy="1238250"/>
          </a:xfrm>
          <a:prstGeom prst="rect">
            <a:avLst/>
          </a:prstGeom>
        </p:spPr>
      </p:pic>
      <p:cxnSp>
        <p:nvCxnSpPr>
          <p:cNvPr id="8" name="Straight Arrow Connector 7">
            <a:extLst>
              <a:ext uri="{FF2B5EF4-FFF2-40B4-BE49-F238E27FC236}">
                <a16:creationId xmlns:a16="http://schemas.microsoft.com/office/drawing/2014/main" id="{17C8429A-9AD4-4902-A432-DC0355277343}"/>
              </a:ext>
            </a:extLst>
          </p:cNvPr>
          <p:cNvCxnSpPr>
            <a:stCxn id="4" idx="2"/>
          </p:cNvCxnSpPr>
          <p:nvPr/>
        </p:nvCxnSpPr>
        <p:spPr>
          <a:xfrm flipH="1">
            <a:off x="9624392" y="4768627"/>
            <a:ext cx="706270" cy="892621"/>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5035797"/>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a:t>
            </a:r>
            <a:r>
              <a:rPr lang="en-US" sz="3200" dirty="0"/>
              <a:t>Laravel Middleware</a:t>
            </a:r>
          </a:p>
          <a:p>
            <a:pPr algn="ctr"/>
            <a:endParaRPr lang="en-US" dirty="0"/>
          </a:p>
        </p:txBody>
      </p:sp>
    </p:spTree>
    <p:extLst>
      <p:ext uri="{BB962C8B-B14F-4D97-AF65-F5344CB8AC3E}">
        <p14:creationId xmlns:p14="http://schemas.microsoft.com/office/powerpoint/2010/main" val="4270355783"/>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Middleware</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72374" y="1167319"/>
            <a:ext cx="11296234" cy="5262898"/>
          </a:xfrm>
        </p:spPr>
        <p:txBody>
          <a:bodyPr/>
          <a:lstStyle/>
          <a:p>
            <a:r>
              <a:rPr lang="en-US" b="1" dirty="0"/>
              <a:t>What Is Middleware</a:t>
            </a:r>
          </a:p>
          <a:p>
            <a:r>
              <a:rPr lang="en-US" dirty="0"/>
              <a:t>In simple words, </a:t>
            </a:r>
            <a:r>
              <a:rPr lang="en-US" dirty="0">
                <a:highlight>
                  <a:srgbClr val="FFFF00"/>
                </a:highlight>
              </a:rPr>
              <a:t>middleware is a bridge between a request and a response</a:t>
            </a:r>
            <a:r>
              <a:rPr lang="en-US" dirty="0"/>
              <a:t>. </a:t>
            </a:r>
          </a:p>
          <a:p>
            <a:r>
              <a:rPr lang="en-US" dirty="0">
                <a:highlight>
                  <a:srgbClr val="FFFF00"/>
                </a:highlight>
              </a:rPr>
              <a:t>It provides a mechanism to filter </a:t>
            </a:r>
            <a:r>
              <a:rPr lang="en-US" b="1" dirty="0">
                <a:highlight>
                  <a:srgbClr val="FFFF00"/>
                </a:highlight>
              </a:rPr>
              <a:t>HTTP</a:t>
            </a:r>
            <a:r>
              <a:rPr lang="en-US" dirty="0">
                <a:highlight>
                  <a:srgbClr val="FFFF00"/>
                </a:highlight>
              </a:rPr>
              <a:t> requests</a:t>
            </a:r>
            <a:r>
              <a:rPr lang="en-US" dirty="0"/>
              <a:t>.</a:t>
            </a:r>
          </a:p>
          <a:p>
            <a:r>
              <a:rPr lang="en-US" dirty="0"/>
              <a:t>All the middleware files are stored in the </a:t>
            </a:r>
            <a:r>
              <a:rPr lang="en-US" b="1" dirty="0"/>
              <a:t>app/Http/Middleware </a:t>
            </a:r>
            <a:r>
              <a:rPr lang="en-US" dirty="0"/>
              <a:t>directory.</a:t>
            </a:r>
          </a:p>
          <a:p>
            <a:r>
              <a:rPr lang="en-US" dirty="0"/>
              <a:t>The Laravel Framework has a middleware to </a:t>
            </a:r>
            <a:r>
              <a:rPr lang="en-US" dirty="0">
                <a:highlight>
                  <a:srgbClr val="FFFF00"/>
                </a:highlight>
              </a:rPr>
              <a:t>check whether the user of the Laravel application is authenticated or not. </a:t>
            </a:r>
          </a:p>
          <a:p>
            <a:r>
              <a:rPr lang="en-US" dirty="0"/>
              <a:t>If the </a:t>
            </a:r>
            <a:r>
              <a:rPr lang="en-US" b="1" dirty="0"/>
              <a:t>user is authenticated</a:t>
            </a:r>
            <a:r>
              <a:rPr lang="en-US" dirty="0"/>
              <a:t>, it directs to the </a:t>
            </a:r>
            <a:r>
              <a:rPr lang="en-US" b="1" dirty="0"/>
              <a:t>home page</a:t>
            </a:r>
            <a:r>
              <a:rPr lang="en-US" dirty="0"/>
              <a:t> and if the </a:t>
            </a:r>
            <a:r>
              <a:rPr lang="en-US" b="1" dirty="0"/>
              <a:t>user is not authenticated</a:t>
            </a:r>
            <a:r>
              <a:rPr lang="en-US" dirty="0"/>
              <a:t>, it </a:t>
            </a:r>
            <a:r>
              <a:rPr lang="en-US" b="1" dirty="0"/>
              <a:t>redirects to the login page</a:t>
            </a:r>
            <a:r>
              <a:rPr lang="en-US" dirty="0"/>
              <a:t>.</a:t>
            </a:r>
          </a:p>
          <a:p>
            <a:r>
              <a:rPr lang="en-US" sz="2000" dirty="0"/>
              <a:t>There are a lot of wrappers around Laravel’s request and response cycle, including something called middleware.</a:t>
            </a:r>
          </a:p>
          <a:p>
            <a:r>
              <a:rPr lang="en-US" sz="2000" dirty="0"/>
              <a:t> When your route closure or controller method is done , it’s not time to send the output to the browser yet; returning the content allows it to continue flowing through the response stack and the middleware before it is returned back to the user.</a:t>
            </a:r>
          </a:p>
          <a:p>
            <a:endParaRPr lang="en-US" sz="2000" dirty="0"/>
          </a:p>
        </p:txBody>
      </p:sp>
    </p:spTree>
    <p:extLst>
      <p:ext uri="{BB962C8B-B14F-4D97-AF65-F5344CB8AC3E}">
        <p14:creationId xmlns:p14="http://schemas.microsoft.com/office/powerpoint/2010/main" val="4111764555"/>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Middleware</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72374" y="1167319"/>
            <a:ext cx="11296234" cy="5262898"/>
          </a:xfrm>
        </p:spPr>
        <p:txBody>
          <a:bodyPr/>
          <a:lstStyle/>
          <a:p>
            <a:r>
              <a:rPr lang="en-US" b="1" dirty="0"/>
              <a:t>Creating a Middleware</a:t>
            </a:r>
            <a:endParaRPr lang="en-US" dirty="0"/>
          </a:p>
          <a:p>
            <a:r>
              <a:rPr lang="en-US" b="1" dirty="0"/>
              <a:t>Step 1:</a:t>
            </a:r>
            <a:r>
              <a:rPr lang="en-US" dirty="0"/>
              <a:t> Run the following command in the command prompt to create a middleware called </a:t>
            </a:r>
            <a:r>
              <a:rPr lang="en-US" b="1" dirty="0"/>
              <a:t>CheckUser</a:t>
            </a:r>
            <a:r>
              <a:rPr lang="en-US" dirty="0"/>
              <a:t>.</a:t>
            </a:r>
          </a:p>
          <a:p>
            <a:endParaRPr lang="en-US" dirty="0"/>
          </a:p>
          <a:p>
            <a:endParaRPr lang="en-US" dirty="0"/>
          </a:p>
          <a:p>
            <a:r>
              <a:rPr lang="en-US" dirty="0"/>
              <a:t>This command will create a file named </a:t>
            </a:r>
            <a:r>
              <a:rPr lang="en-US" b="1" dirty="0" err="1"/>
              <a:t>CheckUser.php</a:t>
            </a:r>
            <a:r>
              <a:rPr lang="en-US" dirty="0"/>
              <a:t> in the </a:t>
            </a:r>
            <a:r>
              <a:rPr lang="en-US" b="1" dirty="0"/>
              <a:t>app/Http/Middleware </a:t>
            </a:r>
            <a:r>
              <a:rPr lang="en-US" dirty="0"/>
              <a:t>directory.</a:t>
            </a:r>
          </a:p>
          <a:p>
            <a:r>
              <a:rPr lang="en-US" b="1" dirty="0"/>
              <a:t>Step 2:</a:t>
            </a:r>
            <a:r>
              <a:rPr lang="en-US" dirty="0"/>
              <a:t> Open the </a:t>
            </a:r>
            <a:r>
              <a:rPr lang="en-US" b="1" dirty="0" err="1"/>
              <a:t>CheckUser.php</a:t>
            </a:r>
            <a:r>
              <a:rPr lang="en-US" dirty="0"/>
              <a:t> file and modify the existing code as shown below in class CheckUser.</a:t>
            </a:r>
          </a:p>
          <a:p>
            <a:endParaRPr lang="en-US" sz="2000" dirty="0"/>
          </a:p>
        </p:txBody>
      </p:sp>
      <p:pic>
        <p:nvPicPr>
          <p:cNvPr id="2" name="Picture 1">
            <a:extLst>
              <a:ext uri="{FF2B5EF4-FFF2-40B4-BE49-F238E27FC236}">
                <a16:creationId xmlns:a16="http://schemas.microsoft.com/office/drawing/2014/main" id="{BEA0A5C2-F8D6-4336-BFF6-BC5C2451AF30}"/>
              </a:ext>
            </a:extLst>
          </p:cNvPr>
          <p:cNvPicPr>
            <a:picLocks noChangeAspect="1"/>
          </p:cNvPicPr>
          <p:nvPr/>
        </p:nvPicPr>
        <p:blipFill>
          <a:blip r:embed="rId3"/>
          <a:stretch>
            <a:fillRect/>
          </a:stretch>
        </p:blipFill>
        <p:spPr>
          <a:xfrm>
            <a:off x="639254" y="2348880"/>
            <a:ext cx="10281282" cy="877242"/>
          </a:xfrm>
          <a:prstGeom prst="rect">
            <a:avLst/>
          </a:prstGeom>
        </p:spPr>
      </p:pic>
      <p:pic>
        <p:nvPicPr>
          <p:cNvPr id="4" name="Picture 3">
            <a:extLst>
              <a:ext uri="{FF2B5EF4-FFF2-40B4-BE49-F238E27FC236}">
                <a16:creationId xmlns:a16="http://schemas.microsoft.com/office/drawing/2014/main" id="{F65E0697-BE3D-468C-8CE1-E46EAA0DC1A4}"/>
              </a:ext>
            </a:extLst>
          </p:cNvPr>
          <p:cNvPicPr>
            <a:picLocks noChangeAspect="1"/>
          </p:cNvPicPr>
          <p:nvPr/>
        </p:nvPicPr>
        <p:blipFill>
          <a:blip r:embed="rId4"/>
          <a:stretch>
            <a:fillRect/>
          </a:stretch>
        </p:blipFill>
        <p:spPr>
          <a:xfrm>
            <a:off x="1919536" y="5013176"/>
            <a:ext cx="6381750" cy="1085850"/>
          </a:xfrm>
          <a:prstGeom prst="rect">
            <a:avLst/>
          </a:prstGeom>
        </p:spPr>
      </p:pic>
    </p:spTree>
    <p:extLst>
      <p:ext uri="{BB962C8B-B14F-4D97-AF65-F5344CB8AC3E}">
        <p14:creationId xmlns:p14="http://schemas.microsoft.com/office/powerpoint/2010/main" val="2998897257"/>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Middleware</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72374" y="1167319"/>
            <a:ext cx="11296234" cy="5262898"/>
          </a:xfrm>
        </p:spPr>
        <p:txBody>
          <a:bodyPr/>
          <a:lstStyle/>
          <a:p>
            <a:r>
              <a:rPr lang="en-US" b="1" dirty="0"/>
              <a:t>Step 3:</a:t>
            </a:r>
            <a:r>
              <a:rPr lang="en-US" dirty="0"/>
              <a:t> Open the </a:t>
            </a:r>
            <a:r>
              <a:rPr lang="en-US" b="1" dirty="0" err="1"/>
              <a:t>Kernel.php</a:t>
            </a:r>
            <a:r>
              <a:rPr lang="en-US" dirty="0"/>
              <a:t> file in the </a:t>
            </a:r>
            <a:r>
              <a:rPr lang="en-US" b="1" dirty="0"/>
              <a:t>app/Http</a:t>
            </a:r>
            <a:r>
              <a:rPr lang="en-US" dirty="0"/>
              <a:t> directory and add the path of the </a:t>
            </a:r>
            <a:r>
              <a:rPr lang="en-US" b="1" dirty="0"/>
              <a:t>CheckUser</a:t>
            </a:r>
            <a:r>
              <a:rPr lang="en-US" dirty="0"/>
              <a:t> middleware as shown below.</a:t>
            </a:r>
          </a:p>
          <a:p>
            <a:endParaRPr lang="en-US" dirty="0"/>
          </a:p>
          <a:p>
            <a:endParaRPr lang="en-US" dirty="0"/>
          </a:p>
          <a:p>
            <a:endParaRPr lang="en-US" dirty="0"/>
          </a:p>
          <a:p>
            <a:endParaRPr lang="en-US" dirty="0"/>
          </a:p>
          <a:p>
            <a:endParaRPr lang="en-US" dirty="0"/>
          </a:p>
          <a:p>
            <a:endParaRPr lang="en-US" dirty="0"/>
          </a:p>
          <a:p>
            <a:endParaRPr lang="en-US" dirty="0"/>
          </a:p>
          <a:p>
            <a:r>
              <a:rPr lang="en-US" b="1" dirty="0"/>
              <a:t>Step 4:</a:t>
            </a:r>
            <a:r>
              <a:rPr lang="en-US" dirty="0"/>
              <a:t> Add the following code segment in the </a:t>
            </a:r>
            <a:r>
              <a:rPr lang="en-US" b="1" dirty="0"/>
              <a:t>routes/</a:t>
            </a:r>
            <a:r>
              <a:rPr lang="en-US" b="1" dirty="0" err="1"/>
              <a:t>web.php</a:t>
            </a:r>
            <a:r>
              <a:rPr lang="en-US" b="1" dirty="0"/>
              <a:t> </a:t>
            </a:r>
            <a:r>
              <a:rPr lang="en-US" dirty="0"/>
              <a:t>file to register a new route.</a:t>
            </a:r>
          </a:p>
          <a:p>
            <a:endParaRPr lang="en-US" dirty="0"/>
          </a:p>
          <a:p>
            <a:endParaRPr lang="en-US" dirty="0"/>
          </a:p>
          <a:p>
            <a:endParaRPr lang="en-US" dirty="0"/>
          </a:p>
          <a:p>
            <a:endParaRPr lang="en-US" sz="2000" dirty="0"/>
          </a:p>
        </p:txBody>
      </p:sp>
      <p:pic>
        <p:nvPicPr>
          <p:cNvPr id="6" name="Picture 5">
            <a:extLst>
              <a:ext uri="{FF2B5EF4-FFF2-40B4-BE49-F238E27FC236}">
                <a16:creationId xmlns:a16="http://schemas.microsoft.com/office/drawing/2014/main" id="{A1785612-06FA-4A5B-853D-E0AD33AAF7F4}"/>
              </a:ext>
            </a:extLst>
          </p:cNvPr>
          <p:cNvPicPr>
            <a:picLocks noChangeAspect="1"/>
          </p:cNvPicPr>
          <p:nvPr/>
        </p:nvPicPr>
        <p:blipFill>
          <a:blip r:embed="rId3"/>
          <a:stretch>
            <a:fillRect/>
          </a:stretch>
        </p:blipFill>
        <p:spPr>
          <a:xfrm>
            <a:off x="2135561" y="5503906"/>
            <a:ext cx="9433048" cy="475816"/>
          </a:xfrm>
          <a:prstGeom prst="rect">
            <a:avLst/>
          </a:prstGeom>
        </p:spPr>
      </p:pic>
      <p:pic>
        <p:nvPicPr>
          <p:cNvPr id="7" name="Picture 6">
            <a:extLst>
              <a:ext uri="{FF2B5EF4-FFF2-40B4-BE49-F238E27FC236}">
                <a16:creationId xmlns:a16="http://schemas.microsoft.com/office/drawing/2014/main" id="{42ED6BB1-8635-4CD4-B991-F4BE0CB3E449}"/>
              </a:ext>
            </a:extLst>
          </p:cNvPr>
          <p:cNvPicPr>
            <a:picLocks noChangeAspect="1"/>
          </p:cNvPicPr>
          <p:nvPr/>
        </p:nvPicPr>
        <p:blipFill>
          <a:blip r:embed="rId4"/>
          <a:stretch>
            <a:fillRect/>
          </a:stretch>
        </p:blipFill>
        <p:spPr>
          <a:xfrm>
            <a:off x="983433" y="1916832"/>
            <a:ext cx="7848872" cy="3089016"/>
          </a:xfrm>
          <a:prstGeom prst="rect">
            <a:avLst/>
          </a:prstGeom>
        </p:spPr>
      </p:pic>
    </p:spTree>
    <p:extLst>
      <p:ext uri="{BB962C8B-B14F-4D97-AF65-F5344CB8AC3E}">
        <p14:creationId xmlns:p14="http://schemas.microsoft.com/office/powerpoint/2010/main" val="1176187486"/>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Middleware</a:t>
            </a:r>
            <a:br>
              <a:rPr lang="en-US" sz="3200" dirty="0"/>
            </a:b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272374" y="1167319"/>
            <a:ext cx="11296234" cy="5262898"/>
          </a:xfrm>
        </p:spPr>
        <p:txBody>
          <a:bodyPr/>
          <a:lstStyle/>
          <a:p>
            <a:r>
              <a:rPr lang="en-US" b="1" dirty="0"/>
              <a:t>Step 5:</a:t>
            </a:r>
            <a:r>
              <a:rPr lang="en-US" dirty="0"/>
              <a:t> We have already created the </a:t>
            </a:r>
            <a:r>
              <a:rPr lang="en-US" b="1" dirty="0"/>
              <a:t>User Controller</a:t>
            </a:r>
            <a:r>
              <a:rPr lang="en-US" dirty="0"/>
              <a:t>. Open the </a:t>
            </a:r>
            <a:r>
              <a:rPr lang="en-US" b="1" dirty="0" err="1"/>
              <a:t>UserController.php</a:t>
            </a:r>
            <a:r>
              <a:rPr lang="en-US" dirty="0"/>
              <a:t> file and modify the existing code as shown below.</a:t>
            </a:r>
          </a:p>
          <a:p>
            <a:endParaRPr lang="en-US" dirty="0"/>
          </a:p>
          <a:p>
            <a:endParaRPr lang="en-US" dirty="0"/>
          </a:p>
          <a:p>
            <a:endParaRPr lang="en-US" dirty="0"/>
          </a:p>
          <a:p>
            <a:endParaRPr lang="en-US" dirty="0"/>
          </a:p>
          <a:p>
            <a:endParaRPr lang="en-US" dirty="0"/>
          </a:p>
          <a:p>
            <a:endParaRPr lang="en-US" dirty="0"/>
          </a:p>
          <a:p>
            <a:r>
              <a:rPr lang="en-US" b="1" dirty="0"/>
              <a:t>Step 4:</a:t>
            </a:r>
            <a:r>
              <a:rPr lang="en-US" dirty="0"/>
              <a:t> Visit the following </a:t>
            </a:r>
            <a:r>
              <a:rPr lang="en-US" b="1" dirty="0"/>
              <a:t>URL: http://127.0.0.1:8000/test</a:t>
            </a:r>
            <a:r>
              <a:rPr lang="en-US" dirty="0"/>
              <a:t> to see the output.</a:t>
            </a:r>
          </a:p>
          <a:p>
            <a:r>
              <a:rPr lang="en-US" b="1" dirty="0"/>
              <a:t>Step 5:</a:t>
            </a:r>
            <a:r>
              <a:rPr lang="en-US" dirty="0"/>
              <a:t> The following screenshot shows the output.</a:t>
            </a:r>
          </a:p>
          <a:p>
            <a:endParaRPr lang="en-US" dirty="0"/>
          </a:p>
          <a:p>
            <a:endParaRPr lang="en-US" dirty="0"/>
          </a:p>
          <a:p>
            <a:endParaRPr lang="en-US" dirty="0"/>
          </a:p>
          <a:p>
            <a:endParaRPr lang="en-US" dirty="0"/>
          </a:p>
          <a:p>
            <a:endParaRPr lang="en-US" sz="2000" dirty="0"/>
          </a:p>
        </p:txBody>
      </p:sp>
      <p:pic>
        <p:nvPicPr>
          <p:cNvPr id="2" name="Picture 1">
            <a:extLst>
              <a:ext uri="{FF2B5EF4-FFF2-40B4-BE49-F238E27FC236}">
                <a16:creationId xmlns:a16="http://schemas.microsoft.com/office/drawing/2014/main" id="{5DDE994D-F5D8-4D8F-B945-363C9E730031}"/>
              </a:ext>
            </a:extLst>
          </p:cNvPr>
          <p:cNvPicPr>
            <a:picLocks noChangeAspect="1"/>
          </p:cNvPicPr>
          <p:nvPr/>
        </p:nvPicPr>
        <p:blipFill>
          <a:blip r:embed="rId3"/>
          <a:stretch>
            <a:fillRect/>
          </a:stretch>
        </p:blipFill>
        <p:spPr>
          <a:xfrm>
            <a:off x="2135561" y="2110893"/>
            <a:ext cx="5328591" cy="2518381"/>
          </a:xfrm>
          <a:prstGeom prst="rect">
            <a:avLst/>
          </a:prstGeom>
        </p:spPr>
      </p:pic>
      <p:pic>
        <p:nvPicPr>
          <p:cNvPr id="4" name="Picture 3">
            <a:extLst>
              <a:ext uri="{FF2B5EF4-FFF2-40B4-BE49-F238E27FC236}">
                <a16:creationId xmlns:a16="http://schemas.microsoft.com/office/drawing/2014/main" id="{F039FB4D-4E76-4B3A-AD1B-C389D29BA946}"/>
              </a:ext>
            </a:extLst>
          </p:cNvPr>
          <p:cNvPicPr>
            <a:picLocks noChangeAspect="1"/>
          </p:cNvPicPr>
          <p:nvPr/>
        </p:nvPicPr>
        <p:blipFill>
          <a:blip r:embed="rId4"/>
          <a:stretch>
            <a:fillRect/>
          </a:stretch>
        </p:blipFill>
        <p:spPr>
          <a:xfrm>
            <a:off x="7968208" y="5013176"/>
            <a:ext cx="2657475" cy="1228725"/>
          </a:xfrm>
          <a:prstGeom prst="rect">
            <a:avLst/>
          </a:prstGeom>
        </p:spPr>
      </p:pic>
    </p:spTree>
    <p:extLst>
      <p:ext uri="{BB962C8B-B14F-4D97-AF65-F5344CB8AC3E}">
        <p14:creationId xmlns:p14="http://schemas.microsoft.com/office/powerpoint/2010/main" val="1995707331"/>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a:t>
            </a:r>
            <a:r>
              <a:rPr lang="en-US" sz="3200" dirty="0"/>
              <a:t>Route Model Binding in Laravel</a:t>
            </a:r>
          </a:p>
          <a:p>
            <a:pPr algn="ctr"/>
            <a:endParaRPr lang="en-US" dirty="0"/>
          </a:p>
        </p:txBody>
      </p:sp>
    </p:spTree>
    <p:extLst>
      <p:ext uri="{BB962C8B-B14F-4D97-AF65-F5344CB8AC3E}">
        <p14:creationId xmlns:p14="http://schemas.microsoft.com/office/powerpoint/2010/main" val="3337086502"/>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Route Model Binding in Laravel</a:t>
            </a: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659396" y="1089373"/>
            <a:ext cx="10873208" cy="4931915"/>
          </a:xfrm>
        </p:spPr>
        <p:txBody>
          <a:bodyPr/>
          <a:lstStyle/>
          <a:p>
            <a:r>
              <a:rPr lang="en-US" b="1" dirty="0"/>
              <a:t>Route Model Binding</a:t>
            </a:r>
            <a:r>
              <a:rPr lang="en-US" dirty="0"/>
              <a:t> in </a:t>
            </a:r>
            <a:r>
              <a:rPr lang="en-US" dirty="0">
                <a:highlight>
                  <a:srgbClr val="FFFF00"/>
                </a:highlight>
              </a:rPr>
              <a:t>Laravel is a feature that allows you to bind a model instance to a route parameter</a:t>
            </a:r>
            <a:r>
              <a:rPr lang="en-US" dirty="0"/>
              <a:t>.</a:t>
            </a:r>
          </a:p>
          <a:p>
            <a:r>
              <a:rPr lang="en-US" dirty="0"/>
              <a:t>Instead of manually retrieving the model from the database based on the route parameter, Laravel automatically does this for you, making it more convenient and expressive.</a:t>
            </a:r>
          </a:p>
          <a:p>
            <a:r>
              <a:rPr lang="en-US" dirty="0"/>
              <a:t>There are two types of Route Model Binding in Laravel:</a:t>
            </a:r>
          </a:p>
          <a:p>
            <a:r>
              <a:rPr lang="en-US" b="1" dirty="0"/>
              <a:t>Implicit Route Model Binding:</a:t>
            </a:r>
          </a:p>
          <a:p>
            <a:r>
              <a:rPr lang="en-US" dirty="0"/>
              <a:t>Implicit binding is the default type of model binding in Laravel.</a:t>
            </a:r>
          </a:p>
          <a:p>
            <a:r>
              <a:rPr lang="en-US" b="1" dirty="0"/>
              <a:t>Explicit Route Model Binding:</a:t>
            </a:r>
            <a:endParaRPr lang="en-US" dirty="0"/>
          </a:p>
          <a:p>
            <a:r>
              <a:rPr lang="en-US" dirty="0"/>
              <a:t>Explicit binding allows you to define your own resolution logic for route model binding.</a:t>
            </a:r>
          </a:p>
          <a:p>
            <a:r>
              <a:rPr lang="en-US" dirty="0"/>
              <a:t>You explicitly tell Laravel which class should be used to retrieve a model for a given identifier.</a:t>
            </a:r>
          </a:p>
          <a:p>
            <a:endParaRPr lang="en-US" dirty="0"/>
          </a:p>
          <a:p>
            <a:pPr marL="0" indent="0">
              <a:buNone/>
            </a:pPr>
            <a:endParaRPr lang="en-US" dirty="0"/>
          </a:p>
        </p:txBody>
      </p:sp>
    </p:spTree>
    <p:extLst>
      <p:ext uri="{BB962C8B-B14F-4D97-AF65-F5344CB8AC3E}">
        <p14:creationId xmlns:p14="http://schemas.microsoft.com/office/powerpoint/2010/main" val="3566896587"/>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sz="3200" dirty="0"/>
              <a:t>Route Model Binding in Laravel</a:t>
            </a:r>
            <a:endParaRPr lang="en-US" dirty="0"/>
          </a:p>
        </p:txBody>
      </p:sp>
      <p:sp>
        <p:nvSpPr>
          <p:cNvPr id="3" name="Content Placeholder 2">
            <a:extLst>
              <a:ext uri="{FF2B5EF4-FFF2-40B4-BE49-F238E27FC236}">
                <a16:creationId xmlns:a16="http://schemas.microsoft.com/office/drawing/2014/main" id="{1B5DAB21-F552-4404-8FA0-26A1065AA4B8}"/>
              </a:ext>
            </a:extLst>
          </p:cNvPr>
          <p:cNvSpPr>
            <a:spLocks noGrp="1"/>
          </p:cNvSpPr>
          <p:nvPr>
            <p:ph idx="1"/>
          </p:nvPr>
        </p:nvSpPr>
        <p:spPr>
          <a:xfrm>
            <a:off x="1199456" y="1089373"/>
            <a:ext cx="9937104" cy="4931915"/>
          </a:xfrm>
        </p:spPr>
        <p:txBody>
          <a:bodyPr/>
          <a:lstStyle/>
          <a:p>
            <a:r>
              <a:rPr lang="en-US" b="1" dirty="0"/>
              <a:t>Benefits of Route Model Binding:</a:t>
            </a:r>
            <a:endParaRPr lang="en-US" dirty="0"/>
          </a:p>
          <a:p>
            <a:r>
              <a:rPr lang="en-US" b="1" dirty="0"/>
              <a:t>Cleaner Controller Code:</a:t>
            </a:r>
            <a:r>
              <a:rPr lang="en-US" dirty="0"/>
              <a:t> The controller method signatures become cleaner and more expressive.</a:t>
            </a:r>
          </a:p>
          <a:p>
            <a:r>
              <a:rPr lang="en-US" b="1" dirty="0"/>
              <a:t>Automatic Retrieval:</a:t>
            </a:r>
            <a:r>
              <a:rPr lang="en-US" dirty="0"/>
              <a:t> Laravel automatically retrieves the model instance from the database based on the route parameter, reducing the need for manual retrieval.</a:t>
            </a:r>
          </a:p>
          <a:p>
            <a:endParaRPr lang="en-US" dirty="0"/>
          </a:p>
          <a:p>
            <a:pPr marL="0" indent="0">
              <a:buNone/>
            </a:pPr>
            <a:endParaRPr lang="en-US" dirty="0"/>
          </a:p>
        </p:txBody>
      </p:sp>
    </p:spTree>
    <p:extLst>
      <p:ext uri="{BB962C8B-B14F-4D97-AF65-F5344CB8AC3E}">
        <p14:creationId xmlns:p14="http://schemas.microsoft.com/office/powerpoint/2010/main" val="1488731264"/>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p:txBody>
          <a:bodyPr/>
          <a:lstStyle/>
          <a:p>
            <a:pPr algn="ctr"/>
            <a:r>
              <a:rPr lang="en-IN" dirty="0"/>
              <a:t>         Thank You my dear students</a:t>
            </a:r>
          </a:p>
        </p:txBody>
      </p:sp>
    </p:spTree>
    <p:extLst>
      <p:ext uri="{BB962C8B-B14F-4D97-AF65-F5344CB8AC3E}">
        <p14:creationId xmlns:p14="http://schemas.microsoft.com/office/powerpoint/2010/main" val="1314720501"/>
      </p:ext>
    </p:extLst>
  </p:cSld>
  <p:clrMapOvr>
    <a:masterClrMapping/>
  </p:clrMapOvr>
  <p:transition>
    <p:fade/>
  </p:transition>
</p:sld>
</file>

<file path=ppt/theme/theme1.xml><?xml version="1.0" encoding="utf-8"?>
<a:theme xmlns:a="http://schemas.openxmlformats.org/drawingml/2006/main" name="EYU Regular presentation">
  <a:themeElements>
    <a:clrScheme name="Custom 1">
      <a:dk1>
        <a:srgbClr val="000000"/>
      </a:dk1>
      <a:lt1>
        <a:srgbClr val="808080"/>
      </a:lt1>
      <a:dk2>
        <a:srgbClr val="FFFFFF"/>
      </a:dk2>
      <a:lt2>
        <a:srgbClr val="808080"/>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2.xml><?xml version="1.0" encoding="utf-8"?>
<a:theme xmlns:a="http://schemas.openxmlformats.org/drawingml/2006/main" name="EY light projection">
  <a:themeElements>
    <a:clrScheme name="Custom 1">
      <a:dk1>
        <a:srgbClr val="000000"/>
      </a:dk1>
      <a:lt1>
        <a:srgbClr val="808080"/>
      </a:lt1>
      <a:dk2>
        <a:srgbClr val="FFFFFF"/>
      </a:dk2>
      <a:lt2>
        <a:srgbClr val="808080"/>
      </a:lt2>
      <a:accent1>
        <a:srgbClr val="808080"/>
      </a:accent1>
      <a:accent2>
        <a:srgbClr val="FFD2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3.xml><?xml version="1.0" encoding="utf-8"?>
<a:theme xmlns:a="http://schemas.openxmlformats.org/drawingml/2006/main" name="1_EY light projection">
  <a:themeElements>
    <a:clrScheme name="Custom 1">
      <a:dk1>
        <a:srgbClr val="000000"/>
      </a:dk1>
      <a:lt1>
        <a:srgbClr val="808080"/>
      </a:lt1>
      <a:dk2>
        <a:srgbClr val="FFFFFF"/>
      </a:dk2>
      <a:lt2>
        <a:srgbClr val="808080"/>
      </a:lt2>
      <a:accent1>
        <a:srgbClr val="808080"/>
      </a:accent1>
      <a:accent2>
        <a:srgbClr val="FFD2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4.xml><?xml version="1.0" encoding="utf-8"?>
<a:theme xmlns:a="http://schemas.openxmlformats.org/drawingml/2006/main" name="EY regular presentation_2010">
  <a:themeElements>
    <a:clrScheme name="Custom 1">
      <a:dk1>
        <a:srgbClr val="000000"/>
      </a:dk1>
      <a:lt1>
        <a:srgbClr val="808080"/>
      </a:lt1>
      <a:dk2>
        <a:srgbClr val="FFFFFF"/>
      </a:dk2>
      <a:lt2>
        <a:srgbClr val="808080"/>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16089</TotalTime>
  <Words>6539</Words>
  <Application>Microsoft Office PowerPoint</Application>
  <PresentationFormat>Widescreen</PresentationFormat>
  <Paragraphs>646</Paragraphs>
  <Slides>133</Slides>
  <Notes>102</Notes>
  <HiddenSlides>5</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133</vt:i4>
      </vt:variant>
    </vt:vector>
  </HeadingPairs>
  <TitlesOfParts>
    <vt:vector size="143" baseType="lpstr">
      <vt:lpstr>Arial</vt:lpstr>
      <vt:lpstr>Armata</vt:lpstr>
      <vt:lpstr>Calibri</vt:lpstr>
      <vt:lpstr>Consolas</vt:lpstr>
      <vt:lpstr>EYInterstate</vt:lpstr>
      <vt:lpstr>Open Sans</vt:lpstr>
      <vt:lpstr>EYU Regular presentation</vt:lpstr>
      <vt:lpstr>EY light projection</vt:lpstr>
      <vt:lpstr>1_EY light projection</vt:lpstr>
      <vt:lpstr>EY regular presentation_2010</vt:lpstr>
      <vt:lpstr>DEPARTMENT OF COMPUTER SCIENCE &amp; ENGINEERING</vt:lpstr>
      <vt:lpstr>PowerPoint Presentation</vt:lpstr>
      <vt:lpstr>Module 5  (CO3, Cognitive Knowledge Level: Apply)</vt:lpstr>
      <vt:lpstr>PowerPoint Presentation</vt:lpstr>
      <vt:lpstr> JSON</vt:lpstr>
      <vt:lpstr> JSON-OVERVIEW</vt:lpstr>
      <vt:lpstr> JSON-Syntax</vt:lpstr>
      <vt:lpstr> JSON-Syntax</vt:lpstr>
      <vt:lpstr> JSON-Data </vt:lpstr>
      <vt:lpstr> JSON-Values</vt:lpstr>
      <vt:lpstr> JSON-Values</vt:lpstr>
      <vt:lpstr>PowerPoint Presentation</vt:lpstr>
      <vt:lpstr> JSON-Data Types </vt:lpstr>
      <vt:lpstr> JSON-Data Types </vt:lpstr>
      <vt:lpstr> JSON-Data Types </vt:lpstr>
      <vt:lpstr> JSON-Data Types </vt:lpstr>
      <vt:lpstr> JSON-Data Types </vt:lpstr>
      <vt:lpstr> JSON-Data Types </vt:lpstr>
      <vt:lpstr> JSON-Data Types </vt:lpstr>
      <vt:lpstr> JSON-Data Types </vt:lpstr>
      <vt:lpstr>PowerPoint Presentation</vt:lpstr>
      <vt:lpstr> JSON-Objects</vt:lpstr>
      <vt:lpstr> Accessing JSON Objects</vt:lpstr>
      <vt:lpstr> Accessing JSON Object in JavaScript</vt:lpstr>
      <vt:lpstr> Accessing JSON Object in JavaScript</vt:lpstr>
      <vt:lpstr> creation of an object in JavaScript using JSON,</vt:lpstr>
      <vt:lpstr> Nested JSON Objects</vt:lpstr>
      <vt:lpstr> creation of an object in JavaScript using JSON,</vt:lpstr>
      <vt:lpstr> creation of an object in JavaScript using JSON,</vt:lpstr>
      <vt:lpstr>PowerPoint Presentation</vt:lpstr>
      <vt:lpstr> JSON Schema</vt:lpstr>
      <vt:lpstr> JSON Schema</vt:lpstr>
      <vt:lpstr> JSON Schema</vt:lpstr>
      <vt:lpstr> JSON Schema</vt:lpstr>
      <vt:lpstr>PowerPoint Presentation</vt:lpstr>
      <vt:lpstr> JSON Schema data to validate the schema</vt:lpstr>
      <vt:lpstr>PowerPoint Presentation</vt:lpstr>
      <vt:lpstr>PowerPoint Presentation</vt:lpstr>
      <vt:lpstr> JSON Schema-email pattern example</vt:lpstr>
      <vt:lpstr> document definition of a ‘Student document ‘using JSON Schema</vt:lpstr>
      <vt:lpstr>PowerPoint Presentation</vt:lpstr>
      <vt:lpstr>PowerPoint Presentation</vt:lpstr>
      <vt:lpstr> JSON-STUDENTSCHEMA  ----University Question</vt:lpstr>
      <vt:lpstr> JSON-STUDENTSCHEMA</vt:lpstr>
      <vt:lpstr>PowerPoint Presentation</vt:lpstr>
      <vt:lpstr> JSON ─ JSON with PHP</vt:lpstr>
      <vt:lpstr> Encoding JSON in PHP (json_encode)</vt:lpstr>
      <vt:lpstr> How the PHP objects can be converted into JSON?(json_encode)</vt:lpstr>
      <vt:lpstr> how the PHP objects can be converted into JSON?(json_encode)</vt:lpstr>
      <vt:lpstr> Decoding JSON in PHP (json_decode)</vt:lpstr>
      <vt:lpstr> Decoding JSON in PHP (json_decode)</vt:lpstr>
      <vt:lpstr> Decoding JSON in PHP (json_decode)</vt:lpstr>
      <vt:lpstr>PowerPoint Presentation</vt:lpstr>
      <vt:lpstr> Web Development Frameworks:</vt:lpstr>
      <vt:lpstr> Web Development Frameworks:Laravel</vt:lpstr>
      <vt:lpstr> Web Development Frameworks : Laravel</vt:lpstr>
      <vt:lpstr>PowerPoint Presentation</vt:lpstr>
      <vt:lpstr>PowerPoint Presentation</vt:lpstr>
      <vt:lpstr> Features of Laravel</vt:lpstr>
      <vt:lpstr> Features of Laravel</vt:lpstr>
      <vt:lpstr>PowerPoint Presentation</vt:lpstr>
      <vt:lpstr>PowerPoint Presentation</vt:lpstr>
      <vt:lpstr> MVC Architecture Of Laravel </vt:lpstr>
      <vt:lpstr> MVC Architecture Of Laravel </vt:lpstr>
      <vt:lpstr>PowerPoint Presentation</vt:lpstr>
      <vt:lpstr> Laravel 9.x </vt:lpstr>
      <vt:lpstr> composer installation</vt:lpstr>
      <vt:lpstr> Installation of Composer and laravel</vt:lpstr>
      <vt:lpstr>PowerPoint Presentation</vt:lpstr>
      <vt:lpstr> Installation of Composer and laravel</vt:lpstr>
      <vt:lpstr> installation of Laravel</vt:lpstr>
      <vt:lpstr>PowerPoint Presentation</vt:lpstr>
      <vt:lpstr>PowerPoint Presentation</vt:lpstr>
      <vt:lpstr>PowerPoint Presentation</vt:lpstr>
      <vt:lpstr>PowerPoint Presentation</vt:lpstr>
      <vt:lpstr>Route Definitions</vt:lpstr>
      <vt:lpstr>Route Definitions-using view</vt:lpstr>
      <vt:lpstr>Route Definitions-using view</vt:lpstr>
      <vt:lpstr>Route Definitions-using view</vt:lpstr>
      <vt:lpstr>Route Definitions-using view</vt:lpstr>
      <vt:lpstr>PowerPoint Presentation</vt:lpstr>
      <vt:lpstr>Laravel PHP Project Structure</vt:lpstr>
      <vt:lpstr>Laravel PHP Project Structure</vt:lpstr>
      <vt:lpstr>PowerPoint Presentation</vt:lpstr>
      <vt:lpstr>PowerPoint Presentation</vt:lpstr>
      <vt:lpstr>Introduction To Laravel Routes </vt:lpstr>
      <vt:lpstr>Introduction To Laravel Routes </vt:lpstr>
      <vt:lpstr>Introduction To Laravel Routes </vt:lpstr>
      <vt:lpstr>Route verbs </vt:lpstr>
      <vt:lpstr>Route verbs </vt:lpstr>
      <vt:lpstr>Laravel's routing mechanisms: </vt:lpstr>
      <vt:lpstr>PowerPoint Presentation</vt:lpstr>
      <vt:lpstr>Introduction To Views </vt:lpstr>
      <vt:lpstr>introduction To Views </vt:lpstr>
      <vt:lpstr>Passing Data to Views</vt:lpstr>
      <vt:lpstr>Introduction to blade template</vt:lpstr>
      <vt:lpstr>Example Laravel Routes-with parameter </vt:lpstr>
      <vt:lpstr>Introduction to blade template</vt:lpstr>
      <vt:lpstr>PowerPoint Presentation</vt:lpstr>
      <vt:lpstr>Laravel Controllers </vt:lpstr>
      <vt:lpstr>Simple Example using Laravel Controllers </vt:lpstr>
      <vt:lpstr>Laravel Controllers-Second example HelloWorld </vt:lpstr>
      <vt:lpstr>Laravel Controllers- Second example HelloWorld </vt:lpstr>
      <vt:lpstr>Laravel Controllers-Third example Sum of two number </vt:lpstr>
      <vt:lpstr>Laravel Controllers-Third example Sum of two number </vt:lpstr>
      <vt:lpstr>Laravel Controllers-Third example Add 2 numbers</vt:lpstr>
      <vt:lpstr>Laravel Controllers-Third example Add 2 numbers</vt:lpstr>
      <vt:lpstr>Login Example using Laravel Controllers </vt:lpstr>
      <vt:lpstr>Login Example using Laravel Controllers </vt:lpstr>
      <vt:lpstr>Login Example using Laravel Controllers </vt:lpstr>
      <vt:lpstr>Login Example using Laravel Controllers </vt:lpstr>
      <vt:lpstr>Login Example using Laravel Controllers </vt:lpstr>
      <vt:lpstr>PowerPoint Presentation</vt:lpstr>
      <vt:lpstr>Redirection</vt:lpstr>
      <vt:lpstr>Redirection</vt:lpstr>
      <vt:lpstr>Redirection</vt:lpstr>
      <vt:lpstr>PowerPoint Presentation</vt:lpstr>
      <vt:lpstr>Response</vt:lpstr>
      <vt:lpstr>Response</vt:lpstr>
      <vt:lpstr>Request</vt:lpstr>
      <vt:lpstr>Request</vt:lpstr>
      <vt:lpstr>Student Data Request and Response</vt:lpstr>
      <vt:lpstr>Student Data Request and Response</vt:lpstr>
      <vt:lpstr>Student Data Request and Response</vt:lpstr>
      <vt:lpstr>PowerPoint Presentation</vt:lpstr>
      <vt:lpstr>Middleware </vt:lpstr>
      <vt:lpstr>Middleware </vt:lpstr>
      <vt:lpstr>Middleware </vt:lpstr>
      <vt:lpstr>Middleware </vt:lpstr>
      <vt:lpstr>PowerPoint Presentation</vt:lpstr>
      <vt:lpstr>Route Model Binding in Laravel</vt:lpstr>
      <vt:lpstr>Route Model Binding in Laravel</vt:lpstr>
      <vt:lpstr>PowerPoint Presentation</vt:lpstr>
    </vt:vector>
  </TitlesOfParts>
  <Company>Ernst &amp; Young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EY Presentation</dc:title>
  <dc:creator>Vicky Vamvakousi</dc:creator>
  <cp:lastModifiedBy>Rhea Maria James</cp:lastModifiedBy>
  <cp:revision>1015</cp:revision>
  <dcterms:created xsi:type="dcterms:W3CDTF">2014-04-11T07:04:28Z</dcterms:created>
  <dcterms:modified xsi:type="dcterms:W3CDTF">2025-11-10T17:52:36Z</dcterms:modified>
</cp:coreProperties>
</file>