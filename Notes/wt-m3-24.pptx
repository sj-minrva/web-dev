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90" r:id="rId3"/>
    <p:sldMasterId id="2147483707" r:id="rId4"/>
  </p:sldMasterIdLst>
  <p:notesMasterIdLst>
    <p:notesMasterId r:id="rId151"/>
  </p:notesMasterIdLst>
  <p:handoutMasterIdLst>
    <p:handoutMasterId r:id="rId152"/>
  </p:handoutMasterIdLst>
  <p:sldIdLst>
    <p:sldId id="268" r:id="rId5"/>
    <p:sldId id="298" r:id="rId6"/>
    <p:sldId id="597" r:id="rId7"/>
    <p:sldId id="413" r:id="rId8"/>
    <p:sldId id="461" r:id="rId9"/>
    <p:sldId id="598" r:id="rId10"/>
    <p:sldId id="910" r:id="rId11"/>
    <p:sldId id="883" r:id="rId12"/>
    <p:sldId id="912" r:id="rId13"/>
    <p:sldId id="913" r:id="rId14"/>
    <p:sldId id="911" r:id="rId15"/>
    <p:sldId id="599" r:id="rId16"/>
    <p:sldId id="884" r:id="rId17"/>
    <p:sldId id="914" r:id="rId18"/>
    <p:sldId id="896" r:id="rId19"/>
    <p:sldId id="897" r:id="rId20"/>
    <p:sldId id="898" r:id="rId21"/>
    <p:sldId id="899" r:id="rId22"/>
    <p:sldId id="885" r:id="rId23"/>
    <p:sldId id="886" r:id="rId24"/>
    <p:sldId id="1020" r:id="rId25"/>
    <p:sldId id="1022" r:id="rId26"/>
    <p:sldId id="1021" r:id="rId27"/>
    <p:sldId id="915" r:id="rId28"/>
    <p:sldId id="478" r:id="rId29"/>
    <p:sldId id="887" r:id="rId30"/>
    <p:sldId id="888" r:id="rId31"/>
    <p:sldId id="900" r:id="rId32"/>
    <p:sldId id="902" r:id="rId33"/>
    <p:sldId id="904" r:id="rId34"/>
    <p:sldId id="901" r:id="rId35"/>
    <p:sldId id="903" r:id="rId36"/>
    <p:sldId id="889" r:id="rId37"/>
    <p:sldId id="890" r:id="rId38"/>
    <p:sldId id="891" r:id="rId39"/>
    <p:sldId id="892" r:id="rId40"/>
    <p:sldId id="893" r:id="rId41"/>
    <p:sldId id="894" r:id="rId42"/>
    <p:sldId id="917" r:id="rId43"/>
    <p:sldId id="477" r:id="rId44"/>
    <p:sldId id="895" r:id="rId45"/>
    <p:sldId id="905" r:id="rId46"/>
    <p:sldId id="906" r:id="rId47"/>
    <p:sldId id="909" r:id="rId48"/>
    <p:sldId id="908" r:id="rId49"/>
    <p:sldId id="916" r:id="rId50"/>
    <p:sldId id="990" r:id="rId51"/>
    <p:sldId id="918" r:id="rId52"/>
    <p:sldId id="919" r:id="rId53"/>
    <p:sldId id="920" r:id="rId54"/>
    <p:sldId id="921" r:id="rId55"/>
    <p:sldId id="922" r:id="rId56"/>
    <p:sldId id="1001" r:id="rId57"/>
    <p:sldId id="1002" r:id="rId58"/>
    <p:sldId id="1003" r:id="rId59"/>
    <p:sldId id="923" r:id="rId60"/>
    <p:sldId id="924" r:id="rId61"/>
    <p:sldId id="925" r:id="rId62"/>
    <p:sldId id="926" r:id="rId63"/>
    <p:sldId id="927" r:id="rId64"/>
    <p:sldId id="928" r:id="rId65"/>
    <p:sldId id="930" r:id="rId66"/>
    <p:sldId id="929" r:id="rId67"/>
    <p:sldId id="931" r:id="rId68"/>
    <p:sldId id="932" r:id="rId69"/>
    <p:sldId id="933" r:id="rId70"/>
    <p:sldId id="935" r:id="rId71"/>
    <p:sldId id="936" r:id="rId72"/>
    <p:sldId id="962" r:id="rId73"/>
    <p:sldId id="937" r:id="rId74"/>
    <p:sldId id="938" r:id="rId75"/>
    <p:sldId id="939" r:id="rId76"/>
    <p:sldId id="940" r:id="rId77"/>
    <p:sldId id="941" r:id="rId78"/>
    <p:sldId id="942" r:id="rId79"/>
    <p:sldId id="943" r:id="rId80"/>
    <p:sldId id="944" r:id="rId81"/>
    <p:sldId id="957" r:id="rId82"/>
    <p:sldId id="956" r:id="rId83"/>
    <p:sldId id="958" r:id="rId84"/>
    <p:sldId id="961" r:id="rId85"/>
    <p:sldId id="1018" r:id="rId86"/>
    <p:sldId id="1019" r:id="rId87"/>
    <p:sldId id="945" r:id="rId88"/>
    <p:sldId id="946" r:id="rId89"/>
    <p:sldId id="963" r:id="rId90"/>
    <p:sldId id="949" r:id="rId91"/>
    <p:sldId id="948" r:id="rId92"/>
    <p:sldId id="947" r:id="rId93"/>
    <p:sldId id="950" r:id="rId94"/>
    <p:sldId id="951" r:id="rId95"/>
    <p:sldId id="952" r:id="rId96"/>
    <p:sldId id="953" r:id="rId97"/>
    <p:sldId id="991" r:id="rId98"/>
    <p:sldId id="954" r:id="rId99"/>
    <p:sldId id="955" r:id="rId100"/>
    <p:sldId id="1004" r:id="rId101"/>
    <p:sldId id="1008" r:id="rId102"/>
    <p:sldId id="1006" r:id="rId103"/>
    <p:sldId id="1007" r:id="rId104"/>
    <p:sldId id="1005" r:id="rId105"/>
    <p:sldId id="1009" r:id="rId106"/>
    <p:sldId id="1010" r:id="rId107"/>
    <p:sldId id="1011" r:id="rId108"/>
    <p:sldId id="1012" r:id="rId109"/>
    <p:sldId id="1013" r:id="rId110"/>
    <p:sldId id="1014" r:id="rId111"/>
    <p:sldId id="1015" r:id="rId112"/>
    <p:sldId id="1016" r:id="rId113"/>
    <p:sldId id="974" r:id="rId114"/>
    <p:sldId id="964" r:id="rId115"/>
    <p:sldId id="992" r:id="rId116"/>
    <p:sldId id="993" r:id="rId117"/>
    <p:sldId id="965" r:id="rId118"/>
    <p:sldId id="966" r:id="rId119"/>
    <p:sldId id="967" r:id="rId120"/>
    <p:sldId id="968" r:id="rId121"/>
    <p:sldId id="969" r:id="rId122"/>
    <p:sldId id="970" r:id="rId123"/>
    <p:sldId id="971" r:id="rId124"/>
    <p:sldId id="972" r:id="rId125"/>
    <p:sldId id="973" r:id="rId126"/>
    <p:sldId id="975" r:id="rId127"/>
    <p:sldId id="976" r:id="rId128"/>
    <p:sldId id="977" r:id="rId129"/>
    <p:sldId id="994" r:id="rId130"/>
    <p:sldId id="989" r:id="rId131"/>
    <p:sldId id="978" r:id="rId132"/>
    <p:sldId id="1017" r:id="rId133"/>
    <p:sldId id="979" r:id="rId134"/>
    <p:sldId id="980" r:id="rId135"/>
    <p:sldId id="996" r:id="rId136"/>
    <p:sldId id="997" r:id="rId137"/>
    <p:sldId id="995" r:id="rId138"/>
    <p:sldId id="981" r:id="rId139"/>
    <p:sldId id="982" r:id="rId140"/>
    <p:sldId id="983" r:id="rId141"/>
    <p:sldId id="984" r:id="rId142"/>
    <p:sldId id="985" r:id="rId143"/>
    <p:sldId id="986" r:id="rId144"/>
    <p:sldId id="988" r:id="rId145"/>
    <p:sldId id="998" r:id="rId146"/>
    <p:sldId id="999" r:id="rId147"/>
    <p:sldId id="987" r:id="rId148"/>
    <p:sldId id="1000" r:id="rId149"/>
    <p:sldId id="688" r:id="rId150"/>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orient="horz" pos="3838" userDrawn="1">
          <p15:clr>
            <a:srgbClr val="A4A3A4"/>
          </p15:clr>
        </p15:guide>
        <p15:guide id="3"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7E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905" autoAdjust="0"/>
  </p:normalViewPr>
  <p:slideViewPr>
    <p:cSldViewPr>
      <p:cViewPr>
        <p:scale>
          <a:sx n="75" d="100"/>
          <a:sy n="75" d="100"/>
        </p:scale>
        <p:origin x="946" y="67"/>
      </p:cViewPr>
      <p:guideLst>
        <p:guide orient="horz" pos="3884"/>
        <p:guide orient="horz" pos="3838"/>
        <p:guide pos="384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4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50" Type="http://schemas.openxmlformats.org/officeDocument/2006/relationships/slide" Target="slides/slide146.xml"/><Relationship Id="rId155" Type="http://schemas.openxmlformats.org/officeDocument/2006/relationships/theme" Target="theme/theme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notesMaster" Target="notesMasters/notesMaster1.xml"/><Relationship Id="rId156"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presProps" Target="pres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viewProps" Target="viewProps.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397089B-D374-4627-9F33-CA940E3B29F1}" type="datetimeFigureOut">
              <a:rPr lang="en-US" smtClean="0"/>
              <a:pPr/>
              <a:t>10/9/2025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33C253-DD25-4D82-8548-B5428707B488}" type="slidenum">
              <a:rPr lang="en-US" smtClean="0"/>
              <a:pPr/>
              <a:t>‹#›</a:t>
            </a:fld>
            <a:endParaRPr lang="en-US"/>
          </a:p>
        </p:txBody>
      </p:sp>
    </p:spTree>
    <p:extLst>
      <p:ext uri="{BB962C8B-B14F-4D97-AF65-F5344CB8AC3E}">
        <p14:creationId xmlns:p14="http://schemas.microsoft.com/office/powerpoint/2010/main" val="26370250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ECD03-7277-4269-A7EC-8B1E3728BF24}" type="datetimeFigureOut">
              <a:rPr lang="el-GR" smtClean="0"/>
              <a:pPr/>
              <a:t>9/10/2025</a:t>
            </a:fld>
            <a:endParaRPr lang="el-G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A1FA17-B5DB-481C-8402-B3CAE17DEC83}" type="slidenum">
              <a:rPr lang="el-GR" smtClean="0"/>
              <a:pPr/>
              <a:t>‹#›</a:t>
            </a:fld>
            <a:endParaRPr lang="el-GR"/>
          </a:p>
        </p:txBody>
      </p:sp>
    </p:spTree>
    <p:extLst>
      <p:ext uri="{BB962C8B-B14F-4D97-AF65-F5344CB8AC3E}">
        <p14:creationId xmlns:p14="http://schemas.microsoft.com/office/powerpoint/2010/main" val="2961141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hangingPunct="0"/>
            <a:r>
              <a:rPr lang="en-US" b="1" dirty="0"/>
              <a:t>Welcome the participants to the program.</a:t>
            </a:r>
            <a:endParaRPr lang="en-US" dirty="0"/>
          </a:p>
          <a:p>
            <a:pPr hangingPunct="0"/>
            <a:r>
              <a:rPr lang="en-US" b="1" dirty="0"/>
              <a:t>Introduce yourself and briefly summarize your experience at EY and your interest in presenting at </a:t>
            </a:r>
            <a:r>
              <a:rPr lang="en-US" b="1" i="1" dirty="0"/>
              <a:t>Welcome to EY</a:t>
            </a:r>
            <a:r>
              <a:rPr lang="en-US" b="1" dirty="0"/>
              <a:t>.</a:t>
            </a:r>
            <a:endParaRPr lang="en-US" dirty="0"/>
          </a:p>
          <a:p>
            <a:pPr hangingPunct="0"/>
            <a:r>
              <a:rPr lang="en-US" b="1" dirty="0"/>
              <a:t>Have co-facilitators, if present, introduce themselves and provide background information.</a:t>
            </a:r>
            <a:endParaRPr lang="en-US" dirty="0"/>
          </a:p>
          <a:p>
            <a:pPr hangingPunct="0"/>
            <a:r>
              <a:rPr lang="en-US" b="1" dirty="0"/>
              <a:t>State the following to help participants understand the context of Welcome to EY:  </a:t>
            </a:r>
          </a:p>
          <a:p>
            <a:pPr hangingPunct="0"/>
            <a:r>
              <a:rPr lang="en-US" dirty="0"/>
              <a:t>This course was designed for all ranks around the globe. It provides you with foundational knowledge that will help to explain our culture, our processes and how we go to market.</a:t>
            </a:r>
          </a:p>
          <a:p>
            <a:pPr hangingPunct="0"/>
            <a:r>
              <a:rPr lang="en-US" dirty="0"/>
              <a:t>However, your service line will provide the specifics about your role and your job. </a:t>
            </a:r>
          </a:p>
          <a:p>
            <a:r>
              <a:rPr lang="en-US" dirty="0"/>
              <a:t>As an organization, we want to invest in you, give you consistent content globally, let you meet other new hires across service lines and meet some of our leaders.</a:t>
            </a:r>
          </a:p>
        </p:txBody>
      </p:sp>
      <p:sp>
        <p:nvSpPr>
          <p:cNvPr id="4" name="Slide Number Placeholder 3"/>
          <p:cNvSpPr>
            <a:spLocks noGrp="1"/>
          </p:cNvSpPr>
          <p:nvPr>
            <p:ph type="sldNum" sz="quarter" idx="10"/>
          </p:nvPr>
        </p:nvSpPr>
        <p:spPr/>
        <p:txBody>
          <a:bodyPr/>
          <a:lstStyle/>
          <a:p>
            <a:fld id="{AEA1FA17-B5DB-481C-8402-B3CAE17DEC83}" type="slidenum">
              <a:rPr lang="el-GR" smtClean="0"/>
              <a:pPr/>
              <a:t>1</a:t>
            </a:fld>
            <a:endParaRPr lang="el-GR"/>
          </a:p>
        </p:txBody>
      </p:sp>
    </p:spTree>
    <p:extLst>
      <p:ext uri="{BB962C8B-B14F-4D97-AF65-F5344CB8AC3E}">
        <p14:creationId xmlns:p14="http://schemas.microsoft.com/office/powerpoint/2010/main" val="2251393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235428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595541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595541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007752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453497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921207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29536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497582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916939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53000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638093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262911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812555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846217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93423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56714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62656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125674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27187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09972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44200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403436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0198685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473048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27035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2164990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624630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200442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2558577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847479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5203004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27171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7462835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903255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482161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066475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1723029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3681201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6861836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8490990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7031078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13981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685001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2558676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7499954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005436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2438395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817303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488863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02316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113021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2712284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119976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258679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610940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1201108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305440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3821834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048023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1671471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394218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97183290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2197852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908567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1620525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82499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56417716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862482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607680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28658355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84344351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93866242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74927580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3202413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246132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9729069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8445013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997377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3414968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8564191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0249798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64667562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7176568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37933272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09783786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01779160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298957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41843899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25997624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9992650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39233662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09753862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79755938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09578986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57127501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0984235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16672500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8788071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9277331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05562381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33936408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4547768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19333456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35801529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25238149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1047800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69660505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05657393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51697269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89300032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9672595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43309862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6986966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07275624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69296752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0570512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10076725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39254077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85672803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25207462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16424276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2434830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94950812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86517221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5064628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81660707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75758034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11234587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51806893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94175256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00831136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412050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auto">
          <a:xfrm>
            <a:off x="3028346" y="5747990"/>
            <a:ext cx="1311311" cy="745200"/>
          </a:xfrm>
          <a:prstGeom prst="rect">
            <a:avLst/>
          </a:prstGeom>
          <a:noFill/>
          <a:ln w="9525">
            <a:noFill/>
            <a:miter lim="800000"/>
            <a:headEnd/>
            <a:tailEnd/>
          </a:ln>
          <a:effectLst/>
        </p:spPr>
      </p:pic>
      <p:sp>
        <p:nvSpPr>
          <p:cNvPr id="2" name="Title 1"/>
          <p:cNvSpPr>
            <a:spLocks noGrp="1"/>
          </p:cNvSpPr>
          <p:nvPr>
            <p:ph type="ctrTitle"/>
          </p:nvPr>
        </p:nvSpPr>
        <p:spPr>
          <a:xfrm>
            <a:off x="3110400" y="725348"/>
            <a:ext cx="7320000" cy="860400"/>
          </a:xfrm>
        </p:spPr>
        <p:txBody>
          <a:bodyPr/>
          <a:lstStyle/>
          <a:p>
            <a:r>
              <a:rPr lang="en-US"/>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1032" name="Freeform 8"/>
          <p:cNvSpPr>
            <a:spLocks/>
          </p:cNvSpPr>
          <p:nvPr userDrawn="1"/>
        </p:nvSpPr>
        <p:spPr bwMode="gray">
          <a:xfrm>
            <a:off x="3030963" y="2405085"/>
            <a:ext cx="9161037"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0" name="Freeform 9"/>
          <p:cNvSpPr/>
          <p:nvPr userDrawn="1"/>
        </p:nvSpPr>
        <p:spPr>
          <a:xfrm>
            <a:off x="-12192" y="4411264"/>
            <a:ext cx="3048000" cy="1318973"/>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Lst>
            <a:ahLst/>
            <a:cxnLst>
              <a:cxn ang="0">
                <a:pos x="connsiteX0" y="connsiteY0"/>
              </a:cxn>
              <a:cxn ang="0">
                <a:pos x="connsiteX1" y="connsiteY1"/>
              </a:cxn>
              <a:cxn ang="0">
                <a:pos x="connsiteX2" y="connsiteY2"/>
              </a:cxn>
              <a:cxn ang="0">
                <a:pos x="connsiteX3" y="connsiteY3"/>
              </a:cxn>
            </a:cxnLst>
            <a:rect l="l" t="t" r="r" b="b"/>
            <a:pathLst>
              <a:path w="2286000" h="1318973">
                <a:moveTo>
                  <a:pt x="0" y="1318973"/>
                </a:moveTo>
                <a:lnTo>
                  <a:pt x="0" y="0"/>
                </a:lnTo>
                <a:lnTo>
                  <a:pt x="2286000" y="486803"/>
                </a:lnTo>
                <a:lnTo>
                  <a:pt x="0" y="1318973"/>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pic>
        <p:nvPicPr>
          <p:cNvPr id="11" name="Picture 10" descr="EYU_identifier_r100_g100_b100.png"/>
          <p:cNvPicPr>
            <a:picLocks noChangeAspect="1"/>
          </p:cNvPicPr>
          <p:nvPr userDrawn="1"/>
        </p:nvPicPr>
        <p:blipFill>
          <a:blip r:embed="rId4" cstate="print"/>
          <a:stretch>
            <a:fillRect/>
          </a:stretch>
        </p:blipFill>
        <p:spPr>
          <a:xfrm>
            <a:off x="406400" y="304800"/>
            <a:ext cx="1170432" cy="760782"/>
          </a:xfrm>
          <a:prstGeom prst="rect">
            <a:avLst/>
          </a:prstGeom>
        </p:spPr>
      </p:pic>
    </p:spTree>
    <p:extLst>
      <p:ext uri="{BB962C8B-B14F-4D97-AF65-F5344CB8AC3E}">
        <p14:creationId xmlns:p14="http://schemas.microsoft.com/office/powerpoint/2010/main" val="8808119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37592751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63081519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a:xfrm>
            <a:off x="3451200" y="6323013"/>
            <a:ext cx="4579200" cy="201600"/>
          </a:xfrm>
        </p:spPr>
        <p:txBody>
          <a:bodyPr/>
          <a:lstStyle/>
          <a:p>
            <a:r>
              <a:rPr lang="en-GB">
                <a:solidFill>
                  <a:srgbClr val="808080"/>
                </a:solidFill>
              </a:rPr>
              <a:t>Presentation title</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24104969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r>
              <a:rPr lang="en-US"/>
              <a:t>Click to edit Master text styles</a:t>
            </a:r>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r>
              <a:rPr lang="en-US"/>
              <a:t>Click to edit Master text styles</a:t>
            </a:r>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97339116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96772635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077" name="Freeform 5"/>
          <p:cNvSpPr>
            <a:spLocks/>
          </p:cNvSpPr>
          <p:nvPr userDrawn="1"/>
        </p:nvSpPr>
        <p:spPr bwMode="gray">
          <a:xfrm>
            <a:off x="609600" y="1039814"/>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899230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4101"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60905094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6"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232377379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33367941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5949770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5645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3029257" y="5745156"/>
            <a:ext cx="1311311" cy="745200"/>
          </a:xfrm>
          <a:prstGeom prst="rect">
            <a:avLst/>
          </a:prstGeom>
          <a:noFill/>
          <a:ln w="9525">
            <a:noFill/>
            <a:miter lim="800000"/>
            <a:headEnd/>
            <a:tailEnd/>
          </a:ln>
          <a:effectLst/>
        </p:spPr>
      </p:pic>
      <p:grpSp>
        <p:nvGrpSpPr>
          <p:cNvPr id="10" name="Group 9"/>
          <p:cNvGrpSpPr/>
          <p:nvPr userDrawn="1"/>
        </p:nvGrpSpPr>
        <p:grpSpPr>
          <a:xfrm>
            <a:off x="-1407" y="2405319"/>
            <a:ext cx="12193405" cy="3346232"/>
            <a:chOff x="-1055" y="2405319"/>
            <a:chExt cx="9145054" cy="3346232"/>
          </a:xfrm>
        </p:grpSpPr>
        <p:sp>
          <p:nvSpPr>
            <p:cNvPr id="9" name="Freeform 8"/>
            <p:cNvSpPr>
              <a:spLocks/>
            </p:cNvSpPr>
            <p:nvPr userDrawn="1"/>
          </p:nvSpPr>
          <p:spPr bwMode="gray">
            <a:xfrm>
              <a:off x="2273866" y="2405319"/>
              <a:ext cx="6870133"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pic>
          <p:nvPicPr>
            <p:cNvPr id="14" name="Picture 3"/>
            <p:cNvPicPr>
              <a:picLocks noChangeAspect="1" noChangeArrowheads="1"/>
            </p:cNvPicPr>
            <p:nvPr userDrawn="1"/>
          </p:nvPicPr>
          <p:blipFill>
            <a:blip r:embed="rId3" cstate="print"/>
            <a:srcRect/>
            <a:stretch>
              <a:fillRect/>
            </a:stretch>
          </p:blipFill>
          <p:spPr bwMode="auto">
            <a:xfrm>
              <a:off x="-1055" y="4411633"/>
              <a:ext cx="2285060" cy="1339918"/>
            </a:xfrm>
            <a:prstGeom prst="rect">
              <a:avLst/>
            </a:prstGeom>
            <a:noFill/>
            <a:ln w="9525">
              <a:noFill/>
              <a:miter lim="800000"/>
              <a:headEnd/>
              <a:tailEnd/>
            </a:ln>
            <a:effectLst/>
          </p:spPr>
        </p:pic>
      </p:grpSp>
    </p:spTree>
    <p:extLst>
      <p:ext uri="{BB962C8B-B14F-4D97-AF65-F5344CB8AC3E}">
        <p14:creationId xmlns:p14="http://schemas.microsoft.com/office/powerpoint/2010/main" val="342787410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Cover_photo_or_illustration_input">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sp>
        <p:nvSpPr>
          <p:cNvPr id="9" name="Freeform 8"/>
          <p:cNvSpPr>
            <a:spLocks/>
          </p:cNvSpPr>
          <p:nvPr userDrawn="1"/>
        </p:nvSpPr>
        <p:spPr bwMode="gray">
          <a:xfrm>
            <a:off x="3031822" y="2405319"/>
            <a:ext cx="9160177"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7" name="Freeform 6"/>
          <p:cNvSpPr/>
          <p:nvPr userDrawn="1"/>
        </p:nvSpPr>
        <p:spPr>
          <a:xfrm>
            <a:off x="-12192" y="3000376"/>
            <a:ext cx="3048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2"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sp>
        <p:nvSpPr>
          <p:cNvPr id="8" name="TextBox 7"/>
          <p:cNvSpPr txBox="1"/>
          <p:nvPr userDrawn="1"/>
        </p:nvSpPr>
        <p:spPr>
          <a:xfrm>
            <a:off x="87091" y="4047893"/>
            <a:ext cx="2381045" cy="664797"/>
          </a:xfrm>
          <a:prstGeom prst="rect">
            <a:avLst/>
          </a:prstGeom>
          <a:noFill/>
        </p:spPr>
        <p:txBody>
          <a:bodyPr wrap="square" lIns="0" tIns="36576" rIns="0" bIns="0" rtlCol="0">
            <a:spAutoFit/>
          </a:bodyPr>
          <a:lstStyle/>
          <a:p>
            <a:pPr>
              <a:lnSpc>
                <a:spcPct val="85000"/>
              </a:lnSpc>
              <a:spcAft>
                <a:spcPts val="600"/>
              </a:spcAft>
              <a:buClr>
                <a:srgbClr val="FFD200"/>
              </a:buClr>
              <a:buSzPct val="70000"/>
            </a:pPr>
            <a:r>
              <a:rPr lang="en-US" sz="1600" b="1" dirty="0">
                <a:solidFill>
                  <a:srgbClr val="FFD200"/>
                </a:solidFill>
              </a:rPr>
              <a:t>Placeholder image — to replace this image, select View&gt;Notes Page</a:t>
            </a:r>
          </a:p>
        </p:txBody>
      </p:sp>
    </p:spTree>
    <p:extLst>
      <p:ext uri="{BB962C8B-B14F-4D97-AF65-F5344CB8AC3E}">
        <p14:creationId xmlns:p14="http://schemas.microsoft.com/office/powerpoint/2010/main" val="164740702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4" name="Rectangle 3"/>
          <p:cNvSpPr/>
          <p:nvPr userDrawn="1"/>
        </p:nvSpPr>
        <p:spPr>
          <a:xfrm>
            <a:off x="11064552" y="6415200"/>
            <a:ext cx="57606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2" name="Title 1"/>
          <p:cNvSpPr>
            <a:spLocks noGrp="1"/>
          </p:cNvSpPr>
          <p:nvPr>
            <p:ph type="title" hasCustomPrompt="1"/>
          </p:nvPr>
        </p:nvSpPr>
        <p:spPr/>
        <p:txBody>
          <a:bodyPr/>
          <a:lstStyle>
            <a:lvl1pPr>
              <a:defRPr>
                <a:latin typeface="Armata"/>
              </a:defRPr>
            </a:lvl1pPr>
          </a:lstStyle>
          <a:p>
            <a:br>
              <a:rPr lang="en-US" dirty="0"/>
            </a:br>
            <a:r>
              <a:rPr lang="en-US" dirty="0"/>
              <a:t>Click to edit Master title style</a:t>
            </a:r>
            <a:endParaRPr lang="en-GB" dirty="0"/>
          </a:p>
        </p:txBody>
      </p:sp>
      <p:sp>
        <p:nvSpPr>
          <p:cNvPr id="3" name="Content Placeholder 2"/>
          <p:cNvSpPr>
            <a:spLocks noGrp="1"/>
          </p:cNvSpPr>
          <p:nvPr>
            <p:ph idx="1"/>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vl2pPr>
              <a:defRPr>
                <a:latin typeface="Open Sans" panose="020B0606030504020204" pitchFamily="34" charset="0"/>
                <a:ea typeface="Open Sans" panose="020B0606030504020204" pitchFamily="34" charset="0"/>
                <a:cs typeface="Open Sans" panose="020B0606030504020204" pitchFamily="34" charset="0"/>
              </a:defRPr>
            </a:lvl2pPr>
            <a:lvl3pPr>
              <a:defRPr>
                <a:latin typeface="Open Sans" panose="020B0606030504020204" pitchFamily="34" charset="0"/>
                <a:ea typeface="Open Sans" panose="020B0606030504020204" pitchFamily="34" charset="0"/>
                <a:cs typeface="Open Sans" panose="020B0606030504020204" pitchFamily="34" charset="0"/>
              </a:defRPr>
            </a:lvl3pPr>
            <a:lvl4pPr>
              <a:defRPr>
                <a:latin typeface="Open Sans" panose="020B0606030504020204" pitchFamily="34" charset="0"/>
                <a:ea typeface="Open Sans" panose="020B0606030504020204" pitchFamily="34" charset="0"/>
                <a:cs typeface="Open Sans" panose="020B0606030504020204" pitchFamily="34" charset="0"/>
              </a:defRPr>
            </a:lvl4pPr>
            <a:lvl5pPr>
              <a:defRPr>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8528" y="320640"/>
            <a:ext cx="636662" cy="615440"/>
          </a:xfrm>
          <a:prstGeom prst="rect">
            <a:avLst/>
          </a:prstGeom>
        </p:spPr>
      </p:pic>
    </p:spTree>
    <p:extLst>
      <p:ext uri="{BB962C8B-B14F-4D97-AF65-F5344CB8AC3E}">
        <p14:creationId xmlns:p14="http://schemas.microsoft.com/office/powerpoint/2010/main" val="328020077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40375283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8108285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endParaRPr lang="en-GB" dirty="0"/>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endParaRPr lang="en-GB" dirty="0"/>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0613403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87002497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29601"/>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7486729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3692518449"/>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7"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107711881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5"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15887933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402785943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231028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13430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Line divider 3">
    <p:spTree>
      <p:nvGrpSpPr>
        <p:cNvPr id="1" name=""/>
        <p:cNvGrpSpPr/>
        <p:nvPr/>
      </p:nvGrpSpPr>
      <p:grpSpPr>
        <a:xfrm>
          <a:off x="0" y="0"/>
          <a:ext cx="0" cy="0"/>
          <a:chOff x="0" y="0"/>
          <a:chExt cx="0" cy="0"/>
        </a:xfrm>
      </p:grpSpPr>
      <p:sp>
        <p:nvSpPr>
          <p:cNvPr id="5" name="Rectangle 4"/>
          <p:cNvSpPr/>
          <p:nvPr userDrawn="1"/>
        </p:nvSpPr>
        <p:spPr>
          <a:xfrm>
            <a:off x="508000" y="60198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4" name="Rectangle 3"/>
          <p:cNvSpPr/>
          <p:nvPr userDrawn="1"/>
        </p:nvSpPr>
        <p:spPr>
          <a:xfrm>
            <a:off x="508000" y="9144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p>
        </p:txBody>
      </p:sp>
      <p:pic>
        <p:nvPicPr>
          <p:cNvPr id="7" name="Picture 13" descr="PPTbackground_3_HANDOUT"/>
          <p:cNvPicPr>
            <a:picLocks noChangeAspect="1" noChangeArrowheads="1"/>
          </p:cNvPicPr>
          <p:nvPr userDrawn="1"/>
        </p:nvPicPr>
        <p:blipFill>
          <a:blip r:embed="rId2" cstate="print"/>
          <a:srcRect/>
          <a:stretch>
            <a:fillRect/>
          </a:stretch>
        </p:blipFill>
        <p:spPr bwMode="auto">
          <a:xfrm>
            <a:off x="637117" y="1023938"/>
            <a:ext cx="10945283" cy="5222875"/>
          </a:xfrm>
          <a:prstGeom prst="rect">
            <a:avLst/>
          </a:prstGeom>
          <a:noFill/>
        </p:spPr>
      </p:pic>
    </p:spTree>
    <p:extLst>
      <p:ext uri="{BB962C8B-B14F-4D97-AF65-F5344CB8AC3E}">
        <p14:creationId xmlns:p14="http://schemas.microsoft.com/office/powerpoint/2010/main" val="202299850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Footer Placeholder 2"/>
          <p:cNvSpPr>
            <a:spLocks noGrp="1"/>
          </p:cNvSpPr>
          <p:nvPr>
            <p:ph type="ftr" sz="quarter" idx="10"/>
          </p:nvPr>
        </p:nvSpPr>
        <p:spPr/>
        <p:txBody>
          <a:bodyPr/>
          <a:lstStyle/>
          <a:p>
            <a:r>
              <a:rPr lang="en-GB">
                <a:solidFill>
                  <a:srgbClr val="808080"/>
                </a:solidFill>
              </a:rPr>
              <a:t>HELPE Information Security</a:t>
            </a:r>
            <a:endParaRPr lang="en-GB" dirty="0">
              <a:solidFill>
                <a:srgbClr val="808080"/>
              </a:solidFill>
            </a:endParaRPr>
          </a:p>
        </p:txBody>
      </p:sp>
      <p:sp>
        <p:nvSpPr>
          <p:cNvPr id="5" name="Freeform 4"/>
          <p:cNvSpPr/>
          <p:nvPr userDrawn="1"/>
        </p:nvSpPr>
        <p:spPr bwMode="gray">
          <a:xfrm flipH="1">
            <a:off x="2" y="2614613"/>
            <a:ext cx="11280479" cy="1498600"/>
          </a:xfrm>
          <a:custGeom>
            <a:avLst/>
            <a:gdLst>
              <a:gd name="connsiteX0" fmla="*/ 85725 w 7705725"/>
              <a:gd name="connsiteY0" fmla="*/ 0 h 1704975"/>
              <a:gd name="connsiteX1" fmla="*/ 7705725 w 7705725"/>
              <a:gd name="connsiteY1" fmla="*/ 0 h 1704975"/>
              <a:gd name="connsiteX2" fmla="*/ 7705725 w 7705725"/>
              <a:gd name="connsiteY2" fmla="*/ 1704975 h 1704975"/>
              <a:gd name="connsiteX3" fmla="*/ 0 w 7705725"/>
              <a:gd name="connsiteY3" fmla="*/ 1704975 h 1704975"/>
              <a:gd name="connsiteX4" fmla="*/ 85725 w 7705725"/>
              <a:gd name="connsiteY4" fmla="*/ 0 h 1704975"/>
              <a:gd name="connsiteX0" fmla="*/ 0 w 7620000"/>
              <a:gd name="connsiteY0" fmla="*/ 0 h 1705429"/>
              <a:gd name="connsiteX1" fmla="*/ 7620000 w 7620000"/>
              <a:gd name="connsiteY1" fmla="*/ 0 h 1705429"/>
              <a:gd name="connsiteX2" fmla="*/ 7620000 w 7620000"/>
              <a:gd name="connsiteY2" fmla="*/ 1704975 h 1705429"/>
              <a:gd name="connsiteX3" fmla="*/ 329085 w 7620000"/>
              <a:gd name="connsiteY3" fmla="*/ 1705429 h 1705429"/>
              <a:gd name="connsiteX4" fmla="*/ 0 w 7620000"/>
              <a:gd name="connsiteY4" fmla="*/ 0 h 170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0" h="1705429">
                <a:moveTo>
                  <a:pt x="0" y="0"/>
                </a:moveTo>
                <a:lnTo>
                  <a:pt x="7620000" y="0"/>
                </a:lnTo>
                <a:lnTo>
                  <a:pt x="7620000" y="1704975"/>
                </a:lnTo>
                <a:lnTo>
                  <a:pt x="329085" y="1705429"/>
                </a:lnTo>
                <a:lnTo>
                  <a:pt x="0" y="0"/>
                </a:lnTo>
                <a:close/>
              </a:path>
            </a:pathLst>
          </a:custGeom>
          <a:solidFill>
            <a:srgbClr val="646464"/>
          </a:solidFill>
          <a:ln w="9525">
            <a:noFill/>
            <a:round/>
            <a:headEnd/>
            <a:tailEnd/>
          </a:ln>
        </p:spPr>
        <p:txBody>
          <a:bodyPr lIns="83962" tIns="41981" rIns="83962" bIns="41981"/>
          <a:lstStyle/>
          <a:p>
            <a:pPr eaLnBrk="0" fontAlgn="base" hangingPunct="0">
              <a:spcBef>
                <a:spcPct val="0"/>
              </a:spcBef>
              <a:spcAft>
                <a:spcPct val="0"/>
              </a:spcAft>
              <a:defRPr/>
            </a:pPr>
            <a:endParaRPr lang="en-GB" sz="700" dirty="0">
              <a:solidFill>
                <a:srgbClr val="000000"/>
              </a:solidFill>
            </a:endParaRPr>
          </a:p>
        </p:txBody>
      </p:sp>
      <p:sp>
        <p:nvSpPr>
          <p:cNvPr id="6" name="Text Placeholder 9"/>
          <p:cNvSpPr>
            <a:spLocks noGrp="1"/>
          </p:cNvSpPr>
          <p:nvPr>
            <p:ph type="body" sz="quarter" idx="11"/>
          </p:nvPr>
        </p:nvSpPr>
        <p:spPr bwMode="gray">
          <a:xfrm>
            <a:off x="729620" y="3080634"/>
            <a:ext cx="8097944" cy="708406"/>
          </a:xfrm>
          <a:prstGeom prst="rect">
            <a:avLst/>
          </a:prstGeom>
        </p:spPr>
        <p:txBody>
          <a:bodyPr lIns="83969" tIns="41985" rIns="83969" bIns="41985"/>
          <a:lstStyle>
            <a:lvl1pPr>
              <a:lnSpc>
                <a:spcPct val="90000"/>
              </a:lnSpc>
              <a:spcAft>
                <a:spcPts val="0"/>
              </a:spcAft>
              <a:buNone/>
              <a:defRPr lang="en-GB" sz="3100" b="1" kern="1200" dirty="0" smtClean="0">
                <a:solidFill>
                  <a:srgbClr val="FFD200"/>
                </a:solidFill>
                <a:latin typeface="+mj-lt"/>
                <a:ea typeface="+mn-ea"/>
                <a:cs typeface="Arial" charset="0"/>
              </a:defRPr>
            </a:lvl1pPr>
          </a:lstStyle>
          <a:p>
            <a:pPr lvl="0"/>
            <a:r>
              <a:rPr lang="en-US" dirty="0"/>
              <a:t>Click to edit Master text styles</a:t>
            </a:r>
          </a:p>
        </p:txBody>
      </p:sp>
      <p:sp>
        <p:nvSpPr>
          <p:cNvPr id="7" name="Text Placeholder 7"/>
          <p:cNvSpPr>
            <a:spLocks noGrp="1"/>
          </p:cNvSpPr>
          <p:nvPr>
            <p:ph type="body" sz="quarter" idx="12"/>
          </p:nvPr>
        </p:nvSpPr>
        <p:spPr bwMode="gray">
          <a:xfrm>
            <a:off x="733346" y="2800662"/>
            <a:ext cx="8094156" cy="254067"/>
          </a:xfrm>
          <a:prstGeom prst="rect">
            <a:avLst/>
          </a:prstGeom>
        </p:spPr>
        <p:txBody>
          <a:bodyPr wrap="none" lIns="83969" tIns="41985" rIns="83969" bIns="41985" anchor="ctr"/>
          <a:lstStyle>
            <a:lvl1pPr>
              <a:buNone/>
              <a:defRPr lang="en-US" sz="1500" b="1" kern="1200" dirty="0" smtClean="0">
                <a:solidFill>
                  <a:schemeClr val="tx2"/>
                </a:solidFill>
                <a:latin typeface="+mj-lt"/>
                <a:ea typeface="+mn-ea"/>
                <a:cs typeface="Arial" charset="0"/>
              </a:defRPr>
            </a:lvl1pPr>
          </a:lstStyle>
          <a:p>
            <a:pPr lvl="0"/>
            <a:r>
              <a:rPr lang="en-US" dirty="0"/>
              <a:t>Click to edit Master text styles</a:t>
            </a:r>
          </a:p>
        </p:txBody>
      </p:sp>
      <p:sp>
        <p:nvSpPr>
          <p:cNvPr id="4" name="Rectangle 3"/>
          <p:cNvSpPr/>
          <p:nvPr userDrawn="1"/>
        </p:nvSpPr>
        <p:spPr>
          <a:xfrm>
            <a:off x="10848528" y="6415200"/>
            <a:ext cx="93610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200" dirty="0">
              <a:solidFill>
                <a:schemeClr val="tx1"/>
              </a:solidFill>
            </a:endParaRPr>
          </a:p>
        </p:txBody>
      </p:sp>
    </p:spTree>
    <p:extLst>
      <p:ext uri="{BB962C8B-B14F-4D97-AF65-F5344CB8AC3E}">
        <p14:creationId xmlns:p14="http://schemas.microsoft.com/office/powerpoint/2010/main" val="396168358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spTree>
    <p:extLst>
      <p:ext uri="{BB962C8B-B14F-4D97-AF65-F5344CB8AC3E}">
        <p14:creationId xmlns:p14="http://schemas.microsoft.com/office/powerpoint/2010/main" val="382277219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Cover_photo_or_illustration_input">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3029257" y="5745156"/>
            <a:ext cx="1311311" cy="745200"/>
          </a:xfrm>
          <a:prstGeom prst="rect">
            <a:avLst/>
          </a:prstGeom>
          <a:noFill/>
          <a:ln w="9525">
            <a:noFill/>
            <a:miter lim="800000"/>
            <a:headEnd/>
            <a:tailEnd/>
          </a:ln>
          <a:effectLst/>
        </p:spPr>
      </p:pic>
      <p:sp>
        <p:nvSpPr>
          <p:cNvPr id="9" name="Freeform 8"/>
          <p:cNvSpPr>
            <a:spLocks/>
          </p:cNvSpPr>
          <p:nvPr userDrawn="1"/>
        </p:nvSpPr>
        <p:spPr bwMode="gray">
          <a:xfrm>
            <a:off x="3031822" y="2405319"/>
            <a:ext cx="9160177"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7" name="Freeform 6"/>
          <p:cNvSpPr/>
          <p:nvPr userDrawn="1"/>
        </p:nvSpPr>
        <p:spPr>
          <a:xfrm>
            <a:off x="-12192" y="3000376"/>
            <a:ext cx="3048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sp>
        <p:nvSpPr>
          <p:cNvPr id="8" name="TextBox 7"/>
          <p:cNvSpPr txBox="1"/>
          <p:nvPr userDrawn="1"/>
        </p:nvSpPr>
        <p:spPr>
          <a:xfrm>
            <a:off x="87091" y="4047893"/>
            <a:ext cx="2381045" cy="664797"/>
          </a:xfrm>
          <a:prstGeom prst="rect">
            <a:avLst/>
          </a:prstGeom>
          <a:noFill/>
        </p:spPr>
        <p:txBody>
          <a:bodyPr wrap="square" lIns="0" tIns="36576" rIns="0" bIns="0" rtlCol="0">
            <a:spAutoFit/>
          </a:bodyPr>
          <a:lstStyle/>
          <a:p>
            <a:pPr>
              <a:lnSpc>
                <a:spcPct val="85000"/>
              </a:lnSpc>
              <a:spcAft>
                <a:spcPts val="600"/>
              </a:spcAft>
              <a:buClr>
                <a:srgbClr val="FFD200"/>
              </a:buClr>
              <a:buSzPct val="70000"/>
            </a:pPr>
            <a:r>
              <a:rPr lang="en-US" sz="1600" b="1" dirty="0">
                <a:solidFill>
                  <a:srgbClr val="FFD200"/>
                </a:solidFill>
              </a:rPr>
              <a:t>Placeholder image — to replace this image, select View&gt;Notes Page</a:t>
            </a:r>
          </a:p>
        </p:txBody>
      </p:sp>
    </p:spTree>
    <p:extLst>
      <p:ext uri="{BB962C8B-B14F-4D97-AF65-F5344CB8AC3E}">
        <p14:creationId xmlns:p14="http://schemas.microsoft.com/office/powerpoint/2010/main" val="40215624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48225075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96726504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38881520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endParaRPr lang="en-GB" dirty="0"/>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endParaRPr lang="en-GB" dirty="0"/>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93480349"/>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113609939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29601"/>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61279959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31902844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7"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133103484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5"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43761132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6188974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609330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06614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cSld name="Line divider 3">
    <p:spTree>
      <p:nvGrpSpPr>
        <p:cNvPr id="1" name=""/>
        <p:cNvGrpSpPr/>
        <p:nvPr/>
      </p:nvGrpSpPr>
      <p:grpSpPr>
        <a:xfrm>
          <a:off x="0" y="0"/>
          <a:ext cx="0" cy="0"/>
          <a:chOff x="0" y="0"/>
          <a:chExt cx="0" cy="0"/>
        </a:xfrm>
      </p:grpSpPr>
      <p:sp>
        <p:nvSpPr>
          <p:cNvPr id="5" name="Rectangle 4"/>
          <p:cNvSpPr/>
          <p:nvPr userDrawn="1"/>
        </p:nvSpPr>
        <p:spPr>
          <a:xfrm>
            <a:off x="508000" y="60198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4" name="Rectangle 3"/>
          <p:cNvSpPr/>
          <p:nvPr userDrawn="1"/>
        </p:nvSpPr>
        <p:spPr>
          <a:xfrm>
            <a:off x="508000" y="9144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p>
        </p:txBody>
      </p:sp>
      <p:pic>
        <p:nvPicPr>
          <p:cNvPr id="7" name="Picture 13" descr="PPTbackground_3_HANDOUT"/>
          <p:cNvPicPr>
            <a:picLocks noChangeAspect="1" noChangeArrowheads="1"/>
          </p:cNvPicPr>
          <p:nvPr userDrawn="1"/>
        </p:nvPicPr>
        <p:blipFill>
          <a:blip r:embed="rId2" cstate="print"/>
          <a:srcRect/>
          <a:stretch>
            <a:fillRect/>
          </a:stretch>
        </p:blipFill>
        <p:spPr bwMode="auto">
          <a:xfrm>
            <a:off x="637117" y="1023938"/>
            <a:ext cx="10945283" cy="5222875"/>
          </a:xfrm>
          <a:prstGeom prst="rect">
            <a:avLst/>
          </a:prstGeom>
          <a:noFill/>
        </p:spPr>
      </p:pic>
    </p:spTree>
    <p:extLst>
      <p:ext uri="{BB962C8B-B14F-4D97-AF65-F5344CB8AC3E}">
        <p14:creationId xmlns:p14="http://schemas.microsoft.com/office/powerpoint/2010/main" val="2445285069"/>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10/9/2025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3926982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gray">
          <a:xfrm>
            <a:off x="3031000" y="5748934"/>
            <a:ext cx="1311311" cy="745200"/>
          </a:xfrm>
          <a:prstGeom prst="rect">
            <a:avLst/>
          </a:prstGeom>
          <a:noFill/>
          <a:ln w="9525">
            <a:noFill/>
            <a:miter lim="800000"/>
            <a:headEnd/>
            <a:tailEnd/>
          </a:ln>
          <a:effectLst/>
        </p:spPr>
      </p:pic>
      <p:sp>
        <p:nvSpPr>
          <p:cNvPr id="2" name="Title 1"/>
          <p:cNvSpPr>
            <a:spLocks noGrp="1"/>
          </p:cNvSpPr>
          <p:nvPr>
            <p:ph type="ctrTitle"/>
          </p:nvPr>
        </p:nvSpPr>
        <p:spPr>
          <a:xfrm>
            <a:off x="3043413" y="757504"/>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043413" y="1753200"/>
            <a:ext cx="7320000" cy="968400"/>
          </a:xfrm>
        </p:spPr>
        <p:txBody>
          <a:bodyPr/>
          <a:lstStyle>
            <a:lvl1pPr marL="0" indent="0" algn="l">
              <a:buNone/>
              <a:defRPr sz="2000">
                <a:solidFill>
                  <a:schemeClr val="bg2"/>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grpSp>
        <p:nvGrpSpPr>
          <p:cNvPr id="7" name="Group 6"/>
          <p:cNvGrpSpPr/>
          <p:nvPr userDrawn="1"/>
        </p:nvGrpSpPr>
        <p:grpSpPr>
          <a:xfrm>
            <a:off x="0" y="2403073"/>
            <a:ext cx="12192000" cy="3347943"/>
            <a:chOff x="0" y="2403072"/>
            <a:chExt cx="9144000" cy="3347943"/>
          </a:xfrm>
        </p:grpSpPr>
        <p:sp>
          <p:nvSpPr>
            <p:cNvPr id="13" name="Freeform 8"/>
            <p:cNvSpPr>
              <a:spLocks/>
            </p:cNvSpPr>
            <p:nvPr userDrawn="1"/>
          </p:nvSpPr>
          <p:spPr bwMode="gray">
            <a:xfrm>
              <a:off x="2279115" y="2403072"/>
              <a:ext cx="6864885" cy="249308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pic>
          <p:nvPicPr>
            <p:cNvPr id="14" name="Picture 3"/>
            <p:cNvPicPr>
              <a:picLocks noChangeAspect="1" noChangeArrowheads="1"/>
            </p:cNvPicPr>
            <p:nvPr userDrawn="1"/>
          </p:nvPicPr>
          <p:blipFill>
            <a:blip r:embed="rId3" cstate="print"/>
            <a:srcRect/>
            <a:stretch>
              <a:fillRect/>
            </a:stretch>
          </p:blipFill>
          <p:spPr bwMode="auto">
            <a:xfrm>
              <a:off x="0" y="4408610"/>
              <a:ext cx="2289301" cy="1342405"/>
            </a:xfrm>
            <a:prstGeom prst="rect">
              <a:avLst/>
            </a:prstGeom>
            <a:noFill/>
            <a:ln w="9525">
              <a:noFill/>
              <a:miter lim="800000"/>
              <a:headEnd/>
              <a:tailEnd/>
            </a:ln>
            <a:effectLst/>
          </p:spPr>
        </p:pic>
      </p:grpSp>
    </p:spTree>
    <p:extLst>
      <p:ext uri="{BB962C8B-B14F-4D97-AF65-F5344CB8AC3E}">
        <p14:creationId xmlns:p14="http://schemas.microsoft.com/office/powerpoint/2010/main" val="719396326"/>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185572337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71030461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a:xfrm>
            <a:off x="3451200" y="6413445"/>
            <a:ext cx="4579200" cy="201600"/>
          </a:xfrm>
        </p:spPr>
        <p:txBody>
          <a:bodyPr/>
          <a:lstStyle/>
          <a:p>
            <a:r>
              <a:rPr lang="en-GB">
                <a:solidFill>
                  <a:srgbClr val="808080"/>
                </a:solidFill>
              </a:rPr>
              <a:t>HELPE Information Security</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23949085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r>
              <a:rPr lang="en-US"/>
              <a:t>Click to edit Master text styles</a:t>
            </a:r>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r>
              <a:rPr lang="en-US"/>
              <a:t>Click to edit Master text styles</a:t>
            </a:r>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8731179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5997083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3077" name="Freeform 5"/>
          <p:cNvSpPr>
            <a:spLocks/>
          </p:cNvSpPr>
          <p:nvPr userDrawn="1"/>
        </p:nvSpPr>
        <p:spPr bwMode="gray">
          <a:xfrm>
            <a:off x="609600" y="1039814"/>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576644811"/>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4101"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37523668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pic>
        <p:nvPicPr>
          <p:cNvPr id="6"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45719116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04902832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13847095"/>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53491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Divider">
    <p:spTree>
      <p:nvGrpSpPr>
        <p:cNvPr id="1" name=""/>
        <p:cNvGrpSpPr/>
        <p:nvPr/>
      </p:nvGrpSpPr>
      <p:grpSpPr>
        <a:xfrm>
          <a:off x="0" y="0"/>
          <a:ext cx="0" cy="0"/>
          <a:chOff x="0" y="0"/>
          <a:chExt cx="0" cy="0"/>
        </a:xfrm>
      </p:grpSpPr>
      <p:sp>
        <p:nvSpPr>
          <p:cNvPr id="7" name="Freeform 6"/>
          <p:cNvSpPr/>
          <p:nvPr userDrawn="1"/>
        </p:nvSpPr>
        <p:spPr bwMode="auto">
          <a:xfrm rot="10800000">
            <a:off x="10008198" y="2323429"/>
            <a:ext cx="1693081" cy="2072947"/>
          </a:xfrm>
          <a:custGeom>
            <a:avLst/>
            <a:gdLst>
              <a:gd name="connsiteX0" fmla="*/ 0 w 1459832"/>
              <a:gd name="connsiteY0" fmla="*/ 2245895 h 2245895"/>
              <a:gd name="connsiteX1" fmla="*/ 441158 w 1459832"/>
              <a:gd name="connsiteY1" fmla="*/ 0 h 2245895"/>
              <a:gd name="connsiteX2" fmla="*/ 1459832 w 1459832"/>
              <a:gd name="connsiteY2" fmla="*/ 0 h 2245895"/>
              <a:gd name="connsiteX3" fmla="*/ 1459832 w 1459832"/>
              <a:gd name="connsiteY3" fmla="*/ 2245895 h 2245895"/>
              <a:gd name="connsiteX4" fmla="*/ 0 w 1459832"/>
              <a:gd name="connsiteY4" fmla="*/ 2245895 h 2245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832" h="2245895">
                <a:moveTo>
                  <a:pt x="0" y="2245895"/>
                </a:moveTo>
                <a:lnTo>
                  <a:pt x="441158" y="0"/>
                </a:lnTo>
                <a:lnTo>
                  <a:pt x="1459832" y="0"/>
                </a:lnTo>
                <a:lnTo>
                  <a:pt x="1459832" y="2245895"/>
                </a:lnTo>
                <a:lnTo>
                  <a:pt x="0" y="2245895"/>
                </a:lnTo>
                <a:close/>
              </a:path>
            </a:pathLst>
          </a:custGeom>
          <a:solidFill>
            <a:srgbClr val="CDCDCD"/>
          </a:solidFill>
          <a:ln w="12700" cap="rnd">
            <a:noFill/>
            <a:prstDash val="sysDot"/>
            <a:round/>
            <a:headEnd type="none" w="sm" len="sm"/>
            <a:tailEnd type="none" w="sm" len="sm"/>
          </a:ln>
        </p:spPr>
        <p:txBody>
          <a:bodyPr lIns="80095" tIns="40048" rIns="80095" bIns="40048"/>
          <a:lstStyle/>
          <a:p>
            <a:pPr algn="ctr" defTabSz="914287" eaLnBrk="0" hangingPunct="0">
              <a:defRPr/>
            </a:pPr>
            <a:endParaRPr lang="en-US" sz="1800" kern="0" dirty="0">
              <a:solidFill>
                <a:srgbClr val="646464"/>
              </a:solidFill>
              <a:latin typeface="EYInterstate" pitchFamily="2" charset="0"/>
              <a:cs typeface="Arial" charset="0"/>
            </a:endParaRPr>
          </a:p>
        </p:txBody>
      </p:sp>
      <p:sp>
        <p:nvSpPr>
          <p:cNvPr id="8" name="Rectangle 7"/>
          <p:cNvSpPr/>
          <p:nvPr userDrawn="1"/>
        </p:nvSpPr>
        <p:spPr bwMode="auto">
          <a:xfrm rot="10800000">
            <a:off x="3" y="2323429"/>
            <a:ext cx="10182031" cy="2072947"/>
          </a:xfrm>
          <a:prstGeom prst="rect">
            <a:avLst/>
          </a:prstGeom>
          <a:solidFill>
            <a:srgbClr val="CDCDCD"/>
          </a:solidFill>
          <a:ln w="12700" cap="rnd">
            <a:noFill/>
            <a:prstDash val="sysDot"/>
            <a:round/>
            <a:headEnd type="none" w="sm" len="sm"/>
            <a:tailEnd type="none" w="sm" len="sm"/>
          </a:ln>
        </p:spPr>
        <p:txBody>
          <a:bodyPr lIns="80095" tIns="40048" rIns="80095" bIns="40048"/>
          <a:lstStyle/>
          <a:p>
            <a:pPr algn="ctr" defTabSz="914287" eaLnBrk="0" hangingPunct="0">
              <a:defRPr/>
            </a:pPr>
            <a:endParaRPr lang="en-US" sz="1800" kern="0" dirty="0">
              <a:solidFill>
                <a:srgbClr val="646464"/>
              </a:solidFill>
              <a:latin typeface="EYInterstate" pitchFamily="2" charset="0"/>
              <a:cs typeface="Arial" charset="0"/>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5470" y="2590343"/>
            <a:ext cx="3078241" cy="1539121"/>
          </a:xfrm>
          <a:prstGeom prst="rect">
            <a:avLst/>
          </a:prstGeom>
        </p:spPr>
      </p:pic>
      <p:sp>
        <p:nvSpPr>
          <p:cNvPr id="11" name="Content Placeholder 2"/>
          <p:cNvSpPr>
            <a:spLocks noGrp="1"/>
          </p:cNvSpPr>
          <p:nvPr>
            <p:ph idx="1"/>
          </p:nvPr>
        </p:nvSpPr>
        <p:spPr>
          <a:xfrm>
            <a:off x="3712396" y="2323428"/>
            <a:ext cx="7315201" cy="2072948"/>
          </a:xfrm>
        </p:spPr>
        <p:txBody>
          <a:bodyPr anchor="ctr"/>
          <a:lstStyle>
            <a:lvl1pPr marL="0" indent="0">
              <a:buFontTx/>
              <a:buNone/>
              <a:defRPr>
                <a:solidFill>
                  <a:schemeClr val="tx1"/>
                </a:solidFill>
              </a:defRPr>
            </a:lvl1pPr>
            <a:lvl2pPr marL="355600" indent="0">
              <a:buFontTx/>
              <a:buNone/>
              <a:defRPr>
                <a:solidFill>
                  <a:schemeClr val="tx1"/>
                </a:solidFill>
              </a:defRPr>
            </a:lvl2pPr>
            <a:lvl3pPr marL="723900" indent="0">
              <a:buFontTx/>
              <a:buNone/>
              <a:defRPr>
                <a:solidFill>
                  <a:schemeClr val="tx1"/>
                </a:solidFill>
              </a:defRPr>
            </a:lvl3pPr>
            <a:lvl4pPr marL="1077913" indent="0">
              <a:buFontTx/>
              <a:buNone/>
              <a:defRPr>
                <a:solidFill>
                  <a:schemeClr val="tx1"/>
                </a:solidFill>
              </a:defRPr>
            </a:lvl4pPr>
            <a:lvl5pPr marL="1433512" indent="0">
              <a:buFontTx/>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0637356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Footer Placeholder 2"/>
          <p:cNvSpPr>
            <a:spLocks noGrp="1"/>
          </p:cNvSpPr>
          <p:nvPr>
            <p:ph type="ftr" sz="quarter" idx="10"/>
          </p:nvPr>
        </p:nvSpPr>
        <p:spPr/>
        <p:txBody>
          <a:bodyPr/>
          <a:lstStyle/>
          <a:p>
            <a:r>
              <a:rPr lang="en-GB">
                <a:solidFill>
                  <a:srgbClr val="808080"/>
                </a:solidFill>
              </a:rPr>
              <a:t>HELPE Information Security</a:t>
            </a:r>
            <a:endParaRPr lang="en-GB" dirty="0">
              <a:solidFill>
                <a:srgbClr val="808080"/>
              </a:solidFill>
            </a:endParaRPr>
          </a:p>
        </p:txBody>
      </p:sp>
      <p:sp>
        <p:nvSpPr>
          <p:cNvPr id="5" name="Freeform 4"/>
          <p:cNvSpPr/>
          <p:nvPr userDrawn="1"/>
        </p:nvSpPr>
        <p:spPr bwMode="gray">
          <a:xfrm flipH="1">
            <a:off x="2" y="2614613"/>
            <a:ext cx="11280479" cy="1498600"/>
          </a:xfrm>
          <a:custGeom>
            <a:avLst/>
            <a:gdLst>
              <a:gd name="connsiteX0" fmla="*/ 85725 w 7705725"/>
              <a:gd name="connsiteY0" fmla="*/ 0 h 1704975"/>
              <a:gd name="connsiteX1" fmla="*/ 7705725 w 7705725"/>
              <a:gd name="connsiteY1" fmla="*/ 0 h 1704975"/>
              <a:gd name="connsiteX2" fmla="*/ 7705725 w 7705725"/>
              <a:gd name="connsiteY2" fmla="*/ 1704975 h 1704975"/>
              <a:gd name="connsiteX3" fmla="*/ 0 w 7705725"/>
              <a:gd name="connsiteY3" fmla="*/ 1704975 h 1704975"/>
              <a:gd name="connsiteX4" fmla="*/ 85725 w 7705725"/>
              <a:gd name="connsiteY4" fmla="*/ 0 h 1704975"/>
              <a:gd name="connsiteX0" fmla="*/ 0 w 7620000"/>
              <a:gd name="connsiteY0" fmla="*/ 0 h 1705429"/>
              <a:gd name="connsiteX1" fmla="*/ 7620000 w 7620000"/>
              <a:gd name="connsiteY1" fmla="*/ 0 h 1705429"/>
              <a:gd name="connsiteX2" fmla="*/ 7620000 w 7620000"/>
              <a:gd name="connsiteY2" fmla="*/ 1704975 h 1705429"/>
              <a:gd name="connsiteX3" fmla="*/ 329085 w 7620000"/>
              <a:gd name="connsiteY3" fmla="*/ 1705429 h 1705429"/>
              <a:gd name="connsiteX4" fmla="*/ 0 w 7620000"/>
              <a:gd name="connsiteY4" fmla="*/ 0 h 170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0" h="1705429">
                <a:moveTo>
                  <a:pt x="0" y="0"/>
                </a:moveTo>
                <a:lnTo>
                  <a:pt x="7620000" y="0"/>
                </a:lnTo>
                <a:lnTo>
                  <a:pt x="7620000" y="1704975"/>
                </a:lnTo>
                <a:lnTo>
                  <a:pt x="329085" y="1705429"/>
                </a:lnTo>
                <a:lnTo>
                  <a:pt x="0" y="0"/>
                </a:lnTo>
                <a:close/>
              </a:path>
            </a:pathLst>
          </a:custGeom>
          <a:solidFill>
            <a:srgbClr val="646464"/>
          </a:solidFill>
          <a:ln w="9525">
            <a:noFill/>
            <a:round/>
            <a:headEnd/>
            <a:tailEnd/>
          </a:ln>
        </p:spPr>
        <p:txBody>
          <a:bodyPr lIns="83962" tIns="41981" rIns="83962" bIns="41981"/>
          <a:lstStyle/>
          <a:p>
            <a:pPr eaLnBrk="0" fontAlgn="base" hangingPunct="0">
              <a:spcBef>
                <a:spcPct val="0"/>
              </a:spcBef>
              <a:spcAft>
                <a:spcPct val="0"/>
              </a:spcAft>
              <a:defRPr/>
            </a:pPr>
            <a:endParaRPr lang="en-GB" sz="700" dirty="0">
              <a:solidFill>
                <a:srgbClr val="000000"/>
              </a:solidFill>
            </a:endParaRPr>
          </a:p>
        </p:txBody>
      </p:sp>
      <p:sp>
        <p:nvSpPr>
          <p:cNvPr id="6" name="Text Placeholder 9"/>
          <p:cNvSpPr>
            <a:spLocks noGrp="1"/>
          </p:cNvSpPr>
          <p:nvPr>
            <p:ph type="body" sz="quarter" idx="11"/>
          </p:nvPr>
        </p:nvSpPr>
        <p:spPr bwMode="gray">
          <a:xfrm>
            <a:off x="729620" y="3080634"/>
            <a:ext cx="8097944" cy="708406"/>
          </a:xfrm>
          <a:prstGeom prst="rect">
            <a:avLst/>
          </a:prstGeom>
        </p:spPr>
        <p:txBody>
          <a:bodyPr lIns="83969" tIns="41985" rIns="83969" bIns="41985"/>
          <a:lstStyle>
            <a:lvl1pPr>
              <a:lnSpc>
                <a:spcPct val="90000"/>
              </a:lnSpc>
              <a:spcAft>
                <a:spcPts val="0"/>
              </a:spcAft>
              <a:buNone/>
              <a:defRPr lang="en-GB" sz="3100" b="1" kern="1200" dirty="0" smtClean="0">
                <a:solidFill>
                  <a:srgbClr val="FFD200"/>
                </a:solidFill>
                <a:latin typeface="+mj-lt"/>
                <a:ea typeface="+mn-ea"/>
                <a:cs typeface="Arial" charset="0"/>
              </a:defRPr>
            </a:lvl1pPr>
          </a:lstStyle>
          <a:p>
            <a:pPr lvl="0"/>
            <a:r>
              <a:rPr lang="en-US" dirty="0"/>
              <a:t>Click to edit Master text styles</a:t>
            </a:r>
          </a:p>
        </p:txBody>
      </p:sp>
      <p:sp>
        <p:nvSpPr>
          <p:cNvPr id="7" name="Text Placeholder 7"/>
          <p:cNvSpPr>
            <a:spLocks noGrp="1"/>
          </p:cNvSpPr>
          <p:nvPr>
            <p:ph type="body" sz="quarter" idx="12"/>
          </p:nvPr>
        </p:nvSpPr>
        <p:spPr bwMode="gray">
          <a:xfrm>
            <a:off x="733346" y="2800662"/>
            <a:ext cx="8094156" cy="254067"/>
          </a:xfrm>
          <a:prstGeom prst="rect">
            <a:avLst/>
          </a:prstGeom>
        </p:spPr>
        <p:txBody>
          <a:bodyPr wrap="none" lIns="83969" tIns="41985" rIns="83969" bIns="41985" anchor="ctr"/>
          <a:lstStyle>
            <a:lvl1pPr>
              <a:buNone/>
              <a:defRPr lang="en-US" sz="1500" b="1" kern="1200" dirty="0" smtClean="0">
                <a:solidFill>
                  <a:schemeClr val="tx2"/>
                </a:solidFill>
                <a:latin typeface="+mj-lt"/>
                <a:ea typeface="+mn-ea"/>
                <a:cs typeface="Arial" charset="0"/>
              </a:defRPr>
            </a:lvl1pPr>
          </a:lstStyle>
          <a:p>
            <a:pPr lvl="0"/>
            <a:r>
              <a:rPr lang="en-US" dirty="0"/>
              <a:t>Click to edit Master text styles</a:t>
            </a:r>
          </a:p>
        </p:txBody>
      </p:sp>
      <p:sp>
        <p:nvSpPr>
          <p:cNvPr id="4" name="Rectangle 3"/>
          <p:cNvSpPr/>
          <p:nvPr userDrawn="1"/>
        </p:nvSpPr>
        <p:spPr>
          <a:xfrm>
            <a:off x="10848528" y="6415200"/>
            <a:ext cx="93610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200" dirty="0">
              <a:solidFill>
                <a:schemeClr val="tx1"/>
              </a:solidFill>
            </a:endParaRPr>
          </a:p>
        </p:txBody>
      </p:sp>
    </p:spTree>
    <p:extLst>
      <p:ext uri="{BB962C8B-B14F-4D97-AF65-F5344CB8AC3E}">
        <p14:creationId xmlns:p14="http://schemas.microsoft.com/office/powerpoint/2010/main" val="364072820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theme" Target="../theme/theme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heme" Target="../theme/theme4.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11414786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fade/>
  </p:transition>
  <p:hf sldNum="0" hdr="0" dt="0"/>
  <p:txStyles>
    <p:titleStyle>
      <a:lvl1pPr algn="l" defTabSz="914400" rtl="0" eaLnBrk="1" latinLnBrk="0" hangingPunct="1">
        <a:lnSpc>
          <a:spcPct val="85000"/>
        </a:lnSpc>
        <a:spcBef>
          <a:spcPct val="0"/>
        </a:spcBef>
        <a:buNone/>
        <a:defRPr sz="3000" b="1"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35309777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722" r:id="rId16"/>
  </p:sldLayoutIdLst>
  <p:transition>
    <p:fade/>
  </p:transition>
  <p:hf sldNum="0" hdr="0" dt="0"/>
  <p:txStyles>
    <p:titleStyle>
      <a:lvl1pPr algn="l" defTabSz="914400" rtl="0" eaLnBrk="1" latinLnBrk="0" hangingPunct="1">
        <a:lnSpc>
          <a:spcPct val="85000"/>
        </a:lnSpc>
        <a:spcBef>
          <a:spcPct val="0"/>
        </a:spcBef>
        <a:buNone/>
        <a:defRPr sz="3000" b="1" kern="1200">
          <a:solidFill>
            <a:srgbClr val="808080"/>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358813441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23" r:id="rId16"/>
  </p:sldLayoutIdLst>
  <p:transition>
    <p:fade/>
  </p:transition>
  <p:hf sldNum="0" hdr="0" dt="0"/>
  <p:txStyles>
    <p:titleStyle>
      <a:lvl1pPr algn="l" defTabSz="914400" rtl="0" eaLnBrk="1" latinLnBrk="0" hangingPunct="1">
        <a:lnSpc>
          <a:spcPct val="85000"/>
        </a:lnSpc>
        <a:spcBef>
          <a:spcPct val="0"/>
        </a:spcBef>
        <a:buNone/>
        <a:defRPr sz="3000" b="1" kern="1200">
          <a:solidFill>
            <a:srgbClr val="808080"/>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HELPE Information Security</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2661508408"/>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Lst>
  <p:transition>
    <p:fade/>
  </p:transition>
  <p:hf sldNum="0" hdr="0" ftr="0" dt="0"/>
  <p:txStyles>
    <p:titleStyle>
      <a:lvl1pPr algn="l" defTabSz="914400" rtl="0" eaLnBrk="1" latinLnBrk="0" hangingPunct="1">
        <a:lnSpc>
          <a:spcPct val="85000"/>
        </a:lnSpc>
        <a:spcBef>
          <a:spcPct val="0"/>
        </a:spcBef>
        <a:buNone/>
        <a:defRPr sz="2800" b="1"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hyperlink" Target="http://www.mamp.info/en/index.html" TargetMode="External"/><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hyperlink" Target="http://www.mamp.info/en/index.html" TargetMode="External"/><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hyperlink" Target="http://www.mamp.info/en/index.html" TargetMode="External"/><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hyperlink" Target="http://www.mamp.info/en/index.html" TargetMode="External"/><Relationship Id="rId4" Type="http://schemas.openxmlformats.org/officeDocument/2006/relationships/hyperlink" Target="http://www.wampserver.com/"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hyperlink" Target="https://www.php.net/manual/en/reserved.variables.globals.php" TargetMode="External"/><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5.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15.xml"/><Relationship Id="rId5" Type="http://schemas.openxmlformats.org/officeDocument/2006/relationships/image" Target="../media/image40.png"/><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3.xml"/><Relationship Id="rId1" Type="http://schemas.openxmlformats.org/officeDocument/2006/relationships/slideLayout" Target="../slideLayouts/slideLayout15.xml"/><Relationship Id="rId4" Type="http://schemas.openxmlformats.org/officeDocument/2006/relationships/image" Target="../media/image50.png"/></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4.xml"/><Relationship Id="rId1" Type="http://schemas.openxmlformats.org/officeDocument/2006/relationships/slideLayout" Target="../slideLayouts/slideLayout15.xml"/><Relationship Id="rId4" Type="http://schemas.openxmlformats.org/officeDocument/2006/relationships/image" Target="../media/image52.png"/></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5.xml"/><Relationship Id="rId1" Type="http://schemas.openxmlformats.org/officeDocument/2006/relationships/slideLayout" Target="../slideLayouts/slideLayout15.xml"/><Relationship Id="rId4" Type="http://schemas.openxmlformats.org/officeDocument/2006/relationships/image" Target="../media/image54.png"/></Relationships>
</file>

<file path=ppt/slides/_rels/slide6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7.xml"/><Relationship Id="rId1" Type="http://schemas.openxmlformats.org/officeDocument/2006/relationships/slideLayout" Target="../slideLayouts/slideLayout15.xml"/><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8.xml"/><Relationship Id="rId1" Type="http://schemas.openxmlformats.org/officeDocument/2006/relationships/slideLayout" Target="../slideLayouts/slideLayout15.xml"/><Relationship Id="rId5" Type="http://schemas.openxmlformats.org/officeDocument/2006/relationships/image" Target="../media/image60.png"/><Relationship Id="rId4" Type="http://schemas.openxmlformats.org/officeDocument/2006/relationships/oleObject" Target="../embeddings/oleObject1.bin"/></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2.xml"/><Relationship Id="rId1" Type="http://schemas.openxmlformats.org/officeDocument/2006/relationships/slideLayout" Target="../slideLayouts/slideLayout15.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6.xml"/><Relationship Id="rId1" Type="http://schemas.openxmlformats.org/officeDocument/2006/relationships/slideLayout" Target="../slideLayouts/slideLayout15.xml"/><Relationship Id="rId5" Type="http://schemas.openxmlformats.org/officeDocument/2006/relationships/image" Target="../media/image68.png"/><Relationship Id="rId4" Type="http://schemas.openxmlformats.org/officeDocument/2006/relationships/image" Target="../media/image67.png"/></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7.xml"/><Relationship Id="rId1" Type="http://schemas.openxmlformats.org/officeDocument/2006/relationships/slideLayout" Target="../slideLayouts/slideLayout15.xml"/><Relationship Id="rId4" Type="http://schemas.openxmlformats.org/officeDocument/2006/relationships/image" Target="../media/image70.png"/></Relationships>
</file>

<file path=ppt/slides/_rels/slide7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8.xml"/><Relationship Id="rId1" Type="http://schemas.openxmlformats.org/officeDocument/2006/relationships/slideLayout" Target="../slideLayouts/slideLayout15.xml"/><Relationship Id="rId4" Type="http://schemas.openxmlformats.org/officeDocument/2006/relationships/image" Target="../media/image72.png"/></Relationships>
</file>

<file path=ppt/slides/_rels/slide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0.xml"/><Relationship Id="rId1" Type="http://schemas.openxmlformats.org/officeDocument/2006/relationships/slideLayout" Target="../slideLayouts/slideLayout15.xml"/><Relationship Id="rId4" Type="http://schemas.openxmlformats.org/officeDocument/2006/relationships/image" Target="../media/image75.png"/></Relationships>
</file>

<file path=ppt/slides/_rels/slide7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1.xml"/><Relationship Id="rId1" Type="http://schemas.openxmlformats.org/officeDocument/2006/relationships/slideLayout" Target="../slideLayouts/slideLayout15.xml"/><Relationship Id="rId4" Type="http://schemas.openxmlformats.org/officeDocument/2006/relationships/image" Target="../media/image77.png"/></Relationships>
</file>

<file path=ppt/slides/_rels/slide8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2.xml"/><Relationship Id="rId1" Type="http://schemas.openxmlformats.org/officeDocument/2006/relationships/slideLayout" Target="../slideLayouts/slideLayout15.xml"/><Relationship Id="rId4" Type="http://schemas.openxmlformats.org/officeDocument/2006/relationships/image" Target="../media/image79.png"/></Relationships>
</file>

<file path=ppt/slides/_rels/slide8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3.xml"/><Relationship Id="rId1" Type="http://schemas.openxmlformats.org/officeDocument/2006/relationships/slideLayout" Target="../slideLayouts/slideLayout15.xml"/><Relationship Id="rId4" Type="http://schemas.openxmlformats.org/officeDocument/2006/relationships/image" Target="../media/image81.png"/></Relationships>
</file>

<file path=ppt/slides/_rels/slide8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4.xml"/><Relationship Id="rId1" Type="http://schemas.openxmlformats.org/officeDocument/2006/relationships/slideLayout" Target="../slideLayouts/slideLayout15.xml"/><Relationship Id="rId4" Type="http://schemas.openxmlformats.org/officeDocument/2006/relationships/image" Target="../media/image83.png"/></Relationships>
</file>

<file path=ppt/slides/_rels/slide8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5.xml"/><Relationship Id="rId1" Type="http://schemas.openxmlformats.org/officeDocument/2006/relationships/slideLayout" Target="../slideLayouts/slideLayout15.xml"/><Relationship Id="rId4" Type="http://schemas.openxmlformats.org/officeDocument/2006/relationships/image" Target="../media/image8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7.xml"/><Relationship Id="rId1" Type="http://schemas.openxmlformats.org/officeDocument/2006/relationships/slideLayout" Target="../slideLayouts/slideLayout15.xml"/><Relationship Id="rId5" Type="http://schemas.openxmlformats.org/officeDocument/2006/relationships/image" Target="../media/image87.png"/><Relationship Id="rId4" Type="http://schemas.openxmlformats.org/officeDocument/2006/relationships/image" Target="../media/image86.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0.xml"/><Relationship Id="rId1" Type="http://schemas.openxmlformats.org/officeDocument/2006/relationships/slideLayout" Target="../slideLayouts/slideLayout15.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9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82.xml"/><Relationship Id="rId1" Type="http://schemas.openxmlformats.org/officeDocument/2006/relationships/slideLayout" Target="../slideLayouts/slideLayout15.xml"/><Relationship Id="rId4" Type="http://schemas.openxmlformats.org/officeDocument/2006/relationships/image" Target="../media/image94.png"/></Relationships>
</file>

<file path=ppt/slides/_rels/slide9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83.xml"/><Relationship Id="rId1" Type="http://schemas.openxmlformats.org/officeDocument/2006/relationships/slideLayout" Target="../slideLayouts/slideLayout15.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9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4.xml"/><Relationship Id="rId1" Type="http://schemas.openxmlformats.org/officeDocument/2006/relationships/slideLayout" Target="../slideLayouts/slideLayout15.xml"/><Relationship Id="rId4" Type="http://schemas.openxmlformats.org/officeDocument/2006/relationships/image" Target="../media/image100.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86.xml"/><Relationship Id="rId1" Type="http://schemas.openxmlformats.org/officeDocument/2006/relationships/slideLayout" Target="../slideLayouts/slideLayout15.xml"/><Relationship Id="rId4" Type="http://schemas.openxmlformats.org/officeDocument/2006/relationships/image" Target="../media/image102.png"/></Relationships>
</file>

<file path=ppt/slides/_rels/slide9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7.xml"/><Relationship Id="rId1" Type="http://schemas.openxmlformats.org/officeDocument/2006/relationships/slideLayout" Target="../slideLayouts/slideLayout15.xml"/><Relationship Id="rId4" Type="http://schemas.openxmlformats.org/officeDocument/2006/relationships/image" Target="../media/image104.png"/></Relationships>
</file>

<file path=ppt/slides/_rels/slide9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88.xml"/><Relationship Id="rId1" Type="http://schemas.openxmlformats.org/officeDocument/2006/relationships/slideLayout" Target="../slideLayouts/slideLayout15.xml"/><Relationship Id="rId5" Type="http://schemas.openxmlformats.org/officeDocument/2006/relationships/image" Target="../media/image107.png"/><Relationship Id="rId4" Type="http://schemas.openxmlformats.org/officeDocument/2006/relationships/image" Target="../media/image106.png"/></Relationships>
</file>

<file path=ppt/slides/_rels/slide9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9.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0.xml"/><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1.xml"/><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2.xml"/><Relationship Id="rId1" Type="http://schemas.openxmlformats.org/officeDocument/2006/relationships/slideLayout" Target="../slideLayouts/slideLayout15.xml"/><Relationship Id="rId4" Type="http://schemas.openxmlformats.org/officeDocument/2006/relationships/image" Target="../media/image112.png"/></Relationships>
</file>

<file path=ppt/slides/_rels/slide10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3.xml"/><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4.xml"/><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5.xml"/><Relationship Id="rId1" Type="http://schemas.openxmlformats.org/officeDocument/2006/relationships/slideLayout" Target="../slideLayouts/slideLayout15.xml"/></Relationships>
</file>

<file path=ppt/slides/_rels/slide10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96.xml"/><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97.xml"/><Relationship Id="rId1" Type="http://schemas.openxmlformats.org/officeDocument/2006/relationships/slideLayout" Target="../slideLayouts/slideLayout15.xml"/><Relationship Id="rId4" Type="http://schemas.openxmlformats.org/officeDocument/2006/relationships/image" Target="../media/image117.png"/></Relationships>
</file>

<file path=ppt/slides/_rels/slide10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8.xml"/><Relationship Id="rId1" Type="http://schemas.openxmlformats.org/officeDocument/2006/relationships/slideLayout" Target="../slideLayouts/slideLayout15.xml"/></Relationships>
</file>

<file path=ppt/slides/_rels/slide10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9.xml"/><Relationship Id="rId1" Type="http://schemas.openxmlformats.org/officeDocument/2006/relationships/slideLayout" Target="../slideLayouts/slideLayout15.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10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00.xml"/><Relationship Id="rId1" Type="http://schemas.openxmlformats.org/officeDocument/2006/relationships/slideLayout" Target="../slideLayouts/slideLayout15.xml"/><Relationship Id="rId5" Type="http://schemas.openxmlformats.org/officeDocument/2006/relationships/image" Target="../media/image124.png"/><Relationship Id="rId4" Type="http://schemas.openxmlformats.org/officeDocument/2006/relationships/image" Target="../media/image12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02.xml"/><Relationship Id="rId1" Type="http://schemas.openxmlformats.org/officeDocument/2006/relationships/slideLayout" Target="../slideLayouts/slideLayout15.xml"/><Relationship Id="rId5" Type="http://schemas.openxmlformats.org/officeDocument/2006/relationships/image" Target="../media/image127.png"/><Relationship Id="rId4" Type="http://schemas.openxmlformats.org/officeDocument/2006/relationships/image" Target="../media/image126.png"/></Relationships>
</file>

<file path=ppt/slides/_rels/slide11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03.xml"/><Relationship Id="rId1" Type="http://schemas.openxmlformats.org/officeDocument/2006/relationships/slideLayout" Target="../slideLayouts/slideLayout15.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6.png"/></Relationships>
</file>

<file path=ppt/slides/_rels/slide11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04.xml"/><Relationship Id="rId1" Type="http://schemas.openxmlformats.org/officeDocument/2006/relationships/slideLayout" Target="../slideLayouts/slideLayout15.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6.png"/></Relationships>
</file>

<file path=ppt/slides/_rels/slide115.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05.xml"/><Relationship Id="rId1" Type="http://schemas.openxmlformats.org/officeDocument/2006/relationships/slideLayout" Target="../slideLayouts/slideLayout15.xml"/><Relationship Id="rId5" Type="http://schemas.openxmlformats.org/officeDocument/2006/relationships/image" Target="../media/image134.png"/><Relationship Id="rId4" Type="http://schemas.openxmlformats.org/officeDocument/2006/relationships/image" Target="../media/image133.png"/></Relationships>
</file>

<file path=ppt/slides/_rels/slide11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06.xml"/><Relationship Id="rId1" Type="http://schemas.openxmlformats.org/officeDocument/2006/relationships/slideLayout" Target="../slideLayouts/slideLayout15.xml"/><Relationship Id="rId4" Type="http://schemas.openxmlformats.org/officeDocument/2006/relationships/image" Target="../media/image136.png"/></Relationships>
</file>

<file path=ppt/slides/_rels/slide11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07.xml"/><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08.xml"/><Relationship Id="rId1" Type="http://schemas.openxmlformats.org/officeDocument/2006/relationships/slideLayout" Target="../slideLayouts/slideLayout15.xml"/></Relationships>
</file>

<file path=ppt/slides/_rels/slide11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09.xml"/><Relationship Id="rId1" Type="http://schemas.openxmlformats.org/officeDocument/2006/relationships/slideLayout" Target="../slideLayouts/slideLayout15.xml"/></Relationships>
</file>

<file path=ppt/slides/_rels/slide12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10.xml"/><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11.xml"/><Relationship Id="rId1" Type="http://schemas.openxmlformats.org/officeDocument/2006/relationships/slideLayout" Target="../slideLayouts/slideLayout15.xml"/><Relationship Id="rId4" Type="http://schemas.openxmlformats.org/officeDocument/2006/relationships/image" Target="../media/image142.png"/></Relationships>
</file>

<file path=ppt/slides/_rels/slide12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12.xml"/><Relationship Id="rId1" Type="http://schemas.openxmlformats.org/officeDocument/2006/relationships/slideLayout" Target="../slideLayouts/slideLayout15.xml"/><Relationship Id="rId4" Type="http://schemas.openxmlformats.org/officeDocument/2006/relationships/image" Target="../media/image14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13.xml"/><Relationship Id="rId1" Type="http://schemas.openxmlformats.org/officeDocument/2006/relationships/slideLayout" Target="../slideLayouts/slideLayout15.xml"/></Relationships>
</file>

<file path=ppt/slides/_rels/slide12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4.xml"/><Relationship Id="rId1" Type="http://schemas.openxmlformats.org/officeDocument/2006/relationships/slideLayout" Target="../slideLayouts/slideLayout15.xml"/><Relationship Id="rId4" Type="http://schemas.openxmlformats.org/officeDocument/2006/relationships/image" Target="../media/image147.png"/></Relationships>
</file>

<file path=ppt/slides/_rels/slide12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15.xml"/><Relationship Id="rId1" Type="http://schemas.openxmlformats.org/officeDocument/2006/relationships/slideLayout" Target="../slideLayouts/slideLayout15.xml"/><Relationship Id="rId4" Type="http://schemas.openxmlformats.org/officeDocument/2006/relationships/image" Target="../media/image14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5.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5.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5.xml"/></Relationships>
</file>

<file path=ppt/slides/_rels/slide13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19.xml"/><Relationship Id="rId1" Type="http://schemas.openxmlformats.org/officeDocument/2006/relationships/slideLayout" Target="../slideLayouts/slideLayout15.xml"/><Relationship Id="rId4" Type="http://schemas.openxmlformats.org/officeDocument/2006/relationships/image" Target="../media/image151.png"/></Relationships>
</file>

<file path=ppt/slides/_rels/slide13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20.xml"/><Relationship Id="rId1" Type="http://schemas.openxmlformats.org/officeDocument/2006/relationships/slideLayout" Target="../slideLayouts/slideLayout15.xml"/><Relationship Id="rId5" Type="http://schemas.openxmlformats.org/officeDocument/2006/relationships/image" Target="../media/image154.png"/><Relationship Id="rId4" Type="http://schemas.openxmlformats.org/officeDocument/2006/relationships/image" Target="../media/image153.png"/></Relationships>
</file>

<file path=ppt/slides/_rels/slide13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1.xml"/><Relationship Id="rId1" Type="http://schemas.openxmlformats.org/officeDocument/2006/relationships/slideLayout" Target="../slideLayouts/slideLayout15.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5.xml"/></Relationships>
</file>

<file path=ppt/slides/_rels/slide135.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23.xml"/><Relationship Id="rId1" Type="http://schemas.openxmlformats.org/officeDocument/2006/relationships/slideLayout" Target="../slideLayouts/slideLayout15.xml"/><Relationship Id="rId4" Type="http://schemas.openxmlformats.org/officeDocument/2006/relationships/image" Target="../media/image157.png"/></Relationships>
</file>

<file path=ppt/slides/_rels/slide136.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4.xml"/><Relationship Id="rId1" Type="http://schemas.openxmlformats.org/officeDocument/2006/relationships/slideLayout" Target="../slideLayouts/slideLayout15.xml"/></Relationships>
</file>

<file path=ppt/slides/_rels/slide13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25.xml"/><Relationship Id="rId1" Type="http://schemas.openxmlformats.org/officeDocument/2006/relationships/slideLayout" Target="../slideLayouts/slideLayout15.xml"/><Relationship Id="rId4" Type="http://schemas.openxmlformats.org/officeDocument/2006/relationships/image" Target="../media/image160.png"/></Relationships>
</file>

<file path=ppt/slides/_rels/slide138.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26.xml"/><Relationship Id="rId1" Type="http://schemas.openxmlformats.org/officeDocument/2006/relationships/slideLayout" Target="../slideLayouts/slideLayout15.xml"/></Relationships>
</file>

<file path=ppt/slides/_rels/slide1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27.xml"/><Relationship Id="rId1" Type="http://schemas.openxmlformats.org/officeDocument/2006/relationships/slideLayout" Target="../slideLayouts/slideLayout15.xml"/><Relationship Id="rId5" Type="http://schemas.openxmlformats.org/officeDocument/2006/relationships/image" Target="../media/image164.png"/><Relationship Id="rId4" Type="http://schemas.openxmlformats.org/officeDocument/2006/relationships/image" Target="../media/image163.png"/></Relationships>
</file>

<file path=ppt/slides/_rels/slide14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28.xml"/><Relationship Id="rId1" Type="http://schemas.openxmlformats.org/officeDocument/2006/relationships/slideLayout" Target="../slideLayouts/slideLayout15.xml"/></Relationships>
</file>

<file path=ppt/slides/_rels/slide14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29.xml"/><Relationship Id="rId1" Type="http://schemas.openxmlformats.org/officeDocument/2006/relationships/slideLayout" Target="../slideLayouts/slideLayout15.xml"/></Relationships>
</file>

<file path=ppt/slides/_rels/slide142.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30.xml"/><Relationship Id="rId1" Type="http://schemas.openxmlformats.org/officeDocument/2006/relationships/slideLayout" Target="../slideLayouts/slideLayout15.xml"/></Relationships>
</file>

<file path=ppt/slides/_rels/slide1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31.xml"/><Relationship Id="rId1" Type="http://schemas.openxmlformats.org/officeDocument/2006/relationships/slideLayout" Target="../slideLayouts/slideLayout15.xml"/></Relationships>
</file>

<file path=ppt/slides/_rels/slide14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32.xml"/><Relationship Id="rId1" Type="http://schemas.openxmlformats.org/officeDocument/2006/relationships/slideLayout" Target="../slideLayouts/slideLayout15.xml"/></Relationships>
</file>

<file path=ppt/slides/_rels/slide14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33.xml"/><Relationship Id="rId1" Type="http://schemas.openxmlformats.org/officeDocument/2006/relationships/slideLayout" Target="../slideLayouts/slideLayout15.xml"/></Relationships>
</file>

<file path=ppt/slides/_rels/slide146.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p:nvPr>
        </p:nvSpPr>
        <p:spPr>
          <a:xfrm>
            <a:off x="407368" y="3561429"/>
            <a:ext cx="11665296" cy="936104"/>
          </a:xfrm>
        </p:spPr>
        <p:txBody>
          <a:bodyPr/>
          <a:lstStyle/>
          <a:p>
            <a:pPr algn="ctr">
              <a:lnSpc>
                <a:spcPct val="150000"/>
              </a:lnSpc>
            </a:pPr>
            <a:r>
              <a:rPr lang="en-GB" sz="2400" dirty="0">
                <a:latin typeface="Armata" panose="020B0503040500060204" pitchFamily="34" charset="0"/>
              </a:rPr>
              <a:t>DEPARTMENT OF COMPUTER SCIENCE &amp; ENGINEERING</a:t>
            </a:r>
          </a:p>
        </p:txBody>
      </p:sp>
      <p:sp>
        <p:nvSpPr>
          <p:cNvPr id="2" name="Subtitle 1"/>
          <p:cNvSpPr>
            <a:spLocks noGrp="1"/>
          </p:cNvSpPr>
          <p:nvPr>
            <p:ph type="subTitle" idx="1"/>
          </p:nvPr>
        </p:nvSpPr>
        <p:spPr>
          <a:xfrm>
            <a:off x="1626200" y="4221088"/>
            <a:ext cx="8928992" cy="576064"/>
          </a:xfrm>
        </p:spPr>
        <p:txBody>
          <a:bodyPr/>
          <a:lstStyle/>
          <a:p>
            <a:pPr algn="ctr"/>
            <a:r>
              <a:rPr lang="en-US" dirty="0"/>
              <a:t>CST463 </a:t>
            </a: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a:t>WEB PROGRAMMING</a:t>
            </a:r>
          </a:p>
        </p:txBody>
      </p:sp>
      <p:sp>
        <p:nvSpPr>
          <p:cNvPr id="7" name="Subtitle 1"/>
          <p:cNvSpPr txBox="1">
            <a:spLocks/>
          </p:cNvSpPr>
          <p:nvPr/>
        </p:nvSpPr>
        <p:spPr>
          <a:xfrm>
            <a:off x="4125554" y="5683946"/>
            <a:ext cx="3076796" cy="315416"/>
          </a:xfrm>
          <a:prstGeom prst="rect">
            <a:avLst/>
          </a:prstGeom>
        </p:spPr>
        <p:txBody>
          <a:bodyPr vert="horz" lIns="0" tIns="0" rIns="0" bIns="0" rtlCol="0" anchor="t" anchorCtr="0">
            <a:noAutofit/>
          </a:bodyPr>
          <a:lstStyle>
            <a:lvl1pPr marL="0" indent="0" algn="l" defTabSz="914400" rtl="0" eaLnBrk="1" latinLnBrk="0" hangingPunct="1">
              <a:spcBef>
                <a:spcPct val="20000"/>
              </a:spcBef>
              <a:buClr>
                <a:schemeClr val="accent2"/>
              </a:buClr>
              <a:buSzPct val="70000"/>
              <a:buFont typeface="Arial" pitchFamily="34" charset="0"/>
              <a:buNone/>
              <a:defRPr sz="2000" kern="1200">
                <a:solidFill>
                  <a:schemeClr val="bg2"/>
                </a:solidFill>
                <a:latin typeface="+mn-lt"/>
                <a:ea typeface="+mn-ea"/>
                <a:cs typeface="+mn-cs"/>
              </a:defRPr>
            </a:lvl1pPr>
            <a:lvl2pPr marL="0" indent="0" algn="l" defTabSz="914400" rtl="0" eaLnBrk="1" latinLnBrk="0" hangingPunct="1">
              <a:spcBef>
                <a:spcPct val="20000"/>
              </a:spcBef>
              <a:buClr>
                <a:schemeClr val="accent2"/>
              </a:buClr>
              <a:buSzPct val="70000"/>
              <a:buFont typeface="Arial" pitchFamily="34" charset="0"/>
              <a:buNone/>
              <a:defRPr sz="1600" kern="1200">
                <a:solidFill>
                  <a:schemeClr val="bg2"/>
                </a:solidFill>
                <a:latin typeface="+mn-lt"/>
                <a:ea typeface="+mn-ea"/>
                <a:cs typeface="+mn-cs"/>
              </a:defRPr>
            </a:lvl2pPr>
            <a:lvl3pPr marL="914400" indent="0" algn="ctr" defTabSz="914400" rtl="0" eaLnBrk="1" latinLnBrk="0" hangingPunct="1">
              <a:spcBef>
                <a:spcPct val="20000"/>
              </a:spcBef>
              <a:buClr>
                <a:schemeClr val="accent2"/>
              </a:buClr>
              <a:buSzPct val="70000"/>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2"/>
              </a:buClr>
              <a:buSzPct val="70000"/>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2"/>
              </a:buClr>
              <a:buSzPct val="70000"/>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fld id="{DEAD4673-6CAE-464D-9126-8443A17B3EEC}" type="datetime3">
              <a:rPr lang="en-US" sz="1400" smtClean="0">
                <a:latin typeface="Open Sans" panose="020B0606030504020204" pitchFamily="34" charset="0"/>
                <a:ea typeface="Open Sans" panose="020B0606030504020204" pitchFamily="34" charset="0"/>
                <a:cs typeface="Open Sans" panose="020B0606030504020204" pitchFamily="34" charset="0"/>
              </a:rPr>
              <a:pPr algn="ctr"/>
              <a:t>9 October 2025</a:t>
            </a:fld>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0470868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84EAC596-008A-4E62-9DE5-44A3DC6DB0BE}"/>
              </a:ext>
            </a:extLst>
          </p:cNvPr>
          <p:cNvGrpSpPr/>
          <p:nvPr/>
        </p:nvGrpSpPr>
        <p:grpSpPr>
          <a:xfrm>
            <a:off x="0" y="0"/>
            <a:ext cx="12192000" cy="6858000"/>
            <a:chOff x="0" y="0"/>
            <a:chExt cx="12192000" cy="6858000"/>
          </a:xfrm>
        </p:grpSpPr>
        <p:sp>
          <p:nvSpPr>
            <p:cNvPr id="8" name="Rectangle 7">
              <a:extLst>
                <a:ext uri="{FF2B5EF4-FFF2-40B4-BE49-F238E27FC236}">
                  <a16:creationId xmlns:a16="http://schemas.microsoft.com/office/drawing/2014/main" id="{C491EBE2-4822-45B7-AC9B-E1F36232F83D}"/>
                </a:ext>
              </a:extLst>
            </p:cNvPr>
            <p:cNvSpPr/>
            <p:nvPr/>
          </p:nvSpPr>
          <p:spPr>
            <a:xfrm>
              <a:off x="0" y="0"/>
              <a:ext cx="12192000" cy="6858000"/>
            </a:xfrm>
            <a:prstGeom prst="rect">
              <a:avLst/>
            </a:prstGeom>
            <a:solidFill>
              <a:srgbClr val="F3C900"/>
            </a:solidFill>
            <a:ln>
              <a:solidFill>
                <a:srgbClr val="F3C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3C900"/>
                </a:solidFill>
              </a:endParaRPr>
            </a:p>
          </p:txBody>
        </p:sp>
        <p:sp>
          <p:nvSpPr>
            <p:cNvPr id="9" name="Rectangle 8">
              <a:extLst>
                <a:ext uri="{FF2B5EF4-FFF2-40B4-BE49-F238E27FC236}">
                  <a16:creationId xmlns:a16="http://schemas.microsoft.com/office/drawing/2014/main" id="{4DD8927A-5832-42CF-B507-344B633EDBA7}"/>
                </a:ext>
              </a:extLst>
            </p:cNvPr>
            <p:cNvSpPr/>
            <p:nvPr/>
          </p:nvSpPr>
          <p:spPr>
            <a:xfrm>
              <a:off x="0" y="4785360"/>
              <a:ext cx="12192000" cy="2072640"/>
            </a:xfrm>
            <a:prstGeom prst="rect">
              <a:avLst/>
            </a:prstGeom>
            <a:solidFill>
              <a:srgbClr val="505050"/>
            </a:solidFill>
            <a:ln>
              <a:solidFill>
                <a:srgbClr val="50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44" name="Picture 20" descr="Power BI DATEDIFF only working days, hours and so on... • Tomasz Poszytek,  Business Applications MVP">
              <a:extLst>
                <a:ext uri="{FF2B5EF4-FFF2-40B4-BE49-F238E27FC236}">
                  <a16:creationId xmlns:a16="http://schemas.microsoft.com/office/drawing/2014/main" id="{C5C4553B-D589-4EEB-AD82-80951C03FF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918"/>
            <a:stretch/>
          </p:blipFill>
          <p:spPr bwMode="auto">
            <a:xfrm>
              <a:off x="6855033" y="1150621"/>
              <a:ext cx="4674027" cy="51816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988F4FA0-B89B-4866-80ED-9FEFA0C6884C}"/>
                </a:ext>
              </a:extLst>
            </p:cNvPr>
            <p:cNvSpPr/>
            <p:nvPr/>
          </p:nvSpPr>
          <p:spPr>
            <a:xfrm>
              <a:off x="336370" y="1551563"/>
              <a:ext cx="184731" cy="1107996"/>
            </a:xfrm>
            <a:prstGeom prst="rect">
              <a:avLst/>
            </a:prstGeom>
            <a:noFill/>
          </p:spPr>
          <p:txBody>
            <a:bodyPr wrap="none" lIns="91440" tIns="45720" rIns="91440" bIns="45720">
              <a:spAutoFit/>
            </a:bodyPr>
            <a:lstStyle/>
            <a:p>
              <a:endParaRPr lang="en-US" sz="6600" b="0" cap="none" spc="0" dirty="0">
                <a:ln w="0"/>
                <a:solidFill>
                  <a:schemeClr val="tx1"/>
                </a:solidFill>
                <a:effectLst>
                  <a:outerShdw blurRad="38100" dist="19050" dir="2700000" algn="tl" rotWithShape="0">
                    <a:schemeClr val="dk1">
                      <a:alpha val="40000"/>
                    </a:schemeClr>
                  </a:outerShdw>
                </a:effectLst>
              </a:endParaRPr>
            </a:p>
          </p:txBody>
        </p:sp>
      </p:grpSp>
      <p:sp>
        <p:nvSpPr>
          <p:cNvPr id="6" name="TextBox 5">
            <a:extLst>
              <a:ext uri="{FF2B5EF4-FFF2-40B4-BE49-F238E27FC236}">
                <a16:creationId xmlns:a16="http://schemas.microsoft.com/office/drawing/2014/main" id="{A614C452-4AE1-45D8-A4E2-0018C5D5A0E1}"/>
              </a:ext>
            </a:extLst>
          </p:cNvPr>
          <p:cNvSpPr txBox="1"/>
          <p:nvPr/>
        </p:nvSpPr>
        <p:spPr>
          <a:xfrm>
            <a:off x="153376" y="224064"/>
            <a:ext cx="8856984" cy="846386"/>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4400" dirty="0"/>
              <a:t>CST463 </a:t>
            </a:r>
            <a:r>
              <a:rPr lang="en-US" sz="4400" dirty="0">
                <a:latin typeface="Open Sans" panose="020B0606030504020204" pitchFamily="34" charset="0"/>
                <a:ea typeface="Open Sans" panose="020B0606030504020204" pitchFamily="34" charset="0"/>
                <a:cs typeface="Open Sans" panose="020B0606030504020204" pitchFamily="34" charset="0"/>
              </a:rPr>
              <a:t>- </a:t>
            </a:r>
            <a:r>
              <a:rPr lang="en-US" sz="4400" dirty="0"/>
              <a:t>WEB PROGRAMMING</a:t>
            </a:r>
          </a:p>
          <a:p>
            <a:pPr marL="285750" indent="-285750">
              <a:lnSpc>
                <a:spcPct val="85000"/>
              </a:lnSpc>
              <a:spcAft>
                <a:spcPts val="600"/>
              </a:spcAft>
              <a:buClr>
                <a:schemeClr val="accent2"/>
              </a:buClr>
              <a:buSzPct val="70000"/>
              <a:buFont typeface="Arial" pitchFamily="34" charset="0"/>
              <a:buChar char="►"/>
            </a:pPr>
            <a:endParaRPr lang="en-US" sz="1200" dirty="0"/>
          </a:p>
        </p:txBody>
      </p:sp>
    </p:spTree>
    <p:extLst>
      <p:ext uri="{BB962C8B-B14F-4D97-AF65-F5344CB8AC3E}">
        <p14:creationId xmlns:p14="http://schemas.microsoft.com/office/powerpoint/2010/main" val="260345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335360" y="1268761"/>
            <a:ext cx="10657184" cy="1512168"/>
          </a:xfrm>
        </p:spPr>
        <p:txBody>
          <a:bodyPr/>
          <a:lstStyle/>
          <a:p>
            <a:pPr algn="just"/>
            <a:r>
              <a:rPr lang="en-US" dirty="0"/>
              <a:t> PHP Language Structure: Introduction- Building blocks of PHP</a:t>
            </a:r>
          </a:p>
          <a:p>
            <a:pPr algn="just"/>
            <a:r>
              <a:rPr lang="en-US" dirty="0"/>
              <a:t>Variables, Data Types -Converting between Data Types- </a:t>
            </a:r>
          </a:p>
          <a:p>
            <a:pPr algn="just"/>
            <a:r>
              <a:rPr lang="en-US" dirty="0"/>
              <a:t>Operators and Expressions </a:t>
            </a:r>
          </a:p>
          <a:p>
            <a:pPr algn="just"/>
            <a:r>
              <a:rPr lang="en-US" dirty="0"/>
              <a:t>simple PHP program</a:t>
            </a:r>
          </a:p>
          <a:p>
            <a:pPr algn="just"/>
            <a:r>
              <a:rPr lang="en-US" dirty="0"/>
              <a:t>Flow Control functions </a:t>
            </a:r>
          </a:p>
          <a:p>
            <a:pPr algn="just"/>
            <a:r>
              <a:rPr lang="en-US" dirty="0"/>
              <a:t>Control statements</a:t>
            </a:r>
          </a:p>
          <a:p>
            <a:pPr algn="just"/>
            <a:r>
              <a:rPr lang="en-US" dirty="0"/>
              <a:t> Working with Functions</a:t>
            </a:r>
          </a:p>
          <a:p>
            <a:pPr algn="just"/>
            <a:r>
              <a:rPr lang="en-US" dirty="0"/>
              <a:t>Initializing and Manipulating Arrays</a:t>
            </a:r>
          </a:p>
          <a:p>
            <a:pPr algn="just"/>
            <a:r>
              <a:rPr lang="en-US" dirty="0"/>
              <a:t>Objects- String Comparisons-</a:t>
            </a:r>
          </a:p>
          <a:p>
            <a:pPr algn="just"/>
            <a:r>
              <a:rPr lang="en-US" dirty="0"/>
              <a:t>String processing with Regular Expression</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latin typeface="Armata" panose="020B0503040500060204" pitchFamily="34" charset="0"/>
              </a:rPr>
              <a:t>Module 3  (CO3,</a:t>
            </a:r>
            <a:r>
              <a:rPr lang="en-IN" dirty="0"/>
              <a:t> Cognitive Knowledge Level: Apply</a:t>
            </a:r>
            <a:r>
              <a:rPr lang="en-US" dirty="0">
                <a:latin typeface="Armata" panose="020B0503040500060204" pitchFamily="34" charset="0"/>
              </a:rPr>
              <a:t>)</a:t>
            </a:r>
          </a:p>
        </p:txBody>
      </p:sp>
    </p:spTree>
    <p:extLst>
      <p:ext uri="{BB962C8B-B14F-4D97-AF65-F5344CB8AC3E}">
        <p14:creationId xmlns:p14="http://schemas.microsoft.com/office/powerpoint/2010/main" val="41312994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PHP Language Structure</a:t>
            </a:r>
          </a:p>
        </p:txBody>
      </p:sp>
    </p:spTree>
    <p:extLst>
      <p:ext uri="{BB962C8B-B14F-4D97-AF65-F5344CB8AC3E}">
        <p14:creationId xmlns:p14="http://schemas.microsoft.com/office/powerpoint/2010/main" val="17897947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r>
              <a:rPr lang="en-IN" sz="2200" dirty="0"/>
              <a:t>Rasmus </a:t>
            </a:r>
            <a:r>
              <a:rPr lang="en-IN" sz="2200" dirty="0" err="1"/>
              <a:t>Lerdorf</a:t>
            </a:r>
            <a:r>
              <a:rPr lang="en-IN" sz="2200" dirty="0"/>
              <a:t> developed PHP in 1994.</a:t>
            </a:r>
          </a:p>
          <a:p>
            <a:r>
              <a:rPr lang="en-US" sz="2200" dirty="0"/>
              <a:t>A </a:t>
            </a:r>
            <a:r>
              <a:rPr lang="en-US" sz="2200" dirty="0">
                <a:highlight>
                  <a:srgbClr val="FFFF00"/>
                </a:highlight>
              </a:rPr>
              <a:t>PHP script is executed on the server, and the plain HTML result is sent back to the browser</a:t>
            </a:r>
            <a:r>
              <a:rPr lang="en-US" sz="2200" dirty="0"/>
              <a:t>.</a:t>
            </a:r>
          </a:p>
          <a:p>
            <a:r>
              <a:rPr lang="en-US" sz="2200" dirty="0"/>
              <a:t>A PHP script can be placed anywhere in the document.</a:t>
            </a:r>
          </a:p>
          <a:p>
            <a:r>
              <a:rPr lang="en-US" sz="2200" dirty="0"/>
              <a:t>A PHP script starts with </a:t>
            </a:r>
            <a:r>
              <a:rPr lang="en-US" sz="2200" dirty="0">
                <a:highlight>
                  <a:srgbClr val="FFFF00"/>
                </a:highlight>
              </a:rPr>
              <a:t>&lt;?php and ends with ?&gt;</a:t>
            </a:r>
          </a:p>
          <a:p>
            <a:r>
              <a:rPr lang="en-US" sz="2200" dirty="0"/>
              <a:t>The default file extension for PHP files is ".php".</a:t>
            </a:r>
          </a:p>
          <a:p>
            <a:r>
              <a:rPr lang="en-US" sz="2200" dirty="0"/>
              <a:t>A PHP file normally contains HTML tags, and some PHP scripting code.</a:t>
            </a: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sz="2200" dirty="0"/>
              <a:t>PHP code is </a:t>
            </a:r>
            <a:r>
              <a:rPr lang="en-GB" altLang="en-US" sz="2200" dirty="0">
                <a:solidFill>
                  <a:srgbClr val="FF0000"/>
                </a:solidFill>
              </a:rPr>
              <a:t>executed on the server</a:t>
            </a:r>
            <a:r>
              <a:rPr lang="en-GB" altLang="en-US" sz="2200" dirty="0"/>
              <a:t>, generating HTML which is then sent to the client. </a:t>
            </a: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sz="2200" dirty="0"/>
              <a:t>The client would receive the results of running that script but would not know the underlying code.</a:t>
            </a:r>
          </a:p>
          <a:p>
            <a:pPr marL="0" inden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sz="2200" dirty="0">
                <a:solidFill>
                  <a:srgbClr val="DC2300"/>
                </a:solidFill>
              </a:rPr>
              <a:t> </a:t>
            </a:r>
            <a:r>
              <a:rPr lang="en-GB" altLang="en-US" sz="2200" dirty="0"/>
              <a:t>PHP is compatible with almost all servers used today (Apache, IIS, etc.). PHP is easy to learn and runs efficiently on the server side </a:t>
            </a:r>
            <a:r>
              <a:rPr lang="ar-SA" altLang="en-US" sz="2200" dirty="0">
                <a:cs typeface="Arial" panose="020B0604020202020204" pitchFamily="34" charset="0"/>
              </a:rPr>
              <a:t>‏</a:t>
            </a:r>
            <a:endParaRPr lang="en-GB" altLang="en-US" sz="2200" dirty="0"/>
          </a:p>
          <a:p>
            <a:pPr marL="0" inden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sz="2200" dirty="0">
                <a:solidFill>
                  <a:srgbClr val="DC2300"/>
                </a:solidFill>
              </a:rPr>
              <a:t> </a:t>
            </a:r>
            <a:r>
              <a:rPr lang="en-GB" altLang="en-US" sz="2200" dirty="0"/>
              <a:t>PHP is FREE to download from: www.php.net</a:t>
            </a:r>
          </a:p>
          <a:p>
            <a:pPr marL="0" inden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n-GB" altLang="en-US" dirty="0"/>
          </a:p>
          <a:p>
            <a:endParaRPr lang="en-GB" altLang="en-US" dirty="0"/>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GB" altLang="en-US" dirty="0"/>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br>
              <a:rPr lang="en-US" dirty="0"/>
            </a:br>
            <a:endParaRPr lang="en-US" dirty="0"/>
          </a:p>
          <a:p>
            <a:pPr algn="just"/>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Introduction</a:t>
            </a:r>
            <a:endParaRPr lang="en-US" dirty="0">
              <a:latin typeface="Armata" panose="020B0503040500060204" pitchFamily="34" charset="0"/>
            </a:endParaRPr>
          </a:p>
        </p:txBody>
      </p:sp>
    </p:spTree>
    <p:extLst>
      <p:ext uri="{BB962C8B-B14F-4D97-AF65-F5344CB8AC3E}">
        <p14:creationId xmlns:p14="http://schemas.microsoft.com/office/powerpoint/2010/main" val="1142065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9459">
                                            <p:txEl>
                                              <p:pRg st="7" end="7"/>
                                            </p:txEl>
                                          </p:spTgt>
                                        </p:tgtEl>
                                        <p:attrNameLst>
                                          <p:attrName>style.visibility</p:attrName>
                                        </p:attrNameLst>
                                      </p:cBhvr>
                                      <p:to>
                                        <p:strVal val="visible"/>
                                      </p:to>
                                    </p:set>
                                    <p:anim calcmode="lin" valueType="num">
                                      <p:cBhvr additive="base">
                                        <p:cTn id="49"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459">
                                            <p:txEl>
                                              <p:pRg st="8" end="8"/>
                                            </p:txEl>
                                          </p:spTgt>
                                        </p:tgtEl>
                                        <p:attrNameLst>
                                          <p:attrName>style.visibility</p:attrName>
                                        </p:attrNameLst>
                                      </p:cBhvr>
                                      <p:to>
                                        <p:strVal val="visible"/>
                                      </p:to>
                                    </p:set>
                                    <p:anim calcmode="lin" valueType="num">
                                      <p:cBhvr additive="base">
                                        <p:cTn id="55" dur="5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945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9459">
                                            <p:txEl>
                                              <p:pRg st="9" end="9"/>
                                            </p:txEl>
                                          </p:spTgt>
                                        </p:tgtEl>
                                        <p:attrNameLst>
                                          <p:attrName>style.visibility</p:attrName>
                                        </p:attrNameLst>
                                      </p:cBhvr>
                                      <p:to>
                                        <p:strVal val="visible"/>
                                      </p:to>
                                    </p:set>
                                    <p:anim calcmode="lin" valueType="num">
                                      <p:cBhvr additive="base">
                                        <p:cTn id="61" dur="500" fill="hold"/>
                                        <p:tgtEl>
                                          <p:spTgt spid="19459">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945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9459">
                                            <p:txEl>
                                              <p:pRg st="13" end="13"/>
                                            </p:txEl>
                                          </p:spTgt>
                                        </p:tgtEl>
                                        <p:attrNameLst>
                                          <p:attrName>style.visibility</p:attrName>
                                        </p:attrNameLst>
                                      </p:cBhvr>
                                      <p:to>
                                        <p:strVal val="visible"/>
                                      </p:to>
                                    </p:set>
                                    <p:anim calcmode="lin" valueType="num">
                                      <p:cBhvr additive="base">
                                        <p:cTn id="67" dur="500" fill="hold"/>
                                        <p:tgtEl>
                                          <p:spTgt spid="19459">
                                            <p:txEl>
                                              <p:pRg st="13" end="1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945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Introduction to PHP</a:t>
            </a:r>
            <a:endParaRPr lang="en-US" dirty="0">
              <a:latin typeface="Armata" panose="020B0503040500060204" pitchFamily="34" charset="0"/>
            </a:endParaRPr>
          </a:p>
        </p:txBody>
      </p:sp>
      <p:pic>
        <p:nvPicPr>
          <p:cNvPr id="7" name="Picture 6">
            <a:extLst>
              <a:ext uri="{FF2B5EF4-FFF2-40B4-BE49-F238E27FC236}">
                <a16:creationId xmlns:a16="http://schemas.microsoft.com/office/drawing/2014/main" id="{77953D7F-479E-42ED-99B5-345738C11B76}"/>
              </a:ext>
            </a:extLst>
          </p:cNvPr>
          <p:cNvPicPr>
            <a:picLocks noChangeAspect="1"/>
          </p:cNvPicPr>
          <p:nvPr/>
        </p:nvPicPr>
        <p:blipFill>
          <a:blip r:embed="rId3"/>
          <a:stretch>
            <a:fillRect/>
          </a:stretch>
        </p:blipFill>
        <p:spPr>
          <a:xfrm>
            <a:off x="2023966" y="1268760"/>
            <a:ext cx="7803526" cy="4565776"/>
          </a:xfrm>
          <a:prstGeom prst="rect">
            <a:avLst/>
          </a:prstGeom>
        </p:spPr>
      </p:pic>
    </p:spTree>
    <p:extLst>
      <p:ext uri="{BB962C8B-B14F-4D97-AF65-F5344CB8AC3E}">
        <p14:creationId xmlns:p14="http://schemas.microsoft.com/office/powerpoint/2010/main" val="63438395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Three-tier web-based application</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32932D1A-B8C2-45D8-99E5-35DC57BA6155}"/>
              </a:ext>
            </a:extLst>
          </p:cNvPr>
          <p:cNvPicPr>
            <a:picLocks noChangeAspect="1"/>
          </p:cNvPicPr>
          <p:nvPr/>
        </p:nvPicPr>
        <p:blipFill>
          <a:blip r:embed="rId3"/>
          <a:stretch>
            <a:fillRect/>
          </a:stretch>
        </p:blipFill>
        <p:spPr>
          <a:xfrm>
            <a:off x="1343472" y="1340768"/>
            <a:ext cx="9639300" cy="4695825"/>
          </a:xfrm>
          <a:prstGeom prst="rect">
            <a:avLst/>
          </a:prstGeom>
        </p:spPr>
      </p:pic>
    </p:spTree>
    <p:extLst>
      <p:ext uri="{BB962C8B-B14F-4D97-AF65-F5344CB8AC3E}">
        <p14:creationId xmlns:p14="http://schemas.microsoft.com/office/powerpoint/2010/main" val="340251898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Three-tier web-based application</a:t>
            </a:r>
            <a:endParaRPr lang="en-US" dirty="0">
              <a:latin typeface="Armata" panose="020B0503040500060204" pitchFamily="34" charset="0"/>
            </a:endParaRPr>
          </a:p>
        </p:txBody>
      </p:sp>
      <p:sp>
        <p:nvSpPr>
          <p:cNvPr id="8" name="Rectangle 2">
            <a:extLst>
              <a:ext uri="{FF2B5EF4-FFF2-40B4-BE49-F238E27FC236}">
                <a16:creationId xmlns:a16="http://schemas.microsoft.com/office/drawing/2014/main" id="{D56A2C86-4931-4474-B249-BC998D5636C0}"/>
              </a:ext>
            </a:extLst>
          </p:cNvPr>
          <p:cNvSpPr txBox="1">
            <a:spLocks noChangeArrowheads="1"/>
          </p:cNvSpPr>
          <p:nvPr/>
        </p:nvSpPr>
        <p:spPr>
          <a:xfrm>
            <a:off x="479376" y="1039268"/>
            <a:ext cx="11017224" cy="4464634"/>
          </a:xfrm>
          <a:prstGeom prst="rect">
            <a:avLst/>
          </a:prstGeom>
        </p:spPr>
        <p:txBody>
          <a:bodyPr vert="horz" lIns="0" tIns="0" rIns="0" bIns="0" rtlCol="0" anchor="ctr" anchorCtr="0">
            <a:norm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GB" altLang="en-US" dirty="0">
              <a:hlinkClick r:id="rId3"/>
            </a:endParaRPr>
          </a:p>
        </p:txBody>
      </p:sp>
      <p:sp>
        <p:nvSpPr>
          <p:cNvPr id="6" name="Rectangle 3">
            <a:extLst>
              <a:ext uri="{FF2B5EF4-FFF2-40B4-BE49-F238E27FC236}">
                <a16:creationId xmlns:a16="http://schemas.microsoft.com/office/drawing/2014/main" id="{8D2ECF46-775A-443A-8C78-0E98A47D1760}"/>
              </a:ext>
            </a:extLst>
          </p:cNvPr>
          <p:cNvSpPr txBox="1">
            <a:spLocks noChangeArrowheads="1"/>
          </p:cNvSpPr>
          <p:nvPr/>
        </p:nvSpPr>
        <p:spPr>
          <a:xfrm>
            <a:off x="263352" y="1039268"/>
            <a:ext cx="11737303" cy="1512168"/>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dirty="0"/>
              <a:t>The </a:t>
            </a:r>
            <a:r>
              <a:rPr lang="en-US" altLang="en-US" dirty="0">
                <a:highlight>
                  <a:srgbClr val="FFFF00"/>
                </a:highlight>
              </a:rPr>
              <a:t>bottom tier </a:t>
            </a:r>
            <a:r>
              <a:rPr lang="en-US" altLang="en-US" dirty="0"/>
              <a:t>(also called the data tier or the information tier) maintains the </a:t>
            </a:r>
            <a:r>
              <a:rPr lang="en-US" altLang="en-US" dirty="0">
                <a:highlight>
                  <a:srgbClr val="FFFF00"/>
                </a:highlight>
              </a:rPr>
              <a:t>application’s data</a:t>
            </a:r>
            <a:r>
              <a:rPr lang="en-US" altLang="en-US" dirty="0"/>
              <a:t>. This tier typically stores data in a relational database management system (RDBMS)</a:t>
            </a:r>
          </a:p>
          <a:p>
            <a:r>
              <a:rPr lang="en-US" altLang="en-US" dirty="0"/>
              <a:t>The </a:t>
            </a:r>
            <a:r>
              <a:rPr lang="en-US" altLang="en-US" dirty="0">
                <a:highlight>
                  <a:srgbClr val="FFFF00"/>
                </a:highlight>
              </a:rPr>
              <a:t>middle tier implements business logic, controller logic and presentation logic </a:t>
            </a:r>
            <a:r>
              <a:rPr lang="en-US" altLang="en-US" dirty="0"/>
              <a:t>to control interactions between the application’s clients and its data. The middle tier acts as an intermediary between data in the information tier and the application’s clients. The middle-tier controller </a:t>
            </a:r>
            <a:r>
              <a:rPr lang="en-US" altLang="en-US" dirty="0">
                <a:highlight>
                  <a:srgbClr val="FFFF00"/>
                </a:highlight>
              </a:rPr>
              <a:t>logic processes client requests</a:t>
            </a:r>
            <a:r>
              <a:rPr lang="en-US" altLang="en-US" dirty="0"/>
              <a:t> (such as requests to view a product catalog) and </a:t>
            </a:r>
            <a:r>
              <a:rPr lang="en-US" altLang="en-US" dirty="0">
                <a:highlight>
                  <a:srgbClr val="FFFF00"/>
                </a:highlight>
              </a:rPr>
              <a:t>retrieves data from the database</a:t>
            </a:r>
          </a:p>
          <a:p>
            <a:r>
              <a:rPr lang="en-US" altLang="en-US" dirty="0"/>
              <a:t>The </a:t>
            </a:r>
            <a:r>
              <a:rPr lang="en-US" altLang="en-US" dirty="0">
                <a:highlight>
                  <a:srgbClr val="FFFF00"/>
                </a:highlight>
              </a:rPr>
              <a:t>top tier, or client tier</a:t>
            </a:r>
            <a:r>
              <a:rPr lang="en-US" altLang="en-US" dirty="0"/>
              <a:t>, is the application’s user interface, </a:t>
            </a:r>
            <a:r>
              <a:rPr lang="en-US" altLang="en-US" dirty="0">
                <a:highlight>
                  <a:srgbClr val="FFFF00"/>
                </a:highlight>
              </a:rPr>
              <a:t>which gathers input and displays output</a:t>
            </a:r>
            <a:r>
              <a:rPr lang="en-US" altLang="en-US" dirty="0"/>
              <a:t>. Users interact directly with the application through the user interface, which is typically a web browser or a mobile device</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6785497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Client-Side Scripting versus Server-Side Scripting</a:t>
            </a:r>
            <a:endParaRPr lang="en-US" dirty="0">
              <a:latin typeface="Armata" panose="020B0503040500060204" pitchFamily="34" charset="0"/>
            </a:endParaRPr>
          </a:p>
        </p:txBody>
      </p:sp>
      <p:sp>
        <p:nvSpPr>
          <p:cNvPr id="8" name="Rectangle 2">
            <a:extLst>
              <a:ext uri="{FF2B5EF4-FFF2-40B4-BE49-F238E27FC236}">
                <a16:creationId xmlns:a16="http://schemas.microsoft.com/office/drawing/2014/main" id="{D56A2C86-4931-4474-B249-BC998D5636C0}"/>
              </a:ext>
            </a:extLst>
          </p:cNvPr>
          <p:cNvSpPr txBox="1">
            <a:spLocks noChangeArrowheads="1"/>
          </p:cNvSpPr>
          <p:nvPr/>
        </p:nvSpPr>
        <p:spPr>
          <a:xfrm>
            <a:off x="479376" y="1039268"/>
            <a:ext cx="11017224" cy="4464634"/>
          </a:xfrm>
          <a:prstGeom prst="rect">
            <a:avLst/>
          </a:prstGeom>
        </p:spPr>
        <p:txBody>
          <a:bodyPr vert="horz" lIns="0" tIns="0" rIns="0" bIns="0" rtlCol="0" anchor="ctr" anchorCtr="0">
            <a:norm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GB" altLang="en-US" dirty="0">
              <a:hlinkClick r:id="rId3"/>
            </a:endParaRPr>
          </a:p>
        </p:txBody>
      </p:sp>
      <p:sp>
        <p:nvSpPr>
          <p:cNvPr id="6" name="Rectangle 3">
            <a:extLst>
              <a:ext uri="{FF2B5EF4-FFF2-40B4-BE49-F238E27FC236}">
                <a16:creationId xmlns:a16="http://schemas.microsoft.com/office/drawing/2014/main" id="{8D2ECF46-775A-443A-8C78-0E98A47D1760}"/>
              </a:ext>
            </a:extLst>
          </p:cNvPr>
          <p:cNvSpPr txBox="1">
            <a:spLocks noChangeArrowheads="1"/>
          </p:cNvSpPr>
          <p:nvPr/>
        </p:nvSpPr>
        <p:spPr>
          <a:xfrm>
            <a:off x="263352" y="1039268"/>
            <a:ext cx="11737303" cy="1512168"/>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Client-side scripting with JavaScript can be used to validate user input, to interact with the browser, to enhance web pages, and to add client/server communication between a browser and a web server.</a:t>
            </a:r>
          </a:p>
          <a:p>
            <a:r>
              <a:rPr lang="en-US" dirty="0"/>
              <a:t>Client-side scripting does have limitations, such as browser dependency; the browser or scripting host must support the scripting language and capabilities.</a:t>
            </a:r>
          </a:p>
          <a:p>
            <a:r>
              <a:rPr lang="en-US" dirty="0"/>
              <a:t>client-side scripts can be viewed by the client using the browser’s source-viewing capability</a:t>
            </a:r>
          </a:p>
          <a:p>
            <a:r>
              <a:rPr lang="en-US" dirty="0"/>
              <a:t>server-side scripts, often generate custom responses for clients</a:t>
            </a:r>
          </a:p>
          <a:p>
            <a:r>
              <a:rPr lang="en-US" dirty="0"/>
              <a:t>Server-side scripting languages have a wider range of programmatic capabilities than their client-side equivalents. </a:t>
            </a:r>
          </a:p>
          <a:p>
            <a:r>
              <a:rPr lang="en-US" dirty="0"/>
              <a:t>Server-side scripts also have access to server-side software that extends server functionality—Microsoft web servers use ISAPI (Internet Server Application Program Interface) extensions and Apache HTTP Servers use modules.</a:t>
            </a:r>
            <a:endParaRPr lang="en-GB" altLang="en-US" dirty="0"/>
          </a:p>
        </p:txBody>
      </p:sp>
    </p:spTree>
    <p:extLst>
      <p:ext uri="{BB962C8B-B14F-4D97-AF65-F5344CB8AC3E}">
        <p14:creationId xmlns:p14="http://schemas.microsoft.com/office/powerpoint/2010/main" val="19842749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Accessing Web Server</a:t>
            </a:r>
            <a:endParaRPr lang="en-US" dirty="0">
              <a:latin typeface="Armata" panose="020B0503040500060204" pitchFamily="34" charset="0"/>
            </a:endParaRPr>
          </a:p>
        </p:txBody>
      </p:sp>
      <p:sp>
        <p:nvSpPr>
          <p:cNvPr id="8" name="Rectangle 2">
            <a:extLst>
              <a:ext uri="{FF2B5EF4-FFF2-40B4-BE49-F238E27FC236}">
                <a16:creationId xmlns:a16="http://schemas.microsoft.com/office/drawing/2014/main" id="{D56A2C86-4931-4474-B249-BC998D5636C0}"/>
              </a:ext>
            </a:extLst>
          </p:cNvPr>
          <p:cNvSpPr txBox="1">
            <a:spLocks noChangeArrowheads="1"/>
          </p:cNvSpPr>
          <p:nvPr/>
        </p:nvSpPr>
        <p:spPr>
          <a:xfrm>
            <a:off x="479376" y="1039268"/>
            <a:ext cx="11017224" cy="4464634"/>
          </a:xfrm>
          <a:prstGeom prst="rect">
            <a:avLst/>
          </a:prstGeom>
        </p:spPr>
        <p:txBody>
          <a:bodyPr vert="horz" lIns="0" tIns="0" rIns="0" bIns="0" rtlCol="0" anchor="ctr" anchorCtr="0">
            <a:norm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altLang="en-US" dirty="0">
              <a:hlinkClick r:id="rId3"/>
            </a:endParaRP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GB" altLang="en-US" dirty="0">
              <a:hlinkClick r:id="rId3"/>
            </a:endParaRPr>
          </a:p>
        </p:txBody>
      </p:sp>
      <p:sp>
        <p:nvSpPr>
          <p:cNvPr id="6" name="Rectangle 3">
            <a:extLst>
              <a:ext uri="{FF2B5EF4-FFF2-40B4-BE49-F238E27FC236}">
                <a16:creationId xmlns:a16="http://schemas.microsoft.com/office/drawing/2014/main" id="{8D2ECF46-775A-443A-8C78-0E98A47D1760}"/>
              </a:ext>
            </a:extLst>
          </p:cNvPr>
          <p:cNvSpPr txBox="1">
            <a:spLocks noChangeArrowheads="1"/>
          </p:cNvSpPr>
          <p:nvPr/>
        </p:nvSpPr>
        <p:spPr>
          <a:xfrm>
            <a:off x="263352" y="1039268"/>
            <a:ext cx="11737303" cy="1512168"/>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To request documents from web servers, users must know the hostnames on which the web server software resides.</a:t>
            </a:r>
          </a:p>
          <a:p>
            <a:r>
              <a:rPr lang="en-US" dirty="0"/>
              <a:t> Users can request documents from local web servers (i.e., ones residing on users’ machines) or remote web servers (i.e., ones residing on different machines).</a:t>
            </a:r>
          </a:p>
          <a:p>
            <a:r>
              <a:rPr lang="en-US" dirty="0"/>
              <a:t> Local web servers can be accessed through your computer’s name or through the name </a:t>
            </a:r>
            <a:r>
              <a:rPr lang="en-US" b="1" dirty="0"/>
              <a:t>localhost</a:t>
            </a:r>
          </a:p>
          <a:p>
            <a:r>
              <a:rPr lang="en-US" b="1" dirty="0"/>
              <a:t>localhost</a:t>
            </a:r>
            <a:r>
              <a:rPr lang="en-US" dirty="0"/>
              <a:t>—a hostname that references the local machine and normally translates to the IP address 127.0.0.1 (known as the loopback address).</a:t>
            </a:r>
            <a:endParaRPr lang="en-GB" altLang="en-US" dirty="0"/>
          </a:p>
        </p:txBody>
      </p:sp>
    </p:spTree>
    <p:extLst>
      <p:ext uri="{BB962C8B-B14F-4D97-AF65-F5344CB8AC3E}">
        <p14:creationId xmlns:p14="http://schemas.microsoft.com/office/powerpoint/2010/main" val="37506988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Installing to PHP</a:t>
            </a:r>
            <a:endParaRPr lang="en-US" dirty="0">
              <a:latin typeface="Armata" panose="020B0503040500060204" pitchFamily="34" charset="0"/>
            </a:endParaRPr>
          </a:p>
        </p:txBody>
      </p:sp>
      <p:pic>
        <p:nvPicPr>
          <p:cNvPr id="4" name="Picture 2">
            <a:extLst>
              <a:ext uri="{FF2B5EF4-FFF2-40B4-BE49-F238E27FC236}">
                <a16:creationId xmlns:a16="http://schemas.microsoft.com/office/drawing/2014/main" id="{E727CECC-F804-4F3C-A970-EECB5D5D0E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2616" y="1354931"/>
            <a:ext cx="5805487" cy="41481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Rectangle 2">
            <a:extLst>
              <a:ext uri="{FF2B5EF4-FFF2-40B4-BE49-F238E27FC236}">
                <a16:creationId xmlns:a16="http://schemas.microsoft.com/office/drawing/2014/main" id="{D56A2C86-4931-4474-B249-BC998D5636C0}"/>
              </a:ext>
            </a:extLst>
          </p:cNvPr>
          <p:cNvSpPr txBox="1">
            <a:spLocks noChangeArrowheads="1"/>
          </p:cNvSpPr>
          <p:nvPr/>
        </p:nvSpPr>
        <p:spPr>
          <a:xfrm>
            <a:off x="479376" y="1268760"/>
            <a:ext cx="5805487" cy="4443412"/>
          </a:xfrm>
          <a:prstGeom prst="rect">
            <a:avLst/>
          </a:prstGeom>
        </p:spPr>
        <p:txBody>
          <a:bodyPr vert="horz" lIns="0" tIns="0" rIns="0" bIns="0" rtlCol="0" anchor="ctr" anchorCtr="0">
            <a:norm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US" dirty="0"/>
              <a:t>XAMPP integrated installer for Apache, MySQL and PHP is available for Windows, Mac OS X and Linux </a:t>
            </a: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dirty="0"/>
              <a:t>On windows, you can download and install WAMP.  With one installation and you get an Apache webserver, database server and php.</a:t>
            </a:r>
          </a:p>
          <a:p>
            <a:pPr marL="0" indent="0">
              <a:buNone/>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dirty="0">
                <a:hlinkClick r:id="rId4"/>
              </a:rPr>
              <a:t>http://www.wampserver.com</a:t>
            </a: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dirty="0"/>
              <a:t>On mac, you can download and install MAMP.</a:t>
            </a:r>
          </a:p>
          <a:p>
            <a:pPr marL="0" indent="0">
              <a:buNone/>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dirty="0">
                <a:hlinkClick r:id="rId5"/>
              </a:rPr>
              <a:t>http://www.mamp.info/en/index.html</a:t>
            </a:r>
          </a:p>
        </p:txBody>
      </p:sp>
    </p:spTree>
    <p:extLst>
      <p:ext uri="{BB962C8B-B14F-4D97-AF65-F5344CB8AC3E}">
        <p14:creationId xmlns:p14="http://schemas.microsoft.com/office/powerpoint/2010/main" val="327419697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63352" y="1039268"/>
            <a:ext cx="11737303" cy="1512168"/>
          </a:xfrm>
        </p:spPr>
        <p:txBody>
          <a:bodyPr/>
          <a:lstStyle/>
          <a:p>
            <a:r>
              <a:rPr lang="en-GB" altLang="en-US" dirty="0"/>
              <a:t>PHP: “</a:t>
            </a:r>
            <a:r>
              <a:rPr lang="en-GB" altLang="en-US" dirty="0">
                <a:solidFill>
                  <a:srgbClr val="FF0000"/>
                </a:solidFill>
              </a:rPr>
              <a:t>Hypertext </a:t>
            </a:r>
            <a:r>
              <a:rPr lang="en-GB" altLang="en-US" dirty="0" err="1">
                <a:solidFill>
                  <a:srgbClr val="FF0000"/>
                </a:solidFill>
              </a:rPr>
              <a:t>Preprocessor</a:t>
            </a:r>
            <a:r>
              <a:rPr lang="en-GB" altLang="en-US" dirty="0"/>
              <a:t>”</a:t>
            </a:r>
          </a:p>
          <a:p>
            <a:r>
              <a:rPr lang="en-IN" altLang="en-US" dirty="0"/>
              <a:t>Originally, PHP was an acronym for Personal Home Page</a:t>
            </a:r>
          </a:p>
          <a:p>
            <a:r>
              <a:rPr lang="en-GB" altLang="en-US" dirty="0">
                <a:solidFill>
                  <a:srgbClr val="FF0000"/>
                </a:solidFill>
              </a:rPr>
              <a:t>open source general-purpose scripting language</a:t>
            </a:r>
          </a:p>
          <a:p>
            <a:r>
              <a:rPr lang="en-GB" altLang="en-US" dirty="0"/>
              <a:t>web development tool (not case sensitive)and can be embedded into HTML </a:t>
            </a:r>
          </a:p>
          <a:p>
            <a:r>
              <a:rPr lang="en-US" altLang="en-US" dirty="0"/>
              <a:t>File ends in </a:t>
            </a:r>
            <a:r>
              <a:rPr lang="en-US" altLang="en-US" dirty="0">
                <a:solidFill>
                  <a:srgbClr val="FF0000"/>
                </a:solidFill>
              </a:rPr>
              <a:t>.php</a:t>
            </a:r>
            <a:r>
              <a:rPr lang="en-US" altLang="en-US" dirty="0"/>
              <a:t>--Separated in files with the </a:t>
            </a:r>
            <a:r>
              <a:rPr lang="en-US" altLang="en-US" dirty="0">
                <a:solidFill>
                  <a:srgbClr val="FF0000"/>
                </a:solidFill>
              </a:rPr>
              <a:t>&lt;?php    ?&gt; tag </a:t>
            </a:r>
          </a:p>
          <a:p>
            <a:r>
              <a:rPr lang="en-US" altLang="en-US" dirty="0"/>
              <a:t>php commands can make up an entire file, or can be contained in html.</a:t>
            </a:r>
          </a:p>
          <a:p>
            <a:r>
              <a:rPr lang="en-US" altLang="en-US" dirty="0"/>
              <a:t>Program lines end in </a:t>
            </a:r>
            <a:r>
              <a:rPr lang="en-US" altLang="en-US" dirty="0">
                <a:solidFill>
                  <a:srgbClr val="FF0000"/>
                </a:solidFill>
              </a:rPr>
              <a:t>";"</a:t>
            </a:r>
            <a:r>
              <a:rPr lang="en-US" altLang="en-US" dirty="0"/>
              <a:t> or you get an error</a:t>
            </a:r>
          </a:p>
          <a:p>
            <a:r>
              <a:rPr lang="en-GB" altLang="en-US" dirty="0"/>
              <a:t>PHP scripts are executed on the server and is a case sensitive language . but PHP function names are case in-sensitive</a:t>
            </a:r>
          </a:p>
          <a:p>
            <a:r>
              <a:rPr lang="en-GB" altLang="en-US" dirty="0"/>
              <a:t>PHP supports many databases (MySQL, Informix, Oracle, Sybase, Solid, PostgreSQL, Generic ODBC, etc.)</a:t>
            </a:r>
            <a:r>
              <a:rPr lang="ar-SA" altLang="en-US" dirty="0">
                <a:cs typeface="Arial" panose="020B0604020202020204" pitchFamily="34" charset="0"/>
              </a:rPr>
              <a:t>‏</a:t>
            </a:r>
            <a:endParaRPr lang="en-US" altLang="en-US" dirty="0">
              <a:cs typeface="Arial" panose="020B0604020202020204" pitchFamily="34" charset="0"/>
            </a:endParaRPr>
          </a:p>
          <a:p>
            <a:pPr marL="0" inden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dirty="0"/>
              <a:t>PHP runs on different platforms (Windows, Linux, Unix, etc.)</a:t>
            </a:r>
            <a:r>
              <a:rPr lang="ar-SA" altLang="en-US" dirty="0">
                <a:cs typeface="Arial" panose="020B0604020202020204" pitchFamily="34" charset="0"/>
              </a:rPr>
              <a:t>‏</a:t>
            </a:r>
            <a:endParaRPr lang="en-GB" altLang="en-US" dirty="0"/>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PHP Language Structure</a:t>
            </a:r>
            <a:endParaRPr lang="en-US" dirty="0">
              <a:latin typeface="Armata" panose="020B0503040500060204" pitchFamily="34" charset="0"/>
            </a:endParaRPr>
          </a:p>
        </p:txBody>
      </p:sp>
    </p:spTree>
    <p:extLst>
      <p:ext uri="{BB962C8B-B14F-4D97-AF65-F5344CB8AC3E}">
        <p14:creationId xmlns:p14="http://schemas.microsoft.com/office/powerpoint/2010/main" val="61649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196752"/>
            <a:ext cx="4320480" cy="1944216"/>
          </a:xfrm>
          <a:ln>
            <a:solidFill>
              <a:schemeClr val="accent2"/>
            </a:solidFill>
          </a:ln>
        </p:spPr>
        <p:txBody>
          <a:bodyPr/>
          <a:lstStyle/>
          <a:p>
            <a:r>
              <a:rPr lang="en-GB" altLang="en-US" dirty="0"/>
              <a:t>Variables</a:t>
            </a:r>
          </a:p>
          <a:p>
            <a:r>
              <a:rPr lang="en-GB" altLang="en-US" dirty="0"/>
              <a:t>Data Types</a:t>
            </a:r>
          </a:p>
          <a:p>
            <a:r>
              <a:rPr lang="en-GB" altLang="en-US" dirty="0"/>
              <a:t>Operators and Expressions</a:t>
            </a:r>
          </a:p>
          <a:p>
            <a:r>
              <a:rPr lang="en-GB" altLang="en-US" dirty="0"/>
              <a:t>Constants</a:t>
            </a:r>
          </a:p>
          <a:p>
            <a:endParaRPr lang="en-GB" altLang="en-US" dirty="0"/>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4" name="Rectangle 3">
            <a:extLst>
              <a:ext uri="{FF2B5EF4-FFF2-40B4-BE49-F238E27FC236}">
                <a16:creationId xmlns:a16="http://schemas.microsoft.com/office/drawing/2014/main" id="{A73CCFFB-1402-488D-AE8E-0AF851A1D386}"/>
              </a:ext>
            </a:extLst>
          </p:cNvPr>
          <p:cNvSpPr txBox="1">
            <a:spLocks noChangeArrowheads="1"/>
          </p:cNvSpPr>
          <p:nvPr/>
        </p:nvSpPr>
        <p:spPr>
          <a:xfrm>
            <a:off x="4860642" y="1268761"/>
            <a:ext cx="7331357" cy="4896544"/>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altLang="en-US" dirty="0">
                <a:highlight>
                  <a:srgbClr val="FFFF00"/>
                </a:highlight>
              </a:rPr>
              <a:t>Variables</a:t>
            </a:r>
          </a:p>
          <a:p>
            <a:r>
              <a:rPr lang="en-IN" altLang="en-US" dirty="0"/>
              <a:t>All variable names in PHP begin with dollar signs ($)</a:t>
            </a:r>
          </a:p>
          <a:p>
            <a:r>
              <a:rPr lang="en-IN" altLang="en-US" dirty="0"/>
              <a:t>a letter or an underscore followed by any number (including zero) of letters, digits, or underscores. </a:t>
            </a:r>
          </a:p>
          <a:p>
            <a:r>
              <a:rPr lang="en-IN" altLang="en-US" dirty="0"/>
              <a:t>PHP </a:t>
            </a:r>
            <a:r>
              <a:rPr lang="en-IN" altLang="en-US" dirty="0">
                <a:solidFill>
                  <a:srgbClr val="FF0000"/>
                </a:solidFill>
              </a:rPr>
              <a:t>variable names are case sensitive.</a:t>
            </a:r>
            <a:endParaRPr lang="en-US" altLang="en-US" dirty="0">
              <a:solidFill>
                <a:srgbClr val="FF0000"/>
              </a:solidFill>
            </a:endParaRPr>
          </a:p>
          <a:p>
            <a:r>
              <a:rPr lang="en-US" altLang="en-US" dirty="0"/>
              <a:t>Assigned by value </a:t>
            </a:r>
          </a:p>
          <a:p>
            <a:pPr lvl="1"/>
            <a:r>
              <a:rPr lang="en-US" altLang="en-US" sz="2400" i="1" dirty="0">
                <a:latin typeface="Courier" pitchFamily="1" charset="0"/>
              </a:rPr>
              <a:t>$foo = "Bob"; $bar = $foo;</a:t>
            </a:r>
            <a:endParaRPr lang="en-US" altLang="en-US" sz="2400" dirty="0"/>
          </a:p>
          <a:p>
            <a:r>
              <a:rPr lang="en-US" altLang="en-US" dirty="0"/>
              <a:t>Some are preassigned, server and env vars</a:t>
            </a:r>
            <a:endParaRPr lang="en-US" altLang="en-US" i="1" dirty="0">
              <a:latin typeface="Courier" pitchFamily="1" charset="0"/>
            </a:endParaRPr>
          </a:p>
          <a:p>
            <a:pPr lvl="1"/>
            <a:r>
              <a:rPr lang="en-US" altLang="en-US" sz="2400" dirty="0"/>
              <a:t>For example, there are PHP vars, </a:t>
            </a:r>
            <a:br>
              <a:rPr lang="en-US" altLang="en-US" sz="2400" dirty="0"/>
            </a:br>
            <a:r>
              <a:rPr lang="en-US" altLang="en-US" sz="2400" dirty="0" err="1"/>
              <a:t>eg.</a:t>
            </a:r>
            <a:r>
              <a:rPr lang="en-US" altLang="en-US" sz="2400" dirty="0"/>
              <a:t> </a:t>
            </a:r>
            <a:r>
              <a:rPr lang="en-US" altLang="en-US" sz="2400" i="1" dirty="0">
                <a:latin typeface="Courier" pitchFamily="1" charset="0"/>
              </a:rPr>
              <a:t>PHP_SELF, HTTP_GET_VARS</a:t>
            </a:r>
          </a:p>
          <a:p>
            <a:endParaRPr lang="en-GB" altLang="en-US" dirty="0"/>
          </a:p>
          <a:p>
            <a:pPr marL="0" indent="0" algn="just">
              <a:buFont typeface="Arial" pitchFamily="34" charset="0"/>
              <a:buNone/>
            </a:pPr>
            <a:endParaRPr lang="en-GB" altLang="en-US" dirty="0"/>
          </a:p>
        </p:txBody>
      </p:sp>
    </p:spTree>
    <p:extLst>
      <p:ext uri="{BB962C8B-B14F-4D97-AF65-F5344CB8AC3E}">
        <p14:creationId xmlns:p14="http://schemas.microsoft.com/office/powerpoint/2010/main" val="30752862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4" name="Rectangle 3">
            <a:extLst>
              <a:ext uri="{FF2B5EF4-FFF2-40B4-BE49-F238E27FC236}">
                <a16:creationId xmlns:a16="http://schemas.microsoft.com/office/drawing/2014/main" id="{A73CCFFB-1402-488D-AE8E-0AF851A1D386}"/>
              </a:ext>
            </a:extLst>
          </p:cNvPr>
          <p:cNvSpPr txBox="1">
            <a:spLocks noChangeArrowheads="1"/>
          </p:cNvSpPr>
          <p:nvPr/>
        </p:nvSpPr>
        <p:spPr>
          <a:xfrm>
            <a:off x="407368" y="1196753"/>
            <a:ext cx="11784631" cy="2376264"/>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altLang="en-US" dirty="0">
                <a:highlight>
                  <a:srgbClr val="FFFF00"/>
                </a:highlight>
              </a:rPr>
              <a:t>Variables</a:t>
            </a:r>
          </a:p>
          <a:p>
            <a:r>
              <a:rPr lang="en-US" dirty="0"/>
              <a:t>Line 5 outputs the value of variable $name by calling function print. The value of $name is printed, not the string "$name".</a:t>
            </a:r>
          </a:p>
          <a:p>
            <a:r>
              <a:rPr lang="en-US" dirty="0"/>
              <a:t> When a variable is encountered inside a </a:t>
            </a:r>
            <a:r>
              <a:rPr lang="en-US" dirty="0" err="1"/>
              <a:t>doublequoted</a:t>
            </a:r>
            <a:r>
              <a:rPr lang="en-US" dirty="0"/>
              <a:t> ("") string, PHP interpolates the variable</a:t>
            </a:r>
          </a:p>
          <a:p>
            <a:r>
              <a:rPr lang="en-US" dirty="0"/>
              <a:t>. All operations of this type execute on the server before the HTML5 document is sent to the client</a:t>
            </a:r>
          </a:p>
          <a:p>
            <a:r>
              <a:rPr lang="en-US" dirty="0"/>
              <a:t>PHP variables are loosely typed—they can contain different types of data (e.g., integers, doubles or strings) at different time</a:t>
            </a:r>
            <a:endParaRPr lang="en-GB" altLang="en-US" dirty="0"/>
          </a:p>
          <a:p>
            <a:pPr marL="0" indent="0" algn="just">
              <a:buFont typeface="Arial" pitchFamily="34" charset="0"/>
              <a:buNone/>
            </a:pPr>
            <a:endParaRPr lang="en-GB" altLang="en-US" dirty="0"/>
          </a:p>
        </p:txBody>
      </p:sp>
      <p:pic>
        <p:nvPicPr>
          <p:cNvPr id="2" name="Picture 1">
            <a:extLst>
              <a:ext uri="{FF2B5EF4-FFF2-40B4-BE49-F238E27FC236}">
                <a16:creationId xmlns:a16="http://schemas.microsoft.com/office/drawing/2014/main" id="{86F4D63F-EC44-43B2-B170-E5A28FE4A3C2}"/>
              </a:ext>
            </a:extLst>
          </p:cNvPr>
          <p:cNvPicPr>
            <a:picLocks noChangeAspect="1"/>
          </p:cNvPicPr>
          <p:nvPr/>
        </p:nvPicPr>
        <p:blipFill>
          <a:blip r:embed="rId3"/>
          <a:stretch>
            <a:fillRect/>
          </a:stretch>
        </p:blipFill>
        <p:spPr>
          <a:xfrm>
            <a:off x="15745" y="4797152"/>
            <a:ext cx="7382015" cy="2040910"/>
          </a:xfrm>
          <a:prstGeom prst="rect">
            <a:avLst/>
          </a:prstGeom>
        </p:spPr>
      </p:pic>
      <p:pic>
        <p:nvPicPr>
          <p:cNvPr id="3" name="Picture 2">
            <a:extLst>
              <a:ext uri="{FF2B5EF4-FFF2-40B4-BE49-F238E27FC236}">
                <a16:creationId xmlns:a16="http://schemas.microsoft.com/office/drawing/2014/main" id="{3410F6A6-6D7E-4990-9933-20BEE0821D1A}"/>
              </a:ext>
            </a:extLst>
          </p:cNvPr>
          <p:cNvPicPr>
            <a:picLocks noChangeAspect="1"/>
          </p:cNvPicPr>
          <p:nvPr/>
        </p:nvPicPr>
        <p:blipFill>
          <a:blip r:embed="rId4"/>
          <a:stretch>
            <a:fillRect/>
          </a:stretch>
        </p:blipFill>
        <p:spPr>
          <a:xfrm>
            <a:off x="7397760" y="5541212"/>
            <a:ext cx="4476750" cy="1266825"/>
          </a:xfrm>
          <a:prstGeom prst="rect">
            <a:avLst/>
          </a:prstGeom>
          <a:ln>
            <a:solidFill>
              <a:schemeClr val="accent2"/>
            </a:solidFill>
          </a:ln>
        </p:spPr>
      </p:pic>
    </p:spTree>
    <p:extLst>
      <p:ext uri="{BB962C8B-B14F-4D97-AF65-F5344CB8AC3E}">
        <p14:creationId xmlns:p14="http://schemas.microsoft.com/office/powerpoint/2010/main" val="39171885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3" name="Content Placeholder 2">
            <a:extLst>
              <a:ext uri="{FF2B5EF4-FFF2-40B4-BE49-F238E27FC236}">
                <a16:creationId xmlns:a16="http://schemas.microsoft.com/office/drawing/2014/main" id="{3E94435C-72BF-4725-A58E-0F184E53016E}"/>
              </a:ext>
            </a:extLst>
          </p:cNvPr>
          <p:cNvSpPr>
            <a:spLocks noGrp="1"/>
          </p:cNvSpPr>
          <p:nvPr>
            <p:ph idx="1"/>
          </p:nvPr>
        </p:nvSpPr>
        <p:spPr>
          <a:xfrm>
            <a:off x="609600" y="1425600"/>
            <a:ext cx="11103024" cy="4698000"/>
          </a:xfrm>
        </p:spPr>
        <p:txBody>
          <a:bodyPr/>
          <a:lstStyle/>
          <a:p>
            <a:r>
              <a:rPr lang="en-GB" altLang="en-US" dirty="0">
                <a:highlight>
                  <a:srgbClr val="FFFF00"/>
                </a:highlight>
              </a:rPr>
              <a:t>Global Variables</a:t>
            </a:r>
          </a:p>
          <a:p>
            <a:r>
              <a:rPr lang="en-US" dirty="0"/>
              <a:t>In PHP global variables must be declared global inside</a:t>
            </a:r>
            <a:br>
              <a:rPr lang="en-US" dirty="0"/>
            </a:br>
            <a:r>
              <a:rPr lang="en-US" dirty="0"/>
              <a:t> a function if they are going to be used in that function.</a:t>
            </a:r>
          </a:p>
          <a:p>
            <a:endParaRPr lang="en-GB" altLang="en-US" dirty="0"/>
          </a:p>
          <a:p>
            <a:endParaRPr lang="en-US" dirty="0"/>
          </a:p>
        </p:txBody>
      </p:sp>
      <p:pic>
        <p:nvPicPr>
          <p:cNvPr id="6" name="Picture 5">
            <a:extLst>
              <a:ext uri="{FF2B5EF4-FFF2-40B4-BE49-F238E27FC236}">
                <a16:creationId xmlns:a16="http://schemas.microsoft.com/office/drawing/2014/main" id="{12136987-38AF-4D8F-8918-F0BED737472F}"/>
              </a:ext>
            </a:extLst>
          </p:cNvPr>
          <p:cNvPicPr>
            <a:picLocks noChangeAspect="1"/>
          </p:cNvPicPr>
          <p:nvPr/>
        </p:nvPicPr>
        <p:blipFill>
          <a:blip r:embed="rId3"/>
          <a:stretch>
            <a:fillRect/>
          </a:stretch>
        </p:blipFill>
        <p:spPr>
          <a:xfrm>
            <a:off x="790575" y="2708920"/>
            <a:ext cx="5305425" cy="2971800"/>
          </a:xfrm>
          <a:prstGeom prst="rect">
            <a:avLst/>
          </a:prstGeom>
        </p:spPr>
      </p:pic>
      <p:pic>
        <p:nvPicPr>
          <p:cNvPr id="7" name="Picture 6">
            <a:extLst>
              <a:ext uri="{FF2B5EF4-FFF2-40B4-BE49-F238E27FC236}">
                <a16:creationId xmlns:a16="http://schemas.microsoft.com/office/drawing/2014/main" id="{AC25FFD0-2D30-42DA-914A-06187332103F}"/>
              </a:ext>
            </a:extLst>
          </p:cNvPr>
          <p:cNvPicPr>
            <a:picLocks noChangeAspect="1"/>
          </p:cNvPicPr>
          <p:nvPr/>
        </p:nvPicPr>
        <p:blipFill>
          <a:blip r:embed="rId4"/>
          <a:stretch>
            <a:fillRect/>
          </a:stretch>
        </p:blipFill>
        <p:spPr>
          <a:xfrm>
            <a:off x="8779742" y="1115376"/>
            <a:ext cx="2500834" cy="4944831"/>
          </a:xfrm>
          <a:prstGeom prst="rect">
            <a:avLst/>
          </a:prstGeom>
        </p:spPr>
      </p:pic>
      <p:sp>
        <p:nvSpPr>
          <p:cNvPr id="8" name="TextBox 7">
            <a:extLst>
              <a:ext uri="{FF2B5EF4-FFF2-40B4-BE49-F238E27FC236}">
                <a16:creationId xmlns:a16="http://schemas.microsoft.com/office/drawing/2014/main" id="{84EA48F8-C16A-4D42-B43B-2D790F94A948}"/>
              </a:ext>
            </a:extLst>
          </p:cNvPr>
          <p:cNvSpPr txBox="1"/>
          <p:nvPr/>
        </p:nvSpPr>
        <p:spPr>
          <a:xfrm>
            <a:off x="479376" y="5569762"/>
            <a:ext cx="8064897" cy="664797"/>
          </a:xfrm>
          <a:prstGeom prst="rect">
            <a:avLst/>
          </a:prstGeom>
          <a:noFill/>
          <a:ln>
            <a:solidFill>
              <a:schemeClr val="accent2"/>
            </a:solidFill>
          </a:ln>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1600" dirty="0"/>
              <a:t>The above script will output 3. By declaring $a and $b global within the function, all references to either variable will refer to the global version. There is no limit to the number of global variables that can be manipulated by a function.</a:t>
            </a:r>
          </a:p>
        </p:txBody>
      </p:sp>
    </p:spTree>
    <p:extLst>
      <p:ext uri="{BB962C8B-B14F-4D97-AF65-F5344CB8AC3E}">
        <p14:creationId xmlns:p14="http://schemas.microsoft.com/office/powerpoint/2010/main" val="21959564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3" name="Content Placeholder 2">
            <a:extLst>
              <a:ext uri="{FF2B5EF4-FFF2-40B4-BE49-F238E27FC236}">
                <a16:creationId xmlns:a16="http://schemas.microsoft.com/office/drawing/2014/main" id="{3E94435C-72BF-4725-A58E-0F184E53016E}"/>
              </a:ext>
            </a:extLst>
          </p:cNvPr>
          <p:cNvSpPr>
            <a:spLocks noGrp="1"/>
          </p:cNvSpPr>
          <p:nvPr>
            <p:ph idx="1"/>
          </p:nvPr>
        </p:nvSpPr>
        <p:spPr>
          <a:xfrm>
            <a:off x="623390" y="1124744"/>
            <a:ext cx="11089233" cy="4998856"/>
          </a:xfrm>
        </p:spPr>
        <p:txBody>
          <a:bodyPr numCol="2"/>
          <a:lstStyle/>
          <a:p>
            <a:r>
              <a:rPr lang="en-GB" altLang="en-US" dirty="0">
                <a:highlight>
                  <a:srgbClr val="FFFF00"/>
                </a:highlight>
              </a:rPr>
              <a:t>Super Global Variables</a:t>
            </a:r>
          </a:p>
          <a:p>
            <a:r>
              <a:rPr lang="en-US" dirty="0">
                <a:highlight>
                  <a:srgbClr val="FFFF00"/>
                </a:highlight>
              </a:rPr>
              <a:t>Super global variables are built-in variables that are always available in all scopes.</a:t>
            </a:r>
          </a:p>
          <a:p>
            <a:r>
              <a:rPr lang="en-US" dirty="0"/>
              <a:t>Some </a:t>
            </a:r>
            <a:r>
              <a:rPr lang="en-US" dirty="0">
                <a:highlight>
                  <a:srgbClr val="FFFF00"/>
                </a:highlight>
              </a:rPr>
              <a:t>predefined variables in PHP are "</a:t>
            </a:r>
            <a:r>
              <a:rPr lang="en-US" dirty="0" err="1">
                <a:highlight>
                  <a:srgbClr val="FFFF00"/>
                </a:highlight>
              </a:rPr>
              <a:t>superglobals</a:t>
            </a:r>
            <a:r>
              <a:rPr lang="en-US" dirty="0">
                <a:highlight>
                  <a:srgbClr val="FFFF00"/>
                </a:highlight>
              </a:rPr>
              <a:t>", which means that they are always accessible</a:t>
            </a:r>
            <a:r>
              <a:rPr lang="en-US" dirty="0"/>
              <a:t>, regardless of scope - and </a:t>
            </a:r>
            <a:r>
              <a:rPr lang="en-US" dirty="0">
                <a:highlight>
                  <a:srgbClr val="FFFF00"/>
                </a:highlight>
              </a:rPr>
              <a:t>you can access them from any function, class or file without having to do anything special</a:t>
            </a:r>
            <a:r>
              <a:rPr lang="en-US" dirty="0"/>
              <a:t>.</a:t>
            </a:r>
          </a:p>
          <a:p>
            <a:endParaRPr lang="en-US" dirty="0"/>
          </a:p>
          <a:p>
            <a:endParaRPr lang="en-US" dirty="0"/>
          </a:p>
          <a:p>
            <a:endParaRPr lang="en-US" dirty="0"/>
          </a:p>
          <a:p>
            <a:r>
              <a:rPr lang="en-US" dirty="0"/>
              <a:t>The PHP </a:t>
            </a:r>
            <a:r>
              <a:rPr lang="en-US" dirty="0" err="1"/>
              <a:t>superglobal</a:t>
            </a:r>
            <a:r>
              <a:rPr lang="en-US" dirty="0"/>
              <a:t> variables are:</a:t>
            </a:r>
          </a:p>
          <a:p>
            <a:r>
              <a:rPr lang="en-US" dirty="0"/>
              <a:t>$GLOBALS</a:t>
            </a:r>
          </a:p>
          <a:p>
            <a:r>
              <a:rPr lang="en-US" dirty="0"/>
              <a:t>$_SERVER</a:t>
            </a:r>
          </a:p>
          <a:p>
            <a:r>
              <a:rPr lang="en-US" dirty="0"/>
              <a:t>$_REQUEST</a:t>
            </a:r>
          </a:p>
          <a:p>
            <a:r>
              <a:rPr lang="en-US" dirty="0"/>
              <a:t>$_POST</a:t>
            </a:r>
          </a:p>
          <a:p>
            <a:r>
              <a:rPr lang="en-US" dirty="0"/>
              <a:t>$_GET</a:t>
            </a:r>
          </a:p>
          <a:p>
            <a:r>
              <a:rPr lang="en-US" dirty="0"/>
              <a:t>$_FILES</a:t>
            </a:r>
          </a:p>
          <a:p>
            <a:r>
              <a:rPr lang="en-US" dirty="0"/>
              <a:t>$_ENV</a:t>
            </a:r>
          </a:p>
          <a:p>
            <a:r>
              <a:rPr lang="en-US" dirty="0"/>
              <a:t>$_COOKIE</a:t>
            </a:r>
          </a:p>
          <a:p>
            <a:r>
              <a:rPr lang="en-US" dirty="0"/>
              <a:t>$_SESSION</a:t>
            </a:r>
          </a:p>
          <a:p>
            <a:endParaRPr lang="en-US" dirty="0"/>
          </a:p>
        </p:txBody>
      </p:sp>
      <p:cxnSp>
        <p:nvCxnSpPr>
          <p:cNvPr id="4" name="Straight Connector 3">
            <a:extLst>
              <a:ext uri="{FF2B5EF4-FFF2-40B4-BE49-F238E27FC236}">
                <a16:creationId xmlns:a16="http://schemas.microsoft.com/office/drawing/2014/main" id="{4C8096D7-EFC8-4E4F-93F3-E21E899FCC9D}"/>
              </a:ext>
            </a:extLst>
          </p:cNvPr>
          <p:cNvCxnSpPr>
            <a:cxnSpLocks/>
            <a:stCxn id="3" idx="0"/>
          </p:cNvCxnSpPr>
          <p:nvPr/>
        </p:nvCxnSpPr>
        <p:spPr>
          <a:xfrm>
            <a:off x="6168007" y="1124744"/>
            <a:ext cx="6485" cy="4680520"/>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95587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3" name="Content Placeholder 2">
            <a:extLst>
              <a:ext uri="{FF2B5EF4-FFF2-40B4-BE49-F238E27FC236}">
                <a16:creationId xmlns:a16="http://schemas.microsoft.com/office/drawing/2014/main" id="{3E94435C-72BF-4725-A58E-0F184E53016E}"/>
              </a:ext>
            </a:extLst>
          </p:cNvPr>
          <p:cNvSpPr>
            <a:spLocks noGrp="1"/>
          </p:cNvSpPr>
          <p:nvPr>
            <p:ph idx="1"/>
          </p:nvPr>
        </p:nvSpPr>
        <p:spPr>
          <a:xfrm>
            <a:off x="623391" y="1124744"/>
            <a:ext cx="6120681" cy="4998856"/>
          </a:xfrm>
        </p:spPr>
        <p:txBody>
          <a:bodyPr numCol="1"/>
          <a:lstStyle/>
          <a:p>
            <a:r>
              <a:rPr lang="en-US" dirty="0"/>
              <a:t>second way to access variables from the global scope is to use the special PHP-defined </a:t>
            </a:r>
            <a:r>
              <a:rPr lang="en-US" i="1" dirty="0">
                <a:hlinkClick r:id="rId3"/>
              </a:rPr>
              <a:t>$GLOBALS</a:t>
            </a:r>
            <a:r>
              <a:rPr lang="en-US" dirty="0"/>
              <a:t> array</a:t>
            </a:r>
          </a:p>
          <a:p>
            <a:r>
              <a:rPr lang="en-US" dirty="0"/>
              <a:t>The </a:t>
            </a:r>
            <a:r>
              <a:rPr lang="en-US" i="1" dirty="0">
                <a:hlinkClick r:id="rId3"/>
              </a:rPr>
              <a:t>$GLOBALS</a:t>
            </a:r>
            <a:r>
              <a:rPr lang="en-US" dirty="0"/>
              <a:t> array is an associative array with the name of the global variable being the key and the contents of that variable being the value of the array element. </a:t>
            </a:r>
          </a:p>
          <a:p>
            <a:r>
              <a:rPr lang="en-US" dirty="0"/>
              <a:t>$b  is a variable present within the $GLOBALS array, it is also accessible from outside the function!</a:t>
            </a:r>
          </a:p>
        </p:txBody>
      </p:sp>
      <p:pic>
        <p:nvPicPr>
          <p:cNvPr id="6" name="Picture 5">
            <a:extLst>
              <a:ext uri="{FF2B5EF4-FFF2-40B4-BE49-F238E27FC236}">
                <a16:creationId xmlns:a16="http://schemas.microsoft.com/office/drawing/2014/main" id="{A0ECF920-6773-4DFE-897E-FA02CD13F396}"/>
              </a:ext>
            </a:extLst>
          </p:cNvPr>
          <p:cNvPicPr>
            <a:picLocks noChangeAspect="1"/>
          </p:cNvPicPr>
          <p:nvPr/>
        </p:nvPicPr>
        <p:blipFill>
          <a:blip r:embed="rId4"/>
          <a:stretch>
            <a:fillRect/>
          </a:stretch>
        </p:blipFill>
        <p:spPr>
          <a:xfrm>
            <a:off x="6960096" y="1268760"/>
            <a:ext cx="5181600" cy="3333750"/>
          </a:xfrm>
          <a:prstGeom prst="rect">
            <a:avLst/>
          </a:prstGeom>
        </p:spPr>
      </p:pic>
    </p:spTree>
    <p:extLst>
      <p:ext uri="{BB962C8B-B14F-4D97-AF65-F5344CB8AC3E}">
        <p14:creationId xmlns:p14="http://schemas.microsoft.com/office/powerpoint/2010/main" val="424235447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err="1"/>
              <a:t>Superglobal</a:t>
            </a:r>
            <a:r>
              <a:rPr lang="en-US" dirty="0"/>
              <a:t> variables</a:t>
            </a:r>
            <a:endParaRPr lang="en-US" dirty="0">
              <a:latin typeface="Armata" panose="020B0503040500060204" pitchFamily="34" charset="0"/>
            </a:endParaRPr>
          </a:p>
        </p:txBody>
      </p:sp>
      <p:sp>
        <p:nvSpPr>
          <p:cNvPr id="3" name="Content Placeholder 2">
            <a:extLst>
              <a:ext uri="{FF2B5EF4-FFF2-40B4-BE49-F238E27FC236}">
                <a16:creationId xmlns:a16="http://schemas.microsoft.com/office/drawing/2014/main" id="{3E94435C-72BF-4725-A58E-0F184E53016E}"/>
              </a:ext>
            </a:extLst>
          </p:cNvPr>
          <p:cNvSpPr>
            <a:spLocks noGrp="1"/>
          </p:cNvSpPr>
          <p:nvPr>
            <p:ph idx="1"/>
          </p:nvPr>
        </p:nvSpPr>
        <p:spPr>
          <a:xfrm>
            <a:off x="623390" y="1124744"/>
            <a:ext cx="11089233" cy="4998856"/>
          </a:xfrm>
        </p:spPr>
        <p:txBody>
          <a:bodyPr numCol="1"/>
          <a:lstStyle/>
          <a:p>
            <a:r>
              <a:rPr lang="en-US" altLang="en-US" dirty="0"/>
              <a:t>$GLOBALS- PHP super global variable which is used to access global variables from anywhere in the PHP script</a:t>
            </a:r>
          </a:p>
          <a:p>
            <a:r>
              <a:rPr lang="en-US" altLang="en-US" dirty="0"/>
              <a:t>$_SERVER is a PHP super global variable which holds information about headers, paths, and script locations.</a:t>
            </a:r>
          </a:p>
          <a:p>
            <a:r>
              <a:rPr lang="en-US" altLang="en-US" dirty="0"/>
              <a:t>$_REQUEST is a PHP super global variable which is used to collect data after submitting an HTML form.</a:t>
            </a:r>
          </a:p>
          <a:p>
            <a:r>
              <a:rPr lang="en-US" altLang="en-US" dirty="0"/>
              <a:t>$_POST is a PHP super global variable which is used to collect form data after submitting an HTML form with method="post". $_POST is also widely used to pass variables.</a:t>
            </a:r>
          </a:p>
          <a:p>
            <a:r>
              <a:rPr lang="en-US" altLang="en-US" dirty="0"/>
              <a:t>$_GET is a PHP super global variable which is used to collect form data after submitting an HTML form with method="</a:t>
            </a:r>
            <a:r>
              <a:rPr lang="en-US" altLang="en-US" dirty="0" err="1"/>
              <a:t>get".$_GET</a:t>
            </a:r>
            <a:r>
              <a:rPr lang="en-US" altLang="en-US" dirty="0"/>
              <a:t> can also collect data sent in the URL.</a:t>
            </a:r>
            <a:endParaRPr lang="en-US" dirty="0"/>
          </a:p>
        </p:txBody>
      </p:sp>
    </p:spTree>
    <p:extLst>
      <p:ext uri="{BB962C8B-B14F-4D97-AF65-F5344CB8AC3E}">
        <p14:creationId xmlns:p14="http://schemas.microsoft.com/office/powerpoint/2010/main" val="234088076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196752"/>
            <a:ext cx="4320480" cy="1944216"/>
          </a:xfrm>
          <a:ln>
            <a:solidFill>
              <a:schemeClr val="accent2"/>
            </a:solidFill>
          </a:ln>
        </p:spPr>
        <p:txBody>
          <a:bodyPr/>
          <a:lstStyle/>
          <a:p>
            <a:r>
              <a:rPr lang="en-GB" altLang="en-US" dirty="0"/>
              <a:t>Variables</a:t>
            </a:r>
          </a:p>
          <a:p>
            <a:r>
              <a:rPr lang="en-GB" altLang="en-US" dirty="0"/>
              <a:t>Data Types</a:t>
            </a:r>
          </a:p>
          <a:p>
            <a:r>
              <a:rPr lang="en-GB" altLang="en-US" dirty="0"/>
              <a:t>Operators and Expressions</a:t>
            </a:r>
          </a:p>
          <a:p>
            <a:r>
              <a:rPr lang="en-GB" altLang="en-US" dirty="0"/>
              <a:t>Constants</a:t>
            </a:r>
          </a:p>
          <a:p>
            <a:endParaRPr lang="en-GB" altLang="en-US" dirty="0"/>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4" name="Rectangle 3">
            <a:extLst>
              <a:ext uri="{FF2B5EF4-FFF2-40B4-BE49-F238E27FC236}">
                <a16:creationId xmlns:a16="http://schemas.microsoft.com/office/drawing/2014/main" id="{A73CCFFB-1402-488D-AE8E-0AF851A1D386}"/>
              </a:ext>
            </a:extLst>
          </p:cNvPr>
          <p:cNvSpPr txBox="1">
            <a:spLocks noChangeArrowheads="1"/>
          </p:cNvSpPr>
          <p:nvPr/>
        </p:nvSpPr>
        <p:spPr>
          <a:xfrm>
            <a:off x="4860642" y="1268761"/>
            <a:ext cx="7331357" cy="4896544"/>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endParaRPr lang="en-GB" altLang="en-US" dirty="0"/>
          </a:p>
        </p:txBody>
      </p:sp>
      <p:pic>
        <p:nvPicPr>
          <p:cNvPr id="2" name="Picture 1">
            <a:extLst>
              <a:ext uri="{FF2B5EF4-FFF2-40B4-BE49-F238E27FC236}">
                <a16:creationId xmlns:a16="http://schemas.microsoft.com/office/drawing/2014/main" id="{BC9A9318-7954-4218-B844-0BC6701AA56D}"/>
              </a:ext>
            </a:extLst>
          </p:cNvPr>
          <p:cNvPicPr>
            <a:picLocks noChangeAspect="1"/>
          </p:cNvPicPr>
          <p:nvPr/>
        </p:nvPicPr>
        <p:blipFill>
          <a:blip r:embed="rId3"/>
          <a:stretch>
            <a:fillRect/>
          </a:stretch>
        </p:blipFill>
        <p:spPr>
          <a:xfrm>
            <a:off x="3575720" y="3244805"/>
            <a:ext cx="7535309" cy="2749534"/>
          </a:xfrm>
          <a:prstGeom prst="rect">
            <a:avLst/>
          </a:prstGeom>
        </p:spPr>
      </p:pic>
      <p:sp>
        <p:nvSpPr>
          <p:cNvPr id="3" name="TextBox 2">
            <a:extLst>
              <a:ext uri="{FF2B5EF4-FFF2-40B4-BE49-F238E27FC236}">
                <a16:creationId xmlns:a16="http://schemas.microsoft.com/office/drawing/2014/main" id="{869135CC-9533-4CAC-9EF5-1EC26B0207D4}"/>
              </a:ext>
            </a:extLst>
          </p:cNvPr>
          <p:cNvSpPr txBox="1"/>
          <p:nvPr/>
        </p:nvSpPr>
        <p:spPr>
          <a:xfrm>
            <a:off x="5225441" y="2747365"/>
            <a:ext cx="2664296" cy="350865"/>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2400" dirty="0"/>
              <a:t>Reserved Words</a:t>
            </a:r>
          </a:p>
        </p:txBody>
      </p:sp>
    </p:spTree>
    <p:extLst>
      <p:ext uri="{BB962C8B-B14F-4D97-AF65-F5344CB8AC3E}">
        <p14:creationId xmlns:p14="http://schemas.microsoft.com/office/powerpoint/2010/main" val="2085390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nodePh="1">
                                  <p:stCondLst>
                                    <p:cond delay="0"/>
                                  </p:stCondLst>
                                  <p:endCondLst>
                                    <p:cond evt="begin" delay="0">
                                      <p:tn val="21"/>
                                    </p:cond>
                                  </p:end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95400" y="1207022"/>
            <a:ext cx="11233249" cy="1944216"/>
          </a:xfrm>
          <a:ln>
            <a:noFill/>
          </a:ln>
        </p:spPr>
        <p:txBody>
          <a:bodyPr/>
          <a:lstStyle/>
          <a:p>
            <a:r>
              <a:rPr lang="en-GB" altLang="en-US" b="1" dirty="0"/>
              <a:t>Data Types</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highlight>
                  <a:srgbClr val="FFFF00"/>
                </a:highlight>
              </a:rPr>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pic>
        <p:nvPicPr>
          <p:cNvPr id="2" name="Picture 1">
            <a:extLst>
              <a:ext uri="{FF2B5EF4-FFF2-40B4-BE49-F238E27FC236}">
                <a16:creationId xmlns:a16="http://schemas.microsoft.com/office/drawing/2014/main" id="{593E4A34-7868-4B98-B469-53CF6DAA1B0A}"/>
              </a:ext>
            </a:extLst>
          </p:cNvPr>
          <p:cNvPicPr>
            <a:picLocks noChangeAspect="1"/>
          </p:cNvPicPr>
          <p:nvPr/>
        </p:nvPicPr>
        <p:blipFill>
          <a:blip r:embed="rId3"/>
          <a:stretch>
            <a:fillRect/>
          </a:stretch>
        </p:blipFill>
        <p:spPr>
          <a:xfrm>
            <a:off x="551384" y="1770385"/>
            <a:ext cx="11249025" cy="4905375"/>
          </a:xfrm>
          <a:prstGeom prst="rect">
            <a:avLst/>
          </a:prstGeom>
        </p:spPr>
      </p:pic>
    </p:spTree>
    <p:extLst>
      <p:ext uri="{BB962C8B-B14F-4D97-AF65-F5344CB8AC3E}">
        <p14:creationId xmlns:p14="http://schemas.microsoft.com/office/powerpoint/2010/main" val="665765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F0A6-2D81-105D-270F-A36CD8F132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E667A2-2F67-5BB7-B3F2-FFDAD53C904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4F5D988-2F12-080C-DA48-23724F316C4A}"/>
              </a:ext>
            </a:extLst>
          </p:cNvPr>
          <p:cNvPicPr>
            <a:picLocks noChangeAspect="1"/>
          </p:cNvPicPr>
          <p:nvPr/>
        </p:nvPicPr>
        <p:blipFill>
          <a:blip r:embed="rId2"/>
          <a:stretch>
            <a:fillRect/>
          </a:stretch>
        </p:blipFill>
        <p:spPr>
          <a:xfrm>
            <a:off x="24963" y="548680"/>
            <a:ext cx="11750620" cy="5574919"/>
          </a:xfrm>
          <a:prstGeom prst="rect">
            <a:avLst/>
          </a:prstGeom>
        </p:spPr>
      </p:pic>
    </p:spTree>
    <p:extLst>
      <p:ext uri="{BB962C8B-B14F-4D97-AF65-F5344CB8AC3E}">
        <p14:creationId xmlns:p14="http://schemas.microsoft.com/office/powerpoint/2010/main" val="305243996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929E-2B94-A194-B0B1-52126F47FDF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4FD53D3-1360-D5BF-CC0D-74E2536A6600}"/>
              </a:ext>
            </a:extLst>
          </p:cNvPr>
          <p:cNvPicPr>
            <a:picLocks noGrp="1" noChangeAspect="1"/>
          </p:cNvPicPr>
          <p:nvPr>
            <p:ph idx="1"/>
          </p:nvPr>
        </p:nvPicPr>
        <p:blipFill>
          <a:blip r:embed="rId2"/>
          <a:stretch>
            <a:fillRect/>
          </a:stretch>
        </p:blipFill>
        <p:spPr>
          <a:xfrm>
            <a:off x="-163081" y="1419889"/>
            <a:ext cx="12449404" cy="4018222"/>
          </a:xfrm>
          <a:prstGeom prst="rect">
            <a:avLst/>
          </a:prstGeom>
        </p:spPr>
      </p:pic>
    </p:spTree>
    <p:extLst>
      <p:ext uri="{BB962C8B-B14F-4D97-AF65-F5344CB8AC3E}">
        <p14:creationId xmlns:p14="http://schemas.microsoft.com/office/powerpoint/2010/main" val="211511905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DAD0A-499F-8E60-FB3A-992782EBDB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532E5DE-8FE5-72EC-1A86-8A85D94DCAE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2E83541-2372-C715-9192-F98EA1FF4343}"/>
              </a:ext>
            </a:extLst>
          </p:cNvPr>
          <p:cNvPicPr>
            <a:picLocks noChangeAspect="1"/>
          </p:cNvPicPr>
          <p:nvPr/>
        </p:nvPicPr>
        <p:blipFill>
          <a:blip r:embed="rId2"/>
          <a:stretch>
            <a:fillRect/>
          </a:stretch>
        </p:blipFill>
        <p:spPr>
          <a:xfrm>
            <a:off x="1363570" y="163547"/>
            <a:ext cx="9464860" cy="6530906"/>
          </a:xfrm>
          <a:prstGeom prst="rect">
            <a:avLst/>
          </a:prstGeom>
        </p:spPr>
      </p:pic>
    </p:spTree>
    <p:extLst>
      <p:ext uri="{BB962C8B-B14F-4D97-AF65-F5344CB8AC3E}">
        <p14:creationId xmlns:p14="http://schemas.microsoft.com/office/powerpoint/2010/main" val="208056471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95400" y="1207022"/>
            <a:ext cx="11233249" cy="1944216"/>
          </a:xfrm>
          <a:ln>
            <a:noFill/>
          </a:ln>
        </p:spPr>
        <p:txBody>
          <a:bodyPr/>
          <a:lstStyle/>
          <a:p>
            <a:r>
              <a:rPr lang="en-GB" altLang="en-US" b="1" dirty="0"/>
              <a:t>Data Types</a:t>
            </a:r>
          </a:p>
          <a:p>
            <a:pPr>
              <a:defRPr/>
            </a:pPr>
            <a:r>
              <a:rPr lang="en-IN" dirty="0"/>
              <a:t>PHP has four scalar types: </a:t>
            </a:r>
            <a:r>
              <a:rPr lang="en-IN" dirty="0">
                <a:solidFill>
                  <a:srgbClr val="FF0000"/>
                </a:solidFill>
              </a:rPr>
              <a:t>Boolean, integer, double, and string</a:t>
            </a:r>
            <a:r>
              <a:rPr lang="en-IN" dirty="0"/>
              <a:t>; two compound types, </a:t>
            </a:r>
            <a:r>
              <a:rPr lang="en-IN" dirty="0">
                <a:solidFill>
                  <a:srgbClr val="FF0000"/>
                </a:solidFill>
              </a:rPr>
              <a:t>array and object</a:t>
            </a:r>
            <a:r>
              <a:rPr lang="en-IN" dirty="0"/>
              <a:t>; and  two special types, </a:t>
            </a:r>
            <a:r>
              <a:rPr lang="en-IN" dirty="0">
                <a:solidFill>
                  <a:srgbClr val="FF0000"/>
                </a:solidFill>
              </a:rPr>
              <a:t>resource and NULL</a:t>
            </a:r>
          </a:p>
          <a:p>
            <a:pPr marL="0" indent="0">
              <a:buNone/>
              <a:defRPr/>
            </a:pPr>
            <a:r>
              <a:rPr lang="en-IN" dirty="0">
                <a:solidFill>
                  <a:srgbClr val="FF0000"/>
                </a:solidFill>
              </a:rPr>
              <a:t>1 Integer Type</a:t>
            </a:r>
            <a:endParaRPr lang="en-US" dirty="0">
              <a:solidFill>
                <a:srgbClr val="FF0000"/>
              </a:solidFill>
            </a:endParaRPr>
          </a:p>
          <a:p>
            <a:pPr>
              <a:defRPr/>
            </a:pPr>
            <a:r>
              <a:rPr lang="en-IN" dirty="0"/>
              <a:t>PHP has a single integer type, named integer. (corresponds to the long type of C)</a:t>
            </a:r>
            <a:endParaRPr lang="en-US" dirty="0"/>
          </a:p>
          <a:p>
            <a:pPr>
              <a:defRPr/>
            </a:pPr>
            <a:r>
              <a:rPr lang="en-IN" dirty="0"/>
              <a:t> In most cases, this is 32 bits, or a bit less (not fewer) than ten decimal digits.</a:t>
            </a:r>
            <a:endParaRPr lang="en-US" dirty="0"/>
          </a:p>
          <a:p>
            <a:pPr marL="0" indent="0">
              <a:buNone/>
              <a:defRPr/>
            </a:pPr>
            <a:r>
              <a:rPr lang="en-IN" dirty="0">
                <a:solidFill>
                  <a:srgbClr val="FF0000"/>
                </a:solidFill>
              </a:rPr>
              <a:t>2 Double Type</a:t>
            </a:r>
            <a:endParaRPr lang="en-US" dirty="0">
              <a:solidFill>
                <a:srgbClr val="FF0000"/>
              </a:solidFill>
            </a:endParaRPr>
          </a:p>
          <a:p>
            <a:pPr>
              <a:defRPr/>
            </a:pPr>
            <a:r>
              <a:rPr lang="en-IN" dirty="0"/>
              <a:t>PHP's double type corresponds to the double type of C and its successors.</a:t>
            </a:r>
            <a:endParaRPr lang="en-US" dirty="0"/>
          </a:p>
          <a:p>
            <a:pPr>
              <a:defRPr/>
            </a:pPr>
            <a:r>
              <a:rPr lang="en-IN" dirty="0"/>
              <a:t>Double literals can include a decimal point, an exponent, or both. The exponent has  an E or an e</a:t>
            </a:r>
          </a:p>
          <a:p>
            <a:pPr>
              <a:defRPr/>
            </a:pPr>
            <a:r>
              <a:rPr lang="en-US" dirty="0"/>
              <a:t>Floating point numbers (also known as "floats", "doubles", or "real numbers") can be specified using any of the following syntaxes:</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highlight>
                  <a:srgbClr val="FFFF00"/>
                </a:highlight>
              </a:rPr>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23583060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07368" y="1039268"/>
            <a:ext cx="10585176" cy="1440160"/>
          </a:xfrm>
        </p:spPr>
        <p:txBody>
          <a:bodyPr/>
          <a:lstStyle/>
          <a:p>
            <a:pPr marL="0" indent="0">
              <a:buNone/>
              <a:defRPr/>
            </a:pPr>
            <a:r>
              <a:rPr lang="en-IN" sz="2000" dirty="0">
                <a:solidFill>
                  <a:srgbClr val="FF0000"/>
                </a:solidFill>
              </a:rPr>
              <a:t>3</a:t>
            </a:r>
            <a:r>
              <a:rPr lang="en-IN" dirty="0">
                <a:solidFill>
                  <a:srgbClr val="FF0000"/>
                </a:solidFill>
              </a:rPr>
              <a:t>.String Type</a:t>
            </a:r>
            <a:endParaRPr lang="en-US" dirty="0">
              <a:solidFill>
                <a:srgbClr val="FF0000"/>
              </a:solidFill>
            </a:endParaRPr>
          </a:p>
          <a:p>
            <a:pPr>
              <a:defRPr/>
            </a:pPr>
            <a:r>
              <a:rPr lang="en-IN" dirty="0"/>
              <a:t>Characters in PHP are single bytes. </a:t>
            </a:r>
            <a:r>
              <a:rPr lang="en-IN" dirty="0">
                <a:solidFill>
                  <a:srgbClr val="FF0000"/>
                </a:solidFill>
              </a:rPr>
              <a:t>no character type</a:t>
            </a:r>
            <a:r>
              <a:rPr lang="en-IN" dirty="0"/>
              <a:t>.</a:t>
            </a:r>
            <a:endParaRPr lang="en-US" dirty="0"/>
          </a:p>
          <a:p>
            <a:pPr>
              <a:defRPr/>
            </a:pPr>
            <a:r>
              <a:rPr lang="en-IN" dirty="0"/>
              <a:t> </a:t>
            </a:r>
            <a:r>
              <a:rPr lang="en-IN" dirty="0">
                <a:solidFill>
                  <a:schemeClr val="accent1"/>
                </a:solidFill>
                <a:highlight>
                  <a:srgbClr val="FFFF00"/>
                </a:highlight>
              </a:rPr>
              <a:t>A single character data value is represented as a string of length </a:t>
            </a:r>
            <a:r>
              <a:rPr lang="en-IN" dirty="0">
                <a:highlight>
                  <a:srgbClr val="FFFF00"/>
                </a:highlight>
              </a:rPr>
              <a:t>1.</a:t>
            </a:r>
            <a:endParaRPr lang="en-US" dirty="0">
              <a:highlight>
                <a:srgbClr val="FFFF00"/>
              </a:highlight>
            </a:endParaRPr>
          </a:p>
          <a:p>
            <a:pPr>
              <a:defRPr/>
            </a:pPr>
            <a:r>
              <a:rPr lang="en-IN" dirty="0"/>
              <a:t>String literals with either </a:t>
            </a:r>
            <a:r>
              <a:rPr lang="en-IN" dirty="0">
                <a:solidFill>
                  <a:schemeClr val="accent1"/>
                </a:solidFill>
              </a:rPr>
              <a:t>single (') or double quotes (")</a:t>
            </a:r>
            <a:endParaRPr lang="en-US" dirty="0">
              <a:solidFill>
                <a:schemeClr val="accent1"/>
              </a:solidFill>
            </a:endParaRPr>
          </a:p>
          <a:p>
            <a:pPr>
              <a:defRPr/>
            </a:pPr>
            <a:r>
              <a:rPr lang="en-IN" dirty="0"/>
              <a:t> In single-quoted string literals, escape sequences, such as \n, are not recognized and the values of embedded variables are not substituted</a:t>
            </a:r>
          </a:p>
          <a:p>
            <a:pPr>
              <a:defRPr/>
            </a:pPr>
            <a:r>
              <a:rPr lang="en-IN" dirty="0"/>
              <a:t> </a:t>
            </a:r>
            <a:r>
              <a:rPr lang="en-US" dirty="0"/>
              <a:t>‘The sum is :$sum’ exactly as it is typed.</a:t>
            </a:r>
          </a:p>
          <a:p>
            <a:pPr>
              <a:defRPr/>
            </a:pPr>
            <a:r>
              <a:rPr lang="en-IN" dirty="0"/>
              <a:t> In double-quoted string literals, </a:t>
            </a:r>
            <a:r>
              <a:rPr lang="en-US" dirty="0"/>
              <a:t>escape sequences are recognized, and embedded variables are replaced by their current values. </a:t>
            </a:r>
          </a:p>
          <a:p>
            <a:pPr marL="0" indent="0">
              <a:buNone/>
              <a:defRPr/>
            </a:pPr>
            <a:r>
              <a:rPr lang="en-US" dirty="0"/>
              <a:t>	$sum=10;</a:t>
            </a:r>
          </a:p>
          <a:p>
            <a:pPr marL="0" indent="0">
              <a:buNone/>
              <a:defRPr/>
            </a:pPr>
            <a:r>
              <a:rPr lang="en-US" dirty="0"/>
              <a:t>	print “The sum : $sum”;</a:t>
            </a:r>
          </a:p>
          <a:p>
            <a:pPr marL="0" indent="0">
              <a:buNone/>
              <a:defRPr/>
            </a:pPr>
            <a:r>
              <a:rPr lang="en-US" dirty="0"/>
              <a:t>	o/p :The sum : 10</a:t>
            </a:r>
          </a:p>
          <a:p>
            <a:pPr algn="just"/>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Tree>
    <p:extLst>
      <p:ext uri="{BB962C8B-B14F-4D97-AF65-F5344CB8AC3E}">
        <p14:creationId xmlns:p14="http://schemas.microsoft.com/office/powerpoint/2010/main" val="41587837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9459">
                                            <p:txEl>
                                              <p:pRg st="7" end="7"/>
                                            </p:txEl>
                                          </p:spTgt>
                                        </p:tgtEl>
                                        <p:attrNameLst>
                                          <p:attrName>style.visibility</p:attrName>
                                        </p:attrNameLst>
                                      </p:cBhvr>
                                      <p:to>
                                        <p:strVal val="visible"/>
                                      </p:to>
                                    </p:set>
                                    <p:anim calcmode="lin" valueType="num">
                                      <p:cBhvr additive="base">
                                        <p:cTn id="49"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459">
                                            <p:txEl>
                                              <p:pRg st="8" end="8"/>
                                            </p:txEl>
                                          </p:spTgt>
                                        </p:tgtEl>
                                        <p:attrNameLst>
                                          <p:attrName>style.visibility</p:attrName>
                                        </p:attrNameLst>
                                      </p:cBhvr>
                                      <p:to>
                                        <p:strVal val="visible"/>
                                      </p:to>
                                    </p:set>
                                    <p:anim calcmode="lin" valueType="num">
                                      <p:cBhvr additive="base">
                                        <p:cTn id="55" dur="5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945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9459">
                                            <p:txEl>
                                              <p:pRg st="9" end="9"/>
                                            </p:txEl>
                                          </p:spTgt>
                                        </p:tgtEl>
                                        <p:attrNameLst>
                                          <p:attrName>style.visibility</p:attrName>
                                        </p:attrNameLst>
                                      </p:cBhvr>
                                      <p:to>
                                        <p:strVal val="visible"/>
                                      </p:to>
                                    </p:set>
                                    <p:anim calcmode="lin" valueType="num">
                                      <p:cBhvr additive="base">
                                        <p:cTn id="61" dur="500" fill="hold"/>
                                        <p:tgtEl>
                                          <p:spTgt spid="19459">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945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07643" y="1484784"/>
            <a:ext cx="11233249" cy="1944216"/>
          </a:xfrm>
          <a:ln>
            <a:noFill/>
          </a:ln>
        </p:spPr>
        <p:txBody>
          <a:bodyPr/>
          <a:lstStyle/>
          <a:p>
            <a:pPr marL="0" indent="0">
              <a:buNone/>
              <a:defRPr/>
            </a:pPr>
            <a:r>
              <a:rPr lang="en-IN" dirty="0">
                <a:solidFill>
                  <a:srgbClr val="FF0000"/>
                </a:solidFill>
              </a:rPr>
              <a:t>4.Boolean Type</a:t>
            </a:r>
            <a:endParaRPr lang="en-US" dirty="0">
              <a:solidFill>
                <a:srgbClr val="FF0000"/>
              </a:solidFill>
            </a:endParaRPr>
          </a:p>
          <a:p>
            <a:pPr>
              <a:defRPr/>
            </a:pPr>
            <a:r>
              <a:rPr lang="en-IN" dirty="0"/>
              <a:t>The only two possible values for the Boolean type are </a:t>
            </a:r>
            <a:r>
              <a:rPr lang="en-IN" dirty="0">
                <a:solidFill>
                  <a:srgbClr val="FF0000"/>
                </a:solidFill>
              </a:rPr>
              <a:t>TRUE and FALSE, both of which are case insensitive. </a:t>
            </a:r>
          </a:p>
          <a:p>
            <a:pPr>
              <a:defRPr/>
            </a:pPr>
            <a:r>
              <a:rPr lang="en-US" dirty="0"/>
              <a:t>It is used in control structure like the testing portion of an if statement.</a:t>
            </a:r>
          </a:p>
          <a:p>
            <a:pPr>
              <a:defRPr/>
            </a:pPr>
            <a:r>
              <a:rPr lang="en-IN" dirty="0"/>
              <a:t>If an integer expression is used in Boolean context, it evaluates to FALSE if it is zero; otherwise, it is TRUE.</a:t>
            </a:r>
            <a:endParaRPr lang="en-US" dirty="0"/>
          </a:p>
          <a:p>
            <a:pPr>
              <a:defRPr/>
            </a:pPr>
            <a:r>
              <a:rPr lang="en-IN" dirty="0"/>
              <a:t>If a string expression is used in Boolean context, it evaluates to FALSE if it is either the empty string or the string "0"; otherwise, it is TRUE. </a:t>
            </a:r>
          </a:p>
          <a:p>
            <a:pPr marL="0" indent="0">
              <a:buNone/>
              <a:defRPr/>
            </a:pPr>
            <a:r>
              <a:rPr lang="en-IN" dirty="0"/>
              <a:t>	Ex:   $var = true;</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30474967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2" y="1207022"/>
            <a:ext cx="5976663" cy="1944216"/>
          </a:xfrm>
          <a:ln>
            <a:noFill/>
          </a:ln>
        </p:spPr>
        <p:txBody>
          <a:bodyPr/>
          <a:lstStyle/>
          <a:p>
            <a:pPr marL="0" indent="0">
              <a:buNone/>
            </a:pPr>
            <a:r>
              <a:rPr lang="en-US" dirty="0"/>
              <a:t> //Result of the equal operator is a Boolean</a:t>
            </a:r>
          </a:p>
          <a:p>
            <a:pPr marL="0" indent="0">
              <a:buNone/>
            </a:pPr>
            <a:r>
              <a:rPr lang="en-US" dirty="0"/>
              <a:t>&lt;?php</a:t>
            </a:r>
          </a:p>
          <a:p>
            <a:pPr marL="0" indent="0">
              <a:buNone/>
            </a:pPr>
            <a:r>
              <a:rPr lang="en-US" dirty="0"/>
              <a:t>$height=100;</a:t>
            </a:r>
          </a:p>
          <a:p>
            <a:pPr marL="0" indent="0">
              <a:buNone/>
            </a:pPr>
            <a:r>
              <a:rPr lang="en-US" dirty="0"/>
              <a:t>$width=50;</a:t>
            </a:r>
          </a:p>
          <a:p>
            <a:pPr marL="0" indent="0">
              <a:buNone/>
            </a:pPr>
            <a:r>
              <a:rPr lang="en-US" dirty="0"/>
              <a:t>if ($width == 0)</a:t>
            </a:r>
          </a:p>
          <a:p>
            <a:pPr marL="0" indent="0">
              <a:buNone/>
            </a:pPr>
            <a:r>
              <a:rPr lang="en-US" dirty="0"/>
              <a:t>{</a:t>
            </a:r>
          </a:p>
          <a:p>
            <a:pPr marL="0" indent="0">
              <a:buNone/>
            </a:pPr>
            <a:r>
              <a:rPr lang="en-US" dirty="0"/>
              <a:t>echo "The width needs to be a non-zero number";</a:t>
            </a:r>
          </a:p>
          <a:p>
            <a:pPr marL="0" indent="0">
              <a:buNone/>
            </a:pPr>
            <a:r>
              <a:rPr lang="en-US" dirty="0"/>
              <a:t>}</a:t>
            </a:r>
          </a:p>
          <a:p>
            <a:pPr marL="0" indent="0">
              <a:buNone/>
            </a:pPr>
            <a:r>
              <a:rPr lang="en-US" dirty="0"/>
              <a:t>?&gt;</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
        <p:nvSpPr>
          <p:cNvPr id="2" name="Rectangle 1">
            <a:extLst>
              <a:ext uri="{FF2B5EF4-FFF2-40B4-BE49-F238E27FC236}">
                <a16:creationId xmlns:a16="http://schemas.microsoft.com/office/drawing/2014/main" id="{7A201FD0-5F5C-4F7E-AA6F-B3E62A521321}"/>
              </a:ext>
            </a:extLst>
          </p:cNvPr>
          <p:cNvSpPr/>
          <p:nvPr/>
        </p:nvSpPr>
        <p:spPr>
          <a:xfrm>
            <a:off x="6672064" y="1916832"/>
            <a:ext cx="6096000" cy="3693319"/>
          </a:xfrm>
          <a:prstGeom prst="rect">
            <a:avLst/>
          </a:prstGeom>
        </p:spPr>
        <p:txBody>
          <a:bodyPr>
            <a:spAutoFit/>
          </a:bodyPr>
          <a:lstStyle/>
          <a:p>
            <a:r>
              <a:rPr lang="en-US" dirty="0"/>
              <a:t>//Result of the condition is a Boolean</a:t>
            </a:r>
          </a:p>
          <a:p>
            <a:r>
              <a:rPr lang="en-US" dirty="0"/>
              <a:t>&lt;?php </a:t>
            </a:r>
          </a:p>
          <a:p>
            <a:r>
              <a:rPr lang="en-US" dirty="0"/>
              <a:t>$height=100;</a:t>
            </a:r>
          </a:p>
          <a:p>
            <a:r>
              <a:rPr lang="en-US" dirty="0"/>
              <a:t>$width=50;</a:t>
            </a:r>
          </a:p>
          <a:p>
            <a:r>
              <a:rPr lang="en-US" dirty="0"/>
              <a:t>if ($width) </a:t>
            </a:r>
          </a:p>
          <a:p>
            <a:r>
              <a:rPr lang="en-US" dirty="0"/>
              <a:t>{ </a:t>
            </a:r>
          </a:p>
          <a:p>
            <a:r>
              <a:rPr lang="en-US" dirty="0"/>
              <a:t>echo "The area of the rectangle </a:t>
            </a:r>
            <a:r>
              <a:rPr lang="en-US" dirty="0" err="1"/>
              <a:t>is".$height</a:t>
            </a:r>
            <a:r>
              <a:rPr lang="en-US" dirty="0"/>
              <a:t>*$width; </a:t>
            </a:r>
          </a:p>
          <a:p>
            <a:r>
              <a:rPr lang="en-US" dirty="0"/>
              <a:t>}</a:t>
            </a:r>
          </a:p>
          <a:p>
            <a:r>
              <a:rPr lang="en-US" dirty="0"/>
              <a:t>else </a:t>
            </a:r>
          </a:p>
          <a:p>
            <a:r>
              <a:rPr lang="en-US" dirty="0"/>
              <a:t>{ </a:t>
            </a:r>
          </a:p>
          <a:p>
            <a:r>
              <a:rPr lang="en-US" dirty="0"/>
              <a:t>echo "The width needs to be a non-zero number";</a:t>
            </a:r>
          </a:p>
          <a:p>
            <a:r>
              <a:rPr lang="en-US" dirty="0"/>
              <a:t>}</a:t>
            </a:r>
          </a:p>
          <a:p>
            <a:r>
              <a:rPr lang="en-US" dirty="0"/>
              <a:t>?&gt;</a:t>
            </a:r>
          </a:p>
        </p:txBody>
      </p:sp>
      <p:cxnSp>
        <p:nvCxnSpPr>
          <p:cNvPr id="4" name="Straight Connector 3">
            <a:extLst>
              <a:ext uri="{FF2B5EF4-FFF2-40B4-BE49-F238E27FC236}">
                <a16:creationId xmlns:a16="http://schemas.microsoft.com/office/drawing/2014/main" id="{DF699921-CA9C-45E4-878A-AA4E578B67FB}"/>
              </a:ext>
            </a:extLst>
          </p:cNvPr>
          <p:cNvCxnSpPr/>
          <p:nvPr/>
        </p:nvCxnSpPr>
        <p:spPr>
          <a:xfrm>
            <a:off x="6528048" y="1207022"/>
            <a:ext cx="0" cy="4886274"/>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486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62014" y="1520864"/>
            <a:ext cx="11305247" cy="1944216"/>
          </a:xfrm>
          <a:ln>
            <a:noFill/>
          </a:ln>
        </p:spPr>
        <p:txBody>
          <a:bodyPr/>
          <a:lstStyle/>
          <a:p>
            <a:r>
              <a:rPr lang="en-US" dirty="0"/>
              <a:t> PHP has several useful functions for determining the type of a variable.</a:t>
            </a:r>
          </a:p>
          <a:p>
            <a:r>
              <a:rPr lang="en-US" dirty="0" err="1"/>
              <a:t>is_array</a:t>
            </a:r>
            <a:r>
              <a:rPr lang="en-US" dirty="0"/>
              <a:t>() True if variable is an array.</a:t>
            </a:r>
          </a:p>
          <a:p>
            <a:r>
              <a:rPr lang="en-US" dirty="0" err="1"/>
              <a:t>is_bool</a:t>
            </a:r>
            <a:r>
              <a:rPr lang="en-US" dirty="0"/>
              <a:t>() True if variable is a bool.</a:t>
            </a:r>
          </a:p>
          <a:p>
            <a:r>
              <a:rPr lang="en-US" dirty="0" err="1"/>
              <a:t>is_float</a:t>
            </a:r>
            <a:r>
              <a:rPr lang="en-US" dirty="0"/>
              <a:t>(), </a:t>
            </a:r>
            <a:r>
              <a:rPr lang="en-US" dirty="0" err="1"/>
              <a:t>is_double</a:t>
            </a:r>
            <a:r>
              <a:rPr lang="en-US" dirty="0"/>
              <a:t>(), </a:t>
            </a:r>
            <a:r>
              <a:rPr lang="en-US" dirty="0" err="1"/>
              <a:t>is_real</a:t>
            </a:r>
            <a:r>
              <a:rPr lang="en-US" dirty="0"/>
              <a:t>() True if variable is a float.</a:t>
            </a:r>
          </a:p>
          <a:p>
            <a:r>
              <a:rPr lang="en-US" dirty="0" err="1"/>
              <a:t>is_int</a:t>
            </a:r>
            <a:r>
              <a:rPr lang="en-US" dirty="0"/>
              <a:t>(), </a:t>
            </a:r>
            <a:r>
              <a:rPr lang="en-US" dirty="0" err="1"/>
              <a:t>is_integer</a:t>
            </a:r>
            <a:r>
              <a:rPr lang="en-US" dirty="0"/>
              <a:t>(), </a:t>
            </a:r>
            <a:r>
              <a:rPr lang="en-US" dirty="0" err="1"/>
              <a:t>is_long</a:t>
            </a:r>
            <a:r>
              <a:rPr lang="en-US" dirty="0"/>
              <a:t>() True if variable is an integer.</a:t>
            </a:r>
          </a:p>
          <a:p>
            <a:r>
              <a:rPr lang="en-US" dirty="0" err="1"/>
              <a:t>is_null</a:t>
            </a:r>
            <a:r>
              <a:rPr lang="en-US" dirty="0"/>
              <a:t>() True if variable is set to null.</a:t>
            </a:r>
          </a:p>
          <a:p>
            <a:r>
              <a:rPr lang="en-US" dirty="0" err="1"/>
              <a:t>is_numeric</a:t>
            </a:r>
            <a:r>
              <a:rPr lang="en-US" dirty="0"/>
              <a:t>() True if variable is a number or numeric string.</a:t>
            </a:r>
          </a:p>
          <a:p>
            <a:r>
              <a:rPr lang="en-US" dirty="0" err="1"/>
              <a:t>is_scalar</a:t>
            </a:r>
            <a:r>
              <a:rPr lang="en-US" dirty="0"/>
              <a:t>() True if variable is an int, float, string, or bool.</a:t>
            </a:r>
          </a:p>
          <a:p>
            <a:r>
              <a:rPr lang="en-US" dirty="0" err="1"/>
              <a:t>is_object</a:t>
            </a:r>
            <a:r>
              <a:rPr lang="en-US" dirty="0"/>
              <a:t>() True if variable is an object.</a:t>
            </a:r>
          </a:p>
          <a:p>
            <a:r>
              <a:rPr lang="en-US" dirty="0" err="1"/>
              <a:t>is_resource</a:t>
            </a:r>
            <a:r>
              <a:rPr lang="en-US" dirty="0"/>
              <a:t>() True if variable is a resource.</a:t>
            </a:r>
          </a:p>
          <a:p>
            <a:r>
              <a:rPr lang="en-US" dirty="0" err="1"/>
              <a:t>is_string</a:t>
            </a:r>
            <a:r>
              <a:rPr lang="en-US" dirty="0"/>
              <a:t>() True if variable is a string.</a:t>
            </a:r>
          </a:p>
          <a:p>
            <a:pPr marL="0" indent="0">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Determining data types</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4226409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45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385389"/>
            <a:ext cx="11305247" cy="1944216"/>
          </a:xfrm>
          <a:ln>
            <a:noFill/>
          </a:ln>
        </p:spPr>
        <p:txBody>
          <a:bodyPr/>
          <a:lstStyle/>
          <a:p>
            <a:r>
              <a:rPr lang="en-US" dirty="0"/>
              <a:t> </a:t>
            </a:r>
            <a:r>
              <a:rPr lang="en-IN" altLang="en-US" dirty="0"/>
              <a:t>PHP  includes both implicit and explicit type conversions. </a:t>
            </a:r>
          </a:p>
          <a:p>
            <a:r>
              <a:rPr lang="en-IN" altLang="en-US" dirty="0">
                <a:solidFill>
                  <a:schemeClr val="accent1"/>
                </a:solidFill>
              </a:rPr>
              <a:t>Implicit type conversions </a:t>
            </a:r>
            <a:r>
              <a:rPr lang="en-IN" altLang="en-US" dirty="0"/>
              <a:t>are called </a:t>
            </a:r>
            <a:r>
              <a:rPr lang="en-IN" altLang="en-US" dirty="0">
                <a:solidFill>
                  <a:schemeClr val="accent1"/>
                </a:solidFill>
              </a:rPr>
              <a:t>coercions</a:t>
            </a:r>
          </a:p>
          <a:p>
            <a:r>
              <a:rPr lang="en-IN" altLang="en-US" dirty="0"/>
              <a:t>The context can cause a coercion of the type of the value of the expression. </a:t>
            </a:r>
          </a:p>
          <a:p>
            <a:r>
              <a:rPr lang="en-IN" altLang="en-US" dirty="0"/>
              <a:t>Whenever a numeric value appears in string context, the </a:t>
            </a:r>
            <a:r>
              <a:rPr lang="en-IN" altLang="en-US" dirty="0">
                <a:solidFill>
                  <a:schemeClr val="accent1"/>
                </a:solidFill>
              </a:rPr>
              <a:t>numeric value is coerced to a string</a:t>
            </a:r>
            <a:r>
              <a:rPr lang="en-IN" altLang="en-US" dirty="0"/>
              <a:t>. </a:t>
            </a:r>
          </a:p>
          <a:p>
            <a:r>
              <a:rPr lang="en-IN" altLang="en-US" dirty="0"/>
              <a:t>whenever a string value appears in numeric context, the </a:t>
            </a:r>
            <a:r>
              <a:rPr lang="en-IN" altLang="en-US" dirty="0">
                <a:solidFill>
                  <a:schemeClr val="accent1"/>
                </a:solidFill>
              </a:rPr>
              <a:t>string</a:t>
            </a:r>
            <a:r>
              <a:rPr lang="en-IN" altLang="en-US" dirty="0"/>
              <a:t> value is coerced </a:t>
            </a:r>
            <a:r>
              <a:rPr lang="en-IN" altLang="en-US" dirty="0">
                <a:solidFill>
                  <a:schemeClr val="accent1"/>
                </a:solidFill>
              </a:rPr>
              <a:t>to a numeric </a:t>
            </a:r>
            <a:r>
              <a:rPr lang="en-IN" altLang="en-US" dirty="0"/>
              <a:t>value. If the </a:t>
            </a:r>
            <a:r>
              <a:rPr lang="en-IN" altLang="en-US" dirty="0">
                <a:solidFill>
                  <a:schemeClr val="accent1"/>
                </a:solidFill>
              </a:rPr>
              <a:t>string</a:t>
            </a:r>
            <a:r>
              <a:rPr lang="en-IN" altLang="en-US" dirty="0"/>
              <a:t> contains a period, an e, or an E, it is converted </a:t>
            </a:r>
            <a:r>
              <a:rPr lang="en-IN" altLang="en-US" dirty="0">
                <a:solidFill>
                  <a:schemeClr val="accent1"/>
                </a:solidFill>
              </a:rPr>
              <a:t>to double</a:t>
            </a:r>
            <a:r>
              <a:rPr lang="en-IN" altLang="en-US" dirty="0"/>
              <a:t>; otherwise, it is converted to an integer. </a:t>
            </a:r>
          </a:p>
          <a:p>
            <a:r>
              <a:rPr lang="en-IN" altLang="en-US" dirty="0"/>
              <a:t>When a </a:t>
            </a:r>
            <a:r>
              <a:rPr lang="en-IN" altLang="en-US" dirty="0">
                <a:solidFill>
                  <a:schemeClr val="accent1"/>
                </a:solidFill>
              </a:rPr>
              <a:t>double </a:t>
            </a:r>
            <a:r>
              <a:rPr lang="en-IN" altLang="en-US" dirty="0"/>
              <a:t>is converted </a:t>
            </a:r>
            <a:r>
              <a:rPr lang="en-IN" altLang="en-US" dirty="0">
                <a:solidFill>
                  <a:schemeClr val="accent1"/>
                </a:solidFill>
              </a:rPr>
              <a:t>to</a:t>
            </a:r>
            <a:r>
              <a:rPr lang="en-IN" altLang="en-US" dirty="0"/>
              <a:t> an </a:t>
            </a:r>
            <a:r>
              <a:rPr lang="en-IN" altLang="en-US" dirty="0">
                <a:solidFill>
                  <a:schemeClr val="accent1"/>
                </a:solidFill>
              </a:rPr>
              <a:t>integer</a:t>
            </a:r>
            <a:r>
              <a:rPr lang="en-IN" altLang="en-US" dirty="0"/>
              <a:t>, the fractional part is dropped; rounding is not done</a:t>
            </a:r>
            <a:endParaRPr lang="en-IN" altLang="en-US" dirty="0">
              <a:solidFill>
                <a:schemeClr val="accent1"/>
              </a:solidFill>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changing data types</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40200797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385389"/>
            <a:ext cx="11305247" cy="1944216"/>
          </a:xfrm>
          <a:ln>
            <a:noFill/>
          </a:ln>
        </p:spPr>
        <p:txBody>
          <a:bodyPr/>
          <a:lstStyle/>
          <a:p>
            <a:pPr>
              <a:lnSpc>
                <a:spcPct val="100000"/>
              </a:lnSpc>
              <a:defRPr/>
            </a:pPr>
            <a:r>
              <a:rPr lang="en-US" dirty="0"/>
              <a:t> </a:t>
            </a:r>
            <a:r>
              <a:rPr lang="en-IN" dirty="0">
                <a:solidFill>
                  <a:schemeClr val="accent1"/>
                </a:solidFill>
              </a:rPr>
              <a:t>Explicit type conversions </a:t>
            </a:r>
            <a:r>
              <a:rPr lang="en-IN" dirty="0"/>
              <a:t>can be specified in </a:t>
            </a:r>
            <a:r>
              <a:rPr lang="en-IN" dirty="0">
                <a:solidFill>
                  <a:schemeClr val="accent1"/>
                </a:solidFill>
              </a:rPr>
              <a:t>three </a:t>
            </a:r>
            <a:r>
              <a:rPr lang="en-IN" dirty="0"/>
              <a:t> ways.</a:t>
            </a:r>
          </a:p>
          <a:p>
            <a:pPr>
              <a:lnSpc>
                <a:spcPct val="100000"/>
              </a:lnSpc>
              <a:defRPr/>
            </a:pPr>
            <a:r>
              <a:rPr lang="en-IN" dirty="0"/>
              <a:t> </a:t>
            </a:r>
            <a:r>
              <a:rPr lang="en-IN" dirty="0">
                <a:solidFill>
                  <a:schemeClr val="accent1"/>
                </a:solidFill>
              </a:rPr>
              <a:t>Using the syntax of C</a:t>
            </a:r>
            <a:r>
              <a:rPr lang="en-IN" dirty="0"/>
              <a:t>, an expression can be </a:t>
            </a:r>
            <a:r>
              <a:rPr lang="en-IN" dirty="0">
                <a:solidFill>
                  <a:schemeClr val="accent1"/>
                </a:solidFill>
              </a:rPr>
              <a:t>cast to a different type</a:t>
            </a:r>
            <a:r>
              <a:rPr lang="en-IN" dirty="0"/>
              <a:t>. The cast is a type name in parentheses preceding the expression. For example, if the value of $sum is 4 . 777, the following produces 4:   </a:t>
            </a:r>
            <a:r>
              <a:rPr lang="en-IN" dirty="0">
                <a:solidFill>
                  <a:schemeClr val="accent1"/>
                </a:solidFill>
              </a:rPr>
              <a:t>(int)$sum</a:t>
            </a:r>
          </a:p>
          <a:p>
            <a:pPr>
              <a:lnSpc>
                <a:spcPct val="100000"/>
              </a:lnSpc>
              <a:defRPr/>
            </a:pPr>
            <a:r>
              <a:rPr lang="en-IN" dirty="0"/>
              <a:t>Another way to </a:t>
            </a:r>
            <a:r>
              <a:rPr lang="en-IN" dirty="0">
                <a:solidFill>
                  <a:schemeClr val="accent1"/>
                </a:solidFill>
              </a:rPr>
              <a:t>specify explicit type conversion </a:t>
            </a:r>
            <a:r>
              <a:rPr lang="en-IN" dirty="0"/>
              <a:t>is to use one of the functions </a:t>
            </a:r>
            <a:r>
              <a:rPr lang="en-IN" dirty="0" err="1">
                <a:solidFill>
                  <a:schemeClr val="accent1"/>
                </a:solidFill>
              </a:rPr>
              <a:t>intval</a:t>
            </a:r>
            <a:r>
              <a:rPr lang="en-IN" dirty="0">
                <a:solidFill>
                  <a:schemeClr val="accent1"/>
                </a:solidFill>
              </a:rPr>
              <a:t>(), </a:t>
            </a:r>
            <a:r>
              <a:rPr lang="en-IN" dirty="0" err="1">
                <a:solidFill>
                  <a:schemeClr val="accent1"/>
                </a:solidFill>
              </a:rPr>
              <a:t>doubleval</a:t>
            </a:r>
            <a:r>
              <a:rPr lang="en-IN" dirty="0">
                <a:solidFill>
                  <a:schemeClr val="accent1"/>
                </a:solidFill>
              </a:rPr>
              <a:t>(), or </a:t>
            </a:r>
            <a:r>
              <a:rPr lang="en-IN" dirty="0" err="1">
                <a:solidFill>
                  <a:schemeClr val="accent1"/>
                </a:solidFill>
              </a:rPr>
              <a:t>strval</a:t>
            </a:r>
            <a:r>
              <a:rPr lang="en-IN" dirty="0">
                <a:solidFill>
                  <a:schemeClr val="accent1"/>
                </a:solidFill>
              </a:rPr>
              <a:t>()</a:t>
            </a:r>
            <a:r>
              <a:rPr lang="en-IN" dirty="0"/>
              <a:t>. For example, if $sum is still 4.77 7, the following call returns 4:  </a:t>
            </a:r>
          </a:p>
          <a:p>
            <a:pPr marL="0" indent="0">
              <a:lnSpc>
                <a:spcPct val="100000"/>
              </a:lnSpc>
              <a:buNone/>
              <a:defRPr/>
            </a:pPr>
            <a:r>
              <a:rPr lang="en-IN" dirty="0">
                <a:solidFill>
                  <a:schemeClr val="accent1"/>
                </a:solidFill>
              </a:rPr>
              <a:t>		</a:t>
            </a:r>
            <a:r>
              <a:rPr lang="en-IN" dirty="0" err="1">
                <a:solidFill>
                  <a:schemeClr val="accent1"/>
                </a:solidFill>
              </a:rPr>
              <a:t>intval</a:t>
            </a:r>
            <a:r>
              <a:rPr lang="en-IN" dirty="0">
                <a:solidFill>
                  <a:schemeClr val="accent1"/>
                </a:solidFill>
              </a:rPr>
              <a:t>($sum)</a:t>
            </a:r>
          </a:p>
          <a:p>
            <a:pPr>
              <a:lnSpc>
                <a:spcPct val="100000"/>
              </a:lnSpc>
              <a:defRPr/>
            </a:pPr>
            <a:r>
              <a:rPr lang="en-IN" dirty="0"/>
              <a:t>The third way to </a:t>
            </a:r>
            <a:r>
              <a:rPr lang="en-IN" dirty="0">
                <a:solidFill>
                  <a:schemeClr val="accent1"/>
                </a:solidFill>
              </a:rPr>
              <a:t>specify an explicit type conversion </a:t>
            </a:r>
            <a:r>
              <a:rPr lang="en-IN" dirty="0"/>
              <a:t>is the </a:t>
            </a:r>
            <a:r>
              <a:rPr lang="en-IN" dirty="0" err="1">
                <a:solidFill>
                  <a:schemeClr val="accent1"/>
                </a:solidFill>
              </a:rPr>
              <a:t>settype</a:t>
            </a:r>
            <a:r>
              <a:rPr lang="en-IN" dirty="0">
                <a:solidFill>
                  <a:schemeClr val="accent1"/>
                </a:solidFill>
              </a:rPr>
              <a:t>()</a:t>
            </a:r>
            <a:r>
              <a:rPr lang="en-IN" dirty="0"/>
              <a:t> function, which takes two parameters: a variable and a string that specifies a type name. For example, if $sum is still 4 . 777, the following statement converts the value of $sum to 4 and its type to integer:   </a:t>
            </a:r>
            <a:r>
              <a:rPr lang="en-IN" dirty="0" err="1">
                <a:solidFill>
                  <a:schemeClr val="accent1"/>
                </a:solidFill>
              </a:rPr>
              <a:t>settype</a:t>
            </a:r>
            <a:r>
              <a:rPr lang="en-IN" dirty="0">
                <a:solidFill>
                  <a:schemeClr val="accent1"/>
                </a:solidFill>
              </a:rPr>
              <a:t>($sum, "integer");</a:t>
            </a:r>
          </a:p>
          <a:p>
            <a:pPr>
              <a:lnSpc>
                <a:spcPct val="100000"/>
              </a:lnSpc>
              <a:defRPr/>
            </a:pPr>
            <a:endParaRPr lang="en-IN" altLang="en-US" dirty="0">
              <a:solidFill>
                <a:schemeClr val="accent1"/>
              </a:solidFill>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changing </a:t>
            </a:r>
            <a:r>
              <a:rPr lang="en-US"/>
              <a:t>data types</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13188283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385389"/>
            <a:ext cx="11305247" cy="1944216"/>
          </a:xfrm>
          <a:ln>
            <a:noFill/>
          </a:ln>
        </p:spPr>
        <p:txBody>
          <a:bodyPr/>
          <a:lstStyle/>
          <a:p>
            <a:r>
              <a:rPr lang="en-US" dirty="0"/>
              <a:t> The settype() function converts a variable to a specific type.</a:t>
            </a:r>
          </a:p>
          <a:p>
            <a:r>
              <a:rPr lang="en-US" dirty="0"/>
              <a:t>Syntax:  settype(</a:t>
            </a:r>
            <a:r>
              <a:rPr lang="en-US" i="1" dirty="0"/>
              <a:t>variable</a:t>
            </a:r>
            <a:r>
              <a:rPr lang="en-US" dirty="0"/>
              <a:t>, </a:t>
            </a:r>
            <a:r>
              <a:rPr lang="en-US" i="1" dirty="0"/>
              <a:t>type</a:t>
            </a:r>
            <a:r>
              <a:rPr lang="en-US" dirty="0"/>
              <a:t>);</a:t>
            </a:r>
            <a:br>
              <a:rPr lang="en-US" dirty="0"/>
            </a:br>
            <a:r>
              <a:rPr lang="en-US" dirty="0"/>
              <a:t>&lt;?php</a:t>
            </a:r>
            <a:br>
              <a:rPr lang="en-US" dirty="0"/>
            </a:br>
            <a:r>
              <a:rPr lang="en-US" dirty="0"/>
              <a:t>$a = "32"; // string</a:t>
            </a:r>
            <a:br>
              <a:rPr lang="en-US" dirty="0"/>
            </a:br>
            <a:r>
              <a:rPr lang="en-US" dirty="0"/>
              <a:t>settype($a, "integer"); // $a is now integer</a:t>
            </a:r>
            <a:br>
              <a:rPr lang="en-US" dirty="0"/>
            </a:br>
            <a:r>
              <a:rPr lang="en-US" dirty="0"/>
              <a:t>$b = 32; // integer</a:t>
            </a:r>
            <a:br>
              <a:rPr lang="en-US" dirty="0"/>
            </a:br>
            <a:r>
              <a:rPr lang="en-US" dirty="0"/>
              <a:t>settype($b, "string"); // $b is now string</a:t>
            </a:r>
            <a:br>
              <a:rPr lang="en-US" dirty="0"/>
            </a:br>
            <a:r>
              <a:rPr lang="en-US" dirty="0"/>
              <a:t>$c = true; // </a:t>
            </a:r>
            <a:r>
              <a:rPr lang="en-US" dirty="0" err="1"/>
              <a:t>boolean</a:t>
            </a:r>
            <a:br>
              <a:rPr lang="en-US" dirty="0"/>
            </a:br>
            <a:r>
              <a:rPr lang="en-US" dirty="0"/>
              <a:t>settype($c, "integer"); // $c is now integer (1)</a:t>
            </a:r>
            <a:br>
              <a:rPr lang="en-US" dirty="0"/>
            </a:br>
            <a:r>
              <a:rPr lang="en-US" dirty="0"/>
              <a:t>?&gt;</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changing data types with settype()</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pic>
        <p:nvPicPr>
          <p:cNvPr id="2" name="Picture 1">
            <a:extLst>
              <a:ext uri="{FF2B5EF4-FFF2-40B4-BE49-F238E27FC236}">
                <a16:creationId xmlns:a16="http://schemas.microsoft.com/office/drawing/2014/main" id="{F57970B2-A440-4267-86FE-064094F39AFA}"/>
              </a:ext>
            </a:extLst>
          </p:cNvPr>
          <p:cNvPicPr>
            <a:picLocks noChangeAspect="1"/>
          </p:cNvPicPr>
          <p:nvPr/>
        </p:nvPicPr>
        <p:blipFill>
          <a:blip r:embed="rId3"/>
          <a:stretch>
            <a:fillRect/>
          </a:stretch>
        </p:blipFill>
        <p:spPr>
          <a:xfrm>
            <a:off x="2495600" y="5013326"/>
            <a:ext cx="6953250" cy="1809750"/>
          </a:xfrm>
          <a:prstGeom prst="rect">
            <a:avLst/>
          </a:prstGeom>
        </p:spPr>
      </p:pic>
    </p:spTree>
    <p:extLst>
      <p:ext uri="{BB962C8B-B14F-4D97-AF65-F5344CB8AC3E}">
        <p14:creationId xmlns:p14="http://schemas.microsoft.com/office/powerpoint/2010/main" val="21129169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385389"/>
            <a:ext cx="11305247" cy="1944216"/>
          </a:xfrm>
          <a:ln>
            <a:noFill/>
          </a:ln>
        </p:spPr>
        <p:txBody>
          <a:bodyPr/>
          <a:lstStyle/>
          <a:p>
            <a:r>
              <a:rPr lang="en-US" dirty="0"/>
              <a:t> We can cast following data type variable in PHP</a:t>
            </a:r>
          </a:p>
          <a:p>
            <a:r>
              <a:rPr lang="en-US" dirty="0"/>
              <a:t>(int), (integer) - cast to integer</a:t>
            </a:r>
          </a:p>
          <a:p>
            <a:r>
              <a:rPr lang="en-US" dirty="0"/>
              <a:t>(bool), (</a:t>
            </a:r>
            <a:r>
              <a:rPr lang="en-US" dirty="0" err="1"/>
              <a:t>boolean</a:t>
            </a:r>
            <a:r>
              <a:rPr lang="en-US" dirty="0"/>
              <a:t>) - cast to </a:t>
            </a:r>
            <a:r>
              <a:rPr lang="en-US" dirty="0" err="1"/>
              <a:t>boolean</a:t>
            </a:r>
            <a:endParaRPr lang="en-US" dirty="0"/>
          </a:p>
          <a:p>
            <a:r>
              <a:rPr lang="en-US" dirty="0"/>
              <a:t>(float), (double), (real) - cast to float</a:t>
            </a:r>
          </a:p>
          <a:p>
            <a:r>
              <a:rPr lang="en-US" dirty="0"/>
              <a:t>(string) - cast to string</a:t>
            </a:r>
          </a:p>
          <a:p>
            <a:r>
              <a:rPr lang="en-US" dirty="0"/>
              <a:t>(array) - cast to array</a:t>
            </a:r>
          </a:p>
          <a:p>
            <a:r>
              <a:rPr lang="en-US" dirty="0"/>
              <a:t>(object) - cast to object</a:t>
            </a:r>
          </a:p>
          <a:p>
            <a:r>
              <a:rPr lang="en-US" dirty="0"/>
              <a:t>(unset) - cast to NULL (PHP 5)</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changing data types by casting</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2400985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95400" y="1207022"/>
            <a:ext cx="11233249" cy="1944216"/>
          </a:xfrm>
          <a:ln>
            <a:noFill/>
          </a:ln>
        </p:spPr>
        <p:txBody>
          <a:bodyPr/>
          <a:lstStyle/>
          <a:p>
            <a:r>
              <a:rPr lang="en-GB" altLang="en-US" b="1" dirty="0"/>
              <a:t>Operators &amp;expressions</a:t>
            </a:r>
          </a:p>
          <a:p>
            <a:pPr>
              <a:defRPr/>
            </a:pPr>
            <a:r>
              <a:rPr lang="en-IN" sz="2000" dirty="0"/>
              <a:t>PHP has the usual (for C-based programming languages) collection of arithmetic operators (+, -, *, /, %, ++, and --)</a:t>
            </a:r>
          </a:p>
          <a:p>
            <a:pPr>
              <a:defRPr/>
            </a:pPr>
            <a:r>
              <a:rPr lang="en-IN" sz="2000" dirty="0"/>
              <a:t>If either operand is a double, the operation is double and a double result is produced</a:t>
            </a:r>
            <a:endParaRPr lang="en-US" sz="2000" dirty="0"/>
          </a:p>
          <a:p>
            <a:r>
              <a:rPr lang="en-US" sz="2000" dirty="0"/>
              <a:t>Operators are used to perform operations on variables and values.</a:t>
            </a:r>
          </a:p>
          <a:p>
            <a:r>
              <a:rPr lang="en-US" sz="2000" dirty="0"/>
              <a:t>PHP divides the operators in the following groups:</a:t>
            </a:r>
          </a:p>
          <a:p>
            <a:r>
              <a:rPr lang="en-US" sz="2000" dirty="0"/>
              <a:t>Arithmetic operators</a:t>
            </a:r>
          </a:p>
          <a:p>
            <a:r>
              <a:rPr lang="en-US" sz="2000" dirty="0"/>
              <a:t>Assignment operators</a:t>
            </a:r>
          </a:p>
          <a:p>
            <a:r>
              <a:rPr lang="en-US" sz="2000" dirty="0"/>
              <a:t>Comparison operators</a:t>
            </a:r>
          </a:p>
          <a:p>
            <a:r>
              <a:rPr lang="en-US" sz="2000" dirty="0"/>
              <a:t>Increment/Decrement operators</a:t>
            </a:r>
          </a:p>
          <a:p>
            <a:r>
              <a:rPr lang="en-US" sz="2000" dirty="0"/>
              <a:t>Logical operators</a:t>
            </a:r>
          </a:p>
          <a:p>
            <a:r>
              <a:rPr lang="en-US" sz="2000" dirty="0"/>
              <a:t>String operators</a:t>
            </a:r>
          </a:p>
          <a:p>
            <a:r>
              <a:rPr lang="en-US" sz="2000" dirty="0"/>
              <a:t>Array operators</a:t>
            </a:r>
          </a:p>
          <a:p>
            <a:r>
              <a:rPr lang="en-US" sz="2000" dirty="0"/>
              <a:t>Conditional assignment operators</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highlight>
                  <a:srgbClr val="FFFF00"/>
                </a:highlight>
              </a:rPr>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16641217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009997"/>
            <a:ext cx="11233249" cy="1944216"/>
          </a:xfrm>
          <a:ln>
            <a:noFill/>
          </a:ln>
        </p:spPr>
        <p:txBody>
          <a:bodyPr/>
          <a:lstStyle/>
          <a:p>
            <a:r>
              <a:rPr lang="en-GB" altLang="en-US" dirty="0"/>
              <a:t>Operators &amp;expressions</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pic>
        <p:nvPicPr>
          <p:cNvPr id="6" name="Picture 2">
            <a:extLst>
              <a:ext uri="{FF2B5EF4-FFF2-40B4-BE49-F238E27FC236}">
                <a16:creationId xmlns:a16="http://schemas.microsoft.com/office/drawing/2014/main" id="{DF85382D-83DC-4963-B8B9-CE43F0876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4687" y="1422027"/>
            <a:ext cx="8302625" cy="47879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787297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009997"/>
            <a:ext cx="11233249" cy="1944216"/>
          </a:xfrm>
          <a:ln>
            <a:noFill/>
          </a:ln>
        </p:spPr>
        <p:txBody>
          <a:bodyPr/>
          <a:lstStyle/>
          <a:p>
            <a:r>
              <a:rPr lang="en-GB" altLang="en-US" dirty="0"/>
              <a:t>Operators &amp;expressions</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pic>
        <p:nvPicPr>
          <p:cNvPr id="7" name="Picture 2">
            <a:extLst>
              <a:ext uri="{FF2B5EF4-FFF2-40B4-BE49-F238E27FC236}">
                <a16:creationId xmlns:a16="http://schemas.microsoft.com/office/drawing/2014/main" id="{A805EDBF-3E8A-45B6-8FC6-30A7606938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686" y="1959571"/>
            <a:ext cx="10353419" cy="388843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06284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009997"/>
            <a:ext cx="11233249" cy="1944216"/>
          </a:xfrm>
          <a:ln>
            <a:noFill/>
          </a:ln>
        </p:spPr>
        <p:txBody>
          <a:bodyPr/>
          <a:lstStyle/>
          <a:p>
            <a:r>
              <a:rPr lang="en-GB" altLang="en-US" dirty="0"/>
              <a:t>Operators &amp;expressions</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pic>
        <p:nvPicPr>
          <p:cNvPr id="6" name="Picture 2">
            <a:extLst>
              <a:ext uri="{FF2B5EF4-FFF2-40B4-BE49-F238E27FC236}">
                <a16:creationId xmlns:a16="http://schemas.microsoft.com/office/drawing/2014/main" id="{5A1E77D2-228F-4F83-ADA3-A0F88C1C3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416" y="1694983"/>
            <a:ext cx="10765625" cy="391569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435210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009997"/>
            <a:ext cx="11233249" cy="1944216"/>
          </a:xfrm>
          <a:ln>
            <a:noFill/>
          </a:ln>
        </p:spPr>
        <p:txBody>
          <a:bodyPr/>
          <a:lstStyle/>
          <a:p>
            <a:r>
              <a:rPr lang="en-GB" altLang="en-US" dirty="0"/>
              <a:t>Operators &amp;expressions</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7392144"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pic>
        <p:nvPicPr>
          <p:cNvPr id="7" name="Picture 2">
            <a:extLst>
              <a:ext uri="{FF2B5EF4-FFF2-40B4-BE49-F238E27FC236}">
                <a16:creationId xmlns:a16="http://schemas.microsoft.com/office/drawing/2014/main" id="{75C935B0-2269-476E-A5E6-26BBB4A1E6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456" y="1644602"/>
            <a:ext cx="9324044" cy="44925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187662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009997"/>
            <a:ext cx="11233249" cy="1944216"/>
          </a:xfrm>
          <a:ln>
            <a:noFill/>
          </a:ln>
        </p:spPr>
        <p:txBody>
          <a:bodyPr/>
          <a:lstStyle/>
          <a:p>
            <a:r>
              <a:rPr lang="en-GB" altLang="en-US" dirty="0"/>
              <a:t>Operators &amp;expressions-predefined Functions</a:t>
            </a:r>
          </a:p>
          <a:p>
            <a:pPr marL="0" indent="0" algn="just">
              <a:buNone/>
            </a:pP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8820548"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pic>
        <p:nvPicPr>
          <p:cNvPr id="6" name="Picture 4" descr="tbl11_02">
            <a:extLst>
              <a:ext uri="{FF2B5EF4-FFF2-40B4-BE49-F238E27FC236}">
                <a16:creationId xmlns:a16="http://schemas.microsoft.com/office/drawing/2014/main" id="{D5C5D6F7-D094-4367-960B-130E33048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512" y="1579688"/>
            <a:ext cx="802005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94541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078090"/>
            <a:ext cx="11233249" cy="1944216"/>
          </a:xfrm>
          <a:ln>
            <a:noFill/>
          </a:ln>
        </p:spPr>
        <p:txBody>
          <a:bodyPr/>
          <a:lstStyle/>
          <a:p>
            <a:r>
              <a:rPr lang="en-GB" altLang="en-US" dirty="0"/>
              <a:t>Operators</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BD03CD87-0E49-4E63-9A86-EBEE8EBB4887}"/>
              </a:ext>
            </a:extLst>
          </p:cNvPr>
          <p:cNvPicPr>
            <a:picLocks noChangeAspect="1"/>
          </p:cNvPicPr>
          <p:nvPr/>
        </p:nvPicPr>
        <p:blipFill>
          <a:blip r:embed="rId3"/>
          <a:stretch>
            <a:fillRect/>
          </a:stretch>
        </p:blipFill>
        <p:spPr>
          <a:xfrm>
            <a:off x="684563" y="-84552"/>
            <a:ext cx="10019950" cy="6117270"/>
          </a:xfrm>
          <a:prstGeom prst="rect">
            <a:avLst/>
          </a:prstGeom>
        </p:spPr>
      </p:pic>
    </p:spTree>
    <p:extLst>
      <p:ext uri="{BB962C8B-B14F-4D97-AF65-F5344CB8AC3E}">
        <p14:creationId xmlns:p14="http://schemas.microsoft.com/office/powerpoint/2010/main" val="38427341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79376" y="1063237"/>
            <a:ext cx="10657184" cy="1282676"/>
          </a:xfrm>
        </p:spPr>
        <p:txBody>
          <a:bodyPr/>
          <a:lstStyle/>
          <a:p>
            <a:r>
              <a:rPr lang="en-US" sz="2200" dirty="0"/>
              <a:t>The floor() function rounds a number DOWN to the nearest integer, if necessary.</a:t>
            </a:r>
          </a:p>
          <a:p>
            <a:pPr marL="0" indent="0">
              <a:buNone/>
            </a:pPr>
            <a:r>
              <a:rPr lang="en-US" sz="2200" dirty="0"/>
              <a:t>&lt;?php</a:t>
            </a:r>
            <a:br>
              <a:rPr lang="en-US" sz="2200" dirty="0"/>
            </a:br>
            <a:r>
              <a:rPr lang="en-US" sz="2200" dirty="0"/>
              <a:t>echo(floor(0.60) . "&lt;</a:t>
            </a:r>
            <a:r>
              <a:rPr lang="en-US" sz="2200" dirty="0" err="1"/>
              <a:t>br</a:t>
            </a:r>
            <a:r>
              <a:rPr lang="en-US" sz="2200" dirty="0"/>
              <a:t>&gt;");  //0</a:t>
            </a:r>
            <a:br>
              <a:rPr lang="en-US" sz="2200" dirty="0"/>
            </a:br>
            <a:r>
              <a:rPr lang="en-US" sz="2200" dirty="0"/>
              <a:t>echo(floor(0.40) . "&lt;</a:t>
            </a:r>
            <a:r>
              <a:rPr lang="en-US" sz="2200" dirty="0" err="1"/>
              <a:t>br</a:t>
            </a:r>
            <a:r>
              <a:rPr lang="en-US" sz="2200" dirty="0"/>
              <a:t>&gt;");//0</a:t>
            </a:r>
            <a:br>
              <a:rPr lang="en-US" sz="2200" dirty="0"/>
            </a:br>
            <a:r>
              <a:rPr lang="en-US" sz="2200" dirty="0"/>
              <a:t>echo(floor(5) . "&lt;</a:t>
            </a:r>
            <a:r>
              <a:rPr lang="en-US" sz="2200" dirty="0" err="1"/>
              <a:t>br</a:t>
            </a:r>
            <a:r>
              <a:rPr lang="en-US" sz="2200" dirty="0"/>
              <a:t>&gt;");//5</a:t>
            </a:r>
            <a:br>
              <a:rPr lang="en-US" sz="2200" dirty="0"/>
            </a:br>
            <a:r>
              <a:rPr lang="en-US" sz="2200" dirty="0"/>
              <a:t>echo(floor(5.1) . "&lt;</a:t>
            </a:r>
            <a:r>
              <a:rPr lang="en-US" sz="2200" dirty="0" err="1"/>
              <a:t>br</a:t>
            </a:r>
            <a:r>
              <a:rPr lang="en-US" sz="2200" dirty="0"/>
              <a:t>&gt;");//5</a:t>
            </a:r>
            <a:br>
              <a:rPr lang="en-US" sz="2200" dirty="0"/>
            </a:br>
            <a:r>
              <a:rPr lang="en-US" sz="2200" dirty="0"/>
              <a:t>echo(floor(-5.1) . "&lt;</a:t>
            </a:r>
            <a:r>
              <a:rPr lang="en-US" sz="2200" dirty="0" err="1"/>
              <a:t>br</a:t>
            </a:r>
            <a:r>
              <a:rPr lang="en-US" sz="2200" dirty="0"/>
              <a:t>&gt;");//-6</a:t>
            </a:r>
            <a:br>
              <a:rPr lang="en-US" sz="2200" dirty="0"/>
            </a:br>
            <a:r>
              <a:rPr lang="en-US" sz="2200" dirty="0"/>
              <a:t>echo(floor(-5.9));//-6</a:t>
            </a:r>
          </a:p>
          <a:p>
            <a:pPr marL="0" indent="0">
              <a:buNone/>
            </a:pPr>
            <a:r>
              <a:rPr lang="es-ES" sz="2200" dirty="0"/>
              <a:t>echo (</a:t>
            </a:r>
            <a:r>
              <a:rPr lang="es-ES" sz="2200" dirty="0" err="1"/>
              <a:t>ceil</a:t>
            </a:r>
            <a:r>
              <a:rPr lang="es-ES" sz="2200" dirty="0"/>
              <a:t>(0.70)); //1</a:t>
            </a:r>
          </a:p>
          <a:p>
            <a:pPr marL="0" indent="0">
              <a:buNone/>
            </a:pPr>
            <a:r>
              <a:rPr lang="es-ES" sz="2200" dirty="0"/>
              <a:t>echo(</a:t>
            </a:r>
            <a:r>
              <a:rPr lang="es-ES" sz="2200" dirty="0" err="1"/>
              <a:t>ceil</a:t>
            </a:r>
            <a:r>
              <a:rPr lang="es-ES" sz="2200" dirty="0"/>
              <a:t>(-4.1));//-4</a:t>
            </a:r>
          </a:p>
          <a:p>
            <a:pPr marL="0" indent="0">
              <a:buNone/>
            </a:pPr>
            <a:r>
              <a:rPr lang="es-ES" sz="2200" dirty="0"/>
              <a:t>echo(</a:t>
            </a:r>
            <a:r>
              <a:rPr lang="es-ES" sz="2200" dirty="0" err="1"/>
              <a:t>ceil</a:t>
            </a:r>
            <a:r>
              <a:rPr lang="es-ES" sz="2200" dirty="0"/>
              <a:t>(6.2));//7</a:t>
            </a:r>
          </a:p>
          <a:p>
            <a:pPr marL="0" indent="0">
              <a:buNone/>
            </a:pPr>
            <a:r>
              <a:rPr lang="en-US" sz="2200" dirty="0"/>
              <a:t>echo(round(0.70878, 2));  //0.71?&gt;</a:t>
            </a:r>
          </a:p>
          <a:p>
            <a:r>
              <a:rPr lang="en-US" sz="2200" dirty="0"/>
              <a:t>ceil():To round a number UP to the nearest integer use the ceil() function.</a:t>
            </a:r>
          </a:p>
          <a:p>
            <a:r>
              <a:rPr lang="en-US" sz="2200" dirty="0"/>
              <a:t>round(): To round a floating-point number, use the round() function</a:t>
            </a:r>
            <a:endParaRPr lang="en-IN" sz="2200"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floor(),ceil()</a:t>
            </a:r>
            <a:endParaRPr lang="en-US" dirty="0">
              <a:latin typeface="Armata" panose="020B0503040500060204" pitchFamily="34" charset="0"/>
            </a:endParaRPr>
          </a:p>
        </p:txBody>
      </p:sp>
    </p:spTree>
    <p:extLst>
      <p:ext uri="{BB962C8B-B14F-4D97-AF65-F5344CB8AC3E}">
        <p14:creationId xmlns:p14="http://schemas.microsoft.com/office/powerpoint/2010/main" val="39826104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79376" y="1063237"/>
            <a:ext cx="11377264" cy="1282676"/>
          </a:xfrm>
        </p:spPr>
        <p:txBody>
          <a:bodyPr/>
          <a:lstStyle/>
          <a:p>
            <a:r>
              <a:rPr lang="en-US" dirty="0"/>
              <a:t>The rand() function generates a random integer.</a:t>
            </a:r>
          </a:p>
          <a:p>
            <a:r>
              <a:rPr lang="en-US" dirty="0"/>
              <a:t>If you want a random integer between 10 and 100 (inclusive), use rand (10,100).</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rand()</a:t>
            </a:r>
            <a:endParaRPr lang="en-US" dirty="0">
              <a:latin typeface="Armata" panose="020B0503040500060204" pitchFamily="34" charset="0"/>
            </a:endParaRPr>
          </a:p>
        </p:txBody>
      </p:sp>
      <p:sp>
        <p:nvSpPr>
          <p:cNvPr id="2" name="Rectangle 1">
            <a:extLst>
              <a:ext uri="{FF2B5EF4-FFF2-40B4-BE49-F238E27FC236}">
                <a16:creationId xmlns:a16="http://schemas.microsoft.com/office/drawing/2014/main" id="{7ED3E936-7370-4B6D-A4A6-CF496D59E4BE}"/>
              </a:ext>
            </a:extLst>
          </p:cNvPr>
          <p:cNvSpPr/>
          <p:nvPr/>
        </p:nvSpPr>
        <p:spPr>
          <a:xfrm>
            <a:off x="983432" y="2276872"/>
            <a:ext cx="6096000" cy="3416320"/>
          </a:xfrm>
          <a:prstGeom prst="rect">
            <a:avLst/>
          </a:prstGeom>
        </p:spPr>
        <p:txBody>
          <a:bodyPr>
            <a:spAutoFit/>
          </a:bodyPr>
          <a:lstStyle/>
          <a:p>
            <a:r>
              <a:rPr lang="en-US" dirty="0"/>
              <a:t>&lt;!DOCTYPE html&gt;</a:t>
            </a:r>
          </a:p>
          <a:p>
            <a:r>
              <a:rPr lang="en-US" dirty="0"/>
              <a:t>&lt;html&gt;</a:t>
            </a:r>
          </a:p>
          <a:p>
            <a:r>
              <a:rPr lang="en-US" dirty="0"/>
              <a:t>&lt;body&gt;</a:t>
            </a:r>
          </a:p>
          <a:p>
            <a:endParaRPr lang="en-US" dirty="0"/>
          </a:p>
          <a:p>
            <a:r>
              <a:rPr lang="en-US" dirty="0"/>
              <a:t>&lt;?php</a:t>
            </a:r>
          </a:p>
          <a:p>
            <a:r>
              <a:rPr lang="en-US" dirty="0"/>
              <a:t>echo(rand() . "&lt;</a:t>
            </a:r>
            <a:r>
              <a:rPr lang="en-US" dirty="0" err="1"/>
              <a:t>br</a:t>
            </a:r>
            <a:r>
              <a:rPr lang="en-US" dirty="0"/>
              <a:t>&gt;");</a:t>
            </a:r>
          </a:p>
          <a:p>
            <a:r>
              <a:rPr lang="en-US" dirty="0"/>
              <a:t>echo(rand() . "&lt;</a:t>
            </a:r>
            <a:r>
              <a:rPr lang="en-US" dirty="0" err="1"/>
              <a:t>br</a:t>
            </a:r>
            <a:r>
              <a:rPr lang="en-US" dirty="0"/>
              <a:t>&gt;");</a:t>
            </a:r>
          </a:p>
          <a:p>
            <a:r>
              <a:rPr lang="en-US" dirty="0"/>
              <a:t>echo(rand(10,100));</a:t>
            </a:r>
          </a:p>
          <a:p>
            <a:r>
              <a:rPr lang="en-US" dirty="0"/>
              <a:t>?&gt;</a:t>
            </a:r>
          </a:p>
          <a:p>
            <a:endParaRPr lang="en-US" dirty="0"/>
          </a:p>
          <a:p>
            <a:r>
              <a:rPr lang="en-US" dirty="0"/>
              <a:t>&lt;/body&gt;</a:t>
            </a:r>
          </a:p>
          <a:p>
            <a:r>
              <a:rPr lang="en-US" dirty="0"/>
              <a:t>&lt;/html&gt;</a:t>
            </a:r>
          </a:p>
        </p:txBody>
      </p:sp>
      <p:pic>
        <p:nvPicPr>
          <p:cNvPr id="3" name="Picture 2">
            <a:extLst>
              <a:ext uri="{FF2B5EF4-FFF2-40B4-BE49-F238E27FC236}">
                <a16:creationId xmlns:a16="http://schemas.microsoft.com/office/drawing/2014/main" id="{B78F5F18-BA21-425E-AD00-A0FE9C62A962}"/>
              </a:ext>
            </a:extLst>
          </p:cNvPr>
          <p:cNvPicPr>
            <a:picLocks noChangeAspect="1"/>
          </p:cNvPicPr>
          <p:nvPr/>
        </p:nvPicPr>
        <p:blipFill>
          <a:blip r:embed="rId3"/>
          <a:stretch>
            <a:fillRect/>
          </a:stretch>
        </p:blipFill>
        <p:spPr>
          <a:xfrm>
            <a:off x="8578528" y="2533650"/>
            <a:ext cx="1724025" cy="895350"/>
          </a:xfrm>
          <a:prstGeom prst="rect">
            <a:avLst/>
          </a:prstGeom>
          <a:ln>
            <a:solidFill>
              <a:schemeClr val="accent2"/>
            </a:solidFill>
          </a:ln>
        </p:spPr>
      </p:pic>
    </p:spTree>
    <p:extLst>
      <p:ext uri="{BB962C8B-B14F-4D97-AF65-F5344CB8AC3E}">
        <p14:creationId xmlns:p14="http://schemas.microsoft.com/office/powerpoint/2010/main" val="2954273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009997"/>
            <a:ext cx="11233249" cy="1944216"/>
          </a:xfrm>
          <a:ln>
            <a:noFill/>
          </a:ln>
        </p:spPr>
        <p:txBody>
          <a:bodyPr/>
          <a:lstStyle/>
          <a:p>
            <a:r>
              <a:rPr lang="en-GB" altLang="en-US" dirty="0"/>
              <a:t>Constants</a:t>
            </a:r>
          </a:p>
          <a:p>
            <a:r>
              <a:rPr lang="en-US" dirty="0"/>
              <a:t>A constant is a name or an identifier for a simple value. A constant value cannot change during the execution of the script. By default, a constant is case-sensitive. By convention, constant identifiers are always uppercase.</a:t>
            </a:r>
          </a:p>
          <a:p>
            <a:r>
              <a:rPr lang="en-US" dirty="0"/>
              <a:t>A constant name starts with a letter or underscore, followed by any number of letters, numbers, or underscores. </a:t>
            </a:r>
          </a:p>
          <a:p>
            <a:r>
              <a:rPr lang="en-US" dirty="0"/>
              <a:t>If you have defined a constant, it can never be changed or undefined.</a:t>
            </a:r>
          </a:p>
          <a:p>
            <a:r>
              <a:rPr lang="en-US" dirty="0"/>
              <a:t>To define a constant you have to use define() function and to retrieve the value of a constant, you have to simply specifying its name</a:t>
            </a:r>
          </a:p>
          <a:p>
            <a:pPr marL="0" indent="0" algn="just">
              <a:buNone/>
            </a:pPr>
            <a:r>
              <a:rPr lang="en-US" altLang="en-US" sz="2000" dirty="0"/>
              <a:t>&lt;?php</a:t>
            </a:r>
          </a:p>
          <a:p>
            <a:pPr marL="0" indent="0" algn="just">
              <a:buNone/>
            </a:pPr>
            <a:r>
              <a:rPr lang="en-US" altLang="en-US" sz="2000" dirty="0"/>
              <a:t>   define("MINSIZE", 50);</a:t>
            </a:r>
          </a:p>
          <a:p>
            <a:pPr marL="0" indent="0" algn="just">
              <a:buNone/>
            </a:pPr>
            <a:r>
              <a:rPr lang="en-US" altLang="en-US" sz="2000" dirty="0"/>
              <a:t>    echo MINSIZE;</a:t>
            </a:r>
          </a:p>
          <a:p>
            <a:pPr marL="0" indent="0" algn="just">
              <a:buNone/>
            </a:pPr>
            <a:r>
              <a:rPr lang="en-US" altLang="en-US" sz="2000" dirty="0"/>
              <a:t>   echo constant("MINSIZE"); // same thing as the previous line?&gt;</a:t>
            </a:r>
            <a:endParaRPr lang="en-GB" alt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8820548"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spTree>
    <p:extLst>
      <p:ext uri="{BB962C8B-B14F-4D97-AF65-F5344CB8AC3E}">
        <p14:creationId xmlns:p14="http://schemas.microsoft.com/office/powerpoint/2010/main" val="41427380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19797" y="1009997"/>
            <a:ext cx="7571678" cy="1944216"/>
          </a:xfrm>
          <a:ln>
            <a:noFill/>
          </a:ln>
        </p:spPr>
        <p:txBody>
          <a:bodyPr/>
          <a:lstStyle/>
          <a:p>
            <a:r>
              <a:rPr lang="en-GB" altLang="en-US" dirty="0"/>
              <a:t>Constants</a:t>
            </a:r>
          </a:p>
          <a:p>
            <a:r>
              <a:rPr lang="en-US" dirty="0"/>
              <a:t>Only scalar data (</a:t>
            </a:r>
            <a:r>
              <a:rPr lang="en-US" dirty="0" err="1"/>
              <a:t>boolean</a:t>
            </a:r>
            <a:r>
              <a:rPr lang="en-US" dirty="0"/>
              <a:t>, integer, float and string) can be contained in constants.</a:t>
            </a:r>
          </a:p>
          <a:p>
            <a:r>
              <a:rPr lang="en-US" dirty="0"/>
              <a:t>Differences between constants and variables are</a:t>
            </a:r>
          </a:p>
          <a:p>
            <a:r>
              <a:rPr lang="en-US" b="1" dirty="0"/>
              <a:t>There is no need to write a dollar sign ($) before a constant</a:t>
            </a:r>
            <a:r>
              <a:rPr lang="en-US" dirty="0"/>
              <a:t>, where as in Variable one has to write a dollar sign.</a:t>
            </a:r>
          </a:p>
          <a:p>
            <a:r>
              <a:rPr lang="en-US" sz="2200" b="1" dirty="0"/>
              <a:t>Constants cannot be defined by simple assignment, they may only be defined using the define() function</a:t>
            </a:r>
            <a:r>
              <a:rPr lang="en-US" dirty="0"/>
              <a:t>.</a:t>
            </a:r>
          </a:p>
          <a:p>
            <a:r>
              <a:rPr lang="en-US" dirty="0"/>
              <a:t>Constants may be defined and accessed anywhere without regard to variable scoping rules.</a:t>
            </a:r>
          </a:p>
          <a:p>
            <a:r>
              <a:rPr lang="en-US" dirty="0"/>
              <a:t>Once the Constants have been set, may not be redefined or undefined.</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Building blocks of PHP</a:t>
            </a:r>
            <a:endParaRPr lang="en-US" dirty="0">
              <a:latin typeface="Armata" panose="020B0503040500060204" pitchFamily="34" charset="0"/>
            </a:endParaRPr>
          </a:p>
        </p:txBody>
      </p:sp>
      <p:sp>
        <p:nvSpPr>
          <p:cNvPr id="8" name="Rectangle 3">
            <a:extLst>
              <a:ext uri="{FF2B5EF4-FFF2-40B4-BE49-F238E27FC236}">
                <a16:creationId xmlns:a16="http://schemas.microsoft.com/office/drawing/2014/main" id="{B90C7A13-835C-4294-A9C5-70CA621AAB79}"/>
              </a:ext>
            </a:extLst>
          </p:cNvPr>
          <p:cNvSpPr txBox="1">
            <a:spLocks noChangeArrowheads="1"/>
          </p:cNvSpPr>
          <p:nvPr/>
        </p:nvSpPr>
        <p:spPr>
          <a:xfrm>
            <a:off x="8820548" y="0"/>
            <a:ext cx="3371452" cy="1394993"/>
          </a:xfrm>
          <a:prstGeom prst="rect">
            <a:avLst/>
          </a:prstGeom>
          <a:ln>
            <a:solidFill>
              <a:schemeClr val="accent2"/>
            </a:solid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ltLang="en-US" sz="2000" dirty="0"/>
              <a:t>Variables</a:t>
            </a:r>
          </a:p>
          <a:p>
            <a:pPr marL="0" indent="0">
              <a:buNone/>
            </a:pPr>
            <a:r>
              <a:rPr lang="en-GB" altLang="en-US" sz="2000" dirty="0"/>
              <a:t>Data Types</a:t>
            </a:r>
          </a:p>
          <a:p>
            <a:pPr marL="0" indent="0">
              <a:buNone/>
            </a:pPr>
            <a:r>
              <a:rPr lang="en-GB" altLang="en-US" sz="2000" dirty="0"/>
              <a:t>Operators &amp; Expressions</a:t>
            </a:r>
          </a:p>
          <a:p>
            <a:pPr marL="0" indent="0">
              <a:buNone/>
            </a:pPr>
            <a:r>
              <a:rPr lang="en-GB" altLang="en-US" sz="2000" dirty="0"/>
              <a:t>Constants</a:t>
            </a:r>
          </a:p>
          <a:p>
            <a:pPr marL="0" indent="0" algn="just">
              <a:buFont typeface="Arial" pitchFamily="34" charset="0"/>
              <a:buNone/>
            </a:pPr>
            <a:endParaRPr lang="en-GB" altLang="en-US" dirty="0"/>
          </a:p>
        </p:txBody>
      </p:sp>
      <p:pic>
        <p:nvPicPr>
          <p:cNvPr id="2" name="Picture 1">
            <a:extLst>
              <a:ext uri="{FF2B5EF4-FFF2-40B4-BE49-F238E27FC236}">
                <a16:creationId xmlns:a16="http://schemas.microsoft.com/office/drawing/2014/main" id="{6C641EB4-6E17-49F2-B733-FE894F8EFD13}"/>
              </a:ext>
            </a:extLst>
          </p:cNvPr>
          <p:cNvPicPr>
            <a:picLocks noChangeAspect="1"/>
          </p:cNvPicPr>
          <p:nvPr/>
        </p:nvPicPr>
        <p:blipFill>
          <a:blip r:embed="rId3"/>
          <a:stretch>
            <a:fillRect/>
          </a:stretch>
        </p:blipFill>
        <p:spPr>
          <a:xfrm>
            <a:off x="7991475" y="2126730"/>
            <a:ext cx="4200525" cy="2924175"/>
          </a:xfrm>
          <a:prstGeom prst="rect">
            <a:avLst/>
          </a:prstGeom>
        </p:spPr>
      </p:pic>
    </p:spTree>
    <p:extLst>
      <p:ext uri="{BB962C8B-B14F-4D97-AF65-F5344CB8AC3E}">
        <p14:creationId xmlns:p14="http://schemas.microsoft.com/office/powerpoint/2010/main" val="40249160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19797" y="1009997"/>
            <a:ext cx="5100139" cy="1944216"/>
          </a:xfrm>
          <a:ln>
            <a:noFill/>
          </a:ln>
        </p:spPr>
        <p:txBody>
          <a:bodyPr/>
          <a:lstStyle/>
          <a:p>
            <a:pPr>
              <a:defRPr/>
            </a:pPr>
            <a:r>
              <a:rPr lang="en-US" dirty="0"/>
              <a:t>PHP echo and print Statements</a:t>
            </a:r>
          </a:p>
          <a:p>
            <a:pPr>
              <a:defRPr/>
            </a:pPr>
            <a:r>
              <a:rPr lang="en-US" dirty="0"/>
              <a:t>echo and print are more or less the same. </a:t>
            </a:r>
          </a:p>
          <a:p>
            <a:pPr>
              <a:defRPr/>
            </a:pPr>
            <a:r>
              <a:rPr lang="en-US" dirty="0"/>
              <a:t>They are </a:t>
            </a:r>
            <a:r>
              <a:rPr lang="en-US" dirty="0">
                <a:solidFill>
                  <a:srgbClr val="FF0000"/>
                </a:solidFill>
              </a:rPr>
              <a:t>both used to output data to the screen.</a:t>
            </a:r>
          </a:p>
          <a:p>
            <a:pPr>
              <a:defRPr/>
            </a:pPr>
            <a:r>
              <a:rPr lang="en-US" dirty="0">
                <a:solidFill>
                  <a:srgbClr val="FF0000"/>
                </a:solidFill>
              </a:rPr>
              <a:t>echo has no return value </a:t>
            </a:r>
            <a:r>
              <a:rPr lang="en-US" dirty="0"/>
              <a:t>while print has a return value of 1 so it can be used in expressions. </a:t>
            </a:r>
          </a:p>
          <a:p>
            <a:pPr>
              <a:defRPr/>
            </a:pPr>
            <a:r>
              <a:rPr lang="en-US" dirty="0">
                <a:solidFill>
                  <a:srgbClr val="FF0000"/>
                </a:solidFill>
              </a:rPr>
              <a:t>echo can take multiple parameters </a:t>
            </a:r>
            <a:r>
              <a:rPr lang="en-US" dirty="0"/>
              <a:t>(although such usage is rare) while print can take one argument. </a:t>
            </a:r>
          </a:p>
          <a:p>
            <a:pPr>
              <a:defRPr/>
            </a:pPr>
            <a:r>
              <a:rPr lang="en-US" dirty="0">
                <a:solidFill>
                  <a:srgbClr val="FF0000"/>
                </a:solidFill>
              </a:rPr>
              <a:t>echo is marginally faster than print</a:t>
            </a:r>
            <a:r>
              <a:rPr lang="en-US" dirty="0"/>
              <a:t>.</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Echo and Print</a:t>
            </a:r>
            <a:endParaRPr lang="en-US" dirty="0">
              <a:latin typeface="Armata" panose="020B0503040500060204" pitchFamily="34" charset="0"/>
            </a:endParaRPr>
          </a:p>
        </p:txBody>
      </p:sp>
      <p:sp>
        <p:nvSpPr>
          <p:cNvPr id="6" name="Rectangle 1">
            <a:extLst>
              <a:ext uri="{FF2B5EF4-FFF2-40B4-BE49-F238E27FC236}">
                <a16:creationId xmlns:a16="http://schemas.microsoft.com/office/drawing/2014/main" id="{E1B5C69A-289E-46F8-AC53-129EBE428C78}"/>
              </a:ext>
            </a:extLst>
          </p:cNvPr>
          <p:cNvSpPr>
            <a:spLocks noChangeArrowheads="1"/>
          </p:cNvSpPr>
          <p:nvPr/>
        </p:nvSpPr>
        <p:spPr bwMode="auto">
          <a:xfrm>
            <a:off x="5519936" y="1124744"/>
            <a:ext cx="7467600" cy="4829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100000"/>
              <a:buChar char="•"/>
              <a:defRPr sz="2400" b="1">
                <a:solidFill>
                  <a:schemeClr val="tx1"/>
                </a:solidFill>
                <a:latin typeface="Times New Roman" panose="02020603050405020304" pitchFamily="18" charset="0"/>
              </a:defRPr>
            </a:lvl1pPr>
            <a:lvl2pPr marL="742950" indent="-285750">
              <a:lnSpc>
                <a:spcPct val="90000"/>
              </a:lnSpc>
              <a:spcBef>
                <a:spcPct val="30000"/>
              </a:spcBef>
              <a:buSzPct val="100000"/>
              <a:buChar char="–"/>
              <a:defRPr b="1">
                <a:solidFill>
                  <a:schemeClr val="tx1"/>
                </a:solidFill>
                <a:latin typeface="Times New Roman" panose="02020603050405020304" pitchFamily="18" charset="0"/>
              </a:defRPr>
            </a:lvl2pPr>
            <a:lvl3pPr marL="1143000" indent="-228600">
              <a:lnSpc>
                <a:spcPct val="90000"/>
              </a:lnSpc>
              <a:spcBef>
                <a:spcPct val="30000"/>
              </a:spcBef>
              <a:buSzPct val="100000"/>
              <a:buChar char="»"/>
              <a:defRPr b="1">
                <a:solidFill>
                  <a:schemeClr val="tx1"/>
                </a:solidFill>
                <a:latin typeface="Times New Roman" panose="02020603050405020304" pitchFamily="18" charset="0"/>
              </a:defRPr>
            </a:lvl3pPr>
            <a:lvl4pPr marL="1600200" indent="-228600">
              <a:lnSpc>
                <a:spcPct val="90000"/>
              </a:lnSpc>
              <a:spcBef>
                <a:spcPct val="30000"/>
              </a:spcBef>
              <a:buSzPct val="100000"/>
              <a:buChar char="•"/>
              <a:defRPr sz="1400" b="1">
                <a:solidFill>
                  <a:schemeClr val="tx1"/>
                </a:solidFill>
                <a:latin typeface="Times New Roman" panose="02020603050405020304" pitchFamily="18" charset="0"/>
              </a:defRPr>
            </a:lvl4pPr>
            <a:lvl5pPr marL="2057400" indent="-228600">
              <a:lnSpc>
                <a:spcPct val="90000"/>
              </a:lnSpc>
              <a:spcBef>
                <a:spcPct val="30000"/>
              </a:spcBef>
              <a:buSzPct val="100000"/>
              <a:buChar char="–"/>
              <a:defRPr sz="1400" b="1">
                <a:solidFill>
                  <a:schemeClr val="tx1"/>
                </a:solidFill>
                <a:latin typeface="Times New Roman" panose="02020603050405020304" pitchFamily="18" charset="0"/>
              </a:defRPr>
            </a:lvl5pPr>
            <a:lvl6pPr marL="2514600" indent="-228600" eaLnBrk="0" fontAlgn="base" hangingPunct="0">
              <a:lnSpc>
                <a:spcPct val="90000"/>
              </a:lnSpc>
              <a:spcBef>
                <a:spcPct val="30000"/>
              </a:spcBef>
              <a:spcAft>
                <a:spcPct val="0"/>
              </a:spcAft>
              <a:buSzPct val="100000"/>
              <a:buChar char="–"/>
              <a:defRPr sz="1400" b="1">
                <a:solidFill>
                  <a:schemeClr val="tx1"/>
                </a:solidFill>
                <a:latin typeface="Times New Roman" panose="02020603050405020304" pitchFamily="18" charset="0"/>
              </a:defRPr>
            </a:lvl6pPr>
            <a:lvl7pPr marL="2971800" indent="-228600" eaLnBrk="0" fontAlgn="base" hangingPunct="0">
              <a:lnSpc>
                <a:spcPct val="90000"/>
              </a:lnSpc>
              <a:spcBef>
                <a:spcPct val="30000"/>
              </a:spcBef>
              <a:spcAft>
                <a:spcPct val="0"/>
              </a:spcAft>
              <a:buSzPct val="100000"/>
              <a:buChar char="–"/>
              <a:defRPr sz="1400" b="1">
                <a:solidFill>
                  <a:schemeClr val="tx1"/>
                </a:solidFill>
                <a:latin typeface="Times New Roman" panose="02020603050405020304" pitchFamily="18" charset="0"/>
              </a:defRPr>
            </a:lvl7pPr>
            <a:lvl8pPr marL="3429000" indent="-228600" eaLnBrk="0" fontAlgn="base" hangingPunct="0">
              <a:lnSpc>
                <a:spcPct val="90000"/>
              </a:lnSpc>
              <a:spcBef>
                <a:spcPct val="30000"/>
              </a:spcBef>
              <a:spcAft>
                <a:spcPct val="0"/>
              </a:spcAft>
              <a:buSzPct val="100000"/>
              <a:buChar char="–"/>
              <a:defRPr sz="1400" b="1">
                <a:solidFill>
                  <a:schemeClr val="tx1"/>
                </a:solidFill>
                <a:latin typeface="Times New Roman" panose="02020603050405020304" pitchFamily="18" charset="0"/>
              </a:defRPr>
            </a:lvl8pPr>
            <a:lvl9pPr marL="3886200" indent="-228600" eaLnBrk="0" fontAlgn="base" hangingPunct="0">
              <a:lnSpc>
                <a:spcPct val="90000"/>
              </a:lnSpc>
              <a:spcBef>
                <a:spcPct val="30000"/>
              </a:spcBef>
              <a:spcAft>
                <a:spcPct val="0"/>
              </a:spcAft>
              <a:buSzPct val="100000"/>
              <a:buChar char="–"/>
              <a:defRPr sz="1400" b="1">
                <a:solidFill>
                  <a:schemeClr val="tx1"/>
                </a:solidFill>
                <a:latin typeface="Times New Roman" panose="02020603050405020304" pitchFamily="18" charset="0"/>
              </a:defRPr>
            </a:lvl9pPr>
          </a:lstStyle>
          <a:p>
            <a:pPr>
              <a:spcBef>
                <a:spcPct val="0"/>
              </a:spcBef>
              <a:buSzTx/>
              <a:buFontTx/>
              <a:buNone/>
            </a:pPr>
            <a:r>
              <a:rPr lang="en-IN" altLang="en-US" sz="1800" dirty="0">
                <a:latin typeface="Arial" panose="020B0604020202020204" pitchFamily="34" charset="0"/>
              </a:rPr>
              <a:t>&lt;!DOCTYPE html &gt;</a:t>
            </a:r>
            <a:endParaRPr lang="en-US" altLang="en-US" sz="1800" dirty="0">
              <a:latin typeface="Arial" panose="020B0604020202020204" pitchFamily="34" charset="0"/>
            </a:endParaRPr>
          </a:p>
          <a:p>
            <a:pPr>
              <a:spcBef>
                <a:spcPct val="0"/>
              </a:spcBef>
              <a:buSzTx/>
              <a:buFontTx/>
              <a:buNone/>
            </a:pPr>
            <a:r>
              <a:rPr lang="en-IN" altLang="en-US" sz="1800" dirty="0">
                <a:latin typeface="Arial" panose="020B0604020202020204" pitchFamily="34" charset="0"/>
              </a:rPr>
              <a:t>&lt;html&gt;&lt;head&gt; </a:t>
            </a:r>
          </a:p>
          <a:p>
            <a:pPr>
              <a:spcBef>
                <a:spcPct val="0"/>
              </a:spcBef>
              <a:buSzTx/>
              <a:buFontTx/>
              <a:buNone/>
            </a:pPr>
            <a:r>
              <a:rPr lang="en-IN" altLang="en-US" sz="1800" dirty="0">
                <a:latin typeface="Arial" panose="020B0604020202020204" pitchFamily="34" charset="0"/>
              </a:rPr>
              <a:t>&lt;title&gt; </a:t>
            </a:r>
            <a:r>
              <a:rPr lang="en-IN" altLang="en-US" sz="1800" dirty="0" err="1">
                <a:latin typeface="Arial" panose="020B0604020202020204" pitchFamily="34" charset="0"/>
              </a:rPr>
              <a:t>today.php</a:t>
            </a:r>
            <a:r>
              <a:rPr lang="en-IN" altLang="en-US" sz="1800" dirty="0">
                <a:latin typeface="Arial" panose="020B0604020202020204" pitchFamily="34" charset="0"/>
              </a:rPr>
              <a:t> &lt;/title&gt; &lt;/head&gt;</a:t>
            </a:r>
            <a:endParaRPr lang="en-US" altLang="en-US" sz="1800" dirty="0">
              <a:latin typeface="Arial" panose="020B0604020202020204" pitchFamily="34" charset="0"/>
            </a:endParaRPr>
          </a:p>
          <a:p>
            <a:pPr>
              <a:spcBef>
                <a:spcPct val="0"/>
              </a:spcBef>
              <a:buSzTx/>
              <a:buFontTx/>
              <a:buNone/>
            </a:pPr>
            <a:r>
              <a:rPr lang="en-IN" altLang="en-US" sz="1800" dirty="0">
                <a:latin typeface="Arial" panose="020B0604020202020204" pitchFamily="34" charset="0"/>
              </a:rPr>
              <a:t>&lt;body&gt; &lt;p&gt;</a:t>
            </a:r>
            <a:endParaRPr lang="en-US" altLang="en-US" sz="1800" dirty="0">
              <a:latin typeface="Arial" panose="020B0604020202020204" pitchFamily="34" charset="0"/>
            </a:endParaRPr>
          </a:p>
          <a:p>
            <a:pPr>
              <a:spcBef>
                <a:spcPct val="0"/>
              </a:spcBef>
              <a:buSzTx/>
              <a:buFontTx/>
              <a:buNone/>
            </a:pPr>
            <a:r>
              <a:rPr lang="en-IN" altLang="en-US" sz="1800" dirty="0">
                <a:solidFill>
                  <a:schemeClr val="accent1"/>
                </a:solidFill>
                <a:latin typeface="Arial" panose="020B0604020202020204" pitchFamily="34" charset="0"/>
              </a:rPr>
              <a:t>&lt;?</a:t>
            </a:r>
            <a:r>
              <a:rPr lang="en-IN" altLang="en-US" sz="1800" dirty="0" err="1">
                <a:solidFill>
                  <a:schemeClr val="accent1"/>
                </a:solidFill>
                <a:latin typeface="Arial" panose="020B0604020202020204" pitchFamily="34" charset="0"/>
              </a:rPr>
              <a:t>php</a:t>
            </a:r>
            <a:endParaRPr lang="en-US" altLang="en-US" sz="1800" dirty="0">
              <a:solidFill>
                <a:schemeClr val="accent1"/>
              </a:solidFill>
              <a:latin typeface="Arial" panose="020B0604020202020204" pitchFamily="34" charset="0"/>
            </a:endParaRPr>
          </a:p>
          <a:p>
            <a:pPr>
              <a:spcBef>
                <a:spcPct val="0"/>
              </a:spcBef>
              <a:buSzTx/>
              <a:buFontTx/>
              <a:buNone/>
            </a:pPr>
            <a:r>
              <a:rPr lang="en-IN" altLang="en-US" sz="1800" dirty="0">
                <a:latin typeface="Arial" panose="020B0604020202020204" pitchFamily="34" charset="0"/>
              </a:rPr>
              <a:t>print "&lt;b&gt;Welcome to my home page &lt;</a:t>
            </a:r>
            <a:r>
              <a:rPr lang="en-IN" altLang="en-US" sz="1800" dirty="0" err="1">
                <a:latin typeface="Arial" panose="020B0604020202020204" pitchFamily="34" charset="0"/>
              </a:rPr>
              <a:t>br</a:t>
            </a:r>
            <a:r>
              <a:rPr lang="en-IN" altLang="en-US" sz="1800" dirty="0">
                <a:latin typeface="Arial" panose="020B0604020202020204" pitchFamily="34" charset="0"/>
              </a:rPr>
              <a:t> /&gt; &lt;</a:t>
            </a:r>
            <a:r>
              <a:rPr lang="en-IN" altLang="en-US" sz="1800" dirty="0" err="1">
                <a:latin typeface="Arial" panose="020B0604020202020204" pitchFamily="34" charset="0"/>
              </a:rPr>
              <a:t>br</a:t>
            </a:r>
            <a:r>
              <a:rPr lang="en-IN" altLang="en-US" sz="1800" dirty="0">
                <a:latin typeface="Arial" panose="020B0604020202020204" pitchFamily="34" charset="0"/>
              </a:rPr>
              <a:t> /&gt;";</a:t>
            </a:r>
          </a:p>
          <a:p>
            <a:pPr>
              <a:spcBef>
                <a:spcPct val="0"/>
              </a:spcBef>
              <a:buSzTx/>
              <a:buFontTx/>
              <a:buNone/>
            </a:pPr>
            <a:endParaRPr lang="en-US" altLang="en-US" sz="1800" dirty="0">
              <a:latin typeface="Arial" panose="020B0604020202020204" pitchFamily="34" charset="0"/>
            </a:endParaRPr>
          </a:p>
          <a:p>
            <a:pPr>
              <a:spcBef>
                <a:spcPct val="0"/>
              </a:spcBef>
              <a:buSzTx/>
              <a:buFontTx/>
              <a:buNone/>
            </a:pPr>
            <a:r>
              <a:rPr lang="en-IN" altLang="en-US" sz="1800" dirty="0">
                <a:solidFill>
                  <a:schemeClr val="accent1"/>
                </a:solidFill>
                <a:latin typeface="Arial" panose="020B0604020202020204" pitchFamily="34" charset="0"/>
              </a:rPr>
              <a:t> print "Today is:&lt;/b&gt;</a:t>
            </a:r>
            <a:r>
              <a:rPr lang="en-US" altLang="en-US" sz="1800" b="0" dirty="0">
                <a:latin typeface="Arial" panose="020B0604020202020204" pitchFamily="34" charset="0"/>
              </a:rPr>
              <a:t>date("Y/m/d")</a:t>
            </a:r>
            <a:r>
              <a:rPr lang="en-IN" altLang="en-US" sz="1800" dirty="0">
                <a:solidFill>
                  <a:schemeClr val="accent1"/>
                </a:solidFill>
                <a:latin typeface="Arial" panose="020B0604020202020204" pitchFamily="34" charset="0"/>
              </a:rPr>
              <a:t>; print "&lt;</a:t>
            </a:r>
            <a:r>
              <a:rPr lang="en-IN" altLang="en-US" sz="1800" dirty="0" err="1">
                <a:solidFill>
                  <a:schemeClr val="accent1"/>
                </a:solidFill>
                <a:latin typeface="Arial" panose="020B0604020202020204" pitchFamily="34" charset="0"/>
              </a:rPr>
              <a:t>br</a:t>
            </a:r>
            <a:r>
              <a:rPr lang="en-IN" altLang="en-US" sz="1800" dirty="0">
                <a:solidFill>
                  <a:schemeClr val="accent1"/>
                </a:solidFill>
                <a:latin typeface="Arial" panose="020B0604020202020204" pitchFamily="34" charset="0"/>
              </a:rPr>
              <a:t> /&gt;";</a:t>
            </a:r>
            <a:endParaRPr lang="en-US" altLang="en-US" sz="1800" dirty="0">
              <a:solidFill>
                <a:schemeClr val="accent1"/>
              </a:solidFill>
              <a:latin typeface="Arial" panose="020B0604020202020204" pitchFamily="34" charset="0"/>
            </a:endParaRPr>
          </a:p>
          <a:p>
            <a:pPr>
              <a:spcBef>
                <a:spcPct val="0"/>
              </a:spcBef>
              <a:buSzTx/>
              <a:buFontTx/>
              <a:buNone/>
            </a:pPr>
            <a:r>
              <a:rPr lang="en-IN" altLang="en-US" sz="1800" dirty="0">
                <a:solidFill>
                  <a:schemeClr val="accent1"/>
                </a:solidFill>
                <a:latin typeface="Arial" panose="020B0604020202020204" pitchFamily="34" charset="0"/>
              </a:rPr>
              <a:t>?&gt;</a:t>
            </a:r>
            <a:endParaRPr lang="en-US" altLang="en-US" sz="1800" dirty="0">
              <a:solidFill>
                <a:schemeClr val="accent1"/>
              </a:solidFill>
              <a:latin typeface="Arial" panose="020B0604020202020204" pitchFamily="34" charset="0"/>
            </a:endParaRPr>
          </a:p>
          <a:p>
            <a:pPr>
              <a:spcBef>
                <a:spcPct val="0"/>
              </a:spcBef>
              <a:buSzTx/>
              <a:buFontTx/>
              <a:buNone/>
            </a:pPr>
            <a:r>
              <a:rPr lang="en-IN" altLang="en-US" sz="1800" dirty="0">
                <a:latin typeface="Arial" panose="020B0604020202020204" pitchFamily="34" charset="0"/>
              </a:rPr>
              <a:t>&lt;/p&gt; </a:t>
            </a:r>
          </a:p>
          <a:p>
            <a:pPr>
              <a:spcBef>
                <a:spcPct val="0"/>
              </a:spcBef>
              <a:buSzTx/>
              <a:buFontTx/>
              <a:buNone/>
            </a:pPr>
            <a:r>
              <a:rPr lang="en-IN" altLang="en-US" sz="1800" dirty="0">
                <a:latin typeface="Arial" panose="020B0604020202020204" pitchFamily="34" charset="0"/>
              </a:rPr>
              <a:t>&lt;/body&gt; </a:t>
            </a:r>
          </a:p>
          <a:p>
            <a:pPr>
              <a:spcBef>
                <a:spcPct val="0"/>
              </a:spcBef>
              <a:buSzTx/>
              <a:buFontTx/>
              <a:buNone/>
            </a:pPr>
            <a:r>
              <a:rPr lang="en-IN" altLang="en-US" sz="1800" dirty="0">
                <a:latin typeface="Arial" panose="020B0604020202020204" pitchFamily="34" charset="0"/>
              </a:rPr>
              <a:t>&lt;/html&gt;</a:t>
            </a:r>
          </a:p>
          <a:p>
            <a:pPr>
              <a:spcBef>
                <a:spcPct val="0"/>
              </a:spcBef>
              <a:buSzTx/>
              <a:buFontTx/>
              <a:buNone/>
            </a:pPr>
            <a:endParaRPr lang="en-IN" altLang="en-US" sz="1800" dirty="0">
              <a:solidFill>
                <a:srgbClr val="FF0000"/>
              </a:solidFill>
              <a:latin typeface="Arial" panose="020B0604020202020204" pitchFamily="34" charset="0"/>
            </a:endParaRPr>
          </a:p>
          <a:p>
            <a:pPr>
              <a:spcBef>
                <a:spcPct val="0"/>
              </a:spcBef>
              <a:buSzTx/>
              <a:buFontTx/>
              <a:buNone/>
            </a:pPr>
            <a:r>
              <a:rPr lang="en-IN" altLang="en-US" sz="1800" dirty="0">
                <a:solidFill>
                  <a:srgbClr val="FF0000"/>
                </a:solidFill>
                <a:latin typeface="Arial" panose="020B0604020202020204" pitchFamily="34" charset="0"/>
              </a:rPr>
              <a:t>o/p</a:t>
            </a:r>
          </a:p>
          <a:p>
            <a:pPr>
              <a:spcBef>
                <a:spcPct val="0"/>
              </a:spcBef>
              <a:buSzTx/>
              <a:buFontTx/>
              <a:buNone/>
            </a:pPr>
            <a:r>
              <a:rPr lang="en-IN" altLang="en-US" sz="1800" dirty="0">
                <a:latin typeface="Arial" panose="020B0604020202020204" pitchFamily="34" charset="0"/>
              </a:rPr>
              <a:t>Welcome to my Home Page</a:t>
            </a:r>
          </a:p>
          <a:p>
            <a:pPr>
              <a:spcBef>
                <a:spcPct val="0"/>
              </a:spcBef>
              <a:buSzTx/>
              <a:buFontTx/>
              <a:buNone/>
            </a:pPr>
            <a:r>
              <a:rPr lang="en-US" altLang="en-US" sz="1800" b="0" dirty="0">
                <a:latin typeface="Arial" panose="020B0604020202020204" pitchFamily="34" charset="0"/>
              </a:rPr>
              <a:t>Today is 2014/09/24</a:t>
            </a:r>
          </a:p>
          <a:p>
            <a:pPr>
              <a:spcBef>
                <a:spcPct val="0"/>
              </a:spcBef>
              <a:buSzTx/>
              <a:buFontTx/>
              <a:buNone/>
            </a:pPr>
            <a:endParaRPr lang="en-US" altLang="en-US" sz="1800" b="0" dirty="0">
              <a:latin typeface="Arial" panose="020B0604020202020204" pitchFamily="34" charset="0"/>
            </a:endParaRPr>
          </a:p>
          <a:p>
            <a:pPr>
              <a:spcBef>
                <a:spcPct val="0"/>
              </a:spcBef>
              <a:buSzTx/>
              <a:buFontTx/>
              <a:buNone/>
            </a:pPr>
            <a:r>
              <a:rPr lang="en-US" altLang="en-US" sz="1800" b="0" dirty="0">
                <a:latin typeface="Arial" panose="020B0604020202020204" pitchFamily="34" charset="0"/>
              </a:rPr>
              <a:t>l-day of the week,  F-month, j-date value and S –suffix for the day</a:t>
            </a:r>
          </a:p>
          <a:p>
            <a:pPr>
              <a:spcBef>
                <a:spcPct val="0"/>
              </a:spcBef>
              <a:buSzTx/>
              <a:buFontTx/>
              <a:buNone/>
            </a:pPr>
            <a:r>
              <a:rPr lang="en-US" altLang="en-US" sz="1800" b="0" dirty="0">
                <a:latin typeface="Arial" panose="020B0604020202020204" pitchFamily="34" charset="0"/>
              </a:rPr>
              <a:t>	</a:t>
            </a:r>
            <a:r>
              <a:rPr lang="en-US" altLang="en-US" sz="1800" dirty="0">
                <a:solidFill>
                  <a:srgbClr val="FF0000"/>
                </a:solidFill>
                <a:latin typeface="Arial" panose="020B0604020202020204" pitchFamily="34" charset="0"/>
              </a:rPr>
              <a:t> date(</a:t>
            </a:r>
            <a:r>
              <a:rPr lang="en-US" altLang="en-US" sz="1800" dirty="0" err="1">
                <a:solidFill>
                  <a:srgbClr val="FF0000"/>
                </a:solidFill>
                <a:latin typeface="Arial" panose="020B0604020202020204" pitchFamily="34" charset="0"/>
              </a:rPr>
              <a:t>l,F,jS</a:t>
            </a:r>
            <a:r>
              <a:rPr lang="en-US" altLang="en-US" sz="1800" dirty="0">
                <a:solidFill>
                  <a:srgbClr val="FF0000"/>
                </a:solidFill>
                <a:latin typeface="Arial" panose="020B0604020202020204" pitchFamily="34" charset="0"/>
              </a:rPr>
              <a:t>)=&gt;Saturday June 1st</a:t>
            </a:r>
          </a:p>
        </p:txBody>
      </p:sp>
      <p:cxnSp>
        <p:nvCxnSpPr>
          <p:cNvPr id="4" name="Straight Connector 3">
            <a:extLst>
              <a:ext uri="{FF2B5EF4-FFF2-40B4-BE49-F238E27FC236}">
                <a16:creationId xmlns:a16="http://schemas.microsoft.com/office/drawing/2014/main" id="{A34A6991-7C08-4C02-8B39-E83DC78382B8}"/>
              </a:ext>
            </a:extLst>
          </p:cNvPr>
          <p:cNvCxnSpPr/>
          <p:nvPr/>
        </p:nvCxnSpPr>
        <p:spPr>
          <a:xfrm>
            <a:off x="5519936" y="1124744"/>
            <a:ext cx="0" cy="4829014"/>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2072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Flow Control functions and </a:t>
            </a:r>
            <a:r>
              <a:rPr lang="en-US"/>
              <a:t>control statements</a:t>
            </a:r>
            <a:endParaRPr lang="en-US" dirty="0"/>
          </a:p>
        </p:txBody>
      </p:sp>
    </p:spTree>
    <p:extLst>
      <p:ext uri="{BB962C8B-B14F-4D97-AF65-F5344CB8AC3E}">
        <p14:creationId xmlns:p14="http://schemas.microsoft.com/office/powerpoint/2010/main" val="357736059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10801201" cy="2130971"/>
          </a:xfrm>
          <a:ln>
            <a:noFill/>
          </a:ln>
        </p:spPr>
        <p:txBody>
          <a:bodyPr/>
          <a:lstStyle/>
          <a:p>
            <a:pPr>
              <a:defRPr/>
            </a:pPr>
            <a:r>
              <a:rPr lang="en-US" dirty="0"/>
              <a:t>Selection Statements</a:t>
            </a:r>
          </a:p>
          <a:p>
            <a:pPr marL="0" indent="0">
              <a:buNone/>
              <a:defRPr/>
            </a:pPr>
            <a:r>
              <a:rPr lang="en-US" dirty="0">
                <a:solidFill>
                  <a:srgbClr val="FF0000"/>
                </a:solidFill>
              </a:rPr>
              <a:t>If</a:t>
            </a:r>
            <a:r>
              <a:rPr lang="en-US" dirty="0"/>
              <a:t> statement can include any number of </a:t>
            </a:r>
            <a:r>
              <a:rPr lang="en-US" dirty="0">
                <a:solidFill>
                  <a:srgbClr val="FF0000"/>
                </a:solidFill>
              </a:rPr>
              <a:t>elseif</a:t>
            </a:r>
            <a:r>
              <a:rPr lang="en-US" dirty="0"/>
              <a:t>  clauses.</a:t>
            </a:r>
          </a:p>
          <a:p>
            <a:pPr marL="0" indent="0">
              <a:buNone/>
              <a:defRPr/>
            </a:pPr>
            <a:r>
              <a:rPr lang="en-US" dirty="0"/>
              <a:t>example of an if construct:</a:t>
            </a:r>
          </a:p>
          <a:p>
            <a:pPr marL="0" indent="0">
              <a:buNone/>
              <a:defRPr/>
            </a:pPr>
            <a:r>
              <a:rPr lang="en-US" sz="2000" dirty="0"/>
              <a:t>if ($day == "Saturday" || $day == "Sunday")</a:t>
            </a:r>
          </a:p>
          <a:p>
            <a:pPr marL="0" indent="0">
              <a:buNone/>
              <a:defRPr/>
            </a:pPr>
            <a:r>
              <a:rPr lang="en-US" sz="2000" dirty="0"/>
              <a:t>{$today = "weekend”}; </a:t>
            </a:r>
          </a:p>
          <a:p>
            <a:pPr marL="0" indent="0">
              <a:buNone/>
              <a:defRPr/>
            </a:pPr>
            <a:r>
              <a:rPr lang="en-US" sz="2000" dirty="0"/>
              <a:t>else </a:t>
            </a:r>
          </a:p>
          <a:p>
            <a:pPr marL="0" indent="0">
              <a:buNone/>
              <a:defRPr/>
            </a:pPr>
            <a:r>
              <a:rPr lang="en-US" sz="2000" dirty="0"/>
              <a:t>{$today = "weekday";}</a:t>
            </a:r>
          </a:p>
          <a:p>
            <a:pPr marL="0" indent="0">
              <a:buNone/>
              <a:defRPr/>
            </a:pPr>
            <a:r>
              <a:rPr lang="en-US" sz="2000" dirty="0"/>
              <a:t>--------------------</a:t>
            </a:r>
          </a:p>
          <a:p>
            <a:pPr marL="0" indent="0">
              <a:buNone/>
              <a:defRPr/>
            </a:pPr>
            <a:r>
              <a:rPr lang="en-US" sz="2000" dirty="0">
                <a:solidFill>
                  <a:srgbClr val="FF0000"/>
                </a:solidFill>
              </a:rPr>
              <a:t>If</a:t>
            </a:r>
            <a:r>
              <a:rPr lang="en-US" sz="2000" dirty="0"/>
              <a:t>($num&gt;0)</a:t>
            </a:r>
          </a:p>
          <a:p>
            <a:pPr marL="0" indent="0">
              <a:buNone/>
              <a:defRPr/>
            </a:pPr>
            <a:r>
              <a:rPr lang="en-US" sz="2000" dirty="0"/>
              <a:t>	$</a:t>
            </a:r>
            <a:r>
              <a:rPr lang="en-US" sz="2000" dirty="0" err="1"/>
              <a:t>pcount</a:t>
            </a:r>
            <a:r>
              <a:rPr lang="en-US" sz="2000" dirty="0"/>
              <a:t>++;</a:t>
            </a:r>
          </a:p>
          <a:p>
            <a:pPr marL="0" indent="0">
              <a:buNone/>
              <a:defRPr/>
            </a:pPr>
            <a:r>
              <a:rPr lang="en-US" sz="2000" dirty="0">
                <a:solidFill>
                  <a:srgbClr val="FF0000"/>
                </a:solidFill>
              </a:rPr>
              <a:t>elseif</a:t>
            </a:r>
            <a:r>
              <a:rPr lang="en-US" sz="2000" dirty="0"/>
              <a:t>($num&lt;0)</a:t>
            </a:r>
          </a:p>
          <a:p>
            <a:pPr marL="0" indent="0">
              <a:buNone/>
              <a:defRPr/>
            </a:pPr>
            <a:r>
              <a:rPr lang="en-US" sz="2000" dirty="0"/>
              <a:t>	$</a:t>
            </a:r>
            <a:r>
              <a:rPr lang="en-US" sz="2000" dirty="0" err="1"/>
              <a:t>ncount</a:t>
            </a:r>
            <a:r>
              <a:rPr lang="en-US" sz="2000" dirty="0"/>
              <a:t>++;</a:t>
            </a:r>
          </a:p>
          <a:p>
            <a:pPr marL="0" indent="0">
              <a:buNone/>
              <a:defRPr/>
            </a:pPr>
            <a:r>
              <a:rPr lang="en-US" sz="2000" dirty="0"/>
              <a:t>else</a:t>
            </a:r>
          </a:p>
          <a:p>
            <a:pPr marL="0" indent="0">
              <a:buNone/>
              <a:defRPr/>
            </a:pPr>
            <a:r>
              <a:rPr lang="en-US" sz="2000" dirty="0"/>
              <a:t>	print “Zero”;</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Flow Control statements in PHP</a:t>
            </a:r>
            <a:endParaRPr lang="en-US" dirty="0">
              <a:latin typeface="Armata" panose="020B0503040500060204" pitchFamily="34" charset="0"/>
            </a:endParaRPr>
          </a:p>
        </p:txBody>
      </p:sp>
    </p:spTree>
    <p:extLst>
      <p:ext uri="{BB962C8B-B14F-4D97-AF65-F5344CB8AC3E}">
        <p14:creationId xmlns:p14="http://schemas.microsoft.com/office/powerpoint/2010/main" val="872805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45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45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45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45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Input handling in PHP</a:t>
            </a:r>
            <a:endParaRPr lang="en-US" dirty="0">
              <a:latin typeface="Armata" panose="020B0503040500060204" pitchFamily="34" charset="0"/>
            </a:endParaRPr>
          </a:p>
        </p:txBody>
      </p:sp>
      <p:pic>
        <p:nvPicPr>
          <p:cNvPr id="8" name="Picture 7">
            <a:extLst>
              <a:ext uri="{FF2B5EF4-FFF2-40B4-BE49-F238E27FC236}">
                <a16:creationId xmlns:a16="http://schemas.microsoft.com/office/drawing/2014/main" id="{AF7CDCEB-BA9E-4B04-B97C-9D7D7E8AD880}"/>
              </a:ext>
            </a:extLst>
          </p:cNvPr>
          <p:cNvPicPr>
            <a:picLocks noChangeAspect="1"/>
          </p:cNvPicPr>
          <p:nvPr/>
        </p:nvPicPr>
        <p:blipFill>
          <a:blip r:embed="rId3"/>
          <a:stretch>
            <a:fillRect/>
          </a:stretch>
        </p:blipFill>
        <p:spPr>
          <a:xfrm>
            <a:off x="7824192" y="4797152"/>
            <a:ext cx="1190625" cy="1104900"/>
          </a:xfrm>
          <a:prstGeom prst="rect">
            <a:avLst/>
          </a:prstGeom>
        </p:spPr>
      </p:pic>
      <p:pic>
        <p:nvPicPr>
          <p:cNvPr id="7" name="Content Placeholder 6">
            <a:extLst>
              <a:ext uri="{FF2B5EF4-FFF2-40B4-BE49-F238E27FC236}">
                <a16:creationId xmlns:a16="http://schemas.microsoft.com/office/drawing/2014/main" id="{80F4D35A-95E2-43C0-B4A4-52B7315CD781}"/>
              </a:ext>
            </a:extLst>
          </p:cNvPr>
          <p:cNvPicPr>
            <a:picLocks noGrp="1" noChangeAspect="1"/>
          </p:cNvPicPr>
          <p:nvPr>
            <p:ph idx="1"/>
          </p:nvPr>
        </p:nvPicPr>
        <p:blipFill>
          <a:blip r:embed="rId4"/>
          <a:stretch>
            <a:fillRect/>
          </a:stretch>
        </p:blipFill>
        <p:spPr>
          <a:xfrm>
            <a:off x="1183536" y="1080293"/>
            <a:ext cx="10025032" cy="5738588"/>
          </a:xfrm>
          <a:prstGeom prst="rect">
            <a:avLst/>
          </a:prstGeom>
        </p:spPr>
      </p:pic>
    </p:spTree>
    <p:extLst>
      <p:ext uri="{BB962C8B-B14F-4D97-AF65-F5344CB8AC3E}">
        <p14:creationId xmlns:p14="http://schemas.microsoft.com/office/powerpoint/2010/main" val="1300618850"/>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10801201" cy="2130971"/>
          </a:xfrm>
          <a:ln>
            <a:noFill/>
          </a:ln>
        </p:spPr>
        <p:txBody>
          <a:bodyPr/>
          <a:lstStyle/>
          <a:p>
            <a:pPr>
              <a:defRPr/>
            </a:pPr>
            <a:r>
              <a:rPr lang="en-US" dirty="0"/>
              <a:t>Selection Statements</a:t>
            </a:r>
          </a:p>
          <a:p>
            <a:r>
              <a:rPr lang="en-US" altLang="en-US" dirty="0"/>
              <a:t>switch (</a:t>
            </a:r>
            <a:r>
              <a:rPr lang="en-US" altLang="en-US" i="1" dirty="0"/>
              <a:t>n</a:t>
            </a:r>
            <a:r>
              <a:rPr lang="en-US" altLang="en-US" dirty="0"/>
              <a:t>) {</a:t>
            </a:r>
            <a:br>
              <a:rPr lang="en-US" altLang="en-US" dirty="0"/>
            </a:br>
            <a:r>
              <a:rPr lang="en-US" altLang="en-US" dirty="0"/>
              <a:t>  case </a:t>
            </a:r>
            <a:r>
              <a:rPr lang="en-US" altLang="en-US" i="1" dirty="0"/>
              <a:t>label1:</a:t>
            </a:r>
            <a:br>
              <a:rPr lang="en-US" altLang="en-US" dirty="0"/>
            </a:br>
            <a:r>
              <a:rPr lang="en-US" altLang="en-US" dirty="0"/>
              <a:t>  </a:t>
            </a:r>
            <a:r>
              <a:rPr lang="en-US" altLang="en-US" i="1" dirty="0"/>
              <a:t>  code to be executed if n=label1;</a:t>
            </a:r>
            <a:br>
              <a:rPr lang="en-US" altLang="en-US" dirty="0"/>
            </a:br>
            <a:r>
              <a:rPr lang="en-US" altLang="en-US" dirty="0"/>
              <a:t>    break;</a:t>
            </a:r>
            <a:br>
              <a:rPr lang="en-US" altLang="en-US" dirty="0"/>
            </a:br>
            <a:r>
              <a:rPr lang="en-US" altLang="en-US" dirty="0"/>
              <a:t>  case </a:t>
            </a:r>
            <a:r>
              <a:rPr lang="en-US" altLang="en-US" i="1" dirty="0"/>
              <a:t>label2:</a:t>
            </a:r>
            <a:br>
              <a:rPr lang="en-US" altLang="en-US" dirty="0"/>
            </a:br>
            <a:r>
              <a:rPr lang="en-US" altLang="en-US" dirty="0"/>
              <a:t>  </a:t>
            </a:r>
            <a:r>
              <a:rPr lang="en-US" altLang="en-US" i="1" dirty="0"/>
              <a:t>  code to be executed if n=label2;</a:t>
            </a:r>
            <a:br>
              <a:rPr lang="en-US" altLang="en-US" dirty="0"/>
            </a:br>
            <a:r>
              <a:rPr lang="en-US" altLang="en-US" dirty="0"/>
              <a:t>    break;</a:t>
            </a:r>
            <a:br>
              <a:rPr lang="en-US" altLang="en-US" dirty="0"/>
            </a:br>
            <a:r>
              <a:rPr lang="en-US" altLang="en-US" dirty="0"/>
              <a:t>  case </a:t>
            </a:r>
            <a:r>
              <a:rPr lang="en-US" altLang="en-US" i="1" dirty="0"/>
              <a:t>label3:</a:t>
            </a:r>
            <a:br>
              <a:rPr lang="en-US" altLang="en-US" dirty="0"/>
            </a:br>
            <a:r>
              <a:rPr lang="en-US" altLang="en-US" dirty="0"/>
              <a:t>  </a:t>
            </a:r>
            <a:r>
              <a:rPr lang="en-US" altLang="en-US" i="1" dirty="0"/>
              <a:t>  code to be executed if n=label3;</a:t>
            </a:r>
            <a:br>
              <a:rPr lang="en-US" altLang="en-US" dirty="0"/>
            </a:br>
            <a:r>
              <a:rPr lang="en-US" altLang="en-US" dirty="0"/>
              <a:t>    break;</a:t>
            </a:r>
            <a:br>
              <a:rPr lang="en-US" altLang="en-US" dirty="0"/>
            </a:br>
            <a:r>
              <a:rPr lang="en-US" altLang="en-US" dirty="0"/>
              <a:t>  ...</a:t>
            </a:r>
            <a:br>
              <a:rPr lang="en-US" altLang="en-US" dirty="0"/>
            </a:br>
            <a:r>
              <a:rPr lang="en-US" altLang="en-US" dirty="0"/>
              <a:t>  default:</a:t>
            </a:r>
            <a:br>
              <a:rPr lang="en-US" altLang="en-US" dirty="0"/>
            </a:br>
            <a:r>
              <a:rPr lang="en-US" altLang="en-US" dirty="0"/>
              <a:t>  </a:t>
            </a:r>
            <a:r>
              <a:rPr lang="en-US" altLang="en-US" i="1" dirty="0"/>
              <a:t>  code to be executed if n is different from all labels; </a:t>
            </a:r>
            <a:r>
              <a:rPr lang="en-US" altLang="en-US" dirty="0"/>
              <a:t>}</a:t>
            </a:r>
          </a:p>
          <a:p>
            <a:pPr marL="0" indent="0">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Flow Control statements in PHP</a:t>
            </a:r>
            <a:endParaRPr lang="en-US" dirty="0">
              <a:latin typeface="Armata" panose="020B0503040500060204" pitchFamily="34" charset="0"/>
            </a:endParaRPr>
          </a:p>
        </p:txBody>
      </p:sp>
    </p:spTree>
    <p:extLst>
      <p:ext uri="{BB962C8B-B14F-4D97-AF65-F5344CB8AC3E}">
        <p14:creationId xmlns:p14="http://schemas.microsoft.com/office/powerpoint/2010/main" val="26153323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10801201" cy="2130971"/>
          </a:xfrm>
          <a:ln>
            <a:noFill/>
          </a:ln>
        </p:spPr>
        <p:txBody>
          <a:bodyPr/>
          <a:lstStyle/>
          <a:p>
            <a:pPr>
              <a:defRPr/>
            </a:pPr>
            <a:r>
              <a:rPr lang="en-IN" dirty="0"/>
              <a:t>The </a:t>
            </a:r>
            <a:r>
              <a:rPr lang="en-IN" dirty="0">
                <a:solidFill>
                  <a:srgbClr val="FF0000"/>
                </a:solidFill>
              </a:rPr>
              <a:t>while, for, and do-while</a:t>
            </a:r>
            <a:r>
              <a:rPr lang="en-IN" dirty="0"/>
              <a:t> statements of PHP are exactly like those of Java. PHP also has a foreach statement</a:t>
            </a:r>
          </a:p>
          <a:p>
            <a:pPr marL="0" indent="0">
              <a:buNone/>
              <a:defRPr/>
            </a:pPr>
            <a:r>
              <a:rPr lang="en-US" dirty="0"/>
              <a:t>Example</a:t>
            </a:r>
          </a:p>
          <a:p>
            <a:pPr marL="0" indent="0">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Loop statements in PHP</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CE53789B-AE70-4CA8-96B6-63FBA547B8CA}"/>
              </a:ext>
            </a:extLst>
          </p:cNvPr>
          <p:cNvPicPr>
            <a:picLocks noChangeAspect="1"/>
          </p:cNvPicPr>
          <p:nvPr/>
        </p:nvPicPr>
        <p:blipFill>
          <a:blip r:embed="rId3"/>
          <a:stretch>
            <a:fillRect/>
          </a:stretch>
        </p:blipFill>
        <p:spPr>
          <a:xfrm>
            <a:off x="5807968" y="1700808"/>
            <a:ext cx="6081663" cy="4435762"/>
          </a:xfrm>
          <a:prstGeom prst="rect">
            <a:avLst/>
          </a:prstGeom>
          <a:ln>
            <a:solidFill>
              <a:schemeClr val="accent2"/>
            </a:solidFill>
          </a:ln>
        </p:spPr>
      </p:pic>
      <p:pic>
        <p:nvPicPr>
          <p:cNvPr id="3" name="Picture 2">
            <a:extLst>
              <a:ext uri="{FF2B5EF4-FFF2-40B4-BE49-F238E27FC236}">
                <a16:creationId xmlns:a16="http://schemas.microsoft.com/office/drawing/2014/main" id="{987C9F1D-3DA1-4108-BC6B-EAF08FDC150C}"/>
              </a:ext>
            </a:extLst>
          </p:cNvPr>
          <p:cNvPicPr>
            <a:picLocks noChangeAspect="1"/>
          </p:cNvPicPr>
          <p:nvPr/>
        </p:nvPicPr>
        <p:blipFill>
          <a:blip r:embed="rId4"/>
          <a:stretch>
            <a:fillRect/>
          </a:stretch>
        </p:blipFill>
        <p:spPr>
          <a:xfrm>
            <a:off x="911424" y="2348880"/>
            <a:ext cx="4044000" cy="3787690"/>
          </a:xfrm>
          <a:prstGeom prst="rect">
            <a:avLst/>
          </a:prstGeom>
        </p:spPr>
      </p:pic>
    </p:spTree>
    <p:extLst>
      <p:ext uri="{BB962C8B-B14F-4D97-AF65-F5344CB8AC3E}">
        <p14:creationId xmlns:p14="http://schemas.microsoft.com/office/powerpoint/2010/main" val="26170397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6336705" cy="2130971"/>
          </a:xfrm>
          <a:ln>
            <a:noFill/>
          </a:ln>
        </p:spPr>
        <p:txBody>
          <a:bodyPr/>
          <a:lstStyle/>
          <a:p>
            <a:pPr>
              <a:defRPr/>
            </a:pPr>
            <a:r>
              <a:rPr lang="en-IN" dirty="0"/>
              <a:t>For loop</a:t>
            </a:r>
          </a:p>
          <a:p>
            <a:pPr>
              <a:defRPr/>
            </a:pPr>
            <a:endParaRPr lang="en-IN" dirty="0"/>
          </a:p>
          <a:p>
            <a:pPr>
              <a:defRPr/>
            </a:pPr>
            <a:endParaRPr lang="en-IN" dirty="0"/>
          </a:p>
          <a:p>
            <a:pPr>
              <a:defRPr/>
            </a:pPr>
            <a:endParaRPr lang="en-IN" dirty="0"/>
          </a:p>
          <a:p>
            <a:pPr>
              <a:defRPr/>
            </a:pPr>
            <a:r>
              <a:rPr lang="en-US" altLang="en-US" dirty="0"/>
              <a:t>The break statement can be used to terminate the execution of a for, foreach, while, or do-while construct.</a:t>
            </a:r>
          </a:p>
          <a:p>
            <a:pPr>
              <a:defRPr/>
            </a:pPr>
            <a:r>
              <a:rPr lang="en-US" altLang="en-US" dirty="0"/>
              <a:t> The continue statement is used in loop constructs to skip the remainder of the current iteration but continue execution at the beginning of the next.</a:t>
            </a:r>
          </a:p>
          <a:p>
            <a:pPr>
              <a:defRPr/>
            </a:pPr>
            <a:endParaRPr lang="en-IN" dirty="0"/>
          </a:p>
          <a:p>
            <a:pPr marL="0" indent="0">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Loop statements in PHP</a:t>
            </a: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2F9C20EB-0DF4-4049-86BB-D2B525A65B05}"/>
              </a:ext>
            </a:extLst>
          </p:cNvPr>
          <p:cNvPicPr>
            <a:picLocks noChangeAspect="1"/>
          </p:cNvPicPr>
          <p:nvPr/>
        </p:nvPicPr>
        <p:blipFill>
          <a:blip r:embed="rId3"/>
          <a:stretch>
            <a:fillRect/>
          </a:stretch>
        </p:blipFill>
        <p:spPr>
          <a:xfrm>
            <a:off x="1127448" y="1537319"/>
            <a:ext cx="5048250" cy="1076325"/>
          </a:xfrm>
          <a:prstGeom prst="rect">
            <a:avLst/>
          </a:prstGeom>
          <a:ln>
            <a:solidFill>
              <a:schemeClr val="accent2"/>
            </a:solidFill>
          </a:ln>
        </p:spPr>
      </p:pic>
      <p:pic>
        <p:nvPicPr>
          <p:cNvPr id="6" name="Picture 5">
            <a:extLst>
              <a:ext uri="{FF2B5EF4-FFF2-40B4-BE49-F238E27FC236}">
                <a16:creationId xmlns:a16="http://schemas.microsoft.com/office/drawing/2014/main" id="{7B4D704A-B87B-4F93-9831-417D28006E17}"/>
              </a:ext>
            </a:extLst>
          </p:cNvPr>
          <p:cNvPicPr>
            <a:picLocks noChangeAspect="1"/>
          </p:cNvPicPr>
          <p:nvPr/>
        </p:nvPicPr>
        <p:blipFill>
          <a:blip r:embed="rId4"/>
          <a:stretch>
            <a:fillRect/>
          </a:stretch>
        </p:blipFill>
        <p:spPr>
          <a:xfrm>
            <a:off x="7167767" y="113331"/>
            <a:ext cx="5019675" cy="3924300"/>
          </a:xfrm>
          <a:prstGeom prst="rect">
            <a:avLst/>
          </a:prstGeom>
          <a:ln>
            <a:solidFill>
              <a:schemeClr val="accent2"/>
            </a:solidFill>
          </a:ln>
        </p:spPr>
      </p:pic>
      <p:pic>
        <p:nvPicPr>
          <p:cNvPr id="7" name="Picture 6">
            <a:extLst>
              <a:ext uri="{FF2B5EF4-FFF2-40B4-BE49-F238E27FC236}">
                <a16:creationId xmlns:a16="http://schemas.microsoft.com/office/drawing/2014/main" id="{2249530F-4B0E-4791-BC75-E0DAD3AE9B29}"/>
              </a:ext>
            </a:extLst>
          </p:cNvPr>
          <p:cNvPicPr>
            <a:picLocks noChangeAspect="1"/>
          </p:cNvPicPr>
          <p:nvPr/>
        </p:nvPicPr>
        <p:blipFill>
          <a:blip r:embed="rId5"/>
          <a:stretch>
            <a:fillRect/>
          </a:stretch>
        </p:blipFill>
        <p:spPr>
          <a:xfrm>
            <a:off x="8040216" y="4299692"/>
            <a:ext cx="2505075" cy="1647825"/>
          </a:xfrm>
          <a:prstGeom prst="rect">
            <a:avLst/>
          </a:prstGeom>
          <a:ln>
            <a:solidFill>
              <a:schemeClr val="accent2"/>
            </a:solidFill>
          </a:ln>
        </p:spPr>
      </p:pic>
    </p:spTree>
    <p:extLst>
      <p:ext uri="{BB962C8B-B14F-4D97-AF65-F5344CB8AC3E}">
        <p14:creationId xmlns:p14="http://schemas.microsoft.com/office/powerpoint/2010/main" val="42591865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96B98F-24A8-4DF9-B0DB-D8CB65F5FED5}"/>
              </a:ext>
            </a:extLst>
          </p:cNvPr>
          <p:cNvPicPr>
            <a:picLocks noChangeAspect="1"/>
          </p:cNvPicPr>
          <p:nvPr/>
        </p:nvPicPr>
        <p:blipFill>
          <a:blip r:embed="rId2"/>
          <a:stretch>
            <a:fillRect/>
          </a:stretch>
        </p:blipFill>
        <p:spPr>
          <a:xfrm>
            <a:off x="7789054" y="1442695"/>
            <a:ext cx="4391025" cy="3800475"/>
          </a:xfrm>
          <a:prstGeom prst="rect">
            <a:avLst/>
          </a:prstGeom>
        </p:spPr>
      </p:pic>
      <p:pic>
        <p:nvPicPr>
          <p:cNvPr id="5" name="Picture 4">
            <a:extLst>
              <a:ext uri="{FF2B5EF4-FFF2-40B4-BE49-F238E27FC236}">
                <a16:creationId xmlns:a16="http://schemas.microsoft.com/office/drawing/2014/main" id="{B896B57A-AEFB-4276-81A1-B961D7C66569}"/>
              </a:ext>
            </a:extLst>
          </p:cNvPr>
          <p:cNvPicPr>
            <a:picLocks noChangeAspect="1"/>
          </p:cNvPicPr>
          <p:nvPr/>
        </p:nvPicPr>
        <p:blipFill>
          <a:blip r:embed="rId3"/>
          <a:stretch>
            <a:fillRect/>
          </a:stretch>
        </p:blipFill>
        <p:spPr>
          <a:xfrm>
            <a:off x="263352" y="116632"/>
            <a:ext cx="7082621" cy="6452603"/>
          </a:xfrm>
          <a:prstGeom prst="rect">
            <a:avLst/>
          </a:prstGeom>
        </p:spPr>
      </p:pic>
    </p:spTree>
    <p:extLst>
      <p:ext uri="{BB962C8B-B14F-4D97-AF65-F5344CB8AC3E}">
        <p14:creationId xmlns:p14="http://schemas.microsoft.com/office/powerpoint/2010/main" val="2351564040"/>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6336705" cy="2130971"/>
          </a:xfrm>
          <a:ln>
            <a:noFill/>
          </a:ln>
        </p:spPr>
        <p:txBody>
          <a:bodyPr/>
          <a:lstStyle/>
          <a:p>
            <a:pPr>
              <a:defRPr/>
            </a:pPr>
            <a:r>
              <a:rPr lang="en-IN" dirty="0"/>
              <a:t>For each loop</a:t>
            </a:r>
          </a:p>
          <a:p>
            <a:pPr>
              <a:defRPr/>
            </a:pPr>
            <a:endParaRPr lang="en-IN" dirty="0"/>
          </a:p>
          <a:p>
            <a:pPr>
              <a:defRPr/>
            </a:pPr>
            <a:endParaRPr lang="en-IN" dirty="0"/>
          </a:p>
          <a:p>
            <a:pPr>
              <a:defRPr/>
            </a:pPr>
            <a:endParaRPr lang="en-IN" dirty="0"/>
          </a:p>
          <a:p>
            <a:pPr>
              <a:lnSpc>
                <a:spcPct val="150000"/>
              </a:lnSpc>
              <a:spcBef>
                <a:spcPct val="0"/>
              </a:spcBef>
              <a:buSzTx/>
              <a:buFontTx/>
              <a:buNone/>
            </a:pPr>
            <a:endParaRPr lang="en-US" altLang="en-US" dirty="0"/>
          </a:p>
          <a:p>
            <a:pPr>
              <a:lnSpc>
                <a:spcPct val="150000"/>
              </a:lnSpc>
              <a:spcBef>
                <a:spcPct val="0"/>
              </a:spcBef>
              <a:buSzTx/>
              <a:buFontTx/>
              <a:buNone/>
            </a:pPr>
            <a:r>
              <a:rPr lang="en-US" altLang="en-US" dirty="0"/>
              <a:t>The </a:t>
            </a:r>
            <a:r>
              <a:rPr lang="en-IN" altLang="en-US" dirty="0">
                <a:latin typeface="Arial" panose="020B0604020202020204" pitchFamily="34" charset="0"/>
              </a:rPr>
              <a:t>For every loop iteration, the value of the current array element is assigned to $value (and the array pointer is moved by one) - so on the next loop iteration, you'll be looking at the next array value</a:t>
            </a:r>
          </a:p>
          <a:p>
            <a:pPr>
              <a:defRPr/>
            </a:pPr>
            <a:endParaRPr lang="en-IN" dirty="0"/>
          </a:p>
          <a:p>
            <a:pPr marL="0" indent="0">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Loop statements in PHP</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BF6473E3-6250-4ED7-B718-D9606DC31DC9}"/>
              </a:ext>
            </a:extLst>
          </p:cNvPr>
          <p:cNvPicPr>
            <a:picLocks noChangeAspect="1"/>
          </p:cNvPicPr>
          <p:nvPr/>
        </p:nvPicPr>
        <p:blipFill>
          <a:blip r:embed="rId3"/>
          <a:stretch>
            <a:fillRect/>
          </a:stretch>
        </p:blipFill>
        <p:spPr>
          <a:xfrm>
            <a:off x="983432" y="1484784"/>
            <a:ext cx="4638675" cy="1466850"/>
          </a:xfrm>
          <a:prstGeom prst="rect">
            <a:avLst/>
          </a:prstGeom>
        </p:spPr>
      </p:pic>
      <p:pic>
        <p:nvPicPr>
          <p:cNvPr id="3" name="Picture 2">
            <a:extLst>
              <a:ext uri="{FF2B5EF4-FFF2-40B4-BE49-F238E27FC236}">
                <a16:creationId xmlns:a16="http://schemas.microsoft.com/office/drawing/2014/main" id="{D4CBCB15-4B8C-405C-A0C2-9AAA17C133BC}"/>
              </a:ext>
            </a:extLst>
          </p:cNvPr>
          <p:cNvPicPr>
            <a:picLocks noChangeAspect="1"/>
          </p:cNvPicPr>
          <p:nvPr/>
        </p:nvPicPr>
        <p:blipFill>
          <a:blip r:embed="rId4"/>
          <a:stretch>
            <a:fillRect/>
          </a:stretch>
        </p:blipFill>
        <p:spPr>
          <a:xfrm>
            <a:off x="7824192" y="1124744"/>
            <a:ext cx="3990975" cy="3448050"/>
          </a:xfrm>
          <a:prstGeom prst="rect">
            <a:avLst/>
          </a:prstGeom>
        </p:spPr>
      </p:pic>
      <p:pic>
        <p:nvPicPr>
          <p:cNvPr id="8" name="Picture 7">
            <a:extLst>
              <a:ext uri="{FF2B5EF4-FFF2-40B4-BE49-F238E27FC236}">
                <a16:creationId xmlns:a16="http://schemas.microsoft.com/office/drawing/2014/main" id="{AF7CDCEB-BA9E-4B04-B97C-9D7D7E8AD880}"/>
              </a:ext>
            </a:extLst>
          </p:cNvPr>
          <p:cNvPicPr>
            <a:picLocks noChangeAspect="1"/>
          </p:cNvPicPr>
          <p:nvPr/>
        </p:nvPicPr>
        <p:blipFill>
          <a:blip r:embed="rId5"/>
          <a:stretch>
            <a:fillRect/>
          </a:stretch>
        </p:blipFill>
        <p:spPr>
          <a:xfrm>
            <a:off x="7824192" y="4797152"/>
            <a:ext cx="1190625" cy="1104900"/>
          </a:xfrm>
          <a:prstGeom prst="rect">
            <a:avLst/>
          </a:prstGeom>
        </p:spPr>
      </p:pic>
    </p:spTree>
    <p:extLst>
      <p:ext uri="{BB962C8B-B14F-4D97-AF65-F5344CB8AC3E}">
        <p14:creationId xmlns:p14="http://schemas.microsoft.com/office/powerpoint/2010/main" val="3403086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Questions</a:t>
            </a:r>
            <a:endParaRPr lang="en-US" dirty="0">
              <a:latin typeface="Armata" panose="020B0503040500060204" pitchFamily="34" charset="0"/>
            </a:endParaRPr>
          </a:p>
        </p:txBody>
      </p:sp>
      <p:sp>
        <p:nvSpPr>
          <p:cNvPr id="3" name="Content Placeholder 2">
            <a:extLst>
              <a:ext uri="{FF2B5EF4-FFF2-40B4-BE49-F238E27FC236}">
                <a16:creationId xmlns:a16="http://schemas.microsoft.com/office/drawing/2014/main" id="{1B6B7948-6FCE-41E9-B58E-A8F0AA228AC9}"/>
              </a:ext>
            </a:extLst>
          </p:cNvPr>
          <p:cNvSpPr>
            <a:spLocks noGrp="1"/>
          </p:cNvSpPr>
          <p:nvPr>
            <p:ph idx="1"/>
          </p:nvPr>
        </p:nvSpPr>
        <p:spPr/>
        <p:txBody>
          <a:bodyPr/>
          <a:lstStyle/>
          <a:p>
            <a:pPr marL="457200" indent="-457200">
              <a:buFont typeface="+mj-lt"/>
              <a:buAutoNum type="arabicPeriod"/>
            </a:pPr>
            <a:r>
              <a:rPr lang="en-US" dirty="0"/>
              <a:t>Write a PHP program to compute the sum of the positive integers up to 100 using do while loop </a:t>
            </a:r>
          </a:p>
          <a:p>
            <a:pPr marL="457200" indent="-457200">
              <a:buFont typeface="+mj-lt"/>
              <a:buAutoNum type="arabicPeriod"/>
            </a:pPr>
            <a:r>
              <a:rPr lang="en-US" dirty="0"/>
              <a:t>Write a PHP program to check whether the given number is Armstrong or not	</a:t>
            </a:r>
          </a:p>
          <a:p>
            <a:endParaRPr lang="en-US" dirty="0"/>
          </a:p>
        </p:txBody>
      </p:sp>
      <p:pic>
        <p:nvPicPr>
          <p:cNvPr id="4" name="Picture 3">
            <a:extLst>
              <a:ext uri="{FF2B5EF4-FFF2-40B4-BE49-F238E27FC236}">
                <a16:creationId xmlns:a16="http://schemas.microsoft.com/office/drawing/2014/main" id="{28FAB6EB-B993-410E-B902-DACC6BA235CD}"/>
              </a:ext>
            </a:extLst>
          </p:cNvPr>
          <p:cNvPicPr>
            <a:picLocks noChangeAspect="1"/>
          </p:cNvPicPr>
          <p:nvPr/>
        </p:nvPicPr>
        <p:blipFill>
          <a:blip r:embed="rId3"/>
          <a:stretch>
            <a:fillRect/>
          </a:stretch>
        </p:blipFill>
        <p:spPr>
          <a:xfrm>
            <a:off x="2567608" y="2780928"/>
            <a:ext cx="6306430" cy="3115110"/>
          </a:xfrm>
          <a:prstGeom prst="rect">
            <a:avLst/>
          </a:prstGeom>
        </p:spPr>
      </p:pic>
    </p:spTree>
    <p:extLst>
      <p:ext uri="{BB962C8B-B14F-4D97-AF65-F5344CB8AC3E}">
        <p14:creationId xmlns:p14="http://schemas.microsoft.com/office/powerpoint/2010/main" val="59917465"/>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Questions</a:t>
            </a:r>
            <a:endParaRPr lang="en-US" dirty="0">
              <a:latin typeface="Armata" panose="020B0503040500060204" pitchFamily="34" charset="0"/>
            </a:endParaRPr>
          </a:p>
        </p:txBody>
      </p:sp>
      <p:pic>
        <p:nvPicPr>
          <p:cNvPr id="2" name="Content Placeholder 1">
            <a:extLst>
              <a:ext uri="{FF2B5EF4-FFF2-40B4-BE49-F238E27FC236}">
                <a16:creationId xmlns:a16="http://schemas.microsoft.com/office/drawing/2014/main" id="{66DD3046-F2D4-4964-889B-3746A8F62DE5}"/>
              </a:ext>
            </a:extLst>
          </p:cNvPr>
          <p:cNvPicPr>
            <a:picLocks noGrp="1" noChangeAspect="1"/>
          </p:cNvPicPr>
          <p:nvPr>
            <p:ph idx="1"/>
          </p:nvPr>
        </p:nvPicPr>
        <p:blipFill>
          <a:blip r:embed="rId3"/>
          <a:stretch>
            <a:fillRect/>
          </a:stretch>
        </p:blipFill>
        <p:spPr>
          <a:xfrm>
            <a:off x="804124" y="1506929"/>
            <a:ext cx="10583752" cy="4658375"/>
          </a:xfrm>
          <a:prstGeom prst="rect">
            <a:avLst/>
          </a:prstGeom>
        </p:spPr>
      </p:pic>
    </p:spTree>
    <p:extLst>
      <p:ext uri="{BB962C8B-B14F-4D97-AF65-F5344CB8AC3E}">
        <p14:creationId xmlns:p14="http://schemas.microsoft.com/office/powerpoint/2010/main" val="90708427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Questions</a:t>
            </a:r>
            <a:endParaRPr lang="en-US" dirty="0">
              <a:latin typeface="Armata" panose="020B0503040500060204" pitchFamily="34" charset="0"/>
            </a:endParaRPr>
          </a:p>
        </p:txBody>
      </p:sp>
      <p:sp>
        <p:nvSpPr>
          <p:cNvPr id="4" name="Content Placeholder 3">
            <a:extLst>
              <a:ext uri="{FF2B5EF4-FFF2-40B4-BE49-F238E27FC236}">
                <a16:creationId xmlns:a16="http://schemas.microsoft.com/office/drawing/2014/main" id="{CAC80C7B-F8BA-4489-AFFD-1FBE569492E3}"/>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4929280E-8179-4B07-B70C-B73D4F2551A7}"/>
              </a:ext>
            </a:extLst>
          </p:cNvPr>
          <p:cNvPicPr>
            <a:picLocks noChangeAspect="1"/>
          </p:cNvPicPr>
          <p:nvPr/>
        </p:nvPicPr>
        <p:blipFill>
          <a:blip r:embed="rId3"/>
          <a:stretch>
            <a:fillRect/>
          </a:stretch>
        </p:blipFill>
        <p:spPr>
          <a:xfrm>
            <a:off x="437913" y="309127"/>
            <a:ext cx="9440592" cy="6239746"/>
          </a:xfrm>
          <a:prstGeom prst="rect">
            <a:avLst/>
          </a:prstGeom>
        </p:spPr>
      </p:pic>
    </p:spTree>
    <p:extLst>
      <p:ext uri="{BB962C8B-B14F-4D97-AF65-F5344CB8AC3E}">
        <p14:creationId xmlns:p14="http://schemas.microsoft.com/office/powerpoint/2010/main" val="1359703796"/>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Basic Programs-Palindrome number</a:t>
            </a:r>
            <a:endParaRPr lang="en-US" dirty="0">
              <a:latin typeface="Armata" panose="020B0503040500060204" pitchFamily="34" charset="0"/>
            </a:endParaRPr>
          </a:p>
        </p:txBody>
      </p:sp>
      <p:pic>
        <p:nvPicPr>
          <p:cNvPr id="10" name="Content Placeholder 9">
            <a:extLst>
              <a:ext uri="{FF2B5EF4-FFF2-40B4-BE49-F238E27FC236}">
                <a16:creationId xmlns:a16="http://schemas.microsoft.com/office/drawing/2014/main" id="{7FBC040B-D500-447A-A250-EFE95FC527C2}"/>
              </a:ext>
            </a:extLst>
          </p:cNvPr>
          <p:cNvPicPr>
            <a:picLocks noGrp="1" noChangeAspect="1"/>
          </p:cNvPicPr>
          <p:nvPr>
            <p:ph idx="1"/>
          </p:nvPr>
        </p:nvPicPr>
        <p:blipFill>
          <a:blip r:embed="rId3"/>
          <a:stretch>
            <a:fillRect/>
          </a:stretch>
        </p:blipFill>
        <p:spPr>
          <a:xfrm>
            <a:off x="911424" y="1204639"/>
            <a:ext cx="4248472" cy="4712244"/>
          </a:xfrm>
          <a:prstGeom prst="rect">
            <a:avLst/>
          </a:prstGeom>
        </p:spPr>
      </p:pic>
    </p:spTree>
    <p:extLst>
      <p:ext uri="{BB962C8B-B14F-4D97-AF65-F5344CB8AC3E}">
        <p14:creationId xmlns:p14="http://schemas.microsoft.com/office/powerpoint/2010/main" val="419061868"/>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Arrays</a:t>
            </a:r>
          </a:p>
        </p:txBody>
      </p:sp>
    </p:spTree>
    <p:extLst>
      <p:ext uri="{BB962C8B-B14F-4D97-AF65-F5344CB8AC3E}">
        <p14:creationId xmlns:p14="http://schemas.microsoft.com/office/powerpoint/2010/main" val="2882870798"/>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11568609" cy="5155308"/>
          </a:xfrm>
          <a:ln>
            <a:noFill/>
          </a:ln>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US" dirty="0"/>
              <a:t>PHP provides the capability to store data in arrays. Arrays are divided into elements that behave as individual variables. Array names, begin with the $ symbol.</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US" dirty="0"/>
              <a:t>Individual array elements are accessed by following the array’s variable name with an index enclosed in square brackets ([]).</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US" dirty="0"/>
              <a:t>If a value is assigned to an array element of an array that does not exist, then the array is created</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US" dirty="0"/>
              <a:t>assigning a value to an element where the index is omitted appends a new element to the end of the array</a:t>
            </a:r>
            <a:endParaRPr lang="en-GB" dirty="0"/>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t>In PHP, there are three kinds of arrays:</a:t>
            </a:r>
          </a:p>
          <a:p>
            <a:pPr marL="0" indent="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solidFill>
                  <a:srgbClr val="DC2300"/>
                </a:solidFill>
              </a:rPr>
              <a:t>	&gt; </a:t>
            </a:r>
            <a:r>
              <a:rPr lang="en-GB" dirty="0">
                <a:solidFill>
                  <a:srgbClr val="800000"/>
                </a:solidFill>
              </a:rPr>
              <a:t>Numeric array</a:t>
            </a:r>
            <a:r>
              <a:rPr lang="en-GB" dirty="0"/>
              <a:t> - An array with a numeric index</a:t>
            </a:r>
          </a:p>
          <a:p>
            <a:pPr marL="0" indent="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solidFill>
                  <a:srgbClr val="DC2300"/>
                </a:solidFill>
              </a:rPr>
              <a:t>	&gt; </a:t>
            </a:r>
            <a:r>
              <a:rPr lang="en-GB" dirty="0">
                <a:solidFill>
                  <a:srgbClr val="800000"/>
                </a:solidFill>
              </a:rPr>
              <a:t>Associative array</a:t>
            </a:r>
            <a:r>
              <a:rPr lang="en-GB" dirty="0"/>
              <a:t> - An array where each ID key is associated with a value</a:t>
            </a:r>
          </a:p>
          <a:p>
            <a:pPr marL="0" indent="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solidFill>
                  <a:srgbClr val="DC2300"/>
                </a:solidFill>
              </a:rPr>
              <a:t>	&gt; </a:t>
            </a:r>
            <a:r>
              <a:rPr lang="en-GB" dirty="0">
                <a:solidFill>
                  <a:srgbClr val="800000"/>
                </a:solidFill>
              </a:rPr>
              <a:t>Multidimensional array</a:t>
            </a:r>
            <a:r>
              <a:rPr lang="en-GB" dirty="0"/>
              <a:t> - An array containing one or more arrays</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Arrays in PHP</a:t>
            </a:r>
            <a:endParaRPr lang="en-US" dirty="0">
              <a:latin typeface="Armata" panose="020B0503040500060204" pitchFamily="34" charset="0"/>
            </a:endParaRPr>
          </a:p>
        </p:txBody>
      </p:sp>
    </p:spTree>
    <p:extLst>
      <p:ext uri="{BB962C8B-B14F-4D97-AF65-F5344CB8AC3E}">
        <p14:creationId xmlns:p14="http://schemas.microsoft.com/office/powerpoint/2010/main" val="11966187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11568609" cy="5155308"/>
          </a:xfrm>
          <a:ln>
            <a:noFill/>
          </a:ln>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t>A numeric array stores each </a:t>
            </a:r>
            <a:r>
              <a:rPr lang="en-GB" dirty="0">
                <a:solidFill>
                  <a:srgbClr val="FF0000"/>
                </a:solidFill>
              </a:rPr>
              <a:t>array element with a numeric index</a:t>
            </a:r>
            <a:r>
              <a:rPr lang="en-GB" dirty="0"/>
              <a:t>.</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solidFill>
                  <a:srgbClr val="DC2300"/>
                </a:solidFill>
              </a:rPr>
              <a:t>&gt; </a:t>
            </a:r>
            <a:r>
              <a:rPr lang="en-GB" dirty="0"/>
              <a:t>There are two methods to create a numeric array.</a:t>
            </a:r>
          </a:p>
          <a:p>
            <a:pPr marL="0" indent="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solidFill>
                  <a:srgbClr val="FF0000"/>
                </a:solidFill>
              </a:rPr>
              <a:t>A</a:t>
            </a:r>
            <a:r>
              <a:rPr lang="en-IN" dirty="0" err="1">
                <a:solidFill>
                  <a:srgbClr val="FF0000"/>
                </a:solidFill>
              </a:rPr>
              <a:t>ssignment</a:t>
            </a:r>
            <a:r>
              <a:rPr lang="en-IN" dirty="0">
                <a:solidFill>
                  <a:srgbClr val="FF0000"/>
                </a:solidFill>
              </a:rPr>
              <a:t> operation creates</a:t>
            </a:r>
            <a:r>
              <a:rPr lang="en-IN" dirty="0"/>
              <a:t> scalar variables. The same operation works for</a:t>
            </a:r>
            <a:r>
              <a:rPr lang="en-IN" dirty="0">
                <a:solidFill>
                  <a:srgbClr val="FF0000"/>
                </a:solidFill>
              </a:rPr>
              <a:t> arrays</a:t>
            </a:r>
            <a:r>
              <a:rPr lang="en-IN" dirty="0"/>
              <a:t>—assigning a value to an element of an array that does not yet exist creates the array.</a:t>
            </a:r>
          </a:p>
          <a:p>
            <a:pPr>
              <a:defRPr/>
            </a:pPr>
            <a:r>
              <a:rPr lang="en-IN" dirty="0"/>
              <a:t>For example, assuming no array named $list currently exists, the following statement creates one</a:t>
            </a:r>
            <a:r>
              <a:rPr lang="en-IN" dirty="0">
                <a:solidFill>
                  <a:schemeClr val="accent1"/>
                </a:solidFill>
              </a:rPr>
              <a:t>:$list[0] = 17</a:t>
            </a:r>
            <a:r>
              <a:rPr lang="en-IN" dirty="0"/>
              <a:t>;</a:t>
            </a:r>
          </a:p>
          <a:p>
            <a:pPr>
              <a:defRPr/>
            </a:pPr>
            <a:r>
              <a:rPr lang="en-IN" dirty="0"/>
              <a:t>If the script has a scalar variable named $list prior to this assignment, $ list is now an array</a:t>
            </a:r>
          </a:p>
          <a:p>
            <a:pPr>
              <a:defRPr/>
            </a:pPr>
            <a:r>
              <a:rPr lang="en-IN" dirty="0"/>
              <a:t>If the array currently has no elements with numeric keys, the value 0 is used. For example, in the following code, the second element's subscript will be 2:</a:t>
            </a:r>
          </a:p>
          <a:p>
            <a:pPr>
              <a:defRPr/>
            </a:pPr>
            <a:r>
              <a:rPr lang="en-IN" dirty="0">
                <a:solidFill>
                  <a:schemeClr val="accent1"/>
                </a:solidFill>
              </a:rPr>
              <a:t>$list[l] </a:t>
            </a:r>
            <a:r>
              <a:rPr lang="en-IN" dirty="0"/>
              <a:t>= "Today is my birthday!"; </a:t>
            </a:r>
            <a:r>
              <a:rPr lang="en-IN" dirty="0">
                <a:solidFill>
                  <a:schemeClr val="accent1"/>
                </a:solidFill>
              </a:rPr>
              <a:t>$list[]</a:t>
            </a:r>
            <a:r>
              <a:rPr lang="en-IN" dirty="0"/>
              <a:t> = 42;</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Creating numeric Arrays in PHP</a:t>
            </a:r>
            <a:endParaRPr lang="en-US" dirty="0">
              <a:latin typeface="Armata" panose="020B0503040500060204" pitchFamily="34" charset="0"/>
            </a:endParaRPr>
          </a:p>
        </p:txBody>
      </p:sp>
    </p:spTree>
    <p:extLst>
      <p:ext uri="{BB962C8B-B14F-4D97-AF65-F5344CB8AC3E}">
        <p14:creationId xmlns:p14="http://schemas.microsoft.com/office/powerpoint/2010/main" val="4252716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11568609" cy="5155308"/>
          </a:xfrm>
          <a:ln>
            <a:noFill/>
          </a:ln>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t>A numeric array stores each </a:t>
            </a:r>
            <a:r>
              <a:rPr lang="en-GB" dirty="0">
                <a:solidFill>
                  <a:srgbClr val="FF0000"/>
                </a:solidFill>
              </a:rPr>
              <a:t>array element with a numeric index</a:t>
            </a:r>
            <a:r>
              <a:rPr lang="en-GB" dirty="0"/>
              <a:t>.</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a:solidFill>
                  <a:srgbClr val="DC2300"/>
                </a:solidFill>
              </a:rPr>
              <a:t>&gt; </a:t>
            </a:r>
            <a:r>
              <a:rPr lang="en-GB" dirty="0"/>
              <a:t>There are two methods to create a numeric array.</a:t>
            </a:r>
          </a:p>
          <a:p>
            <a:pPr marL="0" indent="0">
              <a:buNone/>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IN" altLang="en-US" dirty="0"/>
              <a:t>2)second way </a:t>
            </a:r>
            <a:r>
              <a:rPr lang="en-IN" altLang="en-US" dirty="0">
                <a:solidFill>
                  <a:srgbClr val="FF0000"/>
                </a:solidFill>
              </a:rPr>
              <a:t>to create an array is with the array construct</a:t>
            </a:r>
            <a:r>
              <a:rPr lang="en-IN" altLang="en-US" dirty="0"/>
              <a:t>.</a:t>
            </a: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dirty="0"/>
              <a:t>In the following example the index is automatically assigned (the index starts at 0):</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Creating numeric Arrays in PHP</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53D5787B-AA07-4C1C-923B-48A363828630}"/>
              </a:ext>
            </a:extLst>
          </p:cNvPr>
          <p:cNvPicPr>
            <a:picLocks noChangeAspect="1"/>
          </p:cNvPicPr>
          <p:nvPr/>
        </p:nvPicPr>
        <p:blipFill>
          <a:blip r:embed="rId3"/>
          <a:stretch>
            <a:fillRect/>
          </a:stretch>
        </p:blipFill>
        <p:spPr>
          <a:xfrm>
            <a:off x="1055440" y="2953878"/>
            <a:ext cx="9836378" cy="634605"/>
          </a:xfrm>
          <a:prstGeom prst="rect">
            <a:avLst/>
          </a:prstGeom>
          <a:ln>
            <a:solidFill>
              <a:schemeClr val="accent2"/>
            </a:solidFill>
          </a:ln>
        </p:spPr>
      </p:pic>
      <p:pic>
        <p:nvPicPr>
          <p:cNvPr id="3" name="Picture 2">
            <a:extLst>
              <a:ext uri="{FF2B5EF4-FFF2-40B4-BE49-F238E27FC236}">
                <a16:creationId xmlns:a16="http://schemas.microsoft.com/office/drawing/2014/main" id="{F5729BC6-854A-425D-92A6-16EC856501A3}"/>
              </a:ext>
            </a:extLst>
          </p:cNvPr>
          <p:cNvPicPr>
            <a:picLocks noChangeAspect="1"/>
          </p:cNvPicPr>
          <p:nvPr/>
        </p:nvPicPr>
        <p:blipFill>
          <a:blip r:embed="rId4"/>
          <a:stretch>
            <a:fillRect/>
          </a:stretch>
        </p:blipFill>
        <p:spPr>
          <a:xfrm>
            <a:off x="4223791" y="3789040"/>
            <a:ext cx="3917235" cy="1728192"/>
          </a:xfrm>
          <a:prstGeom prst="rect">
            <a:avLst/>
          </a:prstGeom>
          <a:ln>
            <a:solidFill>
              <a:schemeClr val="accent2"/>
            </a:solidFill>
          </a:ln>
        </p:spPr>
      </p:pic>
    </p:spTree>
    <p:extLst>
      <p:ext uri="{BB962C8B-B14F-4D97-AF65-F5344CB8AC3E}">
        <p14:creationId xmlns:p14="http://schemas.microsoft.com/office/powerpoint/2010/main" val="4198411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3391" y="1009996"/>
            <a:ext cx="11568609" cy="5155308"/>
          </a:xfrm>
          <a:ln>
            <a:noFill/>
          </a:ln>
        </p:spPr>
        <p:txBody>
          <a:bodyPr/>
          <a:lstStyle/>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dirty="0">
                <a:solidFill>
                  <a:srgbClr val="DC2300"/>
                </a:solidFill>
              </a:rPr>
              <a:t> </a:t>
            </a:r>
            <a:r>
              <a:rPr lang="en-GB" altLang="en-US" dirty="0"/>
              <a:t>With an associative array, each </a:t>
            </a:r>
            <a:r>
              <a:rPr lang="en-GB" altLang="en-US" dirty="0">
                <a:solidFill>
                  <a:schemeClr val="accent1"/>
                </a:solidFill>
              </a:rPr>
              <a:t>ID key is associated with a value.</a:t>
            </a: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dirty="0">
                <a:solidFill>
                  <a:srgbClr val="DC2300"/>
                </a:solidFill>
              </a:rPr>
              <a:t> </a:t>
            </a:r>
            <a:r>
              <a:rPr lang="en-GB" altLang="en-US" dirty="0"/>
              <a:t>When storing data about specific named values, a numerical array is not always the best way to do it.</a:t>
            </a: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en-US" dirty="0">
                <a:solidFill>
                  <a:srgbClr val="DC2300"/>
                </a:solidFill>
              </a:rPr>
              <a:t> </a:t>
            </a:r>
            <a:r>
              <a:rPr lang="en-GB" altLang="en-US" dirty="0"/>
              <a:t>With associative arrays we can use the values as keys and assign values to them.</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Creating Associative Arrays in PHP</a:t>
            </a: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7AF87631-9D56-4B13-9BAD-408A5095E199}"/>
              </a:ext>
            </a:extLst>
          </p:cNvPr>
          <p:cNvPicPr>
            <a:picLocks noChangeAspect="1"/>
          </p:cNvPicPr>
          <p:nvPr/>
        </p:nvPicPr>
        <p:blipFill>
          <a:blip r:embed="rId3"/>
          <a:stretch>
            <a:fillRect/>
          </a:stretch>
        </p:blipFill>
        <p:spPr>
          <a:xfrm>
            <a:off x="119336" y="2544663"/>
            <a:ext cx="8286750" cy="2085975"/>
          </a:xfrm>
          <a:prstGeom prst="rect">
            <a:avLst/>
          </a:prstGeom>
        </p:spPr>
      </p:pic>
      <p:pic>
        <p:nvPicPr>
          <p:cNvPr id="6" name="Picture 5">
            <a:extLst>
              <a:ext uri="{FF2B5EF4-FFF2-40B4-BE49-F238E27FC236}">
                <a16:creationId xmlns:a16="http://schemas.microsoft.com/office/drawing/2014/main" id="{869D06ED-B733-4ADB-A7C7-FB8347C2E8A6}"/>
              </a:ext>
            </a:extLst>
          </p:cNvPr>
          <p:cNvPicPr>
            <a:picLocks noChangeAspect="1"/>
          </p:cNvPicPr>
          <p:nvPr/>
        </p:nvPicPr>
        <p:blipFill>
          <a:blip r:embed="rId4"/>
          <a:stretch>
            <a:fillRect/>
          </a:stretch>
        </p:blipFill>
        <p:spPr>
          <a:xfrm>
            <a:off x="343173" y="3185956"/>
            <a:ext cx="7839075" cy="3648075"/>
          </a:xfrm>
          <a:prstGeom prst="rect">
            <a:avLst/>
          </a:prstGeom>
        </p:spPr>
      </p:pic>
    </p:spTree>
    <p:extLst>
      <p:ext uri="{BB962C8B-B14F-4D97-AF65-F5344CB8AC3E}">
        <p14:creationId xmlns:p14="http://schemas.microsoft.com/office/powerpoint/2010/main" val="32889872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Creating Associative Arrays in PHP</a:t>
            </a:r>
            <a:endParaRPr lang="en-US" dirty="0">
              <a:latin typeface="Armata" panose="020B0503040500060204" pitchFamily="34" charset="0"/>
            </a:endParaRPr>
          </a:p>
        </p:txBody>
      </p:sp>
      <p:pic>
        <p:nvPicPr>
          <p:cNvPr id="7" name="Content Placeholder 6">
            <a:extLst>
              <a:ext uri="{FF2B5EF4-FFF2-40B4-BE49-F238E27FC236}">
                <a16:creationId xmlns:a16="http://schemas.microsoft.com/office/drawing/2014/main" id="{86AA00B7-3CED-41F1-90C0-FA8B7CAACDAC}"/>
              </a:ext>
            </a:extLst>
          </p:cNvPr>
          <p:cNvPicPr>
            <a:picLocks noGrp="1" noChangeAspect="1"/>
          </p:cNvPicPr>
          <p:nvPr>
            <p:ph idx="1"/>
          </p:nvPr>
        </p:nvPicPr>
        <p:blipFill>
          <a:blip r:embed="rId3"/>
          <a:stretch>
            <a:fillRect/>
          </a:stretch>
        </p:blipFill>
        <p:spPr>
          <a:xfrm>
            <a:off x="181155" y="1700808"/>
            <a:ext cx="7300462" cy="3168352"/>
          </a:xfrm>
          <a:prstGeom prst="rect">
            <a:avLst/>
          </a:prstGeom>
        </p:spPr>
      </p:pic>
      <p:pic>
        <p:nvPicPr>
          <p:cNvPr id="8" name="Picture 7">
            <a:extLst>
              <a:ext uri="{FF2B5EF4-FFF2-40B4-BE49-F238E27FC236}">
                <a16:creationId xmlns:a16="http://schemas.microsoft.com/office/drawing/2014/main" id="{78C44B2D-EB1B-4655-8FA4-9616A3D3A547}"/>
              </a:ext>
            </a:extLst>
          </p:cNvPr>
          <p:cNvPicPr>
            <a:picLocks noChangeAspect="1"/>
          </p:cNvPicPr>
          <p:nvPr/>
        </p:nvPicPr>
        <p:blipFill>
          <a:blip r:embed="rId4"/>
          <a:stretch>
            <a:fillRect/>
          </a:stretch>
        </p:blipFill>
        <p:spPr>
          <a:xfrm>
            <a:off x="8040216" y="1124744"/>
            <a:ext cx="2933700" cy="4895850"/>
          </a:xfrm>
          <a:prstGeom prst="rect">
            <a:avLst/>
          </a:prstGeom>
        </p:spPr>
      </p:pic>
    </p:spTree>
    <p:extLst>
      <p:ext uri="{BB962C8B-B14F-4D97-AF65-F5344CB8AC3E}">
        <p14:creationId xmlns:p14="http://schemas.microsoft.com/office/powerpoint/2010/main" val="738363435"/>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ABA6A3-34CA-403A-829F-8252389A67A4}"/>
              </a:ext>
            </a:extLst>
          </p:cNvPr>
          <p:cNvPicPr>
            <a:picLocks noChangeAspect="1"/>
          </p:cNvPicPr>
          <p:nvPr/>
        </p:nvPicPr>
        <p:blipFill>
          <a:blip r:embed="rId2"/>
          <a:stretch>
            <a:fillRect/>
          </a:stretch>
        </p:blipFill>
        <p:spPr>
          <a:xfrm>
            <a:off x="119336" y="116632"/>
            <a:ext cx="6840760" cy="6696744"/>
          </a:xfrm>
          <a:prstGeom prst="rect">
            <a:avLst/>
          </a:prstGeom>
        </p:spPr>
      </p:pic>
      <p:pic>
        <p:nvPicPr>
          <p:cNvPr id="3" name="Picture 2">
            <a:extLst>
              <a:ext uri="{FF2B5EF4-FFF2-40B4-BE49-F238E27FC236}">
                <a16:creationId xmlns:a16="http://schemas.microsoft.com/office/drawing/2014/main" id="{F1822C63-CA90-441B-8F1C-799D68CCE599}"/>
              </a:ext>
            </a:extLst>
          </p:cNvPr>
          <p:cNvPicPr>
            <a:picLocks noChangeAspect="1"/>
          </p:cNvPicPr>
          <p:nvPr/>
        </p:nvPicPr>
        <p:blipFill>
          <a:blip r:embed="rId3"/>
          <a:stretch>
            <a:fillRect/>
          </a:stretch>
        </p:blipFill>
        <p:spPr>
          <a:xfrm>
            <a:off x="8112224" y="171450"/>
            <a:ext cx="2771775" cy="6686550"/>
          </a:xfrm>
          <a:prstGeom prst="rect">
            <a:avLst/>
          </a:prstGeom>
        </p:spPr>
      </p:pic>
    </p:spTree>
    <p:extLst>
      <p:ext uri="{BB962C8B-B14F-4D97-AF65-F5344CB8AC3E}">
        <p14:creationId xmlns:p14="http://schemas.microsoft.com/office/powerpoint/2010/main" val="2609496666"/>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0009112" cy="5155308"/>
          </a:xfrm>
          <a:ln>
            <a:noFill/>
          </a:ln>
        </p:spPr>
        <p:txBody>
          <a:bodyPr/>
          <a:lstStyle/>
          <a:p>
            <a:pPr marL="457200" indent="-457200">
              <a:lnSpc>
                <a:spcPct val="150000"/>
              </a:lnSpc>
              <a:buFont typeface="+mj-lt"/>
              <a:buAutoNum type="arabicPeriod"/>
              <a:defRPr/>
            </a:pPr>
            <a:r>
              <a:rPr lang="en-GB" altLang="en-US" b="1" dirty="0">
                <a:solidFill>
                  <a:srgbClr val="DC2300"/>
                </a:solidFill>
              </a:rPr>
              <a:t>unset</a:t>
            </a:r>
          </a:p>
          <a:p>
            <a:pPr marL="285750" indent="-285750">
              <a:lnSpc>
                <a:spcPct val="150000"/>
              </a:lnSpc>
              <a:buFont typeface="Arial" pitchFamily="34" charset="0"/>
              <a:buChar char="•"/>
              <a:defRPr/>
            </a:pPr>
            <a:r>
              <a:rPr lang="en-GB" altLang="en-US" dirty="0">
                <a:solidFill>
                  <a:srgbClr val="DC2300"/>
                </a:solidFill>
              </a:rPr>
              <a:t> </a:t>
            </a:r>
            <a:r>
              <a:rPr lang="en-IN" dirty="0">
                <a:latin typeface="Arial" charset="0"/>
              </a:rPr>
              <a:t>A whole array can be deleted with </a:t>
            </a:r>
            <a:r>
              <a:rPr lang="en-IN" dirty="0">
                <a:solidFill>
                  <a:schemeClr val="accent1"/>
                </a:solidFill>
                <a:latin typeface="Arial" charset="0"/>
              </a:rPr>
              <a:t>unset()</a:t>
            </a:r>
            <a:r>
              <a:rPr lang="en-IN" dirty="0">
                <a:latin typeface="Arial" charset="0"/>
              </a:rPr>
              <a:t>, as with a scalar variable. </a:t>
            </a:r>
          </a:p>
          <a:p>
            <a:pPr marL="285750" indent="-285750">
              <a:lnSpc>
                <a:spcPct val="150000"/>
              </a:lnSpc>
              <a:buFont typeface="Arial" pitchFamily="34" charset="0"/>
              <a:buChar char="•"/>
              <a:defRPr/>
            </a:pPr>
            <a:r>
              <a:rPr lang="en-IN" dirty="0">
                <a:latin typeface="Arial" charset="0"/>
              </a:rPr>
              <a:t>Individual elements of an array also can be removed with unset, as in the following:</a:t>
            </a:r>
          </a:p>
          <a:p>
            <a:pPr marL="0" indent="0">
              <a:lnSpc>
                <a:spcPct val="150000"/>
              </a:lnSpc>
              <a:buNone/>
              <a:defRPr/>
            </a:pPr>
            <a:r>
              <a:rPr lang="en-IN" dirty="0">
                <a:latin typeface="Arial" charset="0"/>
              </a:rPr>
              <a:t>	$list = array(2, 4, 6, 8);</a:t>
            </a:r>
          </a:p>
          <a:p>
            <a:pPr marL="0" indent="0">
              <a:lnSpc>
                <a:spcPct val="150000"/>
              </a:lnSpc>
              <a:buNone/>
              <a:defRPr/>
            </a:pPr>
            <a:r>
              <a:rPr lang="en-IN" dirty="0">
                <a:latin typeface="Arial" charset="0"/>
              </a:rPr>
              <a:t>	unset($list[2]);</a:t>
            </a:r>
          </a:p>
          <a:p>
            <a:pPr marL="285750" indent="-285750">
              <a:lnSpc>
                <a:spcPct val="150000"/>
              </a:lnSpc>
              <a:buFont typeface="Arial" pitchFamily="34" charset="0"/>
              <a:buChar char="•"/>
              <a:defRPr/>
            </a:pPr>
            <a:r>
              <a:rPr lang="en-IN" dirty="0">
                <a:latin typeface="Arial" charset="0"/>
              </a:rPr>
              <a:t>Now $list has three remaining elements with keys 0,1, and 3 and elements 2, 4, and 8.</a:t>
            </a:r>
          </a:p>
          <a:p>
            <a:pPr marL="0" indent="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 dealing with Array</a:t>
            </a:r>
            <a:endParaRPr lang="en-US" dirty="0">
              <a:latin typeface="Armata" panose="020B0503040500060204" pitchFamily="34" charset="0"/>
            </a:endParaRPr>
          </a:p>
        </p:txBody>
      </p:sp>
    </p:spTree>
    <p:extLst>
      <p:ext uri="{BB962C8B-B14F-4D97-AF65-F5344CB8AC3E}">
        <p14:creationId xmlns:p14="http://schemas.microsoft.com/office/powerpoint/2010/main" val="14702790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lnSpc>
                <a:spcPct val="150000"/>
              </a:lnSpc>
              <a:defRPr/>
            </a:pPr>
            <a:r>
              <a:rPr lang="en-IN" sz="2000" dirty="0">
                <a:latin typeface="Arial" charset="0"/>
              </a:rPr>
              <a:t>The collection of keys and the collection of values of an array can be extracted with built-in functions. </a:t>
            </a:r>
          </a:p>
          <a:p>
            <a:pPr>
              <a:lnSpc>
                <a:spcPct val="150000"/>
              </a:lnSpc>
              <a:defRPr/>
            </a:pPr>
            <a:r>
              <a:rPr lang="en-IN" sz="2000" dirty="0">
                <a:latin typeface="Arial" charset="0"/>
              </a:rPr>
              <a:t>The </a:t>
            </a:r>
            <a:r>
              <a:rPr lang="en-IN" sz="2000" b="1" dirty="0" err="1">
                <a:solidFill>
                  <a:schemeClr val="accent1"/>
                </a:solidFill>
                <a:latin typeface="Arial" charset="0"/>
              </a:rPr>
              <a:t>array_keys</a:t>
            </a:r>
            <a:r>
              <a:rPr lang="en-IN" sz="2000" b="1" dirty="0">
                <a:latin typeface="Arial" charset="0"/>
              </a:rPr>
              <a:t> function </a:t>
            </a:r>
            <a:r>
              <a:rPr lang="en-IN" sz="2000" dirty="0">
                <a:latin typeface="Arial" charset="0"/>
              </a:rPr>
              <a:t>takes an array as its parameter and </a:t>
            </a:r>
            <a:r>
              <a:rPr lang="en-IN" sz="2000" dirty="0">
                <a:solidFill>
                  <a:srgbClr val="FF0000"/>
                </a:solidFill>
                <a:latin typeface="Arial" charset="0"/>
              </a:rPr>
              <a:t>returns an array of the keys of the given array</a:t>
            </a:r>
            <a:r>
              <a:rPr lang="en-IN" sz="2000" dirty="0">
                <a:latin typeface="Arial" charset="0"/>
              </a:rPr>
              <a:t>. The returned array uses 0, 1, and so forth as its keys. </a:t>
            </a:r>
          </a:p>
          <a:p>
            <a:pPr>
              <a:lnSpc>
                <a:spcPct val="150000"/>
              </a:lnSpc>
              <a:defRPr/>
            </a:pPr>
            <a:r>
              <a:rPr lang="en-IN" sz="2000" dirty="0">
                <a:latin typeface="Arial" charset="0"/>
              </a:rPr>
              <a:t>The </a:t>
            </a:r>
            <a:r>
              <a:rPr lang="en-IN" sz="2000" dirty="0" err="1">
                <a:solidFill>
                  <a:schemeClr val="accent1"/>
                </a:solidFill>
                <a:latin typeface="Arial" charset="0"/>
              </a:rPr>
              <a:t>array_values</a:t>
            </a:r>
            <a:r>
              <a:rPr lang="en-IN" sz="2000" dirty="0">
                <a:solidFill>
                  <a:schemeClr val="accent1"/>
                </a:solidFill>
                <a:latin typeface="Arial" charset="0"/>
              </a:rPr>
              <a:t> </a:t>
            </a:r>
            <a:r>
              <a:rPr lang="en-IN" sz="2000" dirty="0">
                <a:latin typeface="Arial" charset="0"/>
              </a:rPr>
              <a:t>function does for </a:t>
            </a:r>
            <a:r>
              <a:rPr lang="en-IN" sz="2000" b="1" dirty="0">
                <a:solidFill>
                  <a:srgbClr val="FF0000"/>
                </a:solidFill>
                <a:latin typeface="Arial" charset="0"/>
              </a:rPr>
              <a:t>values what </a:t>
            </a:r>
            <a:r>
              <a:rPr lang="en-IN" sz="2000" b="1" dirty="0" err="1">
                <a:solidFill>
                  <a:srgbClr val="FF0000"/>
                </a:solidFill>
                <a:latin typeface="Arial" charset="0"/>
              </a:rPr>
              <a:t>array_keys</a:t>
            </a:r>
            <a:r>
              <a:rPr lang="en-IN" sz="2000" b="1" dirty="0">
                <a:solidFill>
                  <a:srgbClr val="FF0000"/>
                </a:solidFill>
                <a:latin typeface="Arial" charset="0"/>
              </a:rPr>
              <a:t> does for keys</a:t>
            </a:r>
            <a:r>
              <a:rPr lang="en-IN" sz="2000" dirty="0">
                <a:latin typeface="Arial" charset="0"/>
              </a:rPr>
              <a:t>.</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 dealing with Array</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A5E0CEBE-B533-423A-83D5-7D77AB18E2A7}"/>
              </a:ext>
            </a:extLst>
          </p:cNvPr>
          <p:cNvPicPr>
            <a:picLocks noChangeAspect="1"/>
          </p:cNvPicPr>
          <p:nvPr/>
        </p:nvPicPr>
        <p:blipFill>
          <a:blip r:embed="rId3"/>
          <a:stretch>
            <a:fillRect/>
          </a:stretch>
        </p:blipFill>
        <p:spPr>
          <a:xfrm>
            <a:off x="551384" y="3402285"/>
            <a:ext cx="7962900" cy="3267075"/>
          </a:xfrm>
          <a:prstGeom prst="rect">
            <a:avLst/>
          </a:prstGeom>
        </p:spPr>
      </p:pic>
      <p:pic>
        <p:nvPicPr>
          <p:cNvPr id="3" name="Picture 2">
            <a:extLst>
              <a:ext uri="{FF2B5EF4-FFF2-40B4-BE49-F238E27FC236}">
                <a16:creationId xmlns:a16="http://schemas.microsoft.com/office/drawing/2014/main" id="{F0D669A4-34A6-4ADE-BE07-1E9C1CEE761D}"/>
              </a:ext>
            </a:extLst>
          </p:cNvPr>
          <p:cNvPicPr>
            <a:picLocks noChangeAspect="1"/>
          </p:cNvPicPr>
          <p:nvPr/>
        </p:nvPicPr>
        <p:blipFill>
          <a:blip r:embed="rId4"/>
          <a:stretch>
            <a:fillRect/>
          </a:stretch>
        </p:blipFill>
        <p:spPr>
          <a:xfrm>
            <a:off x="8746616" y="3706670"/>
            <a:ext cx="2733675" cy="2171700"/>
          </a:xfrm>
          <a:prstGeom prst="rect">
            <a:avLst/>
          </a:prstGeom>
          <a:solidFill>
            <a:schemeClr val="accent2"/>
          </a:solidFill>
          <a:ln>
            <a:solidFill>
              <a:schemeClr val="accent2"/>
            </a:solidFill>
          </a:ln>
        </p:spPr>
      </p:pic>
    </p:spTree>
    <p:extLst>
      <p:ext uri="{BB962C8B-B14F-4D97-AF65-F5344CB8AC3E}">
        <p14:creationId xmlns:p14="http://schemas.microsoft.com/office/powerpoint/2010/main" val="597324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lnSpc>
                <a:spcPct val="150000"/>
              </a:lnSpc>
              <a:buFont typeface="Arial" pitchFamily="34" charset="0"/>
              <a:buChar char="•"/>
              <a:defRPr/>
            </a:pPr>
            <a:r>
              <a:rPr lang="en-IN" sz="2000" dirty="0">
                <a:latin typeface="Arial" charset="0"/>
              </a:rPr>
              <a:t>The existence of an element of a specific key can be determined with the </a:t>
            </a:r>
            <a:r>
              <a:rPr lang="en-IN" sz="2000" dirty="0" err="1">
                <a:solidFill>
                  <a:schemeClr val="accent1"/>
                </a:solidFill>
                <a:latin typeface="Arial" charset="0"/>
              </a:rPr>
              <a:t>array_key_exists</a:t>
            </a:r>
            <a:r>
              <a:rPr lang="en-IN" sz="2000" dirty="0">
                <a:latin typeface="Arial" charset="0"/>
              </a:rPr>
              <a:t> function, which returns a Boolean value. For example, consider the following: </a:t>
            </a:r>
          </a:p>
          <a:p>
            <a:pPr>
              <a:lnSpc>
                <a:spcPct val="150000"/>
              </a:lnSpc>
              <a:buFont typeface="Arial" pitchFamily="34" charset="0"/>
              <a:buChar char="•"/>
              <a:defRPr/>
            </a:pPr>
            <a:endParaRPr lang="en-IN" sz="2000" dirty="0">
              <a:latin typeface="Arial" charset="0"/>
            </a:endParaRPr>
          </a:p>
          <a:p>
            <a:pPr>
              <a:lnSpc>
                <a:spcPct val="150000"/>
              </a:lnSpc>
              <a:buFont typeface="Arial" pitchFamily="34" charset="0"/>
              <a:buChar char="•"/>
              <a:defRPr/>
            </a:pPr>
            <a:endParaRPr lang="en-IN" sz="2000" dirty="0">
              <a:latin typeface="Arial" charset="0"/>
            </a:endParaRPr>
          </a:p>
          <a:p>
            <a:pPr>
              <a:lnSpc>
                <a:spcPct val="150000"/>
              </a:lnSpc>
              <a:buFont typeface="Arial" pitchFamily="34" charset="0"/>
              <a:buChar char="•"/>
              <a:defRPr/>
            </a:pPr>
            <a:endParaRPr lang="en-IN" sz="2000" dirty="0">
              <a:latin typeface="Arial" charset="0"/>
            </a:endParaRPr>
          </a:p>
          <a:p>
            <a:pPr>
              <a:lnSpc>
                <a:spcPct val="150000"/>
              </a:lnSpc>
              <a:buFont typeface="Arial" pitchFamily="34" charset="0"/>
              <a:buChar char="•"/>
              <a:defRPr/>
            </a:pPr>
            <a:endParaRPr lang="en-IN" sz="2000" dirty="0">
              <a:latin typeface="Arial" charset="0"/>
            </a:endParaRPr>
          </a:p>
          <a:p>
            <a:pPr>
              <a:lnSpc>
                <a:spcPct val="150000"/>
              </a:lnSpc>
              <a:buFont typeface="Arial" pitchFamily="34" charset="0"/>
              <a:buChar char="•"/>
              <a:defRPr/>
            </a:pPr>
            <a:r>
              <a:rPr lang="en-IN" sz="2000" dirty="0">
                <a:latin typeface="Arial" charset="0"/>
              </a:rPr>
              <a:t>The </a:t>
            </a:r>
            <a:r>
              <a:rPr lang="en-IN" sz="2000" dirty="0" err="1">
                <a:solidFill>
                  <a:schemeClr val="accent1"/>
                </a:solidFill>
                <a:latin typeface="Arial" charset="0"/>
              </a:rPr>
              <a:t>is_array</a:t>
            </a:r>
            <a:r>
              <a:rPr lang="en-IN" sz="2000" dirty="0">
                <a:latin typeface="Arial" charset="0"/>
              </a:rPr>
              <a:t> function is similar to the </a:t>
            </a:r>
            <a:r>
              <a:rPr lang="en-IN" sz="2000" dirty="0" err="1">
                <a:solidFill>
                  <a:schemeClr val="accent1"/>
                </a:solidFill>
                <a:latin typeface="Arial" charset="0"/>
              </a:rPr>
              <a:t>is_int</a:t>
            </a:r>
            <a:r>
              <a:rPr lang="en-IN" sz="2000" dirty="0">
                <a:solidFill>
                  <a:schemeClr val="accent1"/>
                </a:solidFill>
                <a:latin typeface="Arial" charset="0"/>
              </a:rPr>
              <a:t> function</a:t>
            </a:r>
            <a:r>
              <a:rPr lang="en-IN" sz="2000" dirty="0">
                <a:latin typeface="Arial" charset="0"/>
              </a:rPr>
              <a:t>: It takes a variable as its parameter and returns TRUE if the variable is an array, FALSE otherwise.</a:t>
            </a:r>
          </a:p>
          <a:p>
            <a:pPr>
              <a:lnSpc>
                <a:spcPct val="150000"/>
              </a:lnSpc>
              <a:buFont typeface="Arial" pitchFamily="34" charset="0"/>
              <a:buChar char="•"/>
              <a:defRPr/>
            </a:pPr>
            <a:r>
              <a:rPr lang="en-IN" sz="2000" dirty="0">
                <a:latin typeface="Arial" charset="0"/>
              </a:rPr>
              <a:t> The </a:t>
            </a:r>
            <a:r>
              <a:rPr lang="en-IN" sz="2000" dirty="0">
                <a:solidFill>
                  <a:schemeClr val="accent1"/>
                </a:solidFill>
                <a:latin typeface="Arial" charset="0"/>
              </a:rPr>
              <a:t>in_ array </a:t>
            </a:r>
            <a:r>
              <a:rPr lang="en-IN" sz="2000" dirty="0">
                <a:latin typeface="Arial" charset="0"/>
              </a:rPr>
              <a:t>function takes two parameters an expression and an array and returns TRUE if the value of the expression is a value in the array; otherwise, it returns FALSE.</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 dealing with Array</a:t>
            </a: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77C7289A-1F23-4FFE-BB66-40340BAE22D6}"/>
              </a:ext>
            </a:extLst>
          </p:cNvPr>
          <p:cNvPicPr>
            <a:picLocks noChangeAspect="1"/>
          </p:cNvPicPr>
          <p:nvPr/>
        </p:nvPicPr>
        <p:blipFill>
          <a:blip r:embed="rId3"/>
          <a:stretch>
            <a:fillRect/>
          </a:stretch>
        </p:blipFill>
        <p:spPr>
          <a:xfrm>
            <a:off x="911424" y="1916832"/>
            <a:ext cx="9601200" cy="2247900"/>
          </a:xfrm>
          <a:prstGeom prst="rect">
            <a:avLst/>
          </a:prstGeom>
        </p:spPr>
      </p:pic>
      <p:graphicFrame>
        <p:nvGraphicFramePr>
          <p:cNvPr id="6" name="Object 5">
            <a:extLst>
              <a:ext uri="{FF2B5EF4-FFF2-40B4-BE49-F238E27FC236}">
                <a16:creationId xmlns:a16="http://schemas.microsoft.com/office/drawing/2014/main" id="{B4BDF99F-36C6-40FA-8885-9B23A1D9BF87}"/>
              </a:ext>
            </a:extLst>
          </p:cNvPr>
          <p:cNvGraphicFramePr>
            <a:graphicFrameLocks noChangeAspect="1"/>
          </p:cNvGraphicFramePr>
          <p:nvPr>
            <p:extLst>
              <p:ext uri="{D42A27DB-BD31-4B8C-83A1-F6EECF244321}">
                <p14:modId xmlns:p14="http://schemas.microsoft.com/office/powerpoint/2010/main" val="3635241400"/>
              </p:ext>
            </p:extLst>
          </p:nvPr>
        </p:nvGraphicFramePr>
        <p:xfrm>
          <a:off x="7727736" y="4509120"/>
          <a:ext cx="3912880" cy="432048"/>
        </p:xfrm>
        <a:graphic>
          <a:graphicData uri="http://schemas.openxmlformats.org/presentationml/2006/ole">
            <mc:AlternateContent xmlns:mc="http://schemas.openxmlformats.org/markup-compatibility/2006">
              <mc:Choice xmlns:v="urn:schemas-microsoft-com:vml" Requires="v">
                <p:oleObj spid="_x0000_s1117" name="Bitmap Image" r:id="rId4" imgW="2286000" imgH="251640" progId="PBrush">
                  <p:embed/>
                </p:oleObj>
              </mc:Choice>
              <mc:Fallback>
                <p:oleObj name="Bitmap Image" r:id="rId4" imgW="2286000" imgH="251640" progId="PBrush">
                  <p:embed/>
                  <p:pic>
                    <p:nvPicPr>
                      <p:cNvPr id="0" name="Picture 9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7736" y="4509120"/>
                        <a:ext cx="3912880" cy="432048"/>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34989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lnSpc>
                <a:spcPct val="150000"/>
              </a:lnSpc>
              <a:defRPr/>
            </a:pPr>
            <a:r>
              <a:rPr lang="en-IN" sz="2000" b="1" dirty="0" err="1">
                <a:solidFill>
                  <a:srgbClr val="FF0000"/>
                </a:solidFill>
                <a:latin typeface="Arial" charset="0"/>
              </a:rPr>
              <a:t>sizeof</a:t>
            </a:r>
            <a:r>
              <a:rPr lang="en-IN" sz="2000" b="1" dirty="0">
                <a:solidFill>
                  <a:srgbClr val="FF0000"/>
                </a:solidFill>
                <a:latin typeface="Arial" charset="0"/>
              </a:rPr>
              <a:t>()</a:t>
            </a:r>
          </a:p>
          <a:p>
            <a:pPr>
              <a:lnSpc>
                <a:spcPct val="150000"/>
              </a:lnSpc>
              <a:buFont typeface="Arial" pitchFamily="34" charset="0"/>
              <a:buChar char="•"/>
              <a:defRPr/>
            </a:pPr>
            <a:r>
              <a:rPr lang="en-IN" sz="2000" dirty="0">
                <a:solidFill>
                  <a:srgbClr val="000000"/>
                </a:solidFill>
                <a:latin typeface="Arial" charset="0"/>
              </a:rPr>
              <a:t>The </a:t>
            </a:r>
            <a:r>
              <a:rPr lang="en-IN" sz="2000" b="1" dirty="0">
                <a:solidFill>
                  <a:srgbClr val="FF0000"/>
                </a:solidFill>
                <a:latin typeface="Arial" charset="0"/>
              </a:rPr>
              <a:t>number of elements in an array can be determined with the </a:t>
            </a:r>
            <a:r>
              <a:rPr lang="en-IN" sz="2000" b="1" dirty="0" err="1">
                <a:solidFill>
                  <a:srgbClr val="FF0000"/>
                </a:solidFill>
                <a:latin typeface="Arial" charset="0"/>
              </a:rPr>
              <a:t>sizeof</a:t>
            </a:r>
            <a:r>
              <a:rPr lang="en-IN" sz="2000" b="1" dirty="0">
                <a:solidFill>
                  <a:srgbClr val="FF0000"/>
                </a:solidFill>
                <a:latin typeface="Arial" charset="0"/>
              </a:rPr>
              <a:t> function</a:t>
            </a:r>
            <a:r>
              <a:rPr lang="en-IN" sz="2000" dirty="0">
                <a:solidFill>
                  <a:srgbClr val="000000"/>
                </a:solidFill>
                <a:latin typeface="Arial" charset="0"/>
              </a:rPr>
              <a:t>. </a:t>
            </a:r>
          </a:p>
          <a:p>
            <a:pPr>
              <a:lnSpc>
                <a:spcPct val="150000"/>
              </a:lnSpc>
              <a:defRPr/>
            </a:pPr>
            <a:r>
              <a:rPr lang="en-IN" sz="2000" dirty="0">
                <a:solidFill>
                  <a:srgbClr val="000000"/>
                </a:solidFill>
                <a:latin typeface="Arial" charset="0"/>
              </a:rPr>
              <a:t>For example, consider the following code:</a:t>
            </a:r>
            <a:br>
              <a:rPr lang="en-IN" sz="2000" dirty="0">
                <a:solidFill>
                  <a:srgbClr val="000000"/>
                </a:solidFill>
                <a:latin typeface="Arial" charset="0"/>
              </a:rPr>
            </a:br>
            <a:r>
              <a:rPr lang="en-IN" sz="2000" dirty="0">
                <a:solidFill>
                  <a:srgbClr val="000000"/>
                </a:solidFill>
                <a:latin typeface="Arial" charset="0"/>
              </a:rPr>
              <a:t>	$list = array("Bob", "Fred", "Alan", "Bozo"); </a:t>
            </a:r>
            <a:br>
              <a:rPr lang="en-IN" sz="2000" dirty="0">
                <a:solidFill>
                  <a:srgbClr val="000000"/>
                </a:solidFill>
                <a:latin typeface="Arial" charset="0"/>
              </a:rPr>
            </a:br>
            <a:r>
              <a:rPr lang="en-IN" sz="2000" dirty="0">
                <a:solidFill>
                  <a:srgbClr val="000000"/>
                </a:solidFill>
                <a:latin typeface="Arial" charset="0"/>
              </a:rPr>
              <a:t>	$</a:t>
            </a:r>
            <a:r>
              <a:rPr lang="en-IN" sz="2000" dirty="0" err="1">
                <a:solidFill>
                  <a:srgbClr val="000000"/>
                </a:solidFill>
                <a:latin typeface="Arial" charset="0"/>
              </a:rPr>
              <a:t>len</a:t>
            </a:r>
            <a:r>
              <a:rPr lang="en-IN" sz="2000" dirty="0">
                <a:solidFill>
                  <a:srgbClr val="000000"/>
                </a:solidFill>
                <a:latin typeface="Arial" charset="0"/>
              </a:rPr>
              <a:t> = </a:t>
            </a:r>
            <a:r>
              <a:rPr lang="en-IN" sz="2000" b="1" dirty="0" err="1">
                <a:solidFill>
                  <a:srgbClr val="FF0000"/>
                </a:solidFill>
                <a:latin typeface="Arial" charset="0"/>
              </a:rPr>
              <a:t>sizeof</a:t>
            </a:r>
            <a:r>
              <a:rPr lang="en-IN" sz="2000" dirty="0">
                <a:solidFill>
                  <a:srgbClr val="000000"/>
                </a:solidFill>
                <a:latin typeface="Arial" charset="0"/>
              </a:rPr>
              <a:t>($list);</a:t>
            </a:r>
            <a:br>
              <a:rPr lang="en-IN" sz="2000" dirty="0">
                <a:solidFill>
                  <a:srgbClr val="000000"/>
                </a:solidFill>
                <a:latin typeface="Arial" charset="0"/>
              </a:rPr>
            </a:br>
            <a:r>
              <a:rPr lang="en-IN" sz="2000" dirty="0">
                <a:solidFill>
                  <a:srgbClr val="000000"/>
                </a:solidFill>
                <a:latin typeface="Arial" charset="0"/>
              </a:rPr>
              <a:t>After executing this code, $</a:t>
            </a:r>
            <a:r>
              <a:rPr lang="en-IN" sz="2000" dirty="0" err="1">
                <a:solidFill>
                  <a:srgbClr val="000000"/>
                </a:solidFill>
                <a:latin typeface="Arial" charset="0"/>
              </a:rPr>
              <a:t>len</a:t>
            </a:r>
            <a:r>
              <a:rPr lang="en-IN" sz="2000" dirty="0">
                <a:solidFill>
                  <a:srgbClr val="000000"/>
                </a:solidFill>
                <a:latin typeface="Arial" charset="0"/>
              </a:rPr>
              <a:t> will be 4.</a:t>
            </a:r>
          </a:p>
          <a:p>
            <a:pPr>
              <a:lnSpc>
                <a:spcPct val="150000"/>
              </a:lnSpc>
              <a:defRPr/>
            </a:pPr>
            <a:r>
              <a:rPr lang="en-US" sz="2000" dirty="0"/>
              <a:t>count() -counts the number of elements in an array; </a:t>
            </a:r>
            <a:r>
              <a:rPr lang="en-US" sz="2000" dirty="0" err="1"/>
              <a:t>sizeof</a:t>
            </a:r>
            <a:r>
              <a:rPr lang="en-US" sz="2000" dirty="0"/>
              <a:t>() is an alias of count().</a:t>
            </a:r>
          </a:p>
          <a:p>
            <a:pPr>
              <a:lnSpc>
                <a:spcPct val="150000"/>
              </a:lnSpc>
              <a:defRPr/>
            </a:pPr>
            <a:r>
              <a:rPr lang="en-US" sz="2000" dirty="0"/>
              <a:t> Given the array</a:t>
            </a:r>
          </a:p>
          <a:p>
            <a:pPr marL="0" indent="0">
              <a:lnSpc>
                <a:spcPct val="150000"/>
              </a:lnSpc>
              <a:buNone/>
              <a:defRPr/>
            </a:pPr>
            <a:r>
              <a:rPr lang="en-US" sz="2000" dirty="0"/>
              <a:t>	 $colors = array("blue", "black", "red", "green");</a:t>
            </a:r>
          </a:p>
          <a:p>
            <a:pPr>
              <a:lnSpc>
                <a:spcPct val="150000"/>
              </a:lnSpc>
              <a:defRPr/>
            </a:pPr>
            <a:r>
              <a:rPr lang="en-US" sz="2000" dirty="0"/>
              <a:t> both count($colors); and </a:t>
            </a:r>
            <a:r>
              <a:rPr lang="en-US" sz="2000" dirty="0" err="1"/>
              <a:t>sizeof</a:t>
            </a:r>
            <a:r>
              <a:rPr lang="en-US" sz="2000" dirty="0"/>
              <a:t>($colors);  return a value of 4</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 dealing with Array</a:t>
            </a:r>
            <a:endParaRPr lang="en-US" dirty="0">
              <a:latin typeface="Armata" panose="020B0503040500060204" pitchFamily="34" charset="0"/>
            </a:endParaRPr>
          </a:p>
        </p:txBody>
      </p:sp>
    </p:spTree>
    <p:extLst>
      <p:ext uri="{BB962C8B-B14F-4D97-AF65-F5344CB8AC3E}">
        <p14:creationId xmlns:p14="http://schemas.microsoft.com/office/powerpoint/2010/main" val="9862471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defRPr/>
            </a:pPr>
            <a:r>
              <a:rPr lang="en-IN" sz="2000" b="1" dirty="0">
                <a:solidFill>
                  <a:srgbClr val="FF0000"/>
                </a:solidFill>
              </a:rPr>
              <a:t>The explode function explodes a string into substrings and returns them in an array.</a:t>
            </a:r>
          </a:p>
          <a:p>
            <a:pPr>
              <a:defRPr/>
            </a:pPr>
            <a:r>
              <a:rPr lang="en-IN" sz="2000" dirty="0"/>
              <a:t>The delimiters of the substrings are defined by the first parameter to explode, which is a string; the second parameter is the string to be converted. </a:t>
            </a:r>
            <a:br>
              <a:rPr lang="en-IN" sz="2000" dirty="0"/>
            </a:br>
            <a:r>
              <a:rPr lang="en-IN" sz="2000" dirty="0"/>
              <a:t>For example, consider the following:</a:t>
            </a:r>
          </a:p>
          <a:p>
            <a:pPr marL="0" indent="0">
              <a:buNone/>
              <a:defRPr/>
            </a:pPr>
            <a:r>
              <a:rPr lang="en-IN" sz="2000" dirty="0"/>
              <a:t>	$str = “May god bless you all"; </a:t>
            </a:r>
          </a:p>
          <a:p>
            <a:pPr marL="0" indent="0">
              <a:buNone/>
              <a:defRPr/>
            </a:pPr>
            <a:r>
              <a:rPr lang="en-IN" sz="2000" dirty="0"/>
              <a:t>	$words = </a:t>
            </a:r>
            <a:r>
              <a:rPr lang="en-IN" sz="2000" dirty="0">
                <a:solidFill>
                  <a:schemeClr val="accent1"/>
                </a:solidFill>
              </a:rPr>
              <a:t>explode(" ", $str);</a:t>
            </a:r>
          </a:p>
          <a:p>
            <a:pPr marL="0" indent="0">
              <a:buNone/>
              <a:defRPr/>
            </a:pPr>
            <a:r>
              <a:rPr lang="en-IN" sz="2000" dirty="0"/>
              <a:t>$words creates an array which contains (“May", “god", “bless", “you", “all").</a:t>
            </a:r>
          </a:p>
          <a:p>
            <a:pPr>
              <a:defRPr/>
            </a:pPr>
            <a:r>
              <a:rPr lang="en-IN" sz="2000" b="1" dirty="0">
                <a:solidFill>
                  <a:srgbClr val="FF0000"/>
                </a:solidFill>
              </a:rPr>
              <a:t>The implode function does the inverse of explode</a:t>
            </a:r>
            <a:r>
              <a:rPr lang="en-IN" sz="2000" dirty="0"/>
              <a:t>. Given a separator character (or string) and an array, it concatenates the elements of the array together, using the given separator string between the elements, and returns the result as a string. </a:t>
            </a:r>
          </a:p>
          <a:p>
            <a:pPr marL="0" indent="0">
              <a:buNone/>
              <a:defRPr/>
            </a:pPr>
            <a:r>
              <a:rPr lang="en-IN" sz="2000" dirty="0"/>
              <a:t>	$words = array("Are", "you", “coming", "to“, ”India?”);</a:t>
            </a:r>
          </a:p>
          <a:p>
            <a:pPr marL="0" indent="0">
              <a:buNone/>
              <a:defRPr/>
            </a:pPr>
            <a:r>
              <a:rPr lang="en-IN" sz="2000" dirty="0"/>
              <a:t> 	</a:t>
            </a:r>
            <a:r>
              <a:rPr lang="en-IN" sz="2000" dirty="0">
                <a:solidFill>
                  <a:schemeClr val="accent1"/>
                </a:solidFill>
              </a:rPr>
              <a:t>$str = implode(" ", $words);</a:t>
            </a:r>
          </a:p>
          <a:p>
            <a:pPr marL="0" indent="0">
              <a:buNone/>
              <a:defRPr/>
            </a:pPr>
            <a:r>
              <a:rPr lang="en-IN" sz="2000" dirty="0"/>
              <a:t>	$str has "Are you coming to India?"</a:t>
            </a:r>
            <a:endParaRPr lang="en-GB" sz="2000" dirty="0"/>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 dealing with Array-explode and implode</a:t>
            </a:r>
            <a:endParaRPr lang="en-US" dirty="0">
              <a:latin typeface="Armata" panose="020B0503040500060204" pitchFamily="34" charset="0"/>
            </a:endParaRPr>
          </a:p>
        </p:txBody>
      </p:sp>
      <p:sp>
        <p:nvSpPr>
          <p:cNvPr id="2" name="Rectangle 1">
            <a:extLst>
              <a:ext uri="{FF2B5EF4-FFF2-40B4-BE49-F238E27FC236}">
                <a16:creationId xmlns:a16="http://schemas.microsoft.com/office/drawing/2014/main" id="{0945F7F8-6024-49FA-8AAD-1041AC621FED}"/>
              </a:ext>
            </a:extLst>
          </p:cNvPr>
          <p:cNvSpPr/>
          <p:nvPr/>
        </p:nvSpPr>
        <p:spPr>
          <a:xfrm>
            <a:off x="1271464" y="2276872"/>
            <a:ext cx="3816424" cy="778621"/>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 name="Rectangle 2">
            <a:extLst>
              <a:ext uri="{FF2B5EF4-FFF2-40B4-BE49-F238E27FC236}">
                <a16:creationId xmlns:a16="http://schemas.microsoft.com/office/drawing/2014/main" id="{0068038E-4437-48C0-9D4C-664B0527DC26}"/>
              </a:ext>
            </a:extLst>
          </p:cNvPr>
          <p:cNvSpPr/>
          <p:nvPr/>
        </p:nvSpPr>
        <p:spPr>
          <a:xfrm>
            <a:off x="1271464" y="4437112"/>
            <a:ext cx="6192688" cy="72008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Tree>
    <p:extLst>
      <p:ext uri="{BB962C8B-B14F-4D97-AF65-F5344CB8AC3E}">
        <p14:creationId xmlns:p14="http://schemas.microsoft.com/office/powerpoint/2010/main" val="1208646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lnSpc>
                <a:spcPct val="150000"/>
              </a:lnSpc>
            </a:pPr>
            <a:r>
              <a:rPr lang="en-IN" altLang="en-US" dirty="0"/>
              <a:t>The </a:t>
            </a:r>
            <a:r>
              <a:rPr lang="en-IN" altLang="en-US" dirty="0" err="1"/>
              <a:t>array_push</a:t>
            </a:r>
            <a:r>
              <a:rPr lang="en-IN" altLang="en-US" dirty="0"/>
              <a:t> and </a:t>
            </a:r>
            <a:r>
              <a:rPr lang="en-IN" altLang="en-US" dirty="0" err="1"/>
              <a:t>array_pop</a:t>
            </a:r>
            <a:r>
              <a:rPr lang="en-IN" altLang="en-US" dirty="0"/>
              <a:t> functions provide a simple way to implement a stack in an array.</a:t>
            </a:r>
          </a:p>
          <a:p>
            <a:pPr>
              <a:lnSpc>
                <a:spcPct val="150000"/>
              </a:lnSpc>
            </a:pPr>
            <a:r>
              <a:rPr lang="en-IN" altLang="en-US" dirty="0"/>
              <a:t> The </a:t>
            </a:r>
            <a:r>
              <a:rPr lang="en-IN" altLang="en-US" dirty="0" err="1"/>
              <a:t>array_push</a:t>
            </a:r>
            <a:r>
              <a:rPr lang="en-IN" altLang="en-US" dirty="0"/>
              <a:t> function takes as its first parameter an array. After this first parameter, there can be any number of additional parameters. The values of all subsequent parameters are placed at the end of the array. </a:t>
            </a:r>
          </a:p>
          <a:p>
            <a:pPr>
              <a:lnSpc>
                <a:spcPct val="150000"/>
              </a:lnSpc>
            </a:pPr>
            <a:r>
              <a:rPr lang="en-IN" altLang="en-US" dirty="0"/>
              <a:t>The </a:t>
            </a:r>
            <a:r>
              <a:rPr lang="en-IN" altLang="en-US" dirty="0" err="1"/>
              <a:t>array_push</a:t>
            </a:r>
            <a:r>
              <a:rPr lang="en-IN" altLang="en-US" dirty="0"/>
              <a:t> </a:t>
            </a:r>
            <a:r>
              <a:rPr lang="en-IN" altLang="en-US" b="1" dirty="0">
                <a:solidFill>
                  <a:srgbClr val="C00000"/>
                </a:solidFill>
              </a:rPr>
              <a:t>function returns the new number of elements in the array.</a:t>
            </a:r>
          </a:p>
          <a:p>
            <a:pPr>
              <a:lnSpc>
                <a:spcPct val="150000"/>
              </a:lnSpc>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 dealing with Array</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4DD79836-B189-41EB-9493-AF3214554E5A}"/>
              </a:ext>
            </a:extLst>
          </p:cNvPr>
          <p:cNvPicPr>
            <a:picLocks noChangeAspect="1"/>
          </p:cNvPicPr>
          <p:nvPr/>
        </p:nvPicPr>
        <p:blipFill>
          <a:blip r:embed="rId3"/>
          <a:stretch>
            <a:fillRect/>
          </a:stretch>
        </p:blipFill>
        <p:spPr>
          <a:xfrm>
            <a:off x="407369" y="4797152"/>
            <a:ext cx="11593288" cy="676090"/>
          </a:xfrm>
          <a:prstGeom prst="rect">
            <a:avLst/>
          </a:prstGeom>
          <a:ln>
            <a:solidFill>
              <a:schemeClr val="accent2"/>
            </a:solidFill>
          </a:ln>
        </p:spPr>
      </p:pic>
    </p:spTree>
    <p:extLst>
      <p:ext uri="{BB962C8B-B14F-4D97-AF65-F5344CB8AC3E}">
        <p14:creationId xmlns:p14="http://schemas.microsoft.com/office/powerpoint/2010/main" val="26445141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lnSpc>
                <a:spcPct val="150000"/>
              </a:lnSpc>
            </a:pPr>
            <a:r>
              <a:rPr lang="en-IN" altLang="en-US" dirty="0" err="1"/>
              <a:t>array_pop</a:t>
            </a:r>
            <a:r>
              <a:rPr lang="en-IN" altLang="en-US" dirty="0"/>
              <a:t> function takes a single parameter, the name of an array. </a:t>
            </a:r>
            <a:r>
              <a:rPr lang="en-IN" altLang="en-US" b="1" dirty="0">
                <a:solidFill>
                  <a:srgbClr val="C00000"/>
                </a:solidFill>
              </a:rPr>
              <a:t>It removes the last element from the array</a:t>
            </a:r>
            <a:r>
              <a:rPr lang="en-IN" altLang="en-US" dirty="0"/>
              <a:t> and returns it. The value NULL is returned if the array is empty.</a:t>
            </a:r>
          </a:p>
          <a:p>
            <a:pPr>
              <a:lnSpc>
                <a:spcPct val="150000"/>
              </a:lnSpc>
            </a:pPr>
            <a:r>
              <a:rPr lang="en-US" dirty="0" err="1"/>
              <a:t>array_unshift</a:t>
            </a:r>
            <a:r>
              <a:rPr lang="en-US" dirty="0"/>
              <a:t>()—This function adds one or more elements to the beginning of an existing array</a:t>
            </a:r>
            <a:endParaRPr lang="en-IN" altLang="en-US" dirty="0"/>
          </a:p>
          <a:p>
            <a:pPr>
              <a:lnSpc>
                <a:spcPct val="150000"/>
              </a:lnSpc>
              <a:defRPr/>
            </a:pPr>
            <a:r>
              <a:rPr lang="en-US" sz="2000" dirty="0" err="1"/>
              <a:t>array_shift</a:t>
            </a:r>
            <a:r>
              <a:rPr lang="en-US" sz="2000" dirty="0"/>
              <a:t>()—This function removes (and returns) the first element of an existing array,</a:t>
            </a:r>
          </a:p>
          <a:p>
            <a:pPr>
              <a:lnSpc>
                <a:spcPct val="150000"/>
              </a:lnSpc>
              <a:defRPr/>
            </a:pPr>
            <a:endParaRPr lang="en-US" sz="2000" dirty="0"/>
          </a:p>
          <a:p>
            <a:pPr>
              <a:lnSpc>
                <a:spcPct val="150000"/>
              </a:lnSpc>
              <a:defRPr/>
            </a:pPr>
            <a:r>
              <a:rPr lang="en-US" sz="2000" dirty="0" err="1"/>
              <a:t>array_merge</a:t>
            </a:r>
            <a:r>
              <a:rPr lang="en-US" sz="2000" dirty="0"/>
              <a:t>()—This function combines two or more existing arrays</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 dealing with Array</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98506936-26FB-49BC-A716-4A3748E716A5}"/>
              </a:ext>
            </a:extLst>
          </p:cNvPr>
          <p:cNvPicPr>
            <a:picLocks noChangeAspect="1"/>
          </p:cNvPicPr>
          <p:nvPr/>
        </p:nvPicPr>
        <p:blipFill>
          <a:blip r:embed="rId3"/>
          <a:stretch>
            <a:fillRect/>
          </a:stretch>
        </p:blipFill>
        <p:spPr>
          <a:xfrm>
            <a:off x="3791744" y="2132856"/>
            <a:ext cx="6362700" cy="533400"/>
          </a:xfrm>
          <a:prstGeom prst="rect">
            <a:avLst/>
          </a:prstGeom>
          <a:ln>
            <a:solidFill>
              <a:schemeClr val="accent2"/>
            </a:solidFill>
          </a:ln>
        </p:spPr>
      </p:pic>
      <p:pic>
        <p:nvPicPr>
          <p:cNvPr id="3" name="Picture 2">
            <a:extLst>
              <a:ext uri="{FF2B5EF4-FFF2-40B4-BE49-F238E27FC236}">
                <a16:creationId xmlns:a16="http://schemas.microsoft.com/office/drawing/2014/main" id="{9E88CD6B-2E4B-4203-A0A4-35D0A110DFDF}"/>
              </a:ext>
            </a:extLst>
          </p:cNvPr>
          <p:cNvPicPr>
            <a:picLocks noChangeAspect="1"/>
          </p:cNvPicPr>
          <p:nvPr/>
        </p:nvPicPr>
        <p:blipFill>
          <a:blip r:embed="rId4"/>
          <a:stretch>
            <a:fillRect/>
          </a:stretch>
        </p:blipFill>
        <p:spPr>
          <a:xfrm>
            <a:off x="2801119" y="3424344"/>
            <a:ext cx="9204101" cy="335163"/>
          </a:xfrm>
          <a:prstGeom prst="rect">
            <a:avLst/>
          </a:prstGeom>
          <a:ln>
            <a:solidFill>
              <a:schemeClr val="accent2"/>
            </a:solidFill>
          </a:ln>
        </p:spPr>
      </p:pic>
      <p:pic>
        <p:nvPicPr>
          <p:cNvPr id="4" name="Picture 3">
            <a:extLst>
              <a:ext uri="{FF2B5EF4-FFF2-40B4-BE49-F238E27FC236}">
                <a16:creationId xmlns:a16="http://schemas.microsoft.com/office/drawing/2014/main" id="{B31212C2-4C9C-4D2B-AD05-94E1D9AAEB64}"/>
              </a:ext>
            </a:extLst>
          </p:cNvPr>
          <p:cNvPicPr>
            <a:picLocks noChangeAspect="1"/>
          </p:cNvPicPr>
          <p:nvPr/>
        </p:nvPicPr>
        <p:blipFill>
          <a:blip r:embed="rId5"/>
          <a:stretch>
            <a:fillRect/>
          </a:stretch>
        </p:blipFill>
        <p:spPr>
          <a:xfrm>
            <a:off x="2738437" y="4333754"/>
            <a:ext cx="7966075" cy="497173"/>
          </a:xfrm>
          <a:prstGeom prst="rect">
            <a:avLst/>
          </a:prstGeom>
          <a:ln>
            <a:solidFill>
              <a:schemeClr val="accent2"/>
            </a:solidFill>
          </a:ln>
        </p:spPr>
      </p:pic>
      <p:pic>
        <p:nvPicPr>
          <p:cNvPr id="6" name="Picture 5">
            <a:extLst>
              <a:ext uri="{FF2B5EF4-FFF2-40B4-BE49-F238E27FC236}">
                <a16:creationId xmlns:a16="http://schemas.microsoft.com/office/drawing/2014/main" id="{230A4A73-C852-4EC2-B741-98484B7D863E}"/>
              </a:ext>
            </a:extLst>
          </p:cNvPr>
          <p:cNvPicPr>
            <a:picLocks noChangeAspect="1"/>
          </p:cNvPicPr>
          <p:nvPr/>
        </p:nvPicPr>
        <p:blipFill>
          <a:blip r:embed="rId6"/>
          <a:stretch>
            <a:fillRect/>
          </a:stretch>
        </p:blipFill>
        <p:spPr>
          <a:xfrm>
            <a:off x="2855640" y="5515879"/>
            <a:ext cx="7416824" cy="536965"/>
          </a:xfrm>
          <a:prstGeom prst="rect">
            <a:avLst/>
          </a:prstGeom>
          <a:ln>
            <a:solidFill>
              <a:schemeClr val="accent2"/>
            </a:solidFill>
          </a:ln>
        </p:spPr>
      </p:pic>
    </p:spTree>
    <p:extLst>
      <p:ext uri="{BB962C8B-B14F-4D97-AF65-F5344CB8AC3E}">
        <p14:creationId xmlns:p14="http://schemas.microsoft.com/office/powerpoint/2010/main" val="464711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defRPr/>
            </a:pPr>
            <a:r>
              <a:rPr lang="en-IN" dirty="0"/>
              <a:t>The foreach statement is designed to build loops that process all of the elements of an array. </a:t>
            </a:r>
          </a:p>
          <a:p>
            <a:pPr>
              <a:defRPr/>
            </a:pPr>
            <a:r>
              <a:rPr lang="en-IN" dirty="0"/>
              <a:t>This statement has two forms:</a:t>
            </a:r>
          </a:p>
          <a:p>
            <a:pPr marL="0" indent="0">
              <a:buNone/>
              <a:defRPr/>
            </a:pPr>
            <a:r>
              <a:rPr lang="en-IN" dirty="0"/>
              <a:t>	</a:t>
            </a:r>
            <a:r>
              <a:rPr lang="en-IN" dirty="0">
                <a:solidFill>
                  <a:srgbClr val="FF0000"/>
                </a:solidFill>
              </a:rPr>
              <a:t>foreach (array as </a:t>
            </a:r>
            <a:r>
              <a:rPr lang="en-IN" dirty="0" err="1">
                <a:solidFill>
                  <a:srgbClr val="FF0000"/>
                </a:solidFill>
              </a:rPr>
              <a:t>scalar_variable</a:t>
            </a:r>
            <a:r>
              <a:rPr lang="en-IN" dirty="0">
                <a:solidFill>
                  <a:srgbClr val="FF0000"/>
                </a:solidFill>
              </a:rPr>
              <a:t>) loop body </a:t>
            </a:r>
          </a:p>
          <a:p>
            <a:pPr marL="0" indent="0">
              <a:buNone/>
              <a:defRPr/>
            </a:pPr>
            <a:r>
              <a:rPr lang="en-IN" dirty="0"/>
              <a:t>	foreach (array as key =&gt; value) loop body</a:t>
            </a:r>
          </a:p>
          <a:p>
            <a:pPr>
              <a:defRPr/>
            </a:pPr>
            <a:r>
              <a:rPr lang="en-IN" dirty="0"/>
              <a:t>In the first form, one of the array's values is set to the scalar variable for each iteration of the loop body. </a:t>
            </a:r>
          </a:p>
          <a:p>
            <a:pPr marL="0" indent="0">
              <a:buNone/>
              <a:defRPr/>
            </a:pPr>
            <a:r>
              <a:rPr lang="en-IN" dirty="0"/>
              <a:t>Ex:	$list=array(2,4,6,8);</a:t>
            </a:r>
          </a:p>
          <a:p>
            <a:pPr marL="0" indent="0">
              <a:buNone/>
              <a:defRPr/>
            </a:pPr>
            <a:r>
              <a:rPr lang="en-IN" dirty="0"/>
              <a:t>	</a:t>
            </a:r>
            <a:r>
              <a:rPr lang="en-IN" dirty="0">
                <a:solidFill>
                  <a:srgbClr val="FF0000"/>
                </a:solidFill>
              </a:rPr>
              <a:t>foreach (</a:t>
            </a:r>
            <a:r>
              <a:rPr lang="en-IN" dirty="0" err="1">
                <a:solidFill>
                  <a:srgbClr val="FF0000"/>
                </a:solidFill>
              </a:rPr>
              <a:t>Slist</a:t>
            </a:r>
            <a:r>
              <a:rPr lang="en-IN" dirty="0">
                <a:solidFill>
                  <a:srgbClr val="FF0000"/>
                </a:solidFill>
              </a:rPr>
              <a:t> as $temp) </a:t>
            </a:r>
          </a:p>
          <a:p>
            <a:pPr marL="0" indent="0">
              <a:buNone/>
              <a:defRPr/>
            </a:pPr>
            <a:r>
              <a:rPr lang="en-IN" dirty="0"/>
              <a:t>	print("$temp &lt;</a:t>
            </a:r>
            <a:r>
              <a:rPr lang="en-IN" dirty="0" err="1"/>
              <a:t>br</a:t>
            </a:r>
            <a:r>
              <a:rPr lang="en-IN" dirty="0"/>
              <a:t> /&gt;");</a:t>
            </a:r>
          </a:p>
          <a:p>
            <a:pPr>
              <a:defRPr/>
            </a:pPr>
            <a:r>
              <a:rPr lang="en-IN" dirty="0"/>
              <a:t>This code will produce the values of all of the elements of $list</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To process Array use foreach statement</a:t>
            </a:r>
            <a:endParaRPr lang="en-US" dirty="0">
              <a:latin typeface="Armata" panose="020B0503040500060204" pitchFamily="34" charset="0"/>
            </a:endParaRPr>
          </a:p>
        </p:txBody>
      </p:sp>
    </p:spTree>
    <p:extLst>
      <p:ext uri="{BB962C8B-B14F-4D97-AF65-F5344CB8AC3E}">
        <p14:creationId xmlns:p14="http://schemas.microsoft.com/office/powerpoint/2010/main" val="39577353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defRPr/>
            </a:pPr>
            <a:r>
              <a:rPr lang="en-IN" dirty="0"/>
              <a:t>The second form of foreach provides both </a:t>
            </a:r>
            <a:r>
              <a:rPr lang="en-IN" dirty="0">
                <a:solidFill>
                  <a:srgbClr val="FF0000"/>
                </a:solidFill>
              </a:rPr>
              <a:t>the key and the value of each element of the array</a:t>
            </a:r>
            <a:r>
              <a:rPr lang="en-IN" dirty="0"/>
              <a:t>. </a:t>
            </a:r>
          </a:p>
          <a:p>
            <a:pPr marL="0" indent="0">
              <a:buNone/>
              <a:defRPr/>
            </a:pPr>
            <a:r>
              <a:rPr lang="en-IN" dirty="0"/>
              <a:t>Syntax:</a:t>
            </a:r>
          </a:p>
          <a:p>
            <a:pPr marL="0" indent="0">
              <a:buNone/>
              <a:defRPr/>
            </a:pPr>
            <a:r>
              <a:rPr lang="en-IN" dirty="0"/>
              <a:t>	</a:t>
            </a:r>
            <a:r>
              <a:rPr lang="en-IN" dirty="0">
                <a:highlight>
                  <a:srgbClr val="FFFF00"/>
                </a:highlight>
              </a:rPr>
              <a:t>foreach (array as key =&gt; value) loop body</a:t>
            </a:r>
          </a:p>
          <a:p>
            <a:pPr>
              <a:defRPr/>
            </a:pPr>
            <a:r>
              <a:rPr lang="en-IN" dirty="0"/>
              <a:t>For example:</a:t>
            </a:r>
          </a:p>
          <a:p>
            <a:pPr marL="0" indent="0">
              <a:buNone/>
              <a:defRPr/>
            </a:pPr>
            <a:r>
              <a:rPr lang="en-IN" dirty="0"/>
              <a:t>	</a:t>
            </a:r>
            <a:r>
              <a:rPr lang="en-IN" b="1" dirty="0"/>
              <a:t>$lows = array("Mon" =&gt; 23, "Tue" =&gt; 18, "Wed" =&gt; 27);</a:t>
            </a:r>
          </a:p>
          <a:p>
            <a:pPr marL="0" indent="0">
              <a:buNone/>
              <a:defRPr/>
            </a:pPr>
            <a:r>
              <a:rPr lang="en-IN" b="1" dirty="0"/>
              <a:t>	 foreach ($lows as $day =&gt; $temp)</a:t>
            </a:r>
          </a:p>
          <a:p>
            <a:pPr marL="0" indent="0">
              <a:buNone/>
              <a:defRPr/>
            </a:pPr>
            <a:r>
              <a:rPr lang="en-IN" b="1" dirty="0"/>
              <a:t>	print("The low temperature on $day was $temp &lt;</a:t>
            </a:r>
            <a:r>
              <a:rPr lang="en-IN" b="1" dirty="0" err="1"/>
              <a:t>br</a:t>
            </a:r>
            <a:r>
              <a:rPr lang="en-IN" b="1" dirty="0"/>
              <a:t> /&gt;");</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To process Array use </a:t>
            </a:r>
            <a:r>
              <a:rPr lang="en-US"/>
              <a:t>foreach statement</a:t>
            </a:r>
            <a:endParaRPr lang="en-US" dirty="0">
              <a:latin typeface="Armata" panose="020B0503040500060204" pitchFamily="34" charset="0"/>
            </a:endParaRPr>
          </a:p>
        </p:txBody>
      </p:sp>
    </p:spTree>
    <p:extLst>
      <p:ext uri="{BB962C8B-B14F-4D97-AF65-F5344CB8AC3E}">
        <p14:creationId xmlns:p14="http://schemas.microsoft.com/office/powerpoint/2010/main" val="12511266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US" dirty="0"/>
              <a:t>sort() - sort arrays in ascending order</a:t>
            </a:r>
          </a:p>
          <a:p>
            <a:r>
              <a:rPr lang="en-US" dirty="0" err="1"/>
              <a:t>rsort</a:t>
            </a:r>
            <a:r>
              <a:rPr lang="en-US" dirty="0"/>
              <a:t>() - sort arrays in descending order</a:t>
            </a:r>
          </a:p>
          <a:p>
            <a:r>
              <a:rPr lang="en-US" dirty="0" err="1"/>
              <a:t>asort</a:t>
            </a:r>
            <a:r>
              <a:rPr lang="en-US" dirty="0"/>
              <a:t>() - sort associative arrays in ascending order, according to the value</a:t>
            </a:r>
          </a:p>
          <a:p>
            <a:r>
              <a:rPr lang="en-US" dirty="0" err="1"/>
              <a:t>ksort</a:t>
            </a:r>
            <a:r>
              <a:rPr lang="en-US" dirty="0"/>
              <a:t>() - sort associative arrays in ascending order, according to the key</a:t>
            </a:r>
          </a:p>
          <a:p>
            <a:pPr marL="0" indent="0">
              <a:buNone/>
            </a:pPr>
            <a:r>
              <a:rPr lang="en-US" dirty="0"/>
              <a:t>&lt;?php</a:t>
            </a:r>
          </a:p>
          <a:p>
            <a:pPr marL="0" indent="0">
              <a:buNone/>
            </a:pPr>
            <a:r>
              <a:rPr lang="en-US" dirty="0"/>
              <a:t>$fruits = array("Orange", "Grapes", "Apple","Banana");</a:t>
            </a:r>
          </a:p>
          <a:p>
            <a:pPr marL="0" indent="0">
              <a:buNone/>
            </a:pPr>
            <a:r>
              <a:rPr lang="en-US" b="1" dirty="0">
                <a:solidFill>
                  <a:srgbClr val="FF0000"/>
                </a:solidFill>
              </a:rPr>
              <a:t>sort($fruits);</a:t>
            </a:r>
          </a:p>
          <a:p>
            <a:pPr marL="0" indent="0">
              <a:buNone/>
            </a:pPr>
            <a:r>
              <a:rPr lang="en-US" dirty="0"/>
              <a:t>foreach($fruits as $x )</a:t>
            </a:r>
          </a:p>
          <a:p>
            <a:pPr marL="0" indent="0">
              <a:buNone/>
            </a:pPr>
            <a:r>
              <a:rPr lang="en-US" dirty="0"/>
              <a:t> {</a:t>
            </a:r>
          </a:p>
          <a:p>
            <a:pPr marL="0" indent="0">
              <a:buNone/>
            </a:pPr>
            <a:r>
              <a:rPr lang="en-US" dirty="0"/>
              <a:t>    echo $x;</a:t>
            </a:r>
          </a:p>
          <a:p>
            <a:pPr marL="0" indent="0">
              <a:buNone/>
            </a:pPr>
            <a:r>
              <a:rPr lang="en-US" dirty="0"/>
              <a:t>    echo "&lt;</a:t>
            </a:r>
            <a:r>
              <a:rPr lang="en-US" dirty="0" err="1"/>
              <a:t>br</a:t>
            </a:r>
            <a:r>
              <a:rPr lang="en-US" dirty="0"/>
              <a:t>&gt;";</a:t>
            </a:r>
          </a:p>
          <a:p>
            <a:pPr marL="0" indent="0">
              <a:buNone/>
            </a:pPr>
            <a:r>
              <a:rPr lang="en-US" dirty="0"/>
              <a:t>}</a:t>
            </a:r>
          </a:p>
          <a:p>
            <a:pPr marL="0" indent="0">
              <a:buNone/>
            </a:pPr>
            <a:r>
              <a:rPr lang="en-US" dirty="0"/>
              <a:t>?&gt;</a:t>
            </a:r>
          </a:p>
          <a:p>
            <a:endParaRPr lang="en-US" dirty="0"/>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Sorting Arrays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B7D9468C-E1B5-492D-99CE-D628DC22FA39}"/>
              </a:ext>
            </a:extLst>
          </p:cNvPr>
          <p:cNvPicPr>
            <a:picLocks noChangeAspect="1"/>
          </p:cNvPicPr>
          <p:nvPr/>
        </p:nvPicPr>
        <p:blipFill>
          <a:blip r:embed="rId3"/>
          <a:stretch>
            <a:fillRect/>
          </a:stretch>
        </p:blipFill>
        <p:spPr>
          <a:xfrm>
            <a:off x="8478962" y="3284984"/>
            <a:ext cx="1865509" cy="2747844"/>
          </a:xfrm>
          <a:prstGeom prst="rect">
            <a:avLst/>
          </a:prstGeom>
        </p:spPr>
      </p:pic>
    </p:spTree>
    <p:extLst>
      <p:ext uri="{BB962C8B-B14F-4D97-AF65-F5344CB8AC3E}">
        <p14:creationId xmlns:p14="http://schemas.microsoft.com/office/powerpoint/2010/main" val="1414460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45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45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45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US" dirty="0"/>
              <a:t>sort() - sort arrays in ascending order</a:t>
            </a:r>
          </a:p>
          <a:p>
            <a:r>
              <a:rPr lang="en-US" dirty="0" err="1"/>
              <a:t>rsort</a:t>
            </a:r>
            <a:r>
              <a:rPr lang="en-US" dirty="0"/>
              <a:t>() - sort arrays in descending order</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Sorting Arrays</a:t>
            </a:r>
            <a:endParaRPr lang="en-US" dirty="0">
              <a:latin typeface="Armata" panose="020B0503040500060204" pitchFamily="34" charset="0"/>
            </a:endParaRPr>
          </a:p>
        </p:txBody>
      </p:sp>
      <p:graphicFrame>
        <p:nvGraphicFramePr>
          <p:cNvPr id="3" name="Object 2">
            <a:extLst>
              <a:ext uri="{FF2B5EF4-FFF2-40B4-BE49-F238E27FC236}">
                <a16:creationId xmlns:a16="http://schemas.microsoft.com/office/drawing/2014/main" id="{8E8D4035-16B4-4FB7-89E2-36FBF7E51050}"/>
              </a:ext>
            </a:extLst>
          </p:cNvPr>
          <p:cNvGraphicFramePr>
            <a:graphicFrameLocks noChangeAspect="1"/>
          </p:cNvGraphicFramePr>
          <p:nvPr>
            <p:extLst>
              <p:ext uri="{D42A27DB-BD31-4B8C-83A1-F6EECF244321}">
                <p14:modId xmlns:p14="http://schemas.microsoft.com/office/powerpoint/2010/main" val="3242973739"/>
              </p:ext>
            </p:extLst>
          </p:nvPr>
        </p:nvGraphicFramePr>
        <p:xfrm>
          <a:off x="526787" y="2060848"/>
          <a:ext cx="8595447" cy="2952328"/>
        </p:xfrm>
        <a:graphic>
          <a:graphicData uri="http://schemas.openxmlformats.org/presentationml/2006/ole">
            <mc:AlternateContent xmlns:mc="http://schemas.openxmlformats.org/markup-compatibility/2006">
              <mc:Choice xmlns:v="urn:schemas-microsoft-com:vml" Requires="v">
                <p:oleObj spid="_x0000_s3162" name="Bitmap Image" r:id="rId3" imgW="5791320" imgH="1989000" progId="PBrush">
                  <p:embed/>
                </p:oleObj>
              </mc:Choice>
              <mc:Fallback>
                <p:oleObj name="Bitmap Image" r:id="rId3" imgW="5791320" imgH="1989000" progId="PBrush">
                  <p:embed/>
                  <p:pic>
                    <p:nvPicPr>
                      <p:cNvPr id="0" name="Picture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787" y="2060848"/>
                        <a:ext cx="8595447" cy="2952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a:extLst>
              <a:ext uri="{FF2B5EF4-FFF2-40B4-BE49-F238E27FC236}">
                <a16:creationId xmlns:a16="http://schemas.microsoft.com/office/drawing/2014/main" id="{8E6E06F3-34BC-4967-B775-C0467A686677}"/>
              </a:ext>
            </a:extLst>
          </p:cNvPr>
          <p:cNvPicPr>
            <a:picLocks noChangeAspect="1"/>
          </p:cNvPicPr>
          <p:nvPr/>
        </p:nvPicPr>
        <p:blipFill>
          <a:blip r:embed="rId5"/>
          <a:stretch>
            <a:fillRect/>
          </a:stretch>
        </p:blipFill>
        <p:spPr>
          <a:xfrm>
            <a:off x="9293350" y="2663725"/>
            <a:ext cx="1821323" cy="1413347"/>
          </a:xfrm>
          <a:prstGeom prst="rect">
            <a:avLst/>
          </a:prstGeom>
          <a:ln>
            <a:solidFill>
              <a:schemeClr val="accent2"/>
            </a:solidFill>
          </a:ln>
        </p:spPr>
      </p:pic>
    </p:spTree>
    <p:extLst>
      <p:ext uri="{BB962C8B-B14F-4D97-AF65-F5344CB8AC3E}">
        <p14:creationId xmlns:p14="http://schemas.microsoft.com/office/powerpoint/2010/main" val="8363709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US" dirty="0" err="1"/>
              <a:t>asort</a:t>
            </a:r>
            <a:r>
              <a:rPr lang="en-US" dirty="0"/>
              <a:t>() - sort associative arrays in ascending order, according to the value</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Sorting Arrays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586A3552-0F50-48D4-842C-5A6B3BA15E10}"/>
              </a:ext>
            </a:extLst>
          </p:cNvPr>
          <p:cNvPicPr>
            <a:picLocks noChangeAspect="1"/>
          </p:cNvPicPr>
          <p:nvPr/>
        </p:nvPicPr>
        <p:blipFill>
          <a:blip r:embed="rId3"/>
          <a:stretch>
            <a:fillRect/>
          </a:stretch>
        </p:blipFill>
        <p:spPr>
          <a:xfrm>
            <a:off x="555854" y="1556792"/>
            <a:ext cx="7821775" cy="3096344"/>
          </a:xfrm>
          <a:prstGeom prst="rect">
            <a:avLst/>
          </a:prstGeom>
        </p:spPr>
      </p:pic>
      <p:pic>
        <p:nvPicPr>
          <p:cNvPr id="6" name="Picture 5">
            <a:extLst>
              <a:ext uri="{FF2B5EF4-FFF2-40B4-BE49-F238E27FC236}">
                <a16:creationId xmlns:a16="http://schemas.microsoft.com/office/drawing/2014/main" id="{5B20C158-C151-41C8-9B6A-B5CFA0AF60C7}"/>
              </a:ext>
            </a:extLst>
          </p:cNvPr>
          <p:cNvPicPr>
            <a:picLocks noChangeAspect="1"/>
          </p:cNvPicPr>
          <p:nvPr/>
        </p:nvPicPr>
        <p:blipFill>
          <a:blip r:embed="rId4"/>
          <a:stretch>
            <a:fillRect/>
          </a:stretch>
        </p:blipFill>
        <p:spPr>
          <a:xfrm>
            <a:off x="8480904" y="2060848"/>
            <a:ext cx="3560492" cy="1368152"/>
          </a:xfrm>
          <a:prstGeom prst="rect">
            <a:avLst/>
          </a:prstGeom>
          <a:ln>
            <a:solidFill>
              <a:schemeClr val="accent2"/>
            </a:solidFill>
          </a:ln>
        </p:spPr>
      </p:pic>
    </p:spTree>
    <p:extLst>
      <p:ext uri="{BB962C8B-B14F-4D97-AF65-F5344CB8AC3E}">
        <p14:creationId xmlns:p14="http://schemas.microsoft.com/office/powerpoint/2010/main" val="28783409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US" dirty="0" err="1"/>
              <a:t>ksort</a:t>
            </a:r>
            <a:r>
              <a:rPr lang="en-US" dirty="0"/>
              <a:t>() - sort associative arrays in ascending order, according to the key</a:t>
            </a:r>
          </a:p>
          <a:p>
            <a:endParaRPr lang="en-US" dirty="0"/>
          </a:p>
          <a:p>
            <a:endParaRPr lang="en-US" dirty="0"/>
          </a:p>
          <a:p>
            <a:endParaRPr lang="en-US" dirty="0"/>
          </a:p>
          <a:p>
            <a:endParaRPr lang="en-US" dirty="0"/>
          </a:p>
          <a:p>
            <a:endParaRPr lang="en-US" dirty="0"/>
          </a:p>
          <a:p>
            <a:endParaRPr lang="en-US" dirty="0"/>
          </a:p>
          <a:p>
            <a:endParaRPr lang="en-US" dirty="0"/>
          </a:p>
          <a:p>
            <a:pPr>
              <a:defRPr/>
            </a:pPr>
            <a:r>
              <a:rPr lang="en-IN" sz="2000" dirty="0"/>
              <a:t>The </a:t>
            </a:r>
            <a:r>
              <a:rPr lang="en-IN" sz="2000" dirty="0">
                <a:solidFill>
                  <a:srgbClr val="FF0000"/>
                </a:solidFill>
              </a:rPr>
              <a:t>sort</a:t>
            </a:r>
            <a:r>
              <a:rPr lang="en-IN" sz="2000" dirty="0"/>
              <a:t> function, which </a:t>
            </a:r>
            <a:r>
              <a:rPr lang="en-IN" sz="2000" dirty="0">
                <a:solidFill>
                  <a:srgbClr val="FF0000"/>
                </a:solidFill>
              </a:rPr>
              <a:t>takes an array </a:t>
            </a:r>
            <a:r>
              <a:rPr lang="en-IN" sz="2000" dirty="0"/>
              <a:t>as a parameter, </a:t>
            </a:r>
            <a:r>
              <a:rPr lang="en-IN" sz="2000" dirty="0">
                <a:solidFill>
                  <a:srgbClr val="FF0000"/>
                </a:solidFill>
              </a:rPr>
              <a:t>sorts the values</a:t>
            </a:r>
            <a:r>
              <a:rPr lang="en-IN" sz="2000" dirty="0"/>
              <a:t> in the array, </a:t>
            </a:r>
            <a:r>
              <a:rPr lang="en-IN" sz="2000" dirty="0">
                <a:solidFill>
                  <a:srgbClr val="FF0000"/>
                </a:solidFill>
              </a:rPr>
              <a:t>replacing the keys with the numeric keys</a:t>
            </a:r>
            <a:r>
              <a:rPr lang="en-IN" sz="2000" dirty="0"/>
              <a:t>, 0, 1, 2, .... </a:t>
            </a:r>
          </a:p>
          <a:p>
            <a:pPr>
              <a:defRPr/>
            </a:pPr>
            <a:r>
              <a:rPr lang="en-IN" sz="2000" dirty="0"/>
              <a:t>The array can have both </a:t>
            </a:r>
            <a:r>
              <a:rPr lang="en-IN" sz="2000" dirty="0">
                <a:solidFill>
                  <a:srgbClr val="FF0000"/>
                </a:solidFill>
              </a:rPr>
              <a:t>string and numeric values.</a:t>
            </a:r>
          </a:p>
          <a:p>
            <a:pPr>
              <a:defRPr/>
            </a:pPr>
            <a:r>
              <a:rPr lang="en-IN" sz="2000" dirty="0"/>
              <a:t> The </a:t>
            </a:r>
            <a:r>
              <a:rPr lang="en-IN" sz="2000" dirty="0">
                <a:solidFill>
                  <a:srgbClr val="FF0000"/>
                </a:solidFill>
              </a:rPr>
              <a:t>string</a:t>
            </a:r>
            <a:r>
              <a:rPr lang="en-IN" sz="2000" dirty="0"/>
              <a:t> values </a:t>
            </a:r>
            <a:r>
              <a:rPr lang="en-IN" sz="2000" dirty="0">
                <a:solidFill>
                  <a:srgbClr val="FF0000"/>
                </a:solidFill>
              </a:rPr>
              <a:t>migrate to the beginning of the array</a:t>
            </a:r>
            <a:r>
              <a:rPr lang="en-IN" sz="2000" dirty="0"/>
              <a:t> in </a:t>
            </a:r>
            <a:r>
              <a:rPr lang="en-IN" sz="2000" dirty="0">
                <a:solidFill>
                  <a:srgbClr val="FF0000"/>
                </a:solidFill>
              </a:rPr>
              <a:t>alphabetical order.</a:t>
            </a:r>
            <a:r>
              <a:rPr lang="en-IN" sz="2000" dirty="0"/>
              <a:t> The </a:t>
            </a:r>
            <a:r>
              <a:rPr lang="en-IN" sz="2000" dirty="0">
                <a:solidFill>
                  <a:srgbClr val="FF0000"/>
                </a:solidFill>
              </a:rPr>
              <a:t>numeric values follow in ascending order</a:t>
            </a:r>
          </a:p>
          <a:p>
            <a:endParaRPr lang="en-US" sz="2000" dirty="0"/>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Sorting Arrays</a:t>
            </a: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654D9AFE-5317-432A-B0DB-68AC58AD4BB8}"/>
              </a:ext>
            </a:extLst>
          </p:cNvPr>
          <p:cNvPicPr>
            <a:picLocks noChangeAspect="1"/>
          </p:cNvPicPr>
          <p:nvPr/>
        </p:nvPicPr>
        <p:blipFill>
          <a:blip r:embed="rId3"/>
          <a:stretch>
            <a:fillRect/>
          </a:stretch>
        </p:blipFill>
        <p:spPr>
          <a:xfrm>
            <a:off x="767408" y="1485391"/>
            <a:ext cx="7019925" cy="2809875"/>
          </a:xfrm>
          <a:prstGeom prst="rect">
            <a:avLst/>
          </a:prstGeom>
        </p:spPr>
      </p:pic>
      <p:pic>
        <p:nvPicPr>
          <p:cNvPr id="4" name="Picture 3">
            <a:extLst>
              <a:ext uri="{FF2B5EF4-FFF2-40B4-BE49-F238E27FC236}">
                <a16:creationId xmlns:a16="http://schemas.microsoft.com/office/drawing/2014/main" id="{970E61E4-E804-4ADE-A83B-9ED48A84BD0F}"/>
              </a:ext>
            </a:extLst>
          </p:cNvPr>
          <p:cNvPicPr>
            <a:picLocks noChangeAspect="1"/>
          </p:cNvPicPr>
          <p:nvPr/>
        </p:nvPicPr>
        <p:blipFill>
          <a:blip r:embed="rId4"/>
          <a:stretch>
            <a:fillRect/>
          </a:stretch>
        </p:blipFill>
        <p:spPr>
          <a:xfrm>
            <a:off x="8278282" y="1628800"/>
            <a:ext cx="3433218" cy="1373287"/>
          </a:xfrm>
          <a:prstGeom prst="rect">
            <a:avLst/>
          </a:prstGeom>
          <a:ln>
            <a:solidFill>
              <a:schemeClr val="accent2"/>
            </a:solidFill>
          </a:ln>
        </p:spPr>
      </p:pic>
    </p:spTree>
    <p:extLst>
      <p:ext uri="{BB962C8B-B14F-4D97-AF65-F5344CB8AC3E}">
        <p14:creationId xmlns:p14="http://schemas.microsoft.com/office/powerpoint/2010/main" val="647397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Sorting Arrays</a:t>
            </a:r>
            <a:endParaRPr lang="en-US" dirty="0">
              <a:latin typeface="Armata" panose="020B0503040500060204" pitchFamily="34" charset="0"/>
            </a:endParaRPr>
          </a:p>
        </p:txBody>
      </p:sp>
      <p:pic>
        <p:nvPicPr>
          <p:cNvPr id="8" name="Picture 4" descr="fig11_04">
            <a:extLst>
              <a:ext uri="{FF2B5EF4-FFF2-40B4-BE49-F238E27FC236}">
                <a16:creationId xmlns:a16="http://schemas.microsoft.com/office/drawing/2014/main" id="{829CA608-289D-463E-9CF0-DDB92AB27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440" y="1196752"/>
            <a:ext cx="777716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528246"/>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US" dirty="0"/>
              <a:t>With the help of </a:t>
            </a:r>
            <a:r>
              <a:rPr lang="en-US" dirty="0" err="1"/>
              <a:t>array_search</a:t>
            </a:r>
            <a:r>
              <a:rPr lang="en-US" dirty="0"/>
              <a:t>() function, we can remove specific elements from an array.</a:t>
            </a:r>
          </a:p>
          <a:p>
            <a:pPr marL="0" indent="0">
              <a:buNone/>
            </a:pPr>
            <a:endParaRPr lang="en-US" dirty="0"/>
          </a:p>
          <a:p>
            <a:endParaRPr lang="en-US" dirty="0"/>
          </a:p>
          <a:p>
            <a:endParaRPr lang="en-US" dirty="0"/>
          </a:p>
          <a:p>
            <a:endParaRPr lang="en-US" dirty="0"/>
          </a:p>
          <a:p>
            <a:endParaRPr lang="en-US" sz="2000" dirty="0"/>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 Arrays-Using </a:t>
            </a:r>
            <a:r>
              <a:rPr lang="en-US" dirty="0" err="1"/>
              <a:t>array_search</a:t>
            </a:r>
            <a:r>
              <a:rPr lang="en-US" dirty="0"/>
              <a:t>()</a:t>
            </a:r>
            <a:br>
              <a:rPr lang="en-US" dirty="0"/>
            </a:b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85DB21B6-4EBA-4E38-8D93-7312DC54D77B}"/>
              </a:ext>
            </a:extLst>
          </p:cNvPr>
          <p:cNvPicPr>
            <a:picLocks noChangeAspect="1"/>
          </p:cNvPicPr>
          <p:nvPr/>
        </p:nvPicPr>
        <p:blipFill>
          <a:blip r:embed="rId3"/>
          <a:stretch>
            <a:fillRect/>
          </a:stretch>
        </p:blipFill>
        <p:spPr>
          <a:xfrm>
            <a:off x="1703512" y="5373216"/>
            <a:ext cx="8810625" cy="1419225"/>
          </a:xfrm>
          <a:prstGeom prst="rect">
            <a:avLst/>
          </a:prstGeom>
          <a:solidFill>
            <a:schemeClr val="accent2"/>
          </a:solidFill>
          <a:ln>
            <a:solidFill>
              <a:schemeClr val="accent2"/>
            </a:solidFill>
          </a:ln>
        </p:spPr>
      </p:pic>
      <p:sp>
        <p:nvSpPr>
          <p:cNvPr id="3" name="TextBox 2">
            <a:extLst>
              <a:ext uri="{FF2B5EF4-FFF2-40B4-BE49-F238E27FC236}">
                <a16:creationId xmlns:a16="http://schemas.microsoft.com/office/drawing/2014/main" id="{C74E525B-87D8-4AF3-8B04-10DF8989B71C}"/>
              </a:ext>
            </a:extLst>
          </p:cNvPr>
          <p:cNvSpPr txBox="1"/>
          <p:nvPr/>
        </p:nvSpPr>
        <p:spPr>
          <a:xfrm>
            <a:off x="8544272" y="4869160"/>
            <a:ext cx="3024336" cy="507831"/>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1200" dirty="0" err="1"/>
              <a:t>Var_dump</a:t>
            </a:r>
            <a:r>
              <a:rPr lang="en-US" sz="1200" dirty="0"/>
              <a:t>() dumps information about one or more </a:t>
            </a:r>
            <a:r>
              <a:rPr lang="en-US" sz="1200" dirty="0" err="1"/>
              <a:t>variables.The</a:t>
            </a:r>
            <a:r>
              <a:rPr lang="en-US" sz="1200" dirty="0"/>
              <a:t> information holds type and value of the variable</a:t>
            </a:r>
          </a:p>
        </p:txBody>
      </p:sp>
      <p:pic>
        <p:nvPicPr>
          <p:cNvPr id="6" name="Picture 5">
            <a:extLst>
              <a:ext uri="{FF2B5EF4-FFF2-40B4-BE49-F238E27FC236}">
                <a16:creationId xmlns:a16="http://schemas.microsoft.com/office/drawing/2014/main" id="{805B9C19-E4FE-4D1A-B9AA-6D606A861A51}"/>
              </a:ext>
            </a:extLst>
          </p:cNvPr>
          <p:cNvPicPr>
            <a:picLocks noChangeAspect="1"/>
          </p:cNvPicPr>
          <p:nvPr/>
        </p:nvPicPr>
        <p:blipFill>
          <a:blip r:embed="rId4"/>
          <a:stretch>
            <a:fillRect/>
          </a:stretch>
        </p:blipFill>
        <p:spPr>
          <a:xfrm>
            <a:off x="782831" y="1745776"/>
            <a:ext cx="7465287" cy="3627439"/>
          </a:xfrm>
          <a:prstGeom prst="rect">
            <a:avLst/>
          </a:prstGeom>
        </p:spPr>
      </p:pic>
    </p:spTree>
    <p:extLst>
      <p:ext uri="{BB962C8B-B14F-4D97-AF65-F5344CB8AC3E}">
        <p14:creationId xmlns:p14="http://schemas.microsoft.com/office/powerpoint/2010/main" val="1587592532"/>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US" dirty="0"/>
              <a:t>With the help of </a:t>
            </a:r>
            <a:r>
              <a:rPr lang="en-US" dirty="0" err="1"/>
              <a:t>array_diff</a:t>
            </a:r>
            <a:r>
              <a:rPr lang="en-US" dirty="0"/>
              <a:t>() function, we also can remove specific elements from an array.</a:t>
            </a:r>
          </a:p>
          <a:p>
            <a:endParaRPr lang="en-US" dirty="0"/>
          </a:p>
          <a:p>
            <a:endParaRPr lang="en-US" dirty="0"/>
          </a:p>
          <a:p>
            <a:endParaRPr lang="en-US" dirty="0"/>
          </a:p>
          <a:p>
            <a:endParaRPr lang="en-US" sz="2000" dirty="0"/>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 Arrays-Using </a:t>
            </a:r>
            <a:r>
              <a:rPr lang="en-US" dirty="0" err="1"/>
              <a:t>array_diff</a:t>
            </a:r>
            <a:r>
              <a:rPr lang="en-US" dirty="0"/>
              <a:t>()</a:t>
            </a:r>
            <a:br>
              <a:rPr lang="en-US" dirty="0"/>
            </a:br>
            <a:br>
              <a:rPr lang="en-US" dirty="0"/>
            </a:br>
            <a:endParaRPr lang="en-US" dirty="0">
              <a:latin typeface="Armata" panose="020B0503040500060204" pitchFamily="34" charset="0"/>
            </a:endParaRPr>
          </a:p>
        </p:txBody>
      </p:sp>
      <p:pic>
        <p:nvPicPr>
          <p:cNvPr id="8" name="Picture 7">
            <a:extLst>
              <a:ext uri="{FF2B5EF4-FFF2-40B4-BE49-F238E27FC236}">
                <a16:creationId xmlns:a16="http://schemas.microsoft.com/office/drawing/2014/main" id="{DA94FF43-D08A-48DA-BE53-A5944B76001F}"/>
              </a:ext>
            </a:extLst>
          </p:cNvPr>
          <p:cNvPicPr>
            <a:picLocks noChangeAspect="1"/>
          </p:cNvPicPr>
          <p:nvPr/>
        </p:nvPicPr>
        <p:blipFill>
          <a:blip r:embed="rId3"/>
          <a:stretch>
            <a:fillRect/>
          </a:stretch>
        </p:blipFill>
        <p:spPr>
          <a:xfrm>
            <a:off x="1919536" y="1556792"/>
            <a:ext cx="8833223" cy="2999963"/>
          </a:xfrm>
          <a:prstGeom prst="rect">
            <a:avLst/>
          </a:prstGeom>
        </p:spPr>
      </p:pic>
      <p:pic>
        <p:nvPicPr>
          <p:cNvPr id="10" name="Picture 9">
            <a:extLst>
              <a:ext uri="{FF2B5EF4-FFF2-40B4-BE49-F238E27FC236}">
                <a16:creationId xmlns:a16="http://schemas.microsoft.com/office/drawing/2014/main" id="{640962D7-3FA2-44C8-9C94-82BBDD5D0210}"/>
              </a:ext>
            </a:extLst>
          </p:cNvPr>
          <p:cNvPicPr>
            <a:picLocks noChangeAspect="1"/>
          </p:cNvPicPr>
          <p:nvPr/>
        </p:nvPicPr>
        <p:blipFill>
          <a:blip r:embed="rId4"/>
          <a:stretch>
            <a:fillRect/>
          </a:stretch>
        </p:blipFill>
        <p:spPr>
          <a:xfrm>
            <a:off x="1904084" y="4610257"/>
            <a:ext cx="8020050" cy="1504950"/>
          </a:xfrm>
          <a:prstGeom prst="rect">
            <a:avLst/>
          </a:prstGeom>
          <a:ln>
            <a:solidFill>
              <a:schemeClr val="accent2"/>
            </a:solidFill>
          </a:ln>
        </p:spPr>
      </p:pic>
    </p:spTree>
    <p:extLst>
      <p:ext uri="{BB962C8B-B14F-4D97-AF65-F5344CB8AC3E}">
        <p14:creationId xmlns:p14="http://schemas.microsoft.com/office/powerpoint/2010/main" val="2097656157"/>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US" dirty="0"/>
              <a:t>You need to find whether an array is subset of another array.</a:t>
            </a:r>
          </a:p>
          <a:p>
            <a:r>
              <a:rPr lang="en-US" dirty="0"/>
              <a:t>Let us suppose that there are two </a:t>
            </a:r>
            <a:r>
              <a:rPr lang="en-US" dirty="0" err="1"/>
              <a:t>arrays.First</a:t>
            </a:r>
            <a:r>
              <a:rPr lang="en-US" dirty="0"/>
              <a:t> array is large which have 6 values.</a:t>
            </a:r>
          </a:p>
          <a:p>
            <a:r>
              <a:rPr lang="en-US" dirty="0"/>
              <a:t>Second array is small which have 2 </a:t>
            </a:r>
            <a:r>
              <a:rPr lang="en-US" dirty="0" err="1"/>
              <a:t>values.Find</a:t>
            </a:r>
            <a:r>
              <a:rPr lang="en-US" dirty="0"/>
              <a:t> if second array is subset of first which means that all values of second array should exists in first array.</a:t>
            </a:r>
          </a:p>
          <a:p>
            <a:endParaRPr lang="en-US" dirty="0"/>
          </a:p>
          <a:p>
            <a:endParaRPr lang="en-US" dirty="0"/>
          </a:p>
          <a:p>
            <a:endParaRPr lang="en-US" dirty="0"/>
          </a:p>
          <a:p>
            <a:endParaRPr lang="en-US" dirty="0"/>
          </a:p>
          <a:p>
            <a:endParaRPr lang="en-US" sz="2000" dirty="0"/>
          </a:p>
          <a:p>
            <a:pPr marL="0" indent="0">
              <a:lnSpc>
                <a:spcPct val="150000"/>
              </a:lnSpc>
              <a:buNone/>
              <a:defRPr/>
            </a:pPr>
            <a:endParaRPr lang="en-US" sz="2000" dirty="0"/>
          </a:p>
        </p:txBody>
      </p:sp>
      <p:sp>
        <p:nvSpPr>
          <p:cNvPr id="5" name="Title 2"/>
          <p:cNvSpPr>
            <a:spLocks noGrp="1"/>
          </p:cNvSpPr>
          <p:nvPr>
            <p:ph type="title"/>
          </p:nvPr>
        </p:nvSpPr>
        <p:spPr>
          <a:xfrm>
            <a:off x="684562" y="307299"/>
            <a:ext cx="9204101" cy="634605"/>
          </a:xfrm>
        </p:spPr>
        <p:txBody>
          <a:bodyPr vert="horz" lIns="0" tIns="0" rIns="0" bIns="0" rtlCol="0" anchor="t" anchorCtr="0">
            <a:noAutofit/>
          </a:bodyPr>
          <a:lstStyle/>
          <a:p>
            <a:r>
              <a:rPr lang="en-US" dirty="0"/>
              <a:t> </a:t>
            </a:r>
            <a:r>
              <a:rPr lang="en-US" b="0" dirty="0"/>
              <a:t>PHP Program to find if an array is a subset of another:</a:t>
            </a:r>
            <a:br>
              <a:rPr lang="en-US" b="0" dirty="0"/>
            </a:br>
            <a:br>
              <a:rPr lang="en-US" dirty="0"/>
            </a:br>
            <a:br>
              <a:rPr lang="en-US" dirty="0"/>
            </a:b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F7F5E33D-932D-4500-AC21-2F71104F437D}"/>
              </a:ext>
            </a:extLst>
          </p:cNvPr>
          <p:cNvPicPr>
            <a:picLocks noChangeAspect="1"/>
          </p:cNvPicPr>
          <p:nvPr/>
        </p:nvPicPr>
        <p:blipFill>
          <a:blip r:embed="rId3"/>
          <a:stretch>
            <a:fillRect/>
          </a:stretch>
        </p:blipFill>
        <p:spPr>
          <a:xfrm>
            <a:off x="551384" y="2610944"/>
            <a:ext cx="8375671" cy="3549380"/>
          </a:xfrm>
          <a:prstGeom prst="rect">
            <a:avLst/>
          </a:prstGeom>
        </p:spPr>
      </p:pic>
      <p:pic>
        <p:nvPicPr>
          <p:cNvPr id="3" name="Picture 2">
            <a:extLst>
              <a:ext uri="{FF2B5EF4-FFF2-40B4-BE49-F238E27FC236}">
                <a16:creationId xmlns:a16="http://schemas.microsoft.com/office/drawing/2014/main" id="{30C2758F-AB61-460F-B554-D9D088B63832}"/>
              </a:ext>
            </a:extLst>
          </p:cNvPr>
          <p:cNvPicPr>
            <a:picLocks noChangeAspect="1"/>
          </p:cNvPicPr>
          <p:nvPr/>
        </p:nvPicPr>
        <p:blipFill>
          <a:blip r:embed="rId4"/>
          <a:stretch>
            <a:fillRect/>
          </a:stretch>
        </p:blipFill>
        <p:spPr>
          <a:xfrm>
            <a:off x="6960096" y="4822279"/>
            <a:ext cx="4953000" cy="1343025"/>
          </a:xfrm>
          <a:prstGeom prst="rect">
            <a:avLst/>
          </a:prstGeom>
          <a:ln>
            <a:solidFill>
              <a:schemeClr val="accent2"/>
            </a:solidFill>
          </a:ln>
        </p:spPr>
      </p:pic>
    </p:spTree>
    <p:extLst>
      <p:ext uri="{BB962C8B-B14F-4D97-AF65-F5344CB8AC3E}">
        <p14:creationId xmlns:p14="http://schemas.microsoft.com/office/powerpoint/2010/main" val="2140302495"/>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US" dirty="0"/>
              <a:t>An empty array can sometimes cause software crash or unexpected outputs. To avoid this, it is better to check whether an array is empty or not beforehand. There are various methods and functions available in PHP to check whether the defined or given array is an empty or not.</a:t>
            </a:r>
            <a:endParaRPr lang="en-US" sz="2000" dirty="0"/>
          </a:p>
        </p:txBody>
      </p:sp>
      <p:sp>
        <p:nvSpPr>
          <p:cNvPr id="5" name="Title 2"/>
          <p:cNvSpPr>
            <a:spLocks noGrp="1"/>
          </p:cNvSpPr>
          <p:nvPr>
            <p:ph type="title"/>
          </p:nvPr>
        </p:nvSpPr>
        <p:spPr>
          <a:xfrm>
            <a:off x="684562" y="307299"/>
            <a:ext cx="9204101" cy="634605"/>
          </a:xfrm>
        </p:spPr>
        <p:txBody>
          <a:bodyPr vert="horz" lIns="0" tIns="0" rIns="0" bIns="0" rtlCol="0" anchor="t" anchorCtr="0">
            <a:noAutofit/>
          </a:bodyPr>
          <a:lstStyle/>
          <a:p>
            <a:r>
              <a:rPr lang="en-US" dirty="0"/>
              <a:t> </a:t>
            </a:r>
            <a:r>
              <a:rPr lang="en-US" b="0" dirty="0"/>
              <a:t>PHP Program to check whether an array is empty or not</a:t>
            </a: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85D2EF76-A1F1-4FEA-BABD-3FAA2B64686A}"/>
              </a:ext>
            </a:extLst>
          </p:cNvPr>
          <p:cNvPicPr>
            <a:picLocks noChangeAspect="1"/>
          </p:cNvPicPr>
          <p:nvPr/>
        </p:nvPicPr>
        <p:blipFill>
          <a:blip r:embed="rId3"/>
          <a:stretch>
            <a:fillRect/>
          </a:stretch>
        </p:blipFill>
        <p:spPr>
          <a:xfrm>
            <a:off x="802737" y="2564904"/>
            <a:ext cx="7617416" cy="3524476"/>
          </a:xfrm>
          <a:prstGeom prst="rect">
            <a:avLst/>
          </a:prstGeom>
        </p:spPr>
      </p:pic>
      <p:pic>
        <p:nvPicPr>
          <p:cNvPr id="6" name="Picture 5">
            <a:extLst>
              <a:ext uri="{FF2B5EF4-FFF2-40B4-BE49-F238E27FC236}">
                <a16:creationId xmlns:a16="http://schemas.microsoft.com/office/drawing/2014/main" id="{B26FF765-F99F-4ED6-9A26-56AB2A495DA5}"/>
              </a:ext>
            </a:extLst>
          </p:cNvPr>
          <p:cNvPicPr>
            <a:picLocks noChangeAspect="1"/>
          </p:cNvPicPr>
          <p:nvPr/>
        </p:nvPicPr>
        <p:blipFill>
          <a:blip r:embed="rId4"/>
          <a:stretch>
            <a:fillRect/>
          </a:stretch>
        </p:blipFill>
        <p:spPr>
          <a:xfrm>
            <a:off x="8761604" y="3647245"/>
            <a:ext cx="3162300" cy="1647825"/>
          </a:xfrm>
          <a:prstGeom prst="rect">
            <a:avLst/>
          </a:prstGeom>
          <a:ln>
            <a:solidFill>
              <a:schemeClr val="accent2"/>
            </a:solidFill>
          </a:ln>
        </p:spPr>
      </p:pic>
    </p:spTree>
    <p:extLst>
      <p:ext uri="{BB962C8B-B14F-4D97-AF65-F5344CB8AC3E}">
        <p14:creationId xmlns:p14="http://schemas.microsoft.com/office/powerpoint/2010/main" val="1989920170"/>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07299"/>
            <a:ext cx="9204101" cy="634605"/>
          </a:xfrm>
        </p:spPr>
        <p:txBody>
          <a:bodyPr vert="horz" lIns="0" tIns="0" rIns="0" bIns="0" rtlCol="0" anchor="t" anchorCtr="0">
            <a:noAutofit/>
          </a:bodyPr>
          <a:lstStyle/>
          <a:p>
            <a:r>
              <a:rPr lang="en-US" dirty="0"/>
              <a:t> </a:t>
            </a:r>
            <a:r>
              <a:rPr lang="en-US" b="0" dirty="0"/>
              <a:t>University Question </a:t>
            </a: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7F4E3BAC-0651-47C8-B775-8136FE85439D}"/>
              </a:ext>
            </a:extLst>
          </p:cNvPr>
          <p:cNvPicPr>
            <a:picLocks noChangeAspect="1"/>
          </p:cNvPicPr>
          <p:nvPr/>
        </p:nvPicPr>
        <p:blipFill>
          <a:blip r:embed="rId3"/>
          <a:stretch>
            <a:fillRect/>
          </a:stretch>
        </p:blipFill>
        <p:spPr>
          <a:xfrm>
            <a:off x="335360" y="1268760"/>
            <a:ext cx="11665296" cy="3986214"/>
          </a:xfrm>
          <a:prstGeom prst="rect">
            <a:avLst/>
          </a:prstGeom>
        </p:spPr>
      </p:pic>
      <p:pic>
        <p:nvPicPr>
          <p:cNvPr id="4" name="Picture 3">
            <a:extLst>
              <a:ext uri="{FF2B5EF4-FFF2-40B4-BE49-F238E27FC236}">
                <a16:creationId xmlns:a16="http://schemas.microsoft.com/office/drawing/2014/main" id="{E39EDF0A-23FD-454F-8E63-F47AEB7D54A7}"/>
              </a:ext>
            </a:extLst>
          </p:cNvPr>
          <p:cNvPicPr>
            <a:picLocks noChangeAspect="1"/>
          </p:cNvPicPr>
          <p:nvPr/>
        </p:nvPicPr>
        <p:blipFill>
          <a:blip r:embed="rId4"/>
          <a:stretch>
            <a:fillRect/>
          </a:stretch>
        </p:blipFill>
        <p:spPr>
          <a:xfrm>
            <a:off x="9048328" y="4005064"/>
            <a:ext cx="2376264" cy="2238690"/>
          </a:xfrm>
          <a:prstGeom prst="rect">
            <a:avLst/>
          </a:prstGeom>
          <a:ln>
            <a:solidFill>
              <a:srgbClr val="F04C3E"/>
            </a:solidFill>
          </a:ln>
        </p:spPr>
      </p:pic>
    </p:spTree>
    <p:extLst>
      <p:ext uri="{BB962C8B-B14F-4D97-AF65-F5344CB8AC3E}">
        <p14:creationId xmlns:p14="http://schemas.microsoft.com/office/powerpoint/2010/main" val="904524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07299"/>
            <a:ext cx="9204101" cy="634605"/>
          </a:xfrm>
        </p:spPr>
        <p:txBody>
          <a:bodyPr vert="horz" lIns="0" tIns="0" rIns="0" bIns="0" rtlCol="0" anchor="t" anchorCtr="0">
            <a:noAutofit/>
          </a:bodyPr>
          <a:lstStyle/>
          <a:p>
            <a:r>
              <a:rPr lang="en-US" dirty="0"/>
              <a:t> </a:t>
            </a:r>
            <a:r>
              <a:rPr lang="en-US" b="0" dirty="0"/>
              <a:t>University Question </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A6760078-7722-4CBE-B5F1-00A1CC926C5E}"/>
              </a:ext>
            </a:extLst>
          </p:cNvPr>
          <p:cNvPicPr>
            <a:picLocks noChangeAspect="1"/>
          </p:cNvPicPr>
          <p:nvPr/>
        </p:nvPicPr>
        <p:blipFill>
          <a:blip r:embed="rId3"/>
          <a:stretch>
            <a:fillRect/>
          </a:stretch>
        </p:blipFill>
        <p:spPr>
          <a:xfrm>
            <a:off x="479376" y="761149"/>
            <a:ext cx="7059010" cy="6096851"/>
          </a:xfrm>
          <a:prstGeom prst="rect">
            <a:avLst/>
          </a:prstGeom>
        </p:spPr>
      </p:pic>
      <p:pic>
        <p:nvPicPr>
          <p:cNvPr id="4" name="Picture 3">
            <a:extLst>
              <a:ext uri="{FF2B5EF4-FFF2-40B4-BE49-F238E27FC236}">
                <a16:creationId xmlns:a16="http://schemas.microsoft.com/office/drawing/2014/main" id="{05996CB0-0F48-4CE6-9F4C-9960AA33FA22}"/>
              </a:ext>
            </a:extLst>
          </p:cNvPr>
          <p:cNvPicPr>
            <a:picLocks noChangeAspect="1"/>
          </p:cNvPicPr>
          <p:nvPr/>
        </p:nvPicPr>
        <p:blipFill>
          <a:blip r:embed="rId4"/>
          <a:stretch>
            <a:fillRect/>
          </a:stretch>
        </p:blipFill>
        <p:spPr>
          <a:xfrm>
            <a:off x="8184232" y="2104361"/>
            <a:ext cx="3316869" cy="3124839"/>
          </a:xfrm>
          <a:prstGeom prst="rect">
            <a:avLst/>
          </a:prstGeom>
          <a:ln>
            <a:solidFill>
              <a:srgbClr val="F04C3E"/>
            </a:solidFill>
          </a:ln>
        </p:spPr>
      </p:pic>
    </p:spTree>
    <p:extLst>
      <p:ext uri="{BB962C8B-B14F-4D97-AF65-F5344CB8AC3E}">
        <p14:creationId xmlns:p14="http://schemas.microsoft.com/office/powerpoint/2010/main" val="10841566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Working with Functions</a:t>
            </a:r>
          </a:p>
        </p:txBody>
      </p:sp>
    </p:spTree>
    <p:extLst>
      <p:ext uri="{BB962C8B-B14F-4D97-AF65-F5344CB8AC3E}">
        <p14:creationId xmlns:p14="http://schemas.microsoft.com/office/powerpoint/2010/main" val="1052679322"/>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124744"/>
            <a:ext cx="10956054" cy="5040560"/>
          </a:xfrm>
          <a:ln>
            <a:noFill/>
          </a:ln>
        </p:spPr>
        <p:txBody>
          <a:bodyPr/>
          <a:lstStyle/>
          <a:p>
            <a:pPr>
              <a:defRPr/>
            </a:pPr>
            <a:r>
              <a:rPr lang="en-US" dirty="0"/>
              <a:t>Besides the built-in PHP functions, it is possible to create your own functions.</a:t>
            </a:r>
          </a:p>
          <a:p>
            <a:pPr>
              <a:defRPr/>
            </a:pPr>
            <a:r>
              <a:rPr lang="en-US" dirty="0"/>
              <a:t>A function is a block of statements that can be used repeatedly in a program.</a:t>
            </a:r>
          </a:p>
          <a:p>
            <a:pPr>
              <a:defRPr/>
            </a:pPr>
            <a:r>
              <a:rPr lang="en-US" dirty="0"/>
              <a:t>A </a:t>
            </a:r>
            <a:r>
              <a:rPr lang="en-US" b="1" dirty="0"/>
              <a:t>function will not execute automatically when a page loads</a:t>
            </a:r>
            <a:r>
              <a:rPr lang="en-US" dirty="0"/>
              <a:t>.</a:t>
            </a:r>
          </a:p>
          <a:p>
            <a:pPr>
              <a:defRPr/>
            </a:pPr>
            <a:r>
              <a:rPr lang="en-US" dirty="0"/>
              <a:t>A function will be executed by a call to the function.</a:t>
            </a:r>
          </a:p>
          <a:p>
            <a:pPr>
              <a:defRPr/>
            </a:pPr>
            <a:r>
              <a:rPr lang="en-US" dirty="0"/>
              <a:t>A user-defined function declaration starts with the word </a:t>
            </a:r>
            <a:r>
              <a:rPr lang="en-US" dirty="0">
                <a:highlight>
                  <a:srgbClr val="FFFF00"/>
                </a:highlight>
              </a:rPr>
              <a:t>function</a:t>
            </a:r>
          </a:p>
          <a:p>
            <a:pPr>
              <a:defRPr/>
            </a:pPr>
            <a:r>
              <a:rPr lang="en-US" dirty="0"/>
              <a:t>A function name must start with a letter or an underscore.</a:t>
            </a:r>
          </a:p>
          <a:p>
            <a:pPr>
              <a:defRPr/>
            </a:pPr>
            <a:r>
              <a:rPr lang="en-US" dirty="0"/>
              <a:t>Function names are NOT case-</a:t>
            </a:r>
            <a:r>
              <a:rPr lang="en-US" dirty="0" err="1"/>
              <a:t>sensitive.They</a:t>
            </a:r>
            <a:r>
              <a:rPr lang="en-US" dirty="0"/>
              <a:t> are case-insensitive for the ASCII characters A to Z</a:t>
            </a:r>
          </a:p>
          <a:p>
            <a:pPr>
              <a:defRPr/>
            </a:pPr>
            <a:r>
              <a:rPr lang="en-US" dirty="0"/>
              <a:t>All functions and classes in PHP have the global scope - they can be called outside a function even if they were defined inside and vice versa.</a:t>
            </a:r>
          </a:p>
          <a:p>
            <a:pPr>
              <a:defRPr/>
            </a:pPr>
            <a:r>
              <a:rPr lang="en-US" dirty="0"/>
              <a:t>PHP does not support function overloading, nor is it possible to undefine or redefine previously-declared functions.</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a:t>
            </a:r>
            <a:endParaRPr lang="en-US" dirty="0">
              <a:latin typeface="Armata" panose="020B0503040500060204" pitchFamily="34" charset="0"/>
            </a:endParaRPr>
          </a:p>
        </p:txBody>
      </p:sp>
    </p:spTree>
    <p:extLst>
      <p:ext uri="{BB962C8B-B14F-4D97-AF65-F5344CB8AC3E}">
        <p14:creationId xmlns:p14="http://schemas.microsoft.com/office/powerpoint/2010/main" val="36967249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124744"/>
            <a:ext cx="10956054" cy="5040560"/>
          </a:xfrm>
          <a:ln>
            <a:noFill/>
          </a:ln>
        </p:spPr>
        <p:txBody>
          <a:bodyPr/>
          <a:lstStyle/>
          <a:p>
            <a:pPr>
              <a:defRPr/>
            </a:pPr>
            <a:r>
              <a:rPr lang="en-US" dirty="0"/>
              <a:t>A function is a </a:t>
            </a:r>
            <a:r>
              <a:rPr lang="en-US" dirty="0">
                <a:highlight>
                  <a:srgbClr val="FFFF00"/>
                </a:highlight>
              </a:rPr>
              <a:t>self-contained block of code that can be called by your scripts</a:t>
            </a:r>
            <a:r>
              <a:rPr lang="en-US" dirty="0"/>
              <a:t>.</a:t>
            </a:r>
          </a:p>
          <a:p>
            <a:pPr>
              <a:defRPr/>
            </a:pPr>
            <a:r>
              <a:rPr lang="en-US" dirty="0"/>
              <a:t>When called, the function’s code is executed and performs a particular task.</a:t>
            </a:r>
          </a:p>
          <a:p>
            <a:pPr>
              <a:defRPr/>
            </a:pPr>
            <a:r>
              <a:rPr lang="en-US" dirty="0"/>
              <a:t>You can pass values to a function, which then uses the values appropriately—storing them, transforming them, displaying them, or whatever the function is told to do. </a:t>
            </a:r>
          </a:p>
          <a:p>
            <a:pPr>
              <a:defRPr/>
            </a:pPr>
            <a:r>
              <a:rPr lang="en-US" dirty="0"/>
              <a:t>When finished, a function can also pass a value back to the original code that called it into action.</a:t>
            </a:r>
          </a:p>
          <a:p>
            <a:pPr>
              <a:defRPr/>
            </a:pPr>
            <a:r>
              <a:rPr lang="en-US" dirty="0"/>
              <a:t>Functions come in two flavors: those built in to the language and those you define yourself. </a:t>
            </a:r>
          </a:p>
          <a:p>
            <a:pPr>
              <a:defRPr/>
            </a:pPr>
            <a:r>
              <a:rPr lang="en-US" dirty="0"/>
              <a:t>PHP has hundreds of built-in functions. </a:t>
            </a:r>
          </a:p>
          <a:p>
            <a:pPr>
              <a:defRPr/>
            </a:pPr>
            <a:r>
              <a:rPr lang="en-US" dirty="0" err="1"/>
              <a:t>strtoupper</a:t>
            </a:r>
            <a:r>
              <a:rPr lang="en-US" dirty="0"/>
              <a:t>() returns a string value, so its usage requires the presence of a variable to accept the new string, such as the following: </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2728F99C-107E-4CF7-A1A8-711042801C59}"/>
              </a:ext>
            </a:extLst>
          </p:cNvPr>
          <p:cNvPicPr>
            <a:picLocks noChangeAspect="1"/>
          </p:cNvPicPr>
          <p:nvPr/>
        </p:nvPicPr>
        <p:blipFill>
          <a:blip r:embed="rId3"/>
          <a:stretch>
            <a:fillRect/>
          </a:stretch>
        </p:blipFill>
        <p:spPr>
          <a:xfrm>
            <a:off x="6600056" y="4581128"/>
            <a:ext cx="5219700" cy="581025"/>
          </a:xfrm>
          <a:prstGeom prst="rect">
            <a:avLst/>
          </a:prstGeom>
          <a:ln>
            <a:solidFill>
              <a:schemeClr val="accent2"/>
            </a:solidFill>
          </a:ln>
        </p:spPr>
      </p:pic>
      <p:pic>
        <p:nvPicPr>
          <p:cNvPr id="3" name="Picture 2">
            <a:extLst>
              <a:ext uri="{FF2B5EF4-FFF2-40B4-BE49-F238E27FC236}">
                <a16:creationId xmlns:a16="http://schemas.microsoft.com/office/drawing/2014/main" id="{10188384-B3AE-4D73-B8F2-160873271F74}"/>
              </a:ext>
            </a:extLst>
          </p:cNvPr>
          <p:cNvPicPr>
            <a:picLocks noChangeAspect="1"/>
          </p:cNvPicPr>
          <p:nvPr/>
        </p:nvPicPr>
        <p:blipFill>
          <a:blip r:embed="rId4"/>
          <a:stretch>
            <a:fillRect/>
          </a:stretch>
        </p:blipFill>
        <p:spPr>
          <a:xfrm>
            <a:off x="662930" y="6087320"/>
            <a:ext cx="6153150" cy="790575"/>
          </a:xfrm>
          <a:prstGeom prst="rect">
            <a:avLst/>
          </a:prstGeom>
          <a:ln>
            <a:solidFill>
              <a:schemeClr val="accent2"/>
            </a:solidFill>
          </a:ln>
        </p:spPr>
      </p:pic>
      <p:pic>
        <p:nvPicPr>
          <p:cNvPr id="4" name="Picture 3">
            <a:extLst>
              <a:ext uri="{FF2B5EF4-FFF2-40B4-BE49-F238E27FC236}">
                <a16:creationId xmlns:a16="http://schemas.microsoft.com/office/drawing/2014/main" id="{DDDD6802-D07B-4738-8217-E32CB21FA5C2}"/>
              </a:ext>
            </a:extLst>
          </p:cNvPr>
          <p:cNvPicPr>
            <a:picLocks noChangeAspect="1"/>
          </p:cNvPicPr>
          <p:nvPr/>
        </p:nvPicPr>
        <p:blipFill>
          <a:blip r:embed="rId5"/>
          <a:stretch>
            <a:fillRect/>
          </a:stretch>
        </p:blipFill>
        <p:spPr>
          <a:xfrm>
            <a:off x="6823074" y="6088460"/>
            <a:ext cx="2105025" cy="685800"/>
          </a:xfrm>
          <a:prstGeom prst="rect">
            <a:avLst/>
          </a:prstGeom>
        </p:spPr>
      </p:pic>
    </p:spTree>
    <p:extLst>
      <p:ext uri="{BB962C8B-B14F-4D97-AF65-F5344CB8AC3E}">
        <p14:creationId xmlns:p14="http://schemas.microsoft.com/office/powerpoint/2010/main" val="27881178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pPr>
              <a:defRPr/>
            </a:pPr>
            <a:r>
              <a:rPr lang="en-IN" dirty="0"/>
              <a:t>PHP supports user-defined functions</a:t>
            </a:r>
          </a:p>
          <a:p>
            <a:pPr>
              <a:defRPr/>
            </a:pPr>
            <a:r>
              <a:rPr lang="en-IN" dirty="0"/>
              <a:t>The general form of a PHP function definition is as follows:</a:t>
            </a:r>
          </a:p>
          <a:p>
            <a:pPr marL="0" indent="0">
              <a:buNone/>
              <a:defRPr/>
            </a:pPr>
            <a:r>
              <a:rPr lang="en-IN" dirty="0"/>
              <a:t>	</a:t>
            </a:r>
            <a:r>
              <a:rPr lang="en-IN" dirty="0">
                <a:solidFill>
                  <a:srgbClr val="FF0000"/>
                </a:solidFill>
              </a:rPr>
              <a:t>function name( [parameters] ) { } </a:t>
            </a:r>
          </a:p>
          <a:p>
            <a:pPr>
              <a:defRPr/>
            </a:pPr>
            <a:r>
              <a:rPr lang="en-IN" dirty="0"/>
              <a:t>Function names are not case sensitive. So, you cannot have a function named sum and another named Sum. </a:t>
            </a:r>
          </a:p>
          <a:p>
            <a:pPr>
              <a:defRPr/>
            </a:pPr>
            <a:r>
              <a:rPr lang="en-IN" dirty="0"/>
              <a:t> the parameters in the call to a function </a:t>
            </a:r>
            <a:r>
              <a:rPr lang="en-IN" b="1" dirty="0">
                <a:solidFill>
                  <a:schemeClr val="accent1"/>
                </a:solidFill>
              </a:rPr>
              <a:t>actual parameters</a:t>
            </a:r>
            <a:r>
              <a:rPr lang="en-IN" dirty="0"/>
              <a:t>. </a:t>
            </a:r>
          </a:p>
          <a:p>
            <a:pPr>
              <a:defRPr/>
            </a:pPr>
            <a:r>
              <a:rPr lang="en-IN" dirty="0"/>
              <a:t>the parameters that are listed in the function definition </a:t>
            </a:r>
            <a:r>
              <a:rPr lang="en-IN" b="1" dirty="0">
                <a:solidFill>
                  <a:schemeClr val="accent1"/>
                </a:solidFill>
              </a:rPr>
              <a:t>formal parameters</a:t>
            </a:r>
            <a:r>
              <a:rPr lang="en-IN" dirty="0">
                <a:solidFill>
                  <a:schemeClr val="accent1"/>
                </a:solidFill>
              </a:rPr>
              <a:t>. </a:t>
            </a:r>
          </a:p>
          <a:p>
            <a:pPr>
              <a:defRPr/>
            </a:pPr>
            <a:r>
              <a:rPr lang="en-IN" dirty="0"/>
              <a:t>The number of</a:t>
            </a:r>
            <a:r>
              <a:rPr lang="en-IN" dirty="0">
                <a:solidFill>
                  <a:srgbClr val="FF0000"/>
                </a:solidFill>
              </a:rPr>
              <a:t> actual parameters </a:t>
            </a:r>
            <a:r>
              <a:rPr lang="en-IN" dirty="0"/>
              <a:t>in a call to a function </a:t>
            </a:r>
            <a:r>
              <a:rPr lang="en-IN" dirty="0">
                <a:solidFill>
                  <a:srgbClr val="FF0000"/>
                </a:solidFill>
              </a:rPr>
              <a:t>does not need to match</a:t>
            </a:r>
            <a:r>
              <a:rPr lang="en-IN" dirty="0"/>
              <a:t> the number of </a:t>
            </a:r>
            <a:r>
              <a:rPr lang="en-IN" dirty="0">
                <a:solidFill>
                  <a:srgbClr val="FF0000"/>
                </a:solidFill>
              </a:rPr>
              <a:t>formal parameters</a:t>
            </a:r>
            <a:r>
              <a:rPr lang="en-IN" dirty="0"/>
              <a:t> defined in that function. </a:t>
            </a:r>
          </a:p>
          <a:p>
            <a:pPr>
              <a:defRPr/>
            </a:pPr>
            <a:r>
              <a:rPr lang="en-IN" dirty="0"/>
              <a:t>If there are too few actual parameters in a call, the corresponding formal parameters will be unbound variables. </a:t>
            </a:r>
          </a:p>
          <a:p>
            <a:pPr>
              <a:defRPr/>
            </a:pPr>
            <a:r>
              <a:rPr lang="en-IN" dirty="0"/>
              <a:t>If there are too many actual parameters, the excess parameters will be ignored</a:t>
            </a:r>
          </a:p>
          <a:p>
            <a:pPr marL="0" indent="0">
              <a:lnSpc>
                <a:spcPct val="150000"/>
              </a:lnSpc>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a:t>
            </a:r>
            <a:endParaRPr lang="en-US" dirty="0">
              <a:latin typeface="Armata" panose="020B0503040500060204" pitchFamily="34" charset="0"/>
            </a:endParaRPr>
          </a:p>
        </p:txBody>
      </p:sp>
    </p:spTree>
    <p:extLst>
      <p:ext uri="{BB962C8B-B14F-4D97-AF65-F5344CB8AC3E}">
        <p14:creationId xmlns:p14="http://schemas.microsoft.com/office/powerpoint/2010/main" val="1377767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6"/>
            <a:ext cx="11593288" cy="5155308"/>
          </a:xfrm>
          <a:ln>
            <a:noFill/>
          </a:ln>
        </p:spPr>
        <p:txBody>
          <a:bodyPr/>
          <a:lstStyle/>
          <a:p>
            <a:r>
              <a:rPr lang="en-IN" altLang="en-US" dirty="0"/>
              <a:t>The </a:t>
            </a:r>
            <a:r>
              <a:rPr lang="en-IN" altLang="en-US" dirty="0">
                <a:solidFill>
                  <a:schemeClr val="accent1"/>
                </a:solidFill>
              </a:rPr>
              <a:t>default scope</a:t>
            </a:r>
            <a:r>
              <a:rPr lang="en-IN" altLang="en-US" dirty="0"/>
              <a:t> of a variable defined in a function is </a:t>
            </a:r>
            <a:r>
              <a:rPr lang="en-IN" altLang="en-US" dirty="0">
                <a:solidFill>
                  <a:schemeClr val="accent1"/>
                </a:solidFill>
              </a:rPr>
              <a:t>local</a:t>
            </a:r>
            <a:r>
              <a:rPr lang="en-IN" altLang="en-US" dirty="0"/>
              <a:t>.</a:t>
            </a:r>
          </a:p>
          <a:p>
            <a:r>
              <a:rPr lang="en-IN" altLang="en-US" dirty="0"/>
              <a:t> If a variable defined in a function has the same name as a variable used outside the function, there is no interference between the two. </a:t>
            </a:r>
          </a:p>
          <a:p>
            <a:r>
              <a:rPr lang="en-IN" altLang="en-US" dirty="0"/>
              <a:t>A </a:t>
            </a:r>
            <a:r>
              <a:rPr lang="en-IN" altLang="en-US" dirty="0">
                <a:solidFill>
                  <a:srgbClr val="FF0000"/>
                </a:solidFill>
              </a:rPr>
              <a:t>local variable is visible only in the function </a:t>
            </a:r>
            <a:r>
              <a:rPr lang="en-IN" altLang="en-US" dirty="0"/>
              <a:t>in which it is used</a:t>
            </a:r>
          </a:p>
          <a:p>
            <a:r>
              <a:rPr lang="en-IN" altLang="en-US" dirty="0">
                <a:highlight>
                  <a:srgbClr val="FFFF00"/>
                </a:highlight>
              </a:rPr>
              <a:t>PHP has the </a:t>
            </a:r>
            <a:r>
              <a:rPr lang="en-IN" altLang="en-US" dirty="0">
                <a:solidFill>
                  <a:schemeClr val="accent1"/>
                </a:solidFill>
                <a:highlight>
                  <a:srgbClr val="FFFF00"/>
                </a:highlight>
              </a:rPr>
              <a:t>global declaration</a:t>
            </a:r>
            <a:r>
              <a:rPr lang="en-IN" altLang="en-US" dirty="0"/>
              <a:t>. When a variable is listed in a global declaration in a function, that variable is expected to be defined outside the function. So, such a </a:t>
            </a:r>
            <a:r>
              <a:rPr lang="en-IN" altLang="en-US" dirty="0">
                <a:solidFill>
                  <a:schemeClr val="accent1"/>
                </a:solidFill>
              </a:rPr>
              <a:t>variable has the same meaning inside the function as outside</a:t>
            </a:r>
            <a:r>
              <a:rPr lang="en-IN" altLang="en-US" dirty="0"/>
              <a:t>. </a:t>
            </a:r>
          </a:p>
          <a:p>
            <a:r>
              <a:rPr lang="en-IN" altLang="en-US" dirty="0"/>
              <a:t>The </a:t>
            </a:r>
            <a:r>
              <a:rPr lang="en-IN" altLang="en-US" dirty="0">
                <a:highlight>
                  <a:srgbClr val="FFFF00"/>
                </a:highlight>
              </a:rPr>
              <a:t>default </a:t>
            </a:r>
            <a:r>
              <a:rPr lang="en-IN" altLang="en-US" dirty="0">
                <a:solidFill>
                  <a:schemeClr val="accent1"/>
                </a:solidFill>
                <a:highlight>
                  <a:srgbClr val="FFFF00"/>
                </a:highlight>
              </a:rPr>
              <a:t>lifetime</a:t>
            </a:r>
            <a:r>
              <a:rPr lang="en-IN" altLang="en-US" dirty="0">
                <a:highlight>
                  <a:srgbClr val="FFFF00"/>
                </a:highlight>
              </a:rPr>
              <a:t> of </a:t>
            </a:r>
            <a:r>
              <a:rPr lang="en-IN" altLang="en-US" dirty="0">
                <a:solidFill>
                  <a:schemeClr val="accent1"/>
                </a:solidFill>
                <a:highlight>
                  <a:srgbClr val="FFFF00"/>
                </a:highlight>
              </a:rPr>
              <a:t>local variables </a:t>
            </a:r>
            <a:r>
              <a:rPr lang="en-IN" altLang="en-US" dirty="0">
                <a:highlight>
                  <a:srgbClr val="FFFF00"/>
                </a:highlight>
              </a:rPr>
              <a:t>in a PHP function is from the time the variable is first used </a:t>
            </a:r>
            <a:r>
              <a:rPr lang="en-IN" altLang="en-US" dirty="0"/>
              <a:t>(that is, when storage for it is allocated) until the function's execution terminates. </a:t>
            </a:r>
          </a:p>
          <a:p>
            <a:r>
              <a:rPr lang="en-IN" altLang="en-US" dirty="0">
                <a:solidFill>
                  <a:schemeClr val="accent1"/>
                </a:solidFill>
              </a:rPr>
              <a:t>The lifetime of a static variable </a:t>
            </a:r>
            <a:r>
              <a:rPr lang="en-IN" altLang="en-US" dirty="0"/>
              <a:t>in a function begins when the variable is first used in the first execution of the function. Its lifetime ends when the script execution ends</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Functions-scope of variables</a:t>
            </a:r>
            <a:endParaRPr lang="en-US" dirty="0">
              <a:latin typeface="Armata" panose="020B0503040500060204" pitchFamily="34" charset="0"/>
            </a:endParaRPr>
          </a:p>
        </p:txBody>
      </p:sp>
    </p:spTree>
    <p:extLst>
      <p:ext uri="{BB962C8B-B14F-4D97-AF65-F5344CB8AC3E}">
        <p14:creationId xmlns:p14="http://schemas.microsoft.com/office/powerpoint/2010/main" val="38112917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FEF31066-AA56-48DB-A88B-1C5E4CBE8D4D}"/>
              </a:ext>
            </a:extLst>
          </p:cNvPr>
          <p:cNvPicPr>
            <a:picLocks noChangeAspect="1"/>
          </p:cNvPicPr>
          <p:nvPr/>
        </p:nvPicPr>
        <p:blipFill>
          <a:blip r:embed="rId3"/>
          <a:stretch>
            <a:fillRect/>
          </a:stretch>
        </p:blipFill>
        <p:spPr>
          <a:xfrm>
            <a:off x="839381" y="1142860"/>
            <a:ext cx="4460379" cy="3305459"/>
          </a:xfrm>
          <a:prstGeom prst="rect">
            <a:avLst/>
          </a:prstGeom>
        </p:spPr>
      </p:pic>
      <p:pic>
        <p:nvPicPr>
          <p:cNvPr id="3" name="Picture 2">
            <a:extLst>
              <a:ext uri="{FF2B5EF4-FFF2-40B4-BE49-F238E27FC236}">
                <a16:creationId xmlns:a16="http://schemas.microsoft.com/office/drawing/2014/main" id="{63DA3586-5A89-4573-9E86-573E0039DC2A}"/>
              </a:ext>
            </a:extLst>
          </p:cNvPr>
          <p:cNvPicPr>
            <a:picLocks noChangeAspect="1"/>
          </p:cNvPicPr>
          <p:nvPr/>
        </p:nvPicPr>
        <p:blipFill>
          <a:blip r:embed="rId4"/>
          <a:stretch>
            <a:fillRect/>
          </a:stretch>
        </p:blipFill>
        <p:spPr>
          <a:xfrm>
            <a:off x="479376" y="4719939"/>
            <a:ext cx="5036443" cy="1153246"/>
          </a:xfrm>
          <a:prstGeom prst="rect">
            <a:avLst/>
          </a:prstGeom>
          <a:ln>
            <a:solidFill>
              <a:schemeClr val="accent2"/>
            </a:solidFill>
          </a:ln>
        </p:spPr>
      </p:pic>
      <p:pic>
        <p:nvPicPr>
          <p:cNvPr id="7" name="Picture 6">
            <a:extLst>
              <a:ext uri="{FF2B5EF4-FFF2-40B4-BE49-F238E27FC236}">
                <a16:creationId xmlns:a16="http://schemas.microsoft.com/office/drawing/2014/main" id="{1FD8456A-4A43-4063-B709-592376156637}"/>
              </a:ext>
            </a:extLst>
          </p:cNvPr>
          <p:cNvPicPr>
            <a:picLocks noChangeAspect="1"/>
          </p:cNvPicPr>
          <p:nvPr/>
        </p:nvPicPr>
        <p:blipFill>
          <a:blip r:embed="rId5"/>
          <a:stretch>
            <a:fillRect/>
          </a:stretch>
        </p:blipFill>
        <p:spPr>
          <a:xfrm>
            <a:off x="5447928" y="1135513"/>
            <a:ext cx="6200917" cy="3312805"/>
          </a:xfrm>
          <a:prstGeom prst="rect">
            <a:avLst/>
          </a:prstGeom>
        </p:spPr>
      </p:pic>
      <p:pic>
        <p:nvPicPr>
          <p:cNvPr id="8" name="Picture 7">
            <a:extLst>
              <a:ext uri="{FF2B5EF4-FFF2-40B4-BE49-F238E27FC236}">
                <a16:creationId xmlns:a16="http://schemas.microsoft.com/office/drawing/2014/main" id="{01275665-8F2F-49DC-82E7-BB66E34EB215}"/>
              </a:ext>
            </a:extLst>
          </p:cNvPr>
          <p:cNvPicPr>
            <a:picLocks noChangeAspect="1"/>
          </p:cNvPicPr>
          <p:nvPr/>
        </p:nvPicPr>
        <p:blipFill>
          <a:blip r:embed="rId6"/>
          <a:stretch>
            <a:fillRect/>
          </a:stretch>
        </p:blipFill>
        <p:spPr>
          <a:xfrm>
            <a:off x="6221546" y="4444075"/>
            <a:ext cx="3667125" cy="1704975"/>
          </a:xfrm>
          <a:prstGeom prst="rect">
            <a:avLst/>
          </a:prstGeom>
          <a:ln>
            <a:solidFill>
              <a:schemeClr val="accent2"/>
            </a:solidFill>
          </a:ln>
        </p:spPr>
      </p:pic>
    </p:spTree>
    <p:extLst>
      <p:ext uri="{BB962C8B-B14F-4D97-AF65-F5344CB8AC3E}">
        <p14:creationId xmlns:p14="http://schemas.microsoft.com/office/powerpoint/2010/main" val="1034172416"/>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593288" cy="5155308"/>
          </a:xfrm>
          <a:ln>
            <a:noFill/>
          </a:ln>
        </p:spPr>
        <p:txBody>
          <a:bodyPr/>
          <a:lstStyle/>
          <a:p>
            <a:r>
              <a:rPr lang="en-US" altLang="en-US" dirty="0"/>
              <a:t>PHP is a Loosely Typed Language</a:t>
            </a:r>
          </a:p>
          <a:p>
            <a:r>
              <a:rPr lang="en-US" altLang="en-US" dirty="0"/>
              <a:t>PHP automatically associates a data type to the variable, depending on its value. Since the data types are not set in a strict sense, you can do things like adding a string to an integer without causing an error.</a:t>
            </a:r>
          </a:p>
          <a:p>
            <a:endParaRPr lang="en-US" altLang="en-US" dirty="0"/>
          </a:p>
          <a:p>
            <a:endParaRPr lang="en-US" altLang="en-US" dirty="0"/>
          </a:p>
          <a:p>
            <a:endParaRPr lang="en-US" altLang="en-US" dirty="0"/>
          </a:p>
          <a:p>
            <a:endParaRPr lang="en-US" altLang="en-US" dirty="0"/>
          </a:p>
          <a:p>
            <a:endParaRPr lang="en-US" altLang="en-US" dirty="0"/>
          </a:p>
          <a:p>
            <a:pPr marL="0" indent="0">
              <a:buNone/>
            </a:pPr>
            <a:br>
              <a:rPr lang="en-US" altLang="en-US" dirty="0"/>
            </a:br>
            <a:r>
              <a:rPr lang="en-US" altLang="en-US" dirty="0"/>
              <a:t>In PHP 7, type declarations were added. This gives us an option to specify the expected data type when declaring a function, and by adding the strict declaration, it will throw a "Fatal Error" if the data type mismatches.</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Functions-Loosely Typed Language</a:t>
            </a: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3E011180-A89F-4398-B202-A760BE80C5C8}"/>
              </a:ext>
            </a:extLst>
          </p:cNvPr>
          <p:cNvPicPr>
            <a:picLocks noChangeAspect="1"/>
          </p:cNvPicPr>
          <p:nvPr/>
        </p:nvPicPr>
        <p:blipFill>
          <a:blip r:embed="rId3"/>
          <a:stretch>
            <a:fillRect/>
          </a:stretch>
        </p:blipFill>
        <p:spPr>
          <a:xfrm>
            <a:off x="3347653" y="2564904"/>
            <a:ext cx="6000750" cy="2552700"/>
          </a:xfrm>
          <a:prstGeom prst="rect">
            <a:avLst/>
          </a:prstGeom>
        </p:spPr>
      </p:pic>
    </p:spTree>
    <p:extLst>
      <p:ext uri="{BB962C8B-B14F-4D97-AF65-F5344CB8AC3E}">
        <p14:creationId xmlns:p14="http://schemas.microsoft.com/office/powerpoint/2010/main" val="28749038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593288" cy="5155308"/>
          </a:xfrm>
          <a:ln>
            <a:noFill/>
          </a:ln>
        </p:spPr>
        <p:txBody>
          <a:bodyPr/>
          <a:lstStyle/>
          <a:p>
            <a:r>
              <a:rPr lang="en-US" altLang="en-US" dirty="0"/>
              <a:t>To specify strict we need to set declare(</a:t>
            </a:r>
            <a:r>
              <a:rPr lang="en-US" altLang="en-US" dirty="0" err="1"/>
              <a:t>strict_types</a:t>
            </a:r>
            <a:r>
              <a:rPr lang="en-US" altLang="en-US" dirty="0"/>
              <a:t>=1);. This must be on the very first line of the PHP file.</a:t>
            </a:r>
          </a:p>
          <a:p>
            <a:r>
              <a:rPr lang="en-US" altLang="en-US" dirty="0"/>
              <a:t>In the following example we try to send both a number and a string to the function, but here we have added the strict declaration:</a:t>
            </a:r>
          </a:p>
          <a:p>
            <a:r>
              <a:rPr lang="en-US" altLang="en-US" dirty="0"/>
              <a:t>it will throw a "Fatal Error" if the data type mismatches.</a:t>
            </a:r>
          </a:p>
          <a:p>
            <a:endParaRPr lang="en-US" altLang="en-US" dirty="0"/>
          </a:p>
          <a:p>
            <a:endParaRPr lang="en-US" altLang="en-US" dirty="0"/>
          </a:p>
          <a:p>
            <a:endParaRPr lang="en-US" altLang="en-US" dirty="0"/>
          </a:p>
          <a:p>
            <a:endParaRPr lang="en-US" altLang="en-US" dirty="0"/>
          </a:p>
          <a:p>
            <a:pPr marL="0" indent="0">
              <a:buNone/>
            </a:pPr>
            <a:br>
              <a:rPr lang="en-US" altLang="en-US" dirty="0"/>
            </a:b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Functions-Loosely Typed Language</a:t>
            </a: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72E50577-FCCE-42C9-86BE-D88CE6170605}"/>
              </a:ext>
            </a:extLst>
          </p:cNvPr>
          <p:cNvPicPr>
            <a:picLocks noChangeAspect="1"/>
          </p:cNvPicPr>
          <p:nvPr/>
        </p:nvPicPr>
        <p:blipFill>
          <a:blip r:embed="rId3"/>
          <a:stretch>
            <a:fillRect/>
          </a:stretch>
        </p:blipFill>
        <p:spPr>
          <a:xfrm>
            <a:off x="5963716" y="3356992"/>
            <a:ext cx="5676900" cy="2924175"/>
          </a:xfrm>
          <a:prstGeom prst="rect">
            <a:avLst/>
          </a:prstGeom>
        </p:spPr>
      </p:pic>
      <p:pic>
        <p:nvPicPr>
          <p:cNvPr id="7" name="Picture 6">
            <a:extLst>
              <a:ext uri="{FF2B5EF4-FFF2-40B4-BE49-F238E27FC236}">
                <a16:creationId xmlns:a16="http://schemas.microsoft.com/office/drawing/2014/main" id="{BB0338F4-F87C-49A7-BB9C-26903EDAC127}"/>
              </a:ext>
            </a:extLst>
          </p:cNvPr>
          <p:cNvPicPr>
            <a:picLocks noChangeAspect="1"/>
          </p:cNvPicPr>
          <p:nvPr/>
        </p:nvPicPr>
        <p:blipFill>
          <a:blip r:embed="rId4"/>
          <a:stretch>
            <a:fillRect/>
          </a:stretch>
        </p:blipFill>
        <p:spPr>
          <a:xfrm>
            <a:off x="0" y="3381028"/>
            <a:ext cx="5772150" cy="2466975"/>
          </a:xfrm>
          <a:prstGeom prst="rect">
            <a:avLst/>
          </a:prstGeom>
        </p:spPr>
      </p:pic>
    </p:spTree>
    <p:extLst>
      <p:ext uri="{BB962C8B-B14F-4D97-AF65-F5344CB8AC3E}">
        <p14:creationId xmlns:p14="http://schemas.microsoft.com/office/powerpoint/2010/main" val="176304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029E759-B1CE-4760-8454-0787EC538552}"/>
              </a:ext>
            </a:extLst>
          </p:cNvPr>
          <p:cNvPicPr>
            <a:picLocks noChangeAspect="1"/>
          </p:cNvPicPr>
          <p:nvPr/>
        </p:nvPicPr>
        <p:blipFill>
          <a:blip r:embed="rId3"/>
          <a:stretch>
            <a:fillRect/>
          </a:stretch>
        </p:blipFill>
        <p:spPr>
          <a:xfrm>
            <a:off x="6384032" y="3945865"/>
            <a:ext cx="3171825" cy="1571625"/>
          </a:xfrm>
          <a:prstGeom prst="rect">
            <a:avLst/>
          </a:prstGeom>
          <a:ln>
            <a:solidFill>
              <a:schemeClr val="accent2"/>
            </a:solidFill>
          </a:ln>
        </p:spPr>
      </p:pic>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Functions-returning values</a:t>
            </a: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7A858C53-51C3-40A7-8272-2C0B119C701D}"/>
              </a:ext>
            </a:extLst>
          </p:cNvPr>
          <p:cNvPicPr>
            <a:picLocks noChangeAspect="1"/>
          </p:cNvPicPr>
          <p:nvPr/>
        </p:nvPicPr>
        <p:blipFill>
          <a:blip r:embed="rId4"/>
          <a:stretch>
            <a:fillRect/>
          </a:stretch>
        </p:blipFill>
        <p:spPr>
          <a:xfrm>
            <a:off x="152400" y="1073476"/>
            <a:ext cx="5943600" cy="2505075"/>
          </a:xfrm>
          <a:prstGeom prst="rect">
            <a:avLst/>
          </a:prstGeom>
        </p:spPr>
      </p:pic>
      <p:pic>
        <p:nvPicPr>
          <p:cNvPr id="7" name="Picture 6">
            <a:extLst>
              <a:ext uri="{FF2B5EF4-FFF2-40B4-BE49-F238E27FC236}">
                <a16:creationId xmlns:a16="http://schemas.microsoft.com/office/drawing/2014/main" id="{A65B87C4-330A-4308-B362-E08FB7189848}"/>
              </a:ext>
            </a:extLst>
          </p:cNvPr>
          <p:cNvPicPr>
            <a:picLocks noChangeAspect="1"/>
          </p:cNvPicPr>
          <p:nvPr/>
        </p:nvPicPr>
        <p:blipFill>
          <a:blip r:embed="rId5"/>
          <a:stretch>
            <a:fillRect/>
          </a:stretch>
        </p:blipFill>
        <p:spPr>
          <a:xfrm>
            <a:off x="1199456" y="3933056"/>
            <a:ext cx="3248025" cy="1257300"/>
          </a:xfrm>
          <a:prstGeom prst="rect">
            <a:avLst/>
          </a:prstGeom>
          <a:ln>
            <a:solidFill>
              <a:schemeClr val="accent2"/>
            </a:solidFill>
          </a:ln>
        </p:spPr>
      </p:pic>
      <p:pic>
        <p:nvPicPr>
          <p:cNvPr id="8" name="Picture 7">
            <a:extLst>
              <a:ext uri="{FF2B5EF4-FFF2-40B4-BE49-F238E27FC236}">
                <a16:creationId xmlns:a16="http://schemas.microsoft.com/office/drawing/2014/main" id="{9C73A664-9C91-4F69-9881-9CB4592A0278}"/>
              </a:ext>
            </a:extLst>
          </p:cNvPr>
          <p:cNvPicPr>
            <a:picLocks noChangeAspect="1"/>
          </p:cNvPicPr>
          <p:nvPr/>
        </p:nvPicPr>
        <p:blipFill>
          <a:blip r:embed="rId6"/>
          <a:stretch>
            <a:fillRect/>
          </a:stretch>
        </p:blipFill>
        <p:spPr>
          <a:xfrm>
            <a:off x="6162823" y="1083687"/>
            <a:ext cx="5915025" cy="2505075"/>
          </a:xfrm>
          <a:prstGeom prst="rect">
            <a:avLst/>
          </a:prstGeom>
        </p:spPr>
      </p:pic>
    </p:spTree>
    <p:extLst>
      <p:ext uri="{BB962C8B-B14F-4D97-AF65-F5344CB8AC3E}">
        <p14:creationId xmlns:p14="http://schemas.microsoft.com/office/powerpoint/2010/main" val="1590537407"/>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593288" cy="5155308"/>
          </a:xfrm>
          <a:ln>
            <a:noFill/>
          </a:ln>
        </p:spPr>
        <p:txBody>
          <a:bodyPr/>
          <a:lstStyle/>
          <a:p>
            <a:r>
              <a:rPr lang="en-US" altLang="en-US" dirty="0"/>
              <a:t>PHP 7 also supports Type Declarations for the return statement. Like with the type declaration for function arguments, by enabling the strict requirement, it will throw a "Fatal Error" on a type mismatch.</a:t>
            </a:r>
          </a:p>
          <a:p>
            <a:r>
              <a:rPr lang="en-US" altLang="en-US" dirty="0"/>
              <a:t>To declare a type for the function return, add a colon ( : ) and the type right before the opening curly ( { )bracket when declaring the function.</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a:t>
            </a:r>
            <a:r>
              <a:rPr lang="en-US" altLang="en-US" dirty="0"/>
              <a:t>PHP Return Type Declarations</a:t>
            </a:r>
            <a:br>
              <a:rPr lang="en-US" altLang="en-US" dirty="0"/>
            </a:b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27682123-40B5-46D7-BD6D-C57DDB26CC2D}"/>
              </a:ext>
            </a:extLst>
          </p:cNvPr>
          <p:cNvPicPr>
            <a:picLocks noChangeAspect="1"/>
          </p:cNvPicPr>
          <p:nvPr/>
        </p:nvPicPr>
        <p:blipFill>
          <a:blip r:embed="rId3"/>
          <a:stretch>
            <a:fillRect/>
          </a:stretch>
        </p:blipFill>
        <p:spPr>
          <a:xfrm>
            <a:off x="716599" y="3140968"/>
            <a:ext cx="7238236" cy="2448272"/>
          </a:xfrm>
          <a:prstGeom prst="rect">
            <a:avLst/>
          </a:prstGeom>
        </p:spPr>
      </p:pic>
      <p:pic>
        <p:nvPicPr>
          <p:cNvPr id="3" name="Picture 2">
            <a:extLst>
              <a:ext uri="{FF2B5EF4-FFF2-40B4-BE49-F238E27FC236}">
                <a16:creationId xmlns:a16="http://schemas.microsoft.com/office/drawing/2014/main" id="{32BF5886-344B-43AB-BD29-9694FB25646F}"/>
              </a:ext>
            </a:extLst>
          </p:cNvPr>
          <p:cNvPicPr>
            <a:picLocks noChangeAspect="1"/>
          </p:cNvPicPr>
          <p:nvPr/>
        </p:nvPicPr>
        <p:blipFill>
          <a:blip r:embed="rId4"/>
          <a:stretch>
            <a:fillRect/>
          </a:stretch>
        </p:blipFill>
        <p:spPr>
          <a:xfrm>
            <a:off x="8201294" y="3668638"/>
            <a:ext cx="3696919" cy="1272530"/>
          </a:xfrm>
          <a:prstGeom prst="rect">
            <a:avLst/>
          </a:prstGeom>
          <a:ln>
            <a:solidFill>
              <a:schemeClr val="accent2"/>
            </a:solidFill>
          </a:ln>
        </p:spPr>
      </p:pic>
    </p:spTree>
    <p:extLst>
      <p:ext uri="{BB962C8B-B14F-4D97-AF65-F5344CB8AC3E}">
        <p14:creationId xmlns:p14="http://schemas.microsoft.com/office/powerpoint/2010/main" val="1032062606"/>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1199456" y="1009997"/>
            <a:ext cx="10081120" cy="5155308"/>
          </a:xfrm>
          <a:ln>
            <a:noFill/>
          </a:ln>
        </p:spPr>
        <p:txBody>
          <a:bodyPr/>
          <a:lstStyle/>
          <a:p>
            <a:r>
              <a:rPr lang="en-US" dirty="0"/>
              <a:t>If you are getting a fatal error even without enabling strict types, it could be due to changes in the PHP version you are using or some other configuration issue. </a:t>
            </a:r>
          </a:p>
          <a:p>
            <a:r>
              <a:rPr lang="en-US" dirty="0"/>
              <a:t>PHP evolves, and newer versions(8.2 Latest) introduce changes or stricter rules to enhance code quality and maintainability.</a:t>
            </a:r>
          </a:p>
          <a:p>
            <a:r>
              <a:rPr lang="en-US" sz="2000" dirty="0"/>
              <a:t>At work, we only allow code that...</a:t>
            </a:r>
          </a:p>
          <a:p>
            <a:pPr lvl="1"/>
            <a:r>
              <a:rPr lang="en-US" dirty="0"/>
              <a:t>Uses declare(</a:t>
            </a:r>
            <a:r>
              <a:rPr lang="en-US" dirty="0" err="1"/>
              <a:t>strict_types</a:t>
            </a:r>
            <a:r>
              <a:rPr lang="en-US" dirty="0"/>
              <a:t>=1);</a:t>
            </a:r>
          </a:p>
          <a:p>
            <a:pPr lvl="1"/>
            <a:r>
              <a:rPr lang="en-US" dirty="0"/>
              <a:t>Uses only strict comparison</a:t>
            </a:r>
          </a:p>
          <a:p>
            <a:pPr lvl="1"/>
            <a:r>
              <a:rPr lang="en-US" dirty="0"/>
              <a:t>Declares return types everywhere</a:t>
            </a:r>
          </a:p>
          <a:p>
            <a:pPr lvl="1"/>
            <a:r>
              <a:rPr lang="en-US" dirty="0"/>
              <a:t>Declares parameter types everywhere</a:t>
            </a:r>
          </a:p>
          <a:p>
            <a:pPr lvl="1"/>
            <a:r>
              <a:rPr lang="en-US" dirty="0"/>
              <a:t>Declares property types everywhere</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pPr algn="ctr"/>
            <a:r>
              <a:rPr lang="en-US" dirty="0"/>
              <a:t>PLEASE NOTE!!!</a:t>
            </a:r>
            <a:br>
              <a:rPr lang="en-US" altLang="en-US" dirty="0"/>
            </a:br>
            <a:endParaRPr lang="en-US" dirty="0">
              <a:latin typeface="Armata" panose="020B0503040500060204" pitchFamily="34" charset="0"/>
            </a:endParaRPr>
          </a:p>
        </p:txBody>
      </p:sp>
    </p:spTree>
    <p:extLst>
      <p:ext uri="{BB962C8B-B14F-4D97-AF65-F5344CB8AC3E}">
        <p14:creationId xmlns:p14="http://schemas.microsoft.com/office/powerpoint/2010/main" val="496639267"/>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593288" cy="5155308"/>
          </a:xfrm>
          <a:ln>
            <a:noFill/>
          </a:ln>
        </p:spPr>
        <p:txBody>
          <a:bodyPr/>
          <a:lstStyle/>
          <a:p>
            <a:pPr>
              <a:defRPr/>
            </a:pPr>
            <a:r>
              <a:rPr lang="en-IN" dirty="0">
                <a:solidFill>
                  <a:srgbClr val="FF0000"/>
                </a:solidFill>
              </a:rPr>
              <a:t>Default parameter-passing mechanism of PHP is pass by value.</a:t>
            </a:r>
            <a:r>
              <a:rPr lang="en-IN" dirty="0"/>
              <a:t> </a:t>
            </a:r>
          </a:p>
          <a:p>
            <a:pPr>
              <a:defRPr/>
            </a:pPr>
            <a:r>
              <a:rPr lang="en-IN" dirty="0"/>
              <a:t>the values of actual parameters are copied into the memory locations associated with the corresponding formal parameters in the called function. </a:t>
            </a:r>
          </a:p>
          <a:p>
            <a:pPr>
              <a:defRPr/>
            </a:pPr>
            <a:r>
              <a:rPr lang="en-IN" dirty="0"/>
              <a:t>The values of the formal parameters are never copied back to the caller, so passing by value a </a:t>
            </a:r>
            <a:r>
              <a:rPr lang="en-IN" dirty="0">
                <a:solidFill>
                  <a:schemeClr val="accent1"/>
                </a:solidFill>
              </a:rPr>
              <a:t>one-way communication </a:t>
            </a:r>
            <a:r>
              <a:rPr lang="en-IN" dirty="0"/>
              <a:t>to the function.</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a:t>
            </a:r>
            <a:r>
              <a:rPr lang="en-US" altLang="en-US" dirty="0"/>
              <a:t>Pass by value</a:t>
            </a:r>
            <a:br>
              <a:rPr lang="en-US" altLang="en-US" dirty="0"/>
            </a:b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734DDA93-823A-4037-8E80-C9D58C247A2A}"/>
              </a:ext>
            </a:extLst>
          </p:cNvPr>
          <p:cNvPicPr>
            <a:picLocks noChangeAspect="1"/>
          </p:cNvPicPr>
          <p:nvPr/>
        </p:nvPicPr>
        <p:blipFill>
          <a:blip r:embed="rId3"/>
          <a:stretch>
            <a:fillRect/>
          </a:stretch>
        </p:blipFill>
        <p:spPr>
          <a:xfrm>
            <a:off x="1181100" y="2996952"/>
            <a:ext cx="4914900" cy="3168353"/>
          </a:xfrm>
          <a:prstGeom prst="rect">
            <a:avLst/>
          </a:prstGeom>
        </p:spPr>
      </p:pic>
      <p:pic>
        <p:nvPicPr>
          <p:cNvPr id="6" name="Picture 5">
            <a:extLst>
              <a:ext uri="{FF2B5EF4-FFF2-40B4-BE49-F238E27FC236}">
                <a16:creationId xmlns:a16="http://schemas.microsoft.com/office/drawing/2014/main" id="{CE3F8ACB-244A-43CD-8DC0-9089DD1ABEDB}"/>
              </a:ext>
            </a:extLst>
          </p:cNvPr>
          <p:cNvPicPr>
            <a:picLocks noChangeAspect="1"/>
          </p:cNvPicPr>
          <p:nvPr/>
        </p:nvPicPr>
        <p:blipFill>
          <a:blip r:embed="rId4"/>
          <a:stretch>
            <a:fillRect/>
          </a:stretch>
        </p:blipFill>
        <p:spPr>
          <a:xfrm>
            <a:off x="7340889" y="3789040"/>
            <a:ext cx="3267075" cy="1247775"/>
          </a:xfrm>
          <a:prstGeom prst="rect">
            <a:avLst/>
          </a:prstGeom>
          <a:ln>
            <a:solidFill>
              <a:schemeClr val="accent2"/>
            </a:solidFill>
          </a:ln>
        </p:spPr>
      </p:pic>
    </p:spTree>
    <p:extLst>
      <p:ext uri="{BB962C8B-B14F-4D97-AF65-F5344CB8AC3E}">
        <p14:creationId xmlns:p14="http://schemas.microsoft.com/office/powerpoint/2010/main" val="2155828771"/>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6120680" cy="5155308"/>
          </a:xfrm>
          <a:ln>
            <a:noFill/>
          </a:ln>
        </p:spPr>
        <p:txBody>
          <a:bodyPr/>
          <a:lstStyle/>
          <a:p>
            <a:pPr>
              <a:defRPr/>
            </a:pPr>
            <a:r>
              <a:rPr lang="en-IN" dirty="0"/>
              <a:t>Pass-by-reference parameters can be done in PHP in two ways. </a:t>
            </a:r>
          </a:p>
          <a:p>
            <a:pPr>
              <a:defRPr/>
            </a:pPr>
            <a:r>
              <a:rPr lang="en-IN" dirty="0"/>
              <a:t>One way is to </a:t>
            </a:r>
            <a:r>
              <a:rPr lang="en-IN" dirty="0">
                <a:solidFill>
                  <a:schemeClr val="accent1"/>
                </a:solidFill>
              </a:rPr>
              <a:t>add an ampersand (&amp;) to the beginning of the name of the formal parameter</a:t>
            </a:r>
            <a:r>
              <a:rPr lang="en-IN" dirty="0"/>
              <a:t> that you want to be passed by reference.</a:t>
            </a:r>
          </a:p>
          <a:p>
            <a:pPr>
              <a:defRPr/>
            </a:pPr>
            <a:r>
              <a:rPr lang="en-IN" dirty="0"/>
              <a:t> The other way is </a:t>
            </a:r>
            <a:r>
              <a:rPr lang="en-IN" dirty="0">
                <a:solidFill>
                  <a:schemeClr val="accent1"/>
                </a:solidFill>
              </a:rPr>
              <a:t>to add an ampersand to the actual parameter in the function call</a:t>
            </a:r>
            <a:r>
              <a:rPr lang="en-IN" dirty="0"/>
              <a:t>.</a:t>
            </a:r>
          </a:p>
          <a:p>
            <a:pPr>
              <a:defRPr/>
            </a:pPr>
            <a:r>
              <a:rPr lang="en-US" dirty="0"/>
              <a:t>In PHP, arguments are usually passed by value, which means that a copy of the value is used in the function and the variable that was passed into the function cannot be changed.</a:t>
            </a:r>
            <a:r>
              <a:rPr lang="en-IN" dirty="0"/>
              <a:t> </a:t>
            </a:r>
          </a:p>
          <a:p>
            <a:pPr marL="0" indent="0">
              <a:buNone/>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Functions-</a:t>
            </a:r>
            <a:r>
              <a:rPr lang="en-US" altLang="en-US" dirty="0"/>
              <a:t>Pass by reference</a:t>
            </a:r>
            <a:br>
              <a:rPr lang="en-US" altLang="en-US" dirty="0"/>
            </a:b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ABCD40A9-E653-4272-BF59-6981B9B77E3C}"/>
              </a:ext>
            </a:extLst>
          </p:cNvPr>
          <p:cNvPicPr>
            <a:picLocks noChangeAspect="1"/>
          </p:cNvPicPr>
          <p:nvPr/>
        </p:nvPicPr>
        <p:blipFill>
          <a:blip r:embed="rId3"/>
          <a:stretch>
            <a:fillRect/>
          </a:stretch>
        </p:blipFill>
        <p:spPr>
          <a:xfrm>
            <a:off x="7320136" y="1340768"/>
            <a:ext cx="4320480" cy="3157745"/>
          </a:xfrm>
          <a:prstGeom prst="rect">
            <a:avLst/>
          </a:prstGeom>
        </p:spPr>
      </p:pic>
      <p:pic>
        <p:nvPicPr>
          <p:cNvPr id="3" name="Picture 2">
            <a:extLst>
              <a:ext uri="{FF2B5EF4-FFF2-40B4-BE49-F238E27FC236}">
                <a16:creationId xmlns:a16="http://schemas.microsoft.com/office/drawing/2014/main" id="{6798366D-C818-4C55-935C-BBD3ED5CBE78}"/>
              </a:ext>
            </a:extLst>
          </p:cNvPr>
          <p:cNvPicPr>
            <a:picLocks noChangeAspect="1"/>
          </p:cNvPicPr>
          <p:nvPr/>
        </p:nvPicPr>
        <p:blipFill>
          <a:blip r:embed="rId4"/>
          <a:stretch>
            <a:fillRect/>
          </a:stretch>
        </p:blipFill>
        <p:spPr>
          <a:xfrm>
            <a:off x="7320136" y="4653136"/>
            <a:ext cx="3248025" cy="1276350"/>
          </a:xfrm>
          <a:prstGeom prst="rect">
            <a:avLst/>
          </a:prstGeom>
          <a:ln>
            <a:solidFill>
              <a:schemeClr val="accent2"/>
            </a:solidFill>
          </a:ln>
        </p:spPr>
      </p:pic>
    </p:spTree>
    <p:extLst>
      <p:ext uri="{BB962C8B-B14F-4D97-AF65-F5344CB8AC3E}">
        <p14:creationId xmlns:p14="http://schemas.microsoft.com/office/powerpoint/2010/main" val="1796616969"/>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r>
              <a:rPr lang="en-US" dirty="0"/>
              <a:t>Write a PHP program to check whether the given number is prime or not using function</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18BEA29C-86B1-48F1-9FF2-D01D68FC7E8E}"/>
              </a:ext>
            </a:extLst>
          </p:cNvPr>
          <p:cNvPicPr>
            <a:picLocks noChangeAspect="1"/>
          </p:cNvPicPr>
          <p:nvPr/>
        </p:nvPicPr>
        <p:blipFill>
          <a:blip r:embed="rId3"/>
          <a:stretch>
            <a:fillRect/>
          </a:stretch>
        </p:blipFill>
        <p:spPr>
          <a:xfrm>
            <a:off x="684562" y="1844824"/>
            <a:ext cx="5696745" cy="2657846"/>
          </a:xfrm>
          <a:prstGeom prst="rect">
            <a:avLst/>
          </a:prstGeom>
        </p:spPr>
      </p:pic>
      <p:pic>
        <p:nvPicPr>
          <p:cNvPr id="7" name="Picture 6">
            <a:extLst>
              <a:ext uri="{FF2B5EF4-FFF2-40B4-BE49-F238E27FC236}">
                <a16:creationId xmlns:a16="http://schemas.microsoft.com/office/drawing/2014/main" id="{AC953569-5522-47BC-99C6-241A986806FF}"/>
              </a:ext>
            </a:extLst>
          </p:cNvPr>
          <p:cNvPicPr>
            <a:picLocks noChangeAspect="1"/>
          </p:cNvPicPr>
          <p:nvPr/>
        </p:nvPicPr>
        <p:blipFill>
          <a:blip r:embed="rId4"/>
          <a:stretch>
            <a:fillRect/>
          </a:stretch>
        </p:blipFill>
        <p:spPr>
          <a:xfrm>
            <a:off x="6505510" y="1533260"/>
            <a:ext cx="5048955" cy="1895740"/>
          </a:xfrm>
          <a:prstGeom prst="rect">
            <a:avLst/>
          </a:prstGeom>
        </p:spPr>
      </p:pic>
      <p:pic>
        <p:nvPicPr>
          <p:cNvPr id="8" name="Picture 7">
            <a:extLst>
              <a:ext uri="{FF2B5EF4-FFF2-40B4-BE49-F238E27FC236}">
                <a16:creationId xmlns:a16="http://schemas.microsoft.com/office/drawing/2014/main" id="{BA30DD25-446E-4A8A-8D42-B4177FBE0F79}"/>
              </a:ext>
            </a:extLst>
          </p:cNvPr>
          <p:cNvPicPr>
            <a:picLocks noChangeAspect="1"/>
          </p:cNvPicPr>
          <p:nvPr/>
        </p:nvPicPr>
        <p:blipFill>
          <a:blip r:embed="rId5"/>
          <a:stretch>
            <a:fillRect/>
          </a:stretch>
        </p:blipFill>
        <p:spPr>
          <a:xfrm>
            <a:off x="6505510" y="3737618"/>
            <a:ext cx="5191850" cy="2172003"/>
          </a:xfrm>
          <a:prstGeom prst="rect">
            <a:avLst/>
          </a:prstGeom>
        </p:spPr>
      </p:pic>
    </p:spTree>
    <p:extLst>
      <p:ext uri="{BB962C8B-B14F-4D97-AF65-F5344CB8AC3E}">
        <p14:creationId xmlns:p14="http://schemas.microsoft.com/office/powerpoint/2010/main" val="165324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r>
              <a:rPr lang="en-US" dirty="0"/>
              <a:t>Write a PHP program to check whether the given number is prime or not using function</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E7A258AB-5BB1-4764-81ED-EFE7540F7D9D}"/>
              </a:ext>
            </a:extLst>
          </p:cNvPr>
          <p:cNvPicPr>
            <a:picLocks noChangeAspect="1"/>
          </p:cNvPicPr>
          <p:nvPr/>
        </p:nvPicPr>
        <p:blipFill>
          <a:blip r:embed="rId3"/>
          <a:stretch>
            <a:fillRect/>
          </a:stretch>
        </p:blipFill>
        <p:spPr>
          <a:xfrm>
            <a:off x="1055440" y="1805543"/>
            <a:ext cx="10297144" cy="4363197"/>
          </a:xfrm>
          <a:prstGeom prst="rect">
            <a:avLst/>
          </a:prstGeom>
        </p:spPr>
      </p:pic>
    </p:spTree>
    <p:extLst>
      <p:ext uri="{BB962C8B-B14F-4D97-AF65-F5344CB8AC3E}">
        <p14:creationId xmlns:p14="http://schemas.microsoft.com/office/powerpoint/2010/main" val="3490724668"/>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                               </a:t>
            </a:r>
            <a:r>
              <a:rPr lang="en-US" dirty="0" err="1"/>
              <a:t>contd</a:t>
            </a:r>
            <a:r>
              <a:rPr lang="en-US" dirty="0"/>
              <a:t>…</a:t>
            </a:r>
            <a:br>
              <a:rPr lang="en-US" altLang="en-US" dirty="0"/>
            </a:b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4D7ED7F8-6A72-4ED2-9F81-AF57BCCA5AC9}"/>
              </a:ext>
            </a:extLst>
          </p:cNvPr>
          <p:cNvPicPr>
            <a:picLocks noChangeAspect="1"/>
          </p:cNvPicPr>
          <p:nvPr/>
        </p:nvPicPr>
        <p:blipFill>
          <a:blip r:embed="rId3"/>
          <a:stretch>
            <a:fillRect/>
          </a:stretch>
        </p:blipFill>
        <p:spPr>
          <a:xfrm>
            <a:off x="419433" y="1009997"/>
            <a:ext cx="11353134" cy="5155308"/>
          </a:xfrm>
          <a:prstGeom prst="rect">
            <a:avLst/>
          </a:prstGeom>
        </p:spPr>
      </p:pic>
    </p:spTree>
    <p:extLst>
      <p:ext uri="{BB962C8B-B14F-4D97-AF65-F5344CB8AC3E}">
        <p14:creationId xmlns:p14="http://schemas.microsoft.com/office/powerpoint/2010/main" val="4042067268"/>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              </a:t>
            </a:r>
            <a:r>
              <a:rPr lang="en-US" dirty="0" err="1"/>
              <a:t>contd</a:t>
            </a:r>
            <a:r>
              <a:rPr lang="en-US" dirty="0"/>
              <a:t>…</a:t>
            </a:r>
            <a:br>
              <a:rPr lang="en-US" altLang="en-US" dirty="0"/>
            </a:b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1B0F0A79-4582-41B3-A554-D4DBE6343F52}"/>
              </a:ext>
            </a:extLst>
          </p:cNvPr>
          <p:cNvPicPr>
            <a:picLocks noChangeAspect="1"/>
          </p:cNvPicPr>
          <p:nvPr/>
        </p:nvPicPr>
        <p:blipFill>
          <a:blip r:embed="rId3"/>
          <a:stretch>
            <a:fillRect/>
          </a:stretch>
        </p:blipFill>
        <p:spPr>
          <a:xfrm>
            <a:off x="623392" y="1124744"/>
            <a:ext cx="9896683" cy="5178871"/>
          </a:xfrm>
          <a:prstGeom prst="rect">
            <a:avLst/>
          </a:prstGeom>
        </p:spPr>
      </p:pic>
    </p:spTree>
    <p:extLst>
      <p:ext uri="{BB962C8B-B14F-4D97-AF65-F5344CB8AC3E}">
        <p14:creationId xmlns:p14="http://schemas.microsoft.com/office/powerpoint/2010/main" val="2086107607"/>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r>
              <a:rPr lang="en-US" dirty="0"/>
              <a:t>Write a PHP program to count the number of words in a string?</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07E7C85C-5EEA-4F59-A190-6E2870E801D2}"/>
              </a:ext>
            </a:extLst>
          </p:cNvPr>
          <p:cNvPicPr>
            <a:picLocks noChangeAspect="1"/>
          </p:cNvPicPr>
          <p:nvPr/>
        </p:nvPicPr>
        <p:blipFill>
          <a:blip r:embed="rId3"/>
          <a:stretch>
            <a:fillRect/>
          </a:stretch>
        </p:blipFill>
        <p:spPr>
          <a:xfrm>
            <a:off x="637705" y="1461937"/>
            <a:ext cx="11002911" cy="4991797"/>
          </a:xfrm>
          <a:prstGeom prst="rect">
            <a:avLst/>
          </a:prstGeom>
        </p:spPr>
      </p:pic>
      <p:pic>
        <p:nvPicPr>
          <p:cNvPr id="6" name="Picture 5">
            <a:extLst>
              <a:ext uri="{FF2B5EF4-FFF2-40B4-BE49-F238E27FC236}">
                <a16:creationId xmlns:a16="http://schemas.microsoft.com/office/drawing/2014/main" id="{A9DD5632-7AF7-4AAA-B5FA-C5469C9D93B9}"/>
              </a:ext>
            </a:extLst>
          </p:cNvPr>
          <p:cNvPicPr>
            <a:picLocks noChangeAspect="1"/>
          </p:cNvPicPr>
          <p:nvPr/>
        </p:nvPicPr>
        <p:blipFill>
          <a:blip r:embed="rId4"/>
          <a:stretch>
            <a:fillRect/>
          </a:stretch>
        </p:blipFill>
        <p:spPr>
          <a:xfrm>
            <a:off x="6419044" y="-49161"/>
            <a:ext cx="5772956" cy="2298240"/>
          </a:xfrm>
          <a:prstGeom prst="rect">
            <a:avLst/>
          </a:prstGeom>
        </p:spPr>
      </p:pic>
    </p:spTree>
    <p:extLst>
      <p:ext uri="{BB962C8B-B14F-4D97-AF65-F5344CB8AC3E}">
        <p14:creationId xmlns:p14="http://schemas.microsoft.com/office/powerpoint/2010/main" val="2206399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r>
              <a:rPr lang="en-US" dirty="0"/>
              <a:t>PHP program that calculates the average, largest, and the sum of squares of three numbers using functions</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940DF2A7-2F19-4BC6-9125-D9FD8504B223}"/>
              </a:ext>
            </a:extLst>
          </p:cNvPr>
          <p:cNvPicPr>
            <a:picLocks noChangeAspect="1"/>
          </p:cNvPicPr>
          <p:nvPr/>
        </p:nvPicPr>
        <p:blipFill>
          <a:blip r:embed="rId3"/>
          <a:stretch>
            <a:fillRect/>
          </a:stretch>
        </p:blipFill>
        <p:spPr>
          <a:xfrm>
            <a:off x="1343472" y="1877621"/>
            <a:ext cx="9721080" cy="4922289"/>
          </a:xfrm>
          <a:prstGeom prst="rect">
            <a:avLst/>
          </a:prstGeom>
          <a:ln>
            <a:solidFill>
              <a:schemeClr val="accent2"/>
            </a:solidFill>
          </a:ln>
        </p:spPr>
      </p:pic>
    </p:spTree>
    <p:extLst>
      <p:ext uri="{BB962C8B-B14F-4D97-AF65-F5344CB8AC3E}">
        <p14:creationId xmlns:p14="http://schemas.microsoft.com/office/powerpoint/2010/main" val="23268065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r>
              <a:rPr lang="en-US" dirty="0"/>
              <a:t>PHP program that calculates the average, largest, and the sum of squares of three numbers using functions</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10DC5891-7073-487C-9BE0-5D2AF25F543E}"/>
              </a:ext>
            </a:extLst>
          </p:cNvPr>
          <p:cNvPicPr>
            <a:picLocks noChangeAspect="1"/>
          </p:cNvPicPr>
          <p:nvPr/>
        </p:nvPicPr>
        <p:blipFill>
          <a:blip r:embed="rId3"/>
          <a:stretch>
            <a:fillRect/>
          </a:stretch>
        </p:blipFill>
        <p:spPr>
          <a:xfrm>
            <a:off x="692434" y="1854075"/>
            <a:ext cx="11017225" cy="4311230"/>
          </a:xfrm>
          <a:prstGeom prst="rect">
            <a:avLst/>
          </a:prstGeom>
        </p:spPr>
      </p:pic>
    </p:spTree>
    <p:extLst>
      <p:ext uri="{BB962C8B-B14F-4D97-AF65-F5344CB8AC3E}">
        <p14:creationId xmlns:p14="http://schemas.microsoft.com/office/powerpoint/2010/main" val="882964013"/>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r>
              <a:rPr lang="en-US" dirty="0"/>
              <a:t>PHP program that calculates the average, largest, and the sum of squares of three numbers using functions</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10DC5891-7073-487C-9BE0-5D2AF25F543E}"/>
              </a:ext>
            </a:extLst>
          </p:cNvPr>
          <p:cNvPicPr>
            <a:picLocks noChangeAspect="1"/>
          </p:cNvPicPr>
          <p:nvPr/>
        </p:nvPicPr>
        <p:blipFill>
          <a:blip r:embed="rId3"/>
          <a:stretch>
            <a:fillRect/>
          </a:stretch>
        </p:blipFill>
        <p:spPr>
          <a:xfrm>
            <a:off x="692434" y="1854075"/>
            <a:ext cx="11017225" cy="4311230"/>
          </a:xfrm>
          <a:prstGeom prst="rect">
            <a:avLst/>
          </a:prstGeom>
        </p:spPr>
      </p:pic>
    </p:spTree>
    <p:extLst>
      <p:ext uri="{BB962C8B-B14F-4D97-AF65-F5344CB8AC3E}">
        <p14:creationId xmlns:p14="http://schemas.microsoft.com/office/powerpoint/2010/main" val="3401159365"/>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12495C-0133-4520-A6A5-934E00C02971}"/>
              </a:ext>
            </a:extLst>
          </p:cNvPr>
          <p:cNvPicPr>
            <a:picLocks noChangeAspect="1"/>
          </p:cNvPicPr>
          <p:nvPr/>
        </p:nvPicPr>
        <p:blipFill>
          <a:blip r:embed="rId3"/>
          <a:stretch>
            <a:fillRect/>
          </a:stretch>
        </p:blipFill>
        <p:spPr>
          <a:xfrm>
            <a:off x="479376" y="0"/>
            <a:ext cx="9543901" cy="6858000"/>
          </a:xfrm>
          <a:prstGeom prst="rect">
            <a:avLst/>
          </a:prstGeom>
        </p:spPr>
      </p:pic>
    </p:spTree>
    <p:extLst>
      <p:ext uri="{BB962C8B-B14F-4D97-AF65-F5344CB8AC3E}">
        <p14:creationId xmlns:p14="http://schemas.microsoft.com/office/powerpoint/2010/main" val="2450786126"/>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lvl="0"/>
            <a:r>
              <a:rPr lang="en-US" dirty="0"/>
              <a:t>Write PHP script to check whether a string is a palindrome or not and display the result. Pass the string to the script from a user submitted form.</a:t>
            </a:r>
          </a:p>
          <a:p>
            <a:pPr>
              <a:defRPr/>
            </a:pPr>
            <a:r>
              <a:rPr lang="en-US" dirty="0"/>
              <a:t> </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558E2CAD-D001-4A66-AE20-D92DDAE4607D}"/>
              </a:ext>
            </a:extLst>
          </p:cNvPr>
          <p:cNvPicPr>
            <a:picLocks noChangeAspect="1"/>
          </p:cNvPicPr>
          <p:nvPr/>
        </p:nvPicPr>
        <p:blipFill>
          <a:blip r:embed="rId3"/>
          <a:stretch>
            <a:fillRect/>
          </a:stretch>
        </p:blipFill>
        <p:spPr>
          <a:xfrm>
            <a:off x="1703512" y="1873309"/>
            <a:ext cx="6944694" cy="1695687"/>
          </a:xfrm>
          <a:prstGeom prst="rect">
            <a:avLst/>
          </a:prstGeom>
        </p:spPr>
      </p:pic>
      <p:pic>
        <p:nvPicPr>
          <p:cNvPr id="4" name="Picture 3">
            <a:extLst>
              <a:ext uri="{FF2B5EF4-FFF2-40B4-BE49-F238E27FC236}">
                <a16:creationId xmlns:a16="http://schemas.microsoft.com/office/drawing/2014/main" id="{1198856B-E7C1-4788-84D1-29CD3E6640E2}"/>
              </a:ext>
            </a:extLst>
          </p:cNvPr>
          <p:cNvPicPr>
            <a:picLocks noChangeAspect="1"/>
          </p:cNvPicPr>
          <p:nvPr/>
        </p:nvPicPr>
        <p:blipFill>
          <a:blip r:embed="rId4"/>
          <a:stretch>
            <a:fillRect/>
          </a:stretch>
        </p:blipFill>
        <p:spPr>
          <a:xfrm>
            <a:off x="1785686" y="3829324"/>
            <a:ext cx="7001852" cy="1952898"/>
          </a:xfrm>
          <a:prstGeom prst="rect">
            <a:avLst/>
          </a:prstGeom>
        </p:spPr>
      </p:pic>
    </p:spTree>
    <p:extLst>
      <p:ext uri="{BB962C8B-B14F-4D97-AF65-F5344CB8AC3E}">
        <p14:creationId xmlns:p14="http://schemas.microsoft.com/office/powerpoint/2010/main" val="3092601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sp>
        <p:nvSpPr>
          <p:cNvPr id="6" name="Content Placeholder 5">
            <a:extLst>
              <a:ext uri="{FF2B5EF4-FFF2-40B4-BE49-F238E27FC236}">
                <a16:creationId xmlns:a16="http://schemas.microsoft.com/office/drawing/2014/main" id="{0BBCC7DA-B425-4296-B3B0-7099F452694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CDD5E648-57E8-4701-A46F-703B6725C079}"/>
              </a:ext>
            </a:extLst>
          </p:cNvPr>
          <p:cNvPicPr>
            <a:picLocks noChangeAspect="1"/>
          </p:cNvPicPr>
          <p:nvPr/>
        </p:nvPicPr>
        <p:blipFill>
          <a:blip r:embed="rId3"/>
          <a:stretch>
            <a:fillRect/>
          </a:stretch>
        </p:blipFill>
        <p:spPr>
          <a:xfrm>
            <a:off x="479376" y="180521"/>
            <a:ext cx="10431331" cy="6496957"/>
          </a:xfrm>
          <a:prstGeom prst="rect">
            <a:avLst/>
          </a:prstGeom>
        </p:spPr>
      </p:pic>
    </p:spTree>
    <p:extLst>
      <p:ext uri="{BB962C8B-B14F-4D97-AF65-F5344CB8AC3E}">
        <p14:creationId xmlns:p14="http://schemas.microsoft.com/office/powerpoint/2010/main" val="2290696130"/>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r>
              <a:rPr lang="en-US" dirty="0"/>
              <a:t> </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6" name="Picture 5">
            <a:extLst>
              <a:ext uri="{FF2B5EF4-FFF2-40B4-BE49-F238E27FC236}">
                <a16:creationId xmlns:a16="http://schemas.microsoft.com/office/drawing/2014/main" id="{B0B12528-8313-4B4D-8D34-A1CBAB0C37CD}"/>
              </a:ext>
            </a:extLst>
          </p:cNvPr>
          <p:cNvPicPr>
            <a:picLocks noChangeAspect="1"/>
          </p:cNvPicPr>
          <p:nvPr/>
        </p:nvPicPr>
        <p:blipFill>
          <a:blip r:embed="rId3"/>
          <a:stretch>
            <a:fillRect/>
          </a:stretch>
        </p:blipFill>
        <p:spPr>
          <a:xfrm>
            <a:off x="191344" y="79147"/>
            <a:ext cx="11622122" cy="1514686"/>
          </a:xfrm>
          <a:prstGeom prst="rect">
            <a:avLst/>
          </a:prstGeom>
        </p:spPr>
      </p:pic>
      <p:pic>
        <p:nvPicPr>
          <p:cNvPr id="7" name="Picture 6">
            <a:extLst>
              <a:ext uri="{FF2B5EF4-FFF2-40B4-BE49-F238E27FC236}">
                <a16:creationId xmlns:a16="http://schemas.microsoft.com/office/drawing/2014/main" id="{5650E5B8-55B3-495C-85C0-6B2191A451F6}"/>
              </a:ext>
            </a:extLst>
          </p:cNvPr>
          <p:cNvPicPr>
            <a:picLocks noChangeAspect="1"/>
          </p:cNvPicPr>
          <p:nvPr/>
        </p:nvPicPr>
        <p:blipFill>
          <a:blip r:embed="rId4"/>
          <a:stretch>
            <a:fillRect/>
          </a:stretch>
        </p:blipFill>
        <p:spPr>
          <a:xfrm>
            <a:off x="839416" y="1772816"/>
            <a:ext cx="7373379" cy="1714739"/>
          </a:xfrm>
          <a:prstGeom prst="rect">
            <a:avLst/>
          </a:prstGeom>
          <a:ln>
            <a:solidFill>
              <a:schemeClr val="accent2"/>
            </a:solidFill>
          </a:ln>
        </p:spPr>
      </p:pic>
      <p:pic>
        <p:nvPicPr>
          <p:cNvPr id="8" name="Picture 7">
            <a:extLst>
              <a:ext uri="{FF2B5EF4-FFF2-40B4-BE49-F238E27FC236}">
                <a16:creationId xmlns:a16="http://schemas.microsoft.com/office/drawing/2014/main" id="{C92A3C8B-5C6D-43BC-81DD-3E13AC162AE3}"/>
              </a:ext>
            </a:extLst>
          </p:cNvPr>
          <p:cNvPicPr>
            <a:picLocks noChangeAspect="1"/>
          </p:cNvPicPr>
          <p:nvPr/>
        </p:nvPicPr>
        <p:blipFill>
          <a:blip r:embed="rId5"/>
          <a:stretch>
            <a:fillRect/>
          </a:stretch>
        </p:blipFill>
        <p:spPr>
          <a:xfrm>
            <a:off x="872757" y="1796701"/>
            <a:ext cx="7306695" cy="1790950"/>
          </a:xfrm>
          <a:prstGeom prst="rect">
            <a:avLst/>
          </a:prstGeom>
          <a:ln>
            <a:solidFill>
              <a:schemeClr val="accent2"/>
            </a:solidFill>
          </a:ln>
        </p:spPr>
      </p:pic>
      <p:pic>
        <p:nvPicPr>
          <p:cNvPr id="9" name="Picture 8">
            <a:extLst>
              <a:ext uri="{FF2B5EF4-FFF2-40B4-BE49-F238E27FC236}">
                <a16:creationId xmlns:a16="http://schemas.microsoft.com/office/drawing/2014/main" id="{EF4AEDA7-DD51-4701-B450-74BB0AC496E8}"/>
              </a:ext>
            </a:extLst>
          </p:cNvPr>
          <p:cNvPicPr>
            <a:picLocks noChangeAspect="1"/>
          </p:cNvPicPr>
          <p:nvPr/>
        </p:nvPicPr>
        <p:blipFill>
          <a:blip r:embed="rId6"/>
          <a:stretch>
            <a:fillRect/>
          </a:stretch>
        </p:blipFill>
        <p:spPr>
          <a:xfrm>
            <a:off x="1003189" y="4122160"/>
            <a:ext cx="7154273" cy="1829055"/>
          </a:xfrm>
          <a:prstGeom prst="rect">
            <a:avLst/>
          </a:prstGeom>
          <a:ln>
            <a:solidFill>
              <a:srgbClr val="F04C3E"/>
            </a:solidFill>
          </a:ln>
        </p:spPr>
      </p:pic>
    </p:spTree>
    <p:extLst>
      <p:ext uri="{BB962C8B-B14F-4D97-AF65-F5344CB8AC3E}">
        <p14:creationId xmlns:p14="http://schemas.microsoft.com/office/powerpoint/2010/main" val="34406291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1017224" cy="5155308"/>
          </a:xfrm>
          <a:ln>
            <a:noFill/>
          </a:ln>
        </p:spPr>
        <p:txBody>
          <a:bodyPr/>
          <a:lstStyle/>
          <a:p>
            <a:pPr>
              <a:defRPr/>
            </a:pPr>
            <a:r>
              <a:rPr lang="en-US" dirty="0"/>
              <a:t> </a:t>
            </a:r>
            <a:endParaRPr lang="en-US" sz="2000"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University question</a:t>
            </a:r>
            <a:br>
              <a:rPr lang="en-US" altLang="en-US" dirty="0"/>
            </a:br>
            <a:endParaRPr lang="en-US" dirty="0">
              <a:latin typeface="Armata" panose="020B0503040500060204" pitchFamily="34" charset="0"/>
            </a:endParaRPr>
          </a:p>
        </p:txBody>
      </p:sp>
      <p:pic>
        <p:nvPicPr>
          <p:cNvPr id="6" name="Picture 5">
            <a:extLst>
              <a:ext uri="{FF2B5EF4-FFF2-40B4-BE49-F238E27FC236}">
                <a16:creationId xmlns:a16="http://schemas.microsoft.com/office/drawing/2014/main" id="{B0B12528-8313-4B4D-8D34-A1CBAB0C37CD}"/>
              </a:ext>
            </a:extLst>
          </p:cNvPr>
          <p:cNvPicPr>
            <a:picLocks noChangeAspect="1"/>
          </p:cNvPicPr>
          <p:nvPr/>
        </p:nvPicPr>
        <p:blipFill>
          <a:blip r:embed="rId3"/>
          <a:stretch>
            <a:fillRect/>
          </a:stretch>
        </p:blipFill>
        <p:spPr>
          <a:xfrm>
            <a:off x="191344" y="79147"/>
            <a:ext cx="11622122" cy="1514686"/>
          </a:xfrm>
          <a:prstGeom prst="rect">
            <a:avLst/>
          </a:prstGeom>
        </p:spPr>
      </p:pic>
      <p:pic>
        <p:nvPicPr>
          <p:cNvPr id="4" name="Picture 3">
            <a:extLst>
              <a:ext uri="{FF2B5EF4-FFF2-40B4-BE49-F238E27FC236}">
                <a16:creationId xmlns:a16="http://schemas.microsoft.com/office/drawing/2014/main" id="{0B8231AC-6C02-4DB2-B939-7C1307875FC7}"/>
              </a:ext>
            </a:extLst>
          </p:cNvPr>
          <p:cNvPicPr>
            <a:picLocks noChangeAspect="1"/>
          </p:cNvPicPr>
          <p:nvPr/>
        </p:nvPicPr>
        <p:blipFill>
          <a:blip r:embed="rId4"/>
          <a:stretch>
            <a:fillRect/>
          </a:stretch>
        </p:blipFill>
        <p:spPr>
          <a:xfrm>
            <a:off x="61070" y="79147"/>
            <a:ext cx="12069859" cy="2762636"/>
          </a:xfrm>
          <a:prstGeom prst="rect">
            <a:avLst/>
          </a:prstGeom>
        </p:spPr>
      </p:pic>
      <p:pic>
        <p:nvPicPr>
          <p:cNvPr id="10" name="Picture 9">
            <a:extLst>
              <a:ext uri="{FF2B5EF4-FFF2-40B4-BE49-F238E27FC236}">
                <a16:creationId xmlns:a16="http://schemas.microsoft.com/office/drawing/2014/main" id="{634325E5-D742-4143-A7EF-E0612D67EB76}"/>
              </a:ext>
            </a:extLst>
          </p:cNvPr>
          <p:cNvPicPr>
            <a:picLocks noChangeAspect="1"/>
          </p:cNvPicPr>
          <p:nvPr/>
        </p:nvPicPr>
        <p:blipFill>
          <a:blip r:embed="rId5"/>
          <a:stretch>
            <a:fillRect/>
          </a:stretch>
        </p:blipFill>
        <p:spPr>
          <a:xfrm>
            <a:off x="61069" y="2815050"/>
            <a:ext cx="12069859" cy="3953427"/>
          </a:xfrm>
          <a:prstGeom prst="rect">
            <a:avLst/>
          </a:prstGeom>
        </p:spPr>
      </p:pic>
    </p:spTree>
    <p:extLst>
      <p:ext uri="{BB962C8B-B14F-4D97-AF65-F5344CB8AC3E}">
        <p14:creationId xmlns:p14="http://schemas.microsoft.com/office/powerpoint/2010/main" val="26955653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Objects</a:t>
            </a:r>
          </a:p>
        </p:txBody>
      </p:sp>
    </p:spTree>
    <p:extLst>
      <p:ext uri="{BB962C8B-B14F-4D97-AF65-F5344CB8AC3E}">
        <p14:creationId xmlns:p14="http://schemas.microsoft.com/office/powerpoint/2010/main" val="1616596896"/>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551384" y="1009997"/>
            <a:ext cx="10956054" cy="5155308"/>
          </a:xfrm>
          <a:ln>
            <a:noFill/>
          </a:ln>
        </p:spPr>
        <p:txBody>
          <a:bodyPr/>
          <a:lstStyle/>
          <a:p>
            <a:pPr>
              <a:defRPr/>
            </a:pPr>
            <a:r>
              <a:rPr lang="en-US" dirty="0"/>
              <a:t>In PHP, an object is an instance of a class. </a:t>
            </a:r>
          </a:p>
          <a:p>
            <a:pPr>
              <a:defRPr/>
            </a:pPr>
            <a:r>
              <a:rPr lang="en-US" dirty="0"/>
              <a:t>A class is a blueprint or a template for creating objects, and objects are instances of that class with specific values assigned to them.</a:t>
            </a:r>
          </a:p>
          <a:p>
            <a:pPr>
              <a:defRPr/>
            </a:pPr>
            <a:r>
              <a:rPr lang="en-US" dirty="0"/>
              <a:t>Objects allow you to model and organize code in a way that reflects real-world entities and their interactions. </a:t>
            </a:r>
          </a:p>
          <a:p>
            <a:pPr>
              <a:defRPr/>
            </a:pPr>
            <a:r>
              <a:rPr lang="en-US" dirty="0"/>
              <a:t>An object exists as a data structure, and a definition of that structure is called a class. </a:t>
            </a:r>
            <a:r>
              <a:rPr lang="en-US" dirty="0">
                <a:highlight>
                  <a:srgbClr val="FFFF00"/>
                </a:highlight>
              </a:rPr>
              <a:t>In each class, you define a set of characteristics</a:t>
            </a:r>
            <a:r>
              <a:rPr lang="en-US" dirty="0"/>
              <a:t>. </a:t>
            </a:r>
          </a:p>
          <a:p>
            <a:pPr algn="just">
              <a:defRPr/>
            </a:pPr>
            <a:r>
              <a:rPr lang="en-US" dirty="0"/>
              <a:t>For example, suppose you have created an </a:t>
            </a:r>
            <a:r>
              <a:rPr lang="en-US" dirty="0">
                <a:highlight>
                  <a:srgbClr val="FFFF00"/>
                </a:highlight>
              </a:rPr>
              <a:t>automobile class</a:t>
            </a:r>
            <a:r>
              <a:rPr lang="en-US" dirty="0"/>
              <a:t>. In the automobile class, you might have </a:t>
            </a:r>
            <a:r>
              <a:rPr lang="en-US" dirty="0">
                <a:highlight>
                  <a:srgbClr val="FFFF00"/>
                </a:highlight>
              </a:rPr>
              <a:t>color, make, and model characteristics</a:t>
            </a:r>
          </a:p>
          <a:p>
            <a:pPr algn="just">
              <a:defRPr/>
            </a:pPr>
            <a:r>
              <a:rPr lang="en-US" dirty="0">
                <a:highlight>
                  <a:srgbClr val="FFFF00"/>
                </a:highlight>
              </a:rPr>
              <a:t>Each automobile object uses all the characteristics, but each object initializes the characteristics to different values</a:t>
            </a:r>
            <a:r>
              <a:rPr lang="en-US" dirty="0"/>
              <a:t>, such as blue, Jeep, and Renegade, or red, Porsche, and Boxster.</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Objects</a:t>
            </a:r>
            <a:endParaRPr lang="en-US" dirty="0">
              <a:latin typeface="Armata" panose="020B0503040500060204" pitchFamily="34" charset="0"/>
            </a:endParaRPr>
          </a:p>
        </p:txBody>
      </p:sp>
    </p:spTree>
    <p:extLst>
      <p:ext uri="{BB962C8B-B14F-4D97-AF65-F5344CB8AC3E}">
        <p14:creationId xmlns:p14="http://schemas.microsoft.com/office/powerpoint/2010/main" val="4750949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63352" y="1124744"/>
            <a:ext cx="4146970" cy="5155308"/>
          </a:xfrm>
          <a:ln>
            <a:noFill/>
          </a:ln>
        </p:spPr>
        <p:txBody>
          <a:bodyPr/>
          <a:lstStyle/>
          <a:p>
            <a:pPr>
              <a:defRPr/>
            </a:pPr>
            <a:r>
              <a:rPr lang="en-US" dirty="0"/>
              <a:t>Creating object is so simple</a:t>
            </a:r>
          </a:p>
          <a:p>
            <a:pPr>
              <a:defRPr/>
            </a:pPr>
            <a:endParaRPr lang="en-US" dirty="0"/>
          </a:p>
          <a:p>
            <a:pPr>
              <a:defRPr/>
            </a:pPr>
            <a:endParaRPr lang="en-US" dirty="0"/>
          </a:p>
          <a:p>
            <a:pPr>
              <a:defRPr/>
            </a:pPr>
            <a:endParaRPr lang="en-US" dirty="0"/>
          </a:p>
          <a:p>
            <a:pPr>
              <a:defRPr/>
            </a:pPr>
            <a:r>
              <a:rPr lang="en-US" dirty="0"/>
              <a:t>Create an instance of class as:</a:t>
            </a:r>
          </a:p>
          <a:p>
            <a:pPr marL="0" indent="0">
              <a:buNone/>
              <a:defRPr/>
            </a:pPr>
            <a:endParaRPr lang="en-US" dirty="0"/>
          </a:p>
          <a:p>
            <a:pPr>
              <a:defRPr/>
            </a:pPr>
            <a:endParaRPr lang="en-US" dirty="0"/>
          </a:p>
          <a:p>
            <a:pPr marL="0" indent="0">
              <a:buNone/>
              <a:defRPr/>
            </a:pPr>
            <a:endParaRPr lang="en-US"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Objects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C6B40110-6BFB-4422-908A-A75719D6E9CC}"/>
              </a:ext>
            </a:extLst>
          </p:cNvPr>
          <p:cNvPicPr>
            <a:picLocks noChangeAspect="1"/>
          </p:cNvPicPr>
          <p:nvPr/>
        </p:nvPicPr>
        <p:blipFill>
          <a:blip r:embed="rId3"/>
          <a:stretch>
            <a:fillRect/>
          </a:stretch>
        </p:blipFill>
        <p:spPr>
          <a:xfrm>
            <a:off x="412787" y="1648831"/>
            <a:ext cx="3848100" cy="1095375"/>
          </a:xfrm>
          <a:prstGeom prst="rect">
            <a:avLst/>
          </a:prstGeom>
        </p:spPr>
      </p:pic>
      <p:pic>
        <p:nvPicPr>
          <p:cNvPr id="3" name="Picture 2">
            <a:extLst>
              <a:ext uri="{FF2B5EF4-FFF2-40B4-BE49-F238E27FC236}">
                <a16:creationId xmlns:a16="http://schemas.microsoft.com/office/drawing/2014/main" id="{EAF0F951-DD15-4470-8823-8090CF6D91F2}"/>
              </a:ext>
            </a:extLst>
          </p:cNvPr>
          <p:cNvPicPr>
            <a:picLocks noChangeAspect="1"/>
          </p:cNvPicPr>
          <p:nvPr/>
        </p:nvPicPr>
        <p:blipFill>
          <a:blip r:embed="rId4"/>
          <a:stretch>
            <a:fillRect/>
          </a:stretch>
        </p:blipFill>
        <p:spPr>
          <a:xfrm>
            <a:off x="504292" y="3763169"/>
            <a:ext cx="3914775" cy="523875"/>
          </a:xfrm>
          <a:prstGeom prst="rect">
            <a:avLst/>
          </a:prstGeom>
        </p:spPr>
      </p:pic>
      <p:cxnSp>
        <p:nvCxnSpPr>
          <p:cNvPr id="7" name="Straight Connector 6">
            <a:extLst>
              <a:ext uri="{FF2B5EF4-FFF2-40B4-BE49-F238E27FC236}">
                <a16:creationId xmlns:a16="http://schemas.microsoft.com/office/drawing/2014/main" id="{E3B26F31-4B77-4B14-8859-638CAF56DE34}"/>
              </a:ext>
            </a:extLst>
          </p:cNvPr>
          <p:cNvCxnSpPr/>
          <p:nvPr/>
        </p:nvCxnSpPr>
        <p:spPr>
          <a:xfrm flipH="1">
            <a:off x="4437113" y="1088740"/>
            <a:ext cx="31951" cy="4680520"/>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208C4BEF-0A9E-4EFA-944B-71666E32E24A}"/>
              </a:ext>
            </a:extLst>
          </p:cNvPr>
          <p:cNvPicPr>
            <a:picLocks noChangeAspect="1"/>
          </p:cNvPicPr>
          <p:nvPr/>
        </p:nvPicPr>
        <p:blipFill>
          <a:blip r:embed="rId5"/>
          <a:stretch>
            <a:fillRect/>
          </a:stretch>
        </p:blipFill>
        <p:spPr>
          <a:xfrm>
            <a:off x="4809324" y="1177853"/>
            <a:ext cx="5823180" cy="5038343"/>
          </a:xfrm>
          <a:prstGeom prst="rect">
            <a:avLst/>
          </a:prstGeom>
        </p:spPr>
      </p:pic>
    </p:spTree>
    <p:extLst>
      <p:ext uri="{BB962C8B-B14F-4D97-AF65-F5344CB8AC3E}">
        <p14:creationId xmlns:p14="http://schemas.microsoft.com/office/powerpoint/2010/main" val="3921066360"/>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63352" y="1124744"/>
            <a:ext cx="4146970" cy="5155308"/>
          </a:xfrm>
          <a:ln>
            <a:noFill/>
          </a:ln>
        </p:spPr>
        <p:txBody>
          <a:bodyPr/>
          <a:lstStyle/>
          <a:p>
            <a:pPr>
              <a:defRPr/>
            </a:pPr>
            <a:r>
              <a:rPr lang="en-US" dirty="0"/>
              <a:t>Creating object is so simple</a:t>
            </a:r>
          </a:p>
          <a:p>
            <a:pPr>
              <a:defRPr/>
            </a:pPr>
            <a:endParaRPr lang="en-US" dirty="0"/>
          </a:p>
          <a:p>
            <a:pPr>
              <a:defRPr/>
            </a:pPr>
            <a:endParaRPr lang="en-US" dirty="0"/>
          </a:p>
          <a:p>
            <a:pPr>
              <a:defRPr/>
            </a:pPr>
            <a:endParaRPr lang="en-US" dirty="0"/>
          </a:p>
          <a:p>
            <a:pPr>
              <a:defRPr/>
            </a:pPr>
            <a:r>
              <a:rPr lang="en-US" dirty="0"/>
              <a:t>Create an instance of class as:</a:t>
            </a:r>
          </a:p>
          <a:p>
            <a:pPr marL="0" indent="0">
              <a:buNone/>
              <a:defRPr/>
            </a:pPr>
            <a:endParaRPr lang="en-US" dirty="0"/>
          </a:p>
          <a:p>
            <a:pPr>
              <a:defRPr/>
            </a:pPr>
            <a:endParaRPr lang="en-US" dirty="0"/>
          </a:p>
          <a:p>
            <a:pPr marL="0" indent="0">
              <a:buNone/>
              <a:defRPr/>
            </a:pPr>
            <a:endParaRPr lang="en-US"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Objects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C6B40110-6BFB-4422-908A-A75719D6E9CC}"/>
              </a:ext>
            </a:extLst>
          </p:cNvPr>
          <p:cNvPicPr>
            <a:picLocks noChangeAspect="1"/>
          </p:cNvPicPr>
          <p:nvPr/>
        </p:nvPicPr>
        <p:blipFill>
          <a:blip r:embed="rId3"/>
          <a:stretch>
            <a:fillRect/>
          </a:stretch>
        </p:blipFill>
        <p:spPr>
          <a:xfrm>
            <a:off x="412787" y="1648831"/>
            <a:ext cx="3848100" cy="1095375"/>
          </a:xfrm>
          <a:prstGeom prst="rect">
            <a:avLst/>
          </a:prstGeom>
        </p:spPr>
      </p:pic>
      <p:pic>
        <p:nvPicPr>
          <p:cNvPr id="3" name="Picture 2">
            <a:extLst>
              <a:ext uri="{FF2B5EF4-FFF2-40B4-BE49-F238E27FC236}">
                <a16:creationId xmlns:a16="http://schemas.microsoft.com/office/drawing/2014/main" id="{EAF0F951-DD15-4470-8823-8090CF6D91F2}"/>
              </a:ext>
            </a:extLst>
          </p:cNvPr>
          <p:cNvPicPr>
            <a:picLocks noChangeAspect="1"/>
          </p:cNvPicPr>
          <p:nvPr/>
        </p:nvPicPr>
        <p:blipFill>
          <a:blip r:embed="rId4"/>
          <a:stretch>
            <a:fillRect/>
          </a:stretch>
        </p:blipFill>
        <p:spPr>
          <a:xfrm>
            <a:off x="504292" y="3763169"/>
            <a:ext cx="3914775" cy="523875"/>
          </a:xfrm>
          <a:prstGeom prst="rect">
            <a:avLst/>
          </a:prstGeom>
        </p:spPr>
      </p:pic>
      <p:cxnSp>
        <p:nvCxnSpPr>
          <p:cNvPr id="7" name="Straight Connector 6">
            <a:extLst>
              <a:ext uri="{FF2B5EF4-FFF2-40B4-BE49-F238E27FC236}">
                <a16:creationId xmlns:a16="http://schemas.microsoft.com/office/drawing/2014/main" id="{E3B26F31-4B77-4B14-8859-638CAF56DE34}"/>
              </a:ext>
            </a:extLst>
          </p:cNvPr>
          <p:cNvCxnSpPr/>
          <p:nvPr/>
        </p:nvCxnSpPr>
        <p:spPr>
          <a:xfrm flipH="1">
            <a:off x="5158378" y="1124744"/>
            <a:ext cx="31951" cy="4680520"/>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CBE666EB-BE46-45E2-9F95-8644D16BB477}"/>
              </a:ext>
            </a:extLst>
          </p:cNvPr>
          <p:cNvPicPr>
            <a:picLocks noChangeAspect="1"/>
          </p:cNvPicPr>
          <p:nvPr/>
        </p:nvPicPr>
        <p:blipFill>
          <a:blip r:embed="rId5"/>
          <a:stretch>
            <a:fillRect/>
          </a:stretch>
        </p:blipFill>
        <p:spPr>
          <a:xfrm>
            <a:off x="5482537" y="1124744"/>
            <a:ext cx="6296676" cy="5051671"/>
          </a:xfrm>
          <a:prstGeom prst="rect">
            <a:avLst/>
          </a:prstGeom>
        </p:spPr>
      </p:pic>
      <p:pic>
        <p:nvPicPr>
          <p:cNvPr id="8" name="Picture 7">
            <a:extLst>
              <a:ext uri="{FF2B5EF4-FFF2-40B4-BE49-F238E27FC236}">
                <a16:creationId xmlns:a16="http://schemas.microsoft.com/office/drawing/2014/main" id="{F9D9A37B-DD58-454B-B4E7-E13764EEFE2B}"/>
              </a:ext>
            </a:extLst>
          </p:cNvPr>
          <p:cNvPicPr>
            <a:picLocks noChangeAspect="1"/>
          </p:cNvPicPr>
          <p:nvPr/>
        </p:nvPicPr>
        <p:blipFill>
          <a:blip r:embed="rId6"/>
          <a:stretch>
            <a:fillRect/>
          </a:stretch>
        </p:blipFill>
        <p:spPr>
          <a:xfrm>
            <a:off x="224560" y="4833943"/>
            <a:ext cx="4328535" cy="1097375"/>
          </a:xfrm>
          <a:prstGeom prst="rect">
            <a:avLst/>
          </a:prstGeom>
          <a:ln>
            <a:solidFill>
              <a:schemeClr val="accent2"/>
            </a:solidFill>
          </a:ln>
        </p:spPr>
      </p:pic>
      <p:cxnSp>
        <p:nvCxnSpPr>
          <p:cNvPr id="10" name="Straight Arrow Connector 9">
            <a:extLst>
              <a:ext uri="{FF2B5EF4-FFF2-40B4-BE49-F238E27FC236}">
                <a16:creationId xmlns:a16="http://schemas.microsoft.com/office/drawing/2014/main" id="{DA5ED059-7E6C-4424-9022-C63E85072B97}"/>
              </a:ext>
            </a:extLst>
          </p:cNvPr>
          <p:cNvCxnSpPr/>
          <p:nvPr/>
        </p:nvCxnSpPr>
        <p:spPr>
          <a:xfrm flipH="1">
            <a:off x="4651262" y="4725144"/>
            <a:ext cx="840020" cy="576064"/>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5425977"/>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63352" y="1124744"/>
            <a:ext cx="4146970" cy="5155308"/>
          </a:xfrm>
          <a:ln>
            <a:noFill/>
          </a:ln>
        </p:spPr>
        <p:txBody>
          <a:bodyPr/>
          <a:lstStyle/>
          <a:p>
            <a:pPr>
              <a:defRPr/>
            </a:pPr>
            <a:r>
              <a:rPr lang="en-US" dirty="0"/>
              <a:t>Creating object is so simple</a:t>
            </a:r>
          </a:p>
          <a:p>
            <a:pPr>
              <a:defRPr/>
            </a:pPr>
            <a:endParaRPr lang="en-US" dirty="0"/>
          </a:p>
          <a:p>
            <a:pPr>
              <a:defRPr/>
            </a:pPr>
            <a:endParaRPr lang="en-US" dirty="0"/>
          </a:p>
          <a:p>
            <a:pPr>
              <a:defRPr/>
            </a:pPr>
            <a:endParaRPr lang="en-US" dirty="0"/>
          </a:p>
          <a:p>
            <a:pPr>
              <a:defRPr/>
            </a:pPr>
            <a:r>
              <a:rPr lang="en-US" dirty="0"/>
              <a:t>Create an instance of class as:</a:t>
            </a:r>
          </a:p>
          <a:p>
            <a:pPr marL="0" indent="0">
              <a:buNone/>
              <a:defRPr/>
            </a:pPr>
            <a:endParaRPr lang="en-US" dirty="0"/>
          </a:p>
          <a:p>
            <a:pPr>
              <a:defRPr/>
            </a:pPr>
            <a:endParaRPr lang="en-US" dirty="0"/>
          </a:p>
          <a:p>
            <a:pPr marL="0" indent="0">
              <a:buNone/>
              <a:defRPr/>
            </a:pPr>
            <a:endParaRPr lang="en-US"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Objects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C6B40110-6BFB-4422-908A-A75719D6E9CC}"/>
              </a:ext>
            </a:extLst>
          </p:cNvPr>
          <p:cNvPicPr>
            <a:picLocks noChangeAspect="1"/>
          </p:cNvPicPr>
          <p:nvPr/>
        </p:nvPicPr>
        <p:blipFill>
          <a:blip r:embed="rId3"/>
          <a:stretch>
            <a:fillRect/>
          </a:stretch>
        </p:blipFill>
        <p:spPr>
          <a:xfrm>
            <a:off x="412787" y="1648831"/>
            <a:ext cx="3848100" cy="1095375"/>
          </a:xfrm>
          <a:prstGeom prst="rect">
            <a:avLst/>
          </a:prstGeom>
        </p:spPr>
      </p:pic>
      <p:pic>
        <p:nvPicPr>
          <p:cNvPr id="3" name="Picture 2">
            <a:extLst>
              <a:ext uri="{FF2B5EF4-FFF2-40B4-BE49-F238E27FC236}">
                <a16:creationId xmlns:a16="http://schemas.microsoft.com/office/drawing/2014/main" id="{EAF0F951-DD15-4470-8823-8090CF6D91F2}"/>
              </a:ext>
            </a:extLst>
          </p:cNvPr>
          <p:cNvPicPr>
            <a:picLocks noChangeAspect="1"/>
          </p:cNvPicPr>
          <p:nvPr/>
        </p:nvPicPr>
        <p:blipFill>
          <a:blip r:embed="rId4"/>
          <a:stretch>
            <a:fillRect/>
          </a:stretch>
        </p:blipFill>
        <p:spPr>
          <a:xfrm>
            <a:off x="504292" y="3763169"/>
            <a:ext cx="3914775" cy="523875"/>
          </a:xfrm>
          <a:prstGeom prst="rect">
            <a:avLst/>
          </a:prstGeom>
        </p:spPr>
      </p:pic>
      <p:pic>
        <p:nvPicPr>
          <p:cNvPr id="4" name="Picture 3">
            <a:extLst>
              <a:ext uri="{FF2B5EF4-FFF2-40B4-BE49-F238E27FC236}">
                <a16:creationId xmlns:a16="http://schemas.microsoft.com/office/drawing/2014/main" id="{5DF570E1-84AF-4DF0-8DB5-BFAC87B28C34}"/>
              </a:ext>
            </a:extLst>
          </p:cNvPr>
          <p:cNvPicPr>
            <a:picLocks noChangeAspect="1"/>
          </p:cNvPicPr>
          <p:nvPr/>
        </p:nvPicPr>
        <p:blipFill>
          <a:blip r:embed="rId5"/>
          <a:stretch>
            <a:fillRect/>
          </a:stretch>
        </p:blipFill>
        <p:spPr>
          <a:xfrm>
            <a:off x="4442273" y="1163056"/>
            <a:ext cx="7734300" cy="3162300"/>
          </a:xfrm>
          <a:prstGeom prst="rect">
            <a:avLst/>
          </a:prstGeom>
        </p:spPr>
      </p:pic>
      <p:cxnSp>
        <p:nvCxnSpPr>
          <p:cNvPr id="7" name="Straight Connector 6">
            <a:extLst>
              <a:ext uri="{FF2B5EF4-FFF2-40B4-BE49-F238E27FC236}">
                <a16:creationId xmlns:a16="http://schemas.microsoft.com/office/drawing/2014/main" id="{E3B26F31-4B77-4B14-8859-638CAF56DE34}"/>
              </a:ext>
            </a:extLst>
          </p:cNvPr>
          <p:cNvCxnSpPr/>
          <p:nvPr/>
        </p:nvCxnSpPr>
        <p:spPr>
          <a:xfrm flipH="1">
            <a:off x="4437113" y="1088740"/>
            <a:ext cx="31951" cy="4680520"/>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22F488E-50FE-4F98-8017-8FF1C2F3BD09}"/>
              </a:ext>
            </a:extLst>
          </p:cNvPr>
          <p:cNvPicPr>
            <a:picLocks noChangeAspect="1"/>
          </p:cNvPicPr>
          <p:nvPr/>
        </p:nvPicPr>
        <p:blipFill>
          <a:blip r:embed="rId6"/>
          <a:stretch>
            <a:fillRect/>
          </a:stretch>
        </p:blipFill>
        <p:spPr>
          <a:xfrm>
            <a:off x="4727848" y="4665055"/>
            <a:ext cx="5743575" cy="704850"/>
          </a:xfrm>
          <a:prstGeom prst="rect">
            <a:avLst/>
          </a:prstGeom>
          <a:ln>
            <a:solidFill>
              <a:schemeClr val="accent2"/>
            </a:solidFill>
          </a:ln>
        </p:spPr>
      </p:pic>
    </p:spTree>
    <p:extLst>
      <p:ext uri="{BB962C8B-B14F-4D97-AF65-F5344CB8AC3E}">
        <p14:creationId xmlns:p14="http://schemas.microsoft.com/office/powerpoint/2010/main" val="1920723257"/>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63352" y="1124744"/>
            <a:ext cx="6048672" cy="5155308"/>
          </a:xfrm>
          <a:ln>
            <a:noFill/>
          </a:ln>
        </p:spPr>
        <p:txBody>
          <a:bodyPr/>
          <a:lstStyle/>
          <a:p>
            <a:pPr>
              <a:defRPr/>
            </a:pPr>
            <a:r>
              <a:rPr lang="en-US" dirty="0"/>
              <a:t>The variables declared inside an object are called properties.</a:t>
            </a:r>
          </a:p>
          <a:p>
            <a:pPr>
              <a:defRPr/>
            </a:pPr>
            <a:r>
              <a:rPr lang="en-US" dirty="0"/>
              <a:t>These properties can be values, arrays, or even other objects.</a:t>
            </a:r>
          </a:p>
          <a:p>
            <a:pPr>
              <a:defRPr/>
            </a:pPr>
            <a:r>
              <a:rPr lang="en-US" dirty="0"/>
              <a:t> If you use the keyword public, protected, or private before the variable name, you can indicate if the class member (the variable) can be accessed everywhere (public), within the class itself or a parent class or an inherited class (protected), or only by the class itself (private) :</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Properties of Objects</a:t>
            </a:r>
            <a:endParaRPr lang="en-US" dirty="0">
              <a:latin typeface="Armata" panose="020B0503040500060204" pitchFamily="34" charset="0"/>
            </a:endParaRPr>
          </a:p>
        </p:txBody>
      </p:sp>
      <p:cxnSp>
        <p:nvCxnSpPr>
          <p:cNvPr id="7" name="Straight Connector 6">
            <a:extLst>
              <a:ext uri="{FF2B5EF4-FFF2-40B4-BE49-F238E27FC236}">
                <a16:creationId xmlns:a16="http://schemas.microsoft.com/office/drawing/2014/main" id="{E3B26F31-4B77-4B14-8859-638CAF56DE34}"/>
              </a:ext>
            </a:extLst>
          </p:cNvPr>
          <p:cNvCxnSpPr/>
          <p:nvPr/>
        </p:nvCxnSpPr>
        <p:spPr>
          <a:xfrm flipH="1">
            <a:off x="6528048" y="1268760"/>
            <a:ext cx="31951" cy="4680520"/>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0497F063-F58B-4845-9862-65B176066DB3}"/>
              </a:ext>
            </a:extLst>
          </p:cNvPr>
          <p:cNvPicPr>
            <a:picLocks noChangeAspect="1"/>
          </p:cNvPicPr>
          <p:nvPr/>
        </p:nvPicPr>
        <p:blipFill>
          <a:blip r:embed="rId3"/>
          <a:stretch>
            <a:fillRect/>
          </a:stretch>
        </p:blipFill>
        <p:spPr>
          <a:xfrm>
            <a:off x="6874589" y="1187753"/>
            <a:ext cx="5000625" cy="1809750"/>
          </a:xfrm>
          <a:prstGeom prst="rect">
            <a:avLst/>
          </a:prstGeom>
        </p:spPr>
      </p:pic>
      <p:pic>
        <p:nvPicPr>
          <p:cNvPr id="9" name="Picture 8">
            <a:extLst>
              <a:ext uri="{FF2B5EF4-FFF2-40B4-BE49-F238E27FC236}">
                <a16:creationId xmlns:a16="http://schemas.microsoft.com/office/drawing/2014/main" id="{6A854DA9-61A0-4992-B1CB-A3F6F486E8CF}"/>
              </a:ext>
            </a:extLst>
          </p:cNvPr>
          <p:cNvPicPr>
            <a:picLocks noChangeAspect="1"/>
          </p:cNvPicPr>
          <p:nvPr/>
        </p:nvPicPr>
        <p:blipFill>
          <a:blip r:embed="rId4"/>
          <a:stretch>
            <a:fillRect/>
          </a:stretch>
        </p:blipFill>
        <p:spPr>
          <a:xfrm>
            <a:off x="6208104" y="3055715"/>
            <a:ext cx="5981700" cy="3076575"/>
          </a:xfrm>
          <a:prstGeom prst="rect">
            <a:avLst/>
          </a:prstGeom>
          <a:ln>
            <a:solidFill>
              <a:schemeClr val="accent2"/>
            </a:solidFill>
          </a:ln>
        </p:spPr>
      </p:pic>
      <p:pic>
        <p:nvPicPr>
          <p:cNvPr id="10" name="Picture 9">
            <a:extLst>
              <a:ext uri="{FF2B5EF4-FFF2-40B4-BE49-F238E27FC236}">
                <a16:creationId xmlns:a16="http://schemas.microsoft.com/office/drawing/2014/main" id="{D8CCD1EB-E978-4EFD-B272-E98C56060224}"/>
              </a:ext>
            </a:extLst>
          </p:cNvPr>
          <p:cNvPicPr>
            <a:picLocks noChangeAspect="1"/>
          </p:cNvPicPr>
          <p:nvPr/>
        </p:nvPicPr>
        <p:blipFill>
          <a:blip r:embed="rId5"/>
          <a:stretch>
            <a:fillRect/>
          </a:stretch>
        </p:blipFill>
        <p:spPr>
          <a:xfrm>
            <a:off x="1011213" y="5656040"/>
            <a:ext cx="4552950" cy="476250"/>
          </a:xfrm>
          <a:prstGeom prst="rect">
            <a:avLst/>
          </a:prstGeom>
          <a:ln>
            <a:solidFill>
              <a:schemeClr val="accent2"/>
            </a:solidFill>
          </a:ln>
        </p:spPr>
      </p:pic>
      <p:cxnSp>
        <p:nvCxnSpPr>
          <p:cNvPr id="12" name="Straight Arrow Connector 11">
            <a:extLst>
              <a:ext uri="{FF2B5EF4-FFF2-40B4-BE49-F238E27FC236}">
                <a16:creationId xmlns:a16="http://schemas.microsoft.com/office/drawing/2014/main" id="{EEE5996F-7F71-4FF4-94D7-5A2DA259CBC5}"/>
              </a:ext>
            </a:extLst>
          </p:cNvPr>
          <p:cNvCxnSpPr>
            <a:endCxn id="10" idx="3"/>
          </p:cNvCxnSpPr>
          <p:nvPr/>
        </p:nvCxnSpPr>
        <p:spPr>
          <a:xfrm flipH="1">
            <a:off x="5564163" y="5229200"/>
            <a:ext cx="1107901" cy="664965"/>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728362"/>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63352" y="1124744"/>
            <a:ext cx="11449272" cy="5155308"/>
          </a:xfrm>
          <a:ln>
            <a:noFill/>
          </a:ln>
        </p:spPr>
        <p:txBody>
          <a:bodyPr/>
          <a:lstStyle/>
          <a:p>
            <a:pPr>
              <a:defRPr/>
            </a:pPr>
            <a:r>
              <a:rPr lang="en-US" dirty="0"/>
              <a:t>The variables declared inside an object are called properties.</a:t>
            </a:r>
          </a:p>
          <a:p>
            <a:pPr>
              <a:defRPr/>
            </a:pPr>
            <a:r>
              <a:rPr lang="en-US" dirty="0"/>
              <a:t>These properties can be values, arrays, or even other objects.</a:t>
            </a:r>
          </a:p>
          <a:p>
            <a:pPr>
              <a:defRPr/>
            </a:pPr>
            <a:r>
              <a:rPr lang="en-US" dirty="0"/>
              <a:t> </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Properties of Objects</a:t>
            </a:r>
            <a:endParaRPr lang="en-US" dirty="0">
              <a:latin typeface="Armata" panose="020B0503040500060204" pitchFamily="34" charset="0"/>
            </a:endParaRPr>
          </a:p>
        </p:txBody>
      </p:sp>
      <p:cxnSp>
        <p:nvCxnSpPr>
          <p:cNvPr id="12" name="Straight Arrow Connector 11">
            <a:extLst>
              <a:ext uri="{FF2B5EF4-FFF2-40B4-BE49-F238E27FC236}">
                <a16:creationId xmlns:a16="http://schemas.microsoft.com/office/drawing/2014/main" id="{EEE5996F-7F71-4FF4-94D7-5A2DA259CBC5}"/>
              </a:ext>
            </a:extLst>
          </p:cNvPr>
          <p:cNvCxnSpPr>
            <a:cxnSpLocks/>
          </p:cNvCxnSpPr>
          <p:nvPr/>
        </p:nvCxnSpPr>
        <p:spPr>
          <a:xfrm flipH="1">
            <a:off x="5663952" y="5161446"/>
            <a:ext cx="1107901" cy="664965"/>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04EDEA7-C341-46C0-B623-4993F4C85078}"/>
              </a:ext>
            </a:extLst>
          </p:cNvPr>
          <p:cNvPicPr>
            <a:picLocks noChangeAspect="1"/>
          </p:cNvPicPr>
          <p:nvPr/>
        </p:nvPicPr>
        <p:blipFill>
          <a:blip r:embed="rId3"/>
          <a:stretch>
            <a:fillRect/>
          </a:stretch>
        </p:blipFill>
        <p:spPr>
          <a:xfrm>
            <a:off x="263352" y="155228"/>
            <a:ext cx="11553825" cy="5114925"/>
          </a:xfrm>
          <a:prstGeom prst="rect">
            <a:avLst/>
          </a:prstGeom>
        </p:spPr>
      </p:pic>
      <p:pic>
        <p:nvPicPr>
          <p:cNvPr id="3" name="Picture 2">
            <a:extLst>
              <a:ext uri="{FF2B5EF4-FFF2-40B4-BE49-F238E27FC236}">
                <a16:creationId xmlns:a16="http://schemas.microsoft.com/office/drawing/2014/main" id="{23AB6A90-C81F-4293-9907-4FBC706AC1B2}"/>
              </a:ext>
            </a:extLst>
          </p:cNvPr>
          <p:cNvPicPr>
            <a:picLocks noChangeAspect="1"/>
          </p:cNvPicPr>
          <p:nvPr/>
        </p:nvPicPr>
        <p:blipFill>
          <a:blip r:embed="rId4"/>
          <a:stretch>
            <a:fillRect/>
          </a:stretch>
        </p:blipFill>
        <p:spPr>
          <a:xfrm>
            <a:off x="820346" y="5536868"/>
            <a:ext cx="4810125" cy="447675"/>
          </a:xfrm>
          <a:prstGeom prst="rect">
            <a:avLst/>
          </a:prstGeom>
          <a:ln>
            <a:solidFill>
              <a:schemeClr val="accent2"/>
            </a:solidFill>
          </a:ln>
        </p:spPr>
      </p:pic>
    </p:spTree>
    <p:extLst>
      <p:ext uri="{BB962C8B-B14F-4D97-AF65-F5344CB8AC3E}">
        <p14:creationId xmlns:p14="http://schemas.microsoft.com/office/powerpoint/2010/main" val="2807306131"/>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63352" y="1124744"/>
            <a:ext cx="11521280" cy="5155308"/>
          </a:xfrm>
          <a:ln>
            <a:noFill/>
          </a:ln>
        </p:spPr>
        <p:txBody>
          <a:bodyPr/>
          <a:lstStyle/>
          <a:p>
            <a:pPr>
              <a:defRPr/>
            </a:pPr>
            <a:r>
              <a:rPr lang="en-US" dirty="0"/>
              <a:t>Methods add functionality to your objects</a:t>
            </a:r>
          </a:p>
          <a:p>
            <a:pPr>
              <a:defRPr/>
            </a:pPr>
            <a:r>
              <a:rPr lang="en-US" dirty="0"/>
              <a:t>The -&gt; operator is used to call the object method in the context of your script. Had there been any variables stored in the object, the method would have been capable of accessing them for its own purposes</a:t>
            </a:r>
          </a:p>
          <a:p>
            <a:pPr>
              <a:defRPr/>
            </a:pPr>
            <a:endParaRPr lang="en-US"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Object Methods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3F6032A3-5F9B-4024-A05D-BE5E17B852CD}"/>
              </a:ext>
            </a:extLst>
          </p:cNvPr>
          <p:cNvPicPr>
            <a:picLocks noChangeAspect="1"/>
          </p:cNvPicPr>
          <p:nvPr/>
        </p:nvPicPr>
        <p:blipFill>
          <a:blip r:embed="rId3"/>
          <a:stretch>
            <a:fillRect/>
          </a:stretch>
        </p:blipFill>
        <p:spPr>
          <a:xfrm>
            <a:off x="2423592" y="2655279"/>
            <a:ext cx="5563337" cy="3438017"/>
          </a:xfrm>
          <a:prstGeom prst="rect">
            <a:avLst/>
          </a:prstGeom>
          <a:ln>
            <a:solidFill>
              <a:schemeClr val="accent2"/>
            </a:solidFill>
          </a:ln>
        </p:spPr>
      </p:pic>
    </p:spTree>
    <p:extLst>
      <p:ext uri="{BB962C8B-B14F-4D97-AF65-F5344CB8AC3E}">
        <p14:creationId xmlns:p14="http://schemas.microsoft.com/office/powerpoint/2010/main" val="4058843809"/>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Object Methods</a:t>
            </a:r>
            <a:endParaRPr lang="en-US" dirty="0">
              <a:latin typeface="Armata" panose="020B0503040500060204" pitchFamily="34" charset="0"/>
            </a:endParaRPr>
          </a:p>
        </p:txBody>
      </p:sp>
      <p:pic>
        <p:nvPicPr>
          <p:cNvPr id="6" name="Picture 5">
            <a:extLst>
              <a:ext uri="{FF2B5EF4-FFF2-40B4-BE49-F238E27FC236}">
                <a16:creationId xmlns:a16="http://schemas.microsoft.com/office/drawing/2014/main" id="{038452D3-231D-403A-8D9C-D7B660272AC4}"/>
              </a:ext>
            </a:extLst>
          </p:cNvPr>
          <p:cNvPicPr>
            <a:picLocks noChangeAspect="1"/>
          </p:cNvPicPr>
          <p:nvPr/>
        </p:nvPicPr>
        <p:blipFill>
          <a:blip r:embed="rId3"/>
          <a:stretch>
            <a:fillRect/>
          </a:stretch>
        </p:blipFill>
        <p:spPr>
          <a:xfrm>
            <a:off x="407368" y="1124744"/>
            <a:ext cx="7962900" cy="4972050"/>
          </a:xfrm>
          <a:prstGeom prst="rect">
            <a:avLst/>
          </a:prstGeom>
        </p:spPr>
      </p:pic>
      <p:sp>
        <p:nvSpPr>
          <p:cNvPr id="4" name="TextBox 3">
            <a:extLst>
              <a:ext uri="{FF2B5EF4-FFF2-40B4-BE49-F238E27FC236}">
                <a16:creationId xmlns:a16="http://schemas.microsoft.com/office/drawing/2014/main" id="{E93866C7-0030-47EF-81A1-D22571CC293D}"/>
              </a:ext>
            </a:extLst>
          </p:cNvPr>
          <p:cNvSpPr txBox="1"/>
          <p:nvPr/>
        </p:nvSpPr>
        <p:spPr>
          <a:xfrm>
            <a:off x="8256240" y="1009997"/>
            <a:ext cx="3935760" cy="5211811"/>
          </a:xfrm>
          <a:prstGeom prst="rect">
            <a:avLst/>
          </a:prstGeom>
          <a:noFill/>
        </p:spPr>
        <p:txBody>
          <a:bodyPr wrap="square" lIns="0" tIns="36576" rIns="0" bIns="0" rtlCol="0">
            <a:spAutoFit/>
          </a:bodyPr>
          <a:lstStyle/>
          <a:p>
            <a:pPr marL="285750" indent="-285750">
              <a:lnSpc>
                <a:spcPct val="150000"/>
              </a:lnSpc>
              <a:spcAft>
                <a:spcPts val="600"/>
              </a:spcAft>
              <a:buClr>
                <a:schemeClr val="accent2"/>
              </a:buClr>
              <a:buSzPct val="70000"/>
              <a:buFont typeface="Arial" pitchFamily="34" charset="0"/>
              <a:buChar char="►"/>
            </a:pPr>
            <a:r>
              <a:rPr lang="en-US" sz="2000" dirty="0">
                <a:latin typeface="Open Sans"/>
              </a:rPr>
              <a:t>The special variable $this is used to refer to the currently instantiated object</a:t>
            </a:r>
          </a:p>
          <a:p>
            <a:pPr marL="285750" indent="-285750">
              <a:lnSpc>
                <a:spcPct val="150000"/>
              </a:lnSpc>
              <a:spcAft>
                <a:spcPts val="600"/>
              </a:spcAft>
              <a:buClr>
                <a:schemeClr val="accent2"/>
              </a:buClr>
              <a:buSzPct val="70000"/>
              <a:buFont typeface="Arial" pitchFamily="34" charset="0"/>
              <a:buChar char="►"/>
            </a:pPr>
            <a:r>
              <a:rPr lang="en-US" sz="2000" dirty="0">
                <a:latin typeface="Open Sans"/>
              </a:rPr>
              <a:t>Any time an object refers to itself, you must use the $this variable.</a:t>
            </a:r>
          </a:p>
          <a:p>
            <a:pPr marL="285750" indent="-285750">
              <a:lnSpc>
                <a:spcPct val="150000"/>
              </a:lnSpc>
              <a:spcAft>
                <a:spcPts val="600"/>
              </a:spcAft>
              <a:buClr>
                <a:schemeClr val="accent2"/>
              </a:buClr>
              <a:buSzPct val="70000"/>
              <a:buFont typeface="Arial" pitchFamily="34" charset="0"/>
              <a:buChar char="►"/>
            </a:pPr>
            <a:r>
              <a:rPr lang="en-US" sz="2000" dirty="0">
                <a:latin typeface="Open Sans"/>
              </a:rPr>
              <a:t> Using the $this variable in conjunction with the -&gt; operator enables you to access any property or method in a class, within the class itself</a:t>
            </a:r>
          </a:p>
        </p:txBody>
      </p:sp>
    </p:spTree>
    <p:extLst>
      <p:ext uri="{BB962C8B-B14F-4D97-AF65-F5344CB8AC3E}">
        <p14:creationId xmlns:p14="http://schemas.microsoft.com/office/powerpoint/2010/main" val="3779529157"/>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Changing the value of a property from within a method</a:t>
            </a:r>
            <a:endParaRPr lang="en-US" dirty="0">
              <a:latin typeface="Armata" panose="020B0503040500060204" pitchFamily="34" charset="0"/>
            </a:endParaRPr>
          </a:p>
        </p:txBody>
      </p:sp>
      <p:sp>
        <p:nvSpPr>
          <p:cNvPr id="4" name="TextBox 3">
            <a:extLst>
              <a:ext uri="{FF2B5EF4-FFF2-40B4-BE49-F238E27FC236}">
                <a16:creationId xmlns:a16="http://schemas.microsoft.com/office/drawing/2014/main" id="{E93866C7-0030-47EF-81A1-D22571CC293D}"/>
              </a:ext>
            </a:extLst>
          </p:cNvPr>
          <p:cNvSpPr txBox="1"/>
          <p:nvPr/>
        </p:nvSpPr>
        <p:spPr>
          <a:xfrm>
            <a:off x="6888088" y="1009997"/>
            <a:ext cx="5303912" cy="1826526"/>
          </a:xfrm>
          <a:prstGeom prst="rect">
            <a:avLst/>
          </a:prstGeom>
          <a:noFill/>
        </p:spPr>
        <p:txBody>
          <a:bodyPr wrap="square" lIns="0" tIns="36576" rIns="0" bIns="0" rtlCol="0">
            <a:spAutoFit/>
          </a:bodyPr>
          <a:lstStyle/>
          <a:p>
            <a:pPr marL="285750" indent="-285750">
              <a:lnSpc>
                <a:spcPct val="150000"/>
              </a:lnSpc>
              <a:spcAft>
                <a:spcPts val="600"/>
              </a:spcAft>
              <a:buClr>
                <a:schemeClr val="accent2"/>
              </a:buClr>
              <a:buSzPct val="70000"/>
              <a:buFont typeface="Arial" pitchFamily="34" charset="0"/>
              <a:buChar char="►"/>
            </a:pPr>
            <a:r>
              <a:rPr lang="en-US" sz="2000" dirty="0"/>
              <a:t>when the </a:t>
            </a:r>
            <a:r>
              <a:rPr lang="en-US" sz="2000" dirty="0" err="1"/>
              <a:t>sayHello</a:t>
            </a:r>
            <a:r>
              <a:rPr lang="en-US" sz="2000" dirty="0"/>
              <a:t>() function is called and it looks for $this-&gt;name, it uses Julie, which is the new value that was just set by the </a:t>
            </a:r>
            <a:r>
              <a:rPr lang="en-US" sz="2000" dirty="0" err="1"/>
              <a:t>setName</a:t>
            </a:r>
            <a:r>
              <a:rPr lang="en-US" sz="2000" dirty="0"/>
              <a:t>() function. </a:t>
            </a:r>
            <a:endParaRPr lang="en-US" sz="2000" dirty="0">
              <a:latin typeface="Open Sans"/>
            </a:endParaRPr>
          </a:p>
        </p:txBody>
      </p:sp>
      <p:pic>
        <p:nvPicPr>
          <p:cNvPr id="2" name="Picture 1">
            <a:extLst>
              <a:ext uri="{FF2B5EF4-FFF2-40B4-BE49-F238E27FC236}">
                <a16:creationId xmlns:a16="http://schemas.microsoft.com/office/drawing/2014/main" id="{01439020-F229-483A-AC8E-FD517FE26321}"/>
              </a:ext>
            </a:extLst>
          </p:cNvPr>
          <p:cNvPicPr>
            <a:picLocks noChangeAspect="1"/>
          </p:cNvPicPr>
          <p:nvPr/>
        </p:nvPicPr>
        <p:blipFill>
          <a:blip r:embed="rId3"/>
          <a:stretch>
            <a:fillRect/>
          </a:stretch>
        </p:blipFill>
        <p:spPr>
          <a:xfrm>
            <a:off x="684562" y="1124743"/>
            <a:ext cx="6131518" cy="5070877"/>
          </a:xfrm>
          <a:prstGeom prst="rect">
            <a:avLst/>
          </a:prstGeom>
        </p:spPr>
      </p:pic>
    </p:spTree>
    <p:extLst>
      <p:ext uri="{BB962C8B-B14F-4D97-AF65-F5344CB8AC3E}">
        <p14:creationId xmlns:p14="http://schemas.microsoft.com/office/powerpoint/2010/main" val="3247605807"/>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16816" y="1121790"/>
            <a:ext cx="6527256" cy="5158262"/>
          </a:xfrm>
          <a:ln>
            <a:noFill/>
          </a:ln>
        </p:spPr>
        <p:txBody>
          <a:bodyPr/>
          <a:lstStyle/>
          <a:p>
            <a:pPr>
              <a:defRPr/>
            </a:pPr>
            <a:r>
              <a:rPr lang="en-US" dirty="0"/>
              <a:t>A constructor is a function that lives within a class and, given the same name as the class, is automatically called when a new instance of the class is created using new </a:t>
            </a:r>
            <a:r>
              <a:rPr lang="en-US" dirty="0" err="1"/>
              <a:t>classname</a:t>
            </a:r>
            <a:r>
              <a:rPr lang="en-US" dirty="0"/>
              <a:t>.</a:t>
            </a:r>
          </a:p>
          <a:p>
            <a:pPr>
              <a:defRPr/>
            </a:pPr>
            <a:r>
              <a:rPr lang="en-US" dirty="0"/>
              <a:t> Using constructors enables you to provide arguments to your class, which will then be processed immediately when the class is called.</a:t>
            </a:r>
          </a:p>
          <a:p>
            <a:pPr>
              <a:defRPr/>
            </a:pPr>
            <a:r>
              <a:rPr lang="en-US" dirty="0"/>
              <a:t>A constructor allows you to initialize an object's properties upon creation of the </a:t>
            </a:r>
            <a:r>
              <a:rPr lang="en-US" dirty="0" err="1"/>
              <a:t>object.</a:t>
            </a:r>
            <a:r>
              <a:rPr lang="en-US" dirty="0" err="1">
                <a:highlight>
                  <a:srgbClr val="FFFF00"/>
                </a:highlight>
              </a:rPr>
              <a:t>If</a:t>
            </a:r>
            <a:r>
              <a:rPr lang="en-US" dirty="0">
                <a:highlight>
                  <a:srgbClr val="FFFF00"/>
                </a:highlight>
              </a:rPr>
              <a:t> you create a __construct() function, PHP will automatically call this function when you create an object from a class</a:t>
            </a:r>
            <a:r>
              <a:rPr lang="en-US" dirty="0"/>
              <a:t>.</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Constructors</a:t>
            </a:r>
            <a:endParaRPr lang="en-US" dirty="0">
              <a:latin typeface="Armata" panose="020B0503040500060204" pitchFamily="34" charset="0"/>
            </a:endParaRPr>
          </a:p>
        </p:txBody>
      </p:sp>
      <p:pic>
        <p:nvPicPr>
          <p:cNvPr id="6" name="Picture 5">
            <a:extLst>
              <a:ext uri="{FF2B5EF4-FFF2-40B4-BE49-F238E27FC236}">
                <a16:creationId xmlns:a16="http://schemas.microsoft.com/office/drawing/2014/main" id="{114B6B80-5E31-461C-BFA6-5CAC74431E08}"/>
              </a:ext>
            </a:extLst>
          </p:cNvPr>
          <p:cNvPicPr>
            <a:picLocks noChangeAspect="1"/>
          </p:cNvPicPr>
          <p:nvPr/>
        </p:nvPicPr>
        <p:blipFill>
          <a:blip r:embed="rId3"/>
          <a:stretch>
            <a:fillRect/>
          </a:stretch>
        </p:blipFill>
        <p:spPr>
          <a:xfrm>
            <a:off x="6769827" y="1073628"/>
            <a:ext cx="5429250" cy="4191000"/>
          </a:xfrm>
          <a:prstGeom prst="rect">
            <a:avLst/>
          </a:prstGeom>
        </p:spPr>
      </p:pic>
    </p:spTree>
    <p:extLst>
      <p:ext uri="{BB962C8B-B14F-4D97-AF65-F5344CB8AC3E}">
        <p14:creationId xmlns:p14="http://schemas.microsoft.com/office/powerpoint/2010/main" val="3887895206"/>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Object Inheritance</a:t>
            </a:r>
            <a:endParaRPr lang="en-US" dirty="0">
              <a:latin typeface="Armata" panose="020B0503040500060204" pitchFamily="34" charset="0"/>
            </a:endParaRPr>
          </a:p>
        </p:txBody>
      </p:sp>
      <p:sp>
        <p:nvSpPr>
          <p:cNvPr id="6" name="Rectangle 3">
            <a:extLst>
              <a:ext uri="{FF2B5EF4-FFF2-40B4-BE49-F238E27FC236}">
                <a16:creationId xmlns:a16="http://schemas.microsoft.com/office/drawing/2014/main" id="{F9ED8EB1-D0E3-465F-A1C1-A330EE7B9984}"/>
              </a:ext>
            </a:extLst>
          </p:cNvPr>
          <p:cNvSpPr txBox="1">
            <a:spLocks noChangeArrowheads="1"/>
          </p:cNvSpPr>
          <p:nvPr/>
        </p:nvSpPr>
        <p:spPr>
          <a:xfrm>
            <a:off x="216816" y="1121790"/>
            <a:ext cx="4583040" cy="5158262"/>
          </a:xfrm>
          <a:prstGeom prst="rect">
            <a:avLst/>
          </a:prstGeom>
          <a:ln>
            <a:no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dirty="0"/>
              <a:t>One class inherits functionality from its parent class</a:t>
            </a:r>
          </a:p>
        </p:txBody>
      </p:sp>
      <p:pic>
        <p:nvPicPr>
          <p:cNvPr id="4" name="Picture 3">
            <a:extLst>
              <a:ext uri="{FF2B5EF4-FFF2-40B4-BE49-F238E27FC236}">
                <a16:creationId xmlns:a16="http://schemas.microsoft.com/office/drawing/2014/main" id="{2E4E59D5-9445-4066-9B1E-DFCEA02DD655}"/>
              </a:ext>
            </a:extLst>
          </p:cNvPr>
          <p:cNvPicPr>
            <a:picLocks noChangeAspect="1"/>
          </p:cNvPicPr>
          <p:nvPr/>
        </p:nvPicPr>
        <p:blipFill>
          <a:blip r:embed="rId3"/>
          <a:stretch>
            <a:fillRect/>
          </a:stretch>
        </p:blipFill>
        <p:spPr>
          <a:xfrm>
            <a:off x="911424" y="2492896"/>
            <a:ext cx="3686175" cy="1457325"/>
          </a:xfrm>
          <a:prstGeom prst="rect">
            <a:avLst/>
          </a:prstGeom>
          <a:ln>
            <a:solidFill>
              <a:schemeClr val="accent2"/>
            </a:solidFill>
          </a:ln>
        </p:spPr>
      </p:pic>
      <p:pic>
        <p:nvPicPr>
          <p:cNvPr id="15" name="Picture 14">
            <a:extLst>
              <a:ext uri="{FF2B5EF4-FFF2-40B4-BE49-F238E27FC236}">
                <a16:creationId xmlns:a16="http://schemas.microsoft.com/office/drawing/2014/main" id="{F4AF3736-00E4-417D-BBAB-82A3E75FA6C5}"/>
              </a:ext>
            </a:extLst>
          </p:cNvPr>
          <p:cNvPicPr>
            <a:picLocks noChangeAspect="1"/>
          </p:cNvPicPr>
          <p:nvPr/>
        </p:nvPicPr>
        <p:blipFill>
          <a:blip r:embed="rId4"/>
          <a:stretch>
            <a:fillRect/>
          </a:stretch>
        </p:blipFill>
        <p:spPr>
          <a:xfrm>
            <a:off x="4871864" y="89695"/>
            <a:ext cx="6876788" cy="6678610"/>
          </a:xfrm>
          <a:prstGeom prst="rect">
            <a:avLst/>
          </a:prstGeom>
        </p:spPr>
      </p:pic>
    </p:spTree>
    <p:extLst>
      <p:ext uri="{BB962C8B-B14F-4D97-AF65-F5344CB8AC3E}">
        <p14:creationId xmlns:p14="http://schemas.microsoft.com/office/powerpoint/2010/main" val="3778037577"/>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Method 0verriding</a:t>
            </a:r>
            <a:endParaRPr lang="en-US" dirty="0">
              <a:latin typeface="Armata" panose="020B0503040500060204" pitchFamily="34" charset="0"/>
            </a:endParaRPr>
          </a:p>
        </p:txBody>
      </p:sp>
      <p:sp>
        <p:nvSpPr>
          <p:cNvPr id="6" name="Rectangle 3">
            <a:extLst>
              <a:ext uri="{FF2B5EF4-FFF2-40B4-BE49-F238E27FC236}">
                <a16:creationId xmlns:a16="http://schemas.microsoft.com/office/drawing/2014/main" id="{F9ED8EB1-D0E3-465F-A1C1-A330EE7B9984}"/>
              </a:ext>
            </a:extLst>
          </p:cNvPr>
          <p:cNvSpPr txBox="1">
            <a:spLocks noChangeArrowheads="1"/>
          </p:cNvSpPr>
          <p:nvPr/>
        </p:nvSpPr>
        <p:spPr>
          <a:xfrm>
            <a:off x="216816" y="1121790"/>
            <a:ext cx="4583040" cy="5158262"/>
          </a:xfrm>
          <a:prstGeom prst="rect">
            <a:avLst/>
          </a:prstGeom>
          <a:ln>
            <a:noFill/>
          </a:ln>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dirty="0"/>
              <a:t>a child class can override the methods of the parent class</a:t>
            </a:r>
          </a:p>
        </p:txBody>
      </p:sp>
      <p:pic>
        <p:nvPicPr>
          <p:cNvPr id="2" name="Picture 1">
            <a:extLst>
              <a:ext uri="{FF2B5EF4-FFF2-40B4-BE49-F238E27FC236}">
                <a16:creationId xmlns:a16="http://schemas.microsoft.com/office/drawing/2014/main" id="{AE39C66B-6F83-40B7-9E33-4450221CE690}"/>
              </a:ext>
            </a:extLst>
          </p:cNvPr>
          <p:cNvPicPr>
            <a:picLocks noChangeAspect="1"/>
          </p:cNvPicPr>
          <p:nvPr/>
        </p:nvPicPr>
        <p:blipFill>
          <a:blip r:embed="rId3"/>
          <a:stretch>
            <a:fillRect/>
          </a:stretch>
        </p:blipFill>
        <p:spPr>
          <a:xfrm>
            <a:off x="5461805" y="240233"/>
            <a:ext cx="6010275" cy="5962650"/>
          </a:xfrm>
          <a:prstGeom prst="rect">
            <a:avLst/>
          </a:prstGeom>
        </p:spPr>
      </p:pic>
      <p:pic>
        <p:nvPicPr>
          <p:cNvPr id="3" name="Picture 2">
            <a:extLst>
              <a:ext uri="{FF2B5EF4-FFF2-40B4-BE49-F238E27FC236}">
                <a16:creationId xmlns:a16="http://schemas.microsoft.com/office/drawing/2014/main" id="{C79BD055-10EA-4119-9BD8-45CF141FF308}"/>
              </a:ext>
            </a:extLst>
          </p:cNvPr>
          <p:cNvPicPr>
            <a:picLocks noChangeAspect="1"/>
          </p:cNvPicPr>
          <p:nvPr/>
        </p:nvPicPr>
        <p:blipFill>
          <a:blip r:embed="rId4"/>
          <a:stretch>
            <a:fillRect/>
          </a:stretch>
        </p:blipFill>
        <p:spPr>
          <a:xfrm>
            <a:off x="719920" y="2564904"/>
            <a:ext cx="3714750" cy="1524000"/>
          </a:xfrm>
          <a:prstGeom prst="rect">
            <a:avLst/>
          </a:prstGeom>
        </p:spPr>
      </p:pic>
    </p:spTree>
    <p:extLst>
      <p:ext uri="{BB962C8B-B14F-4D97-AF65-F5344CB8AC3E}">
        <p14:creationId xmlns:p14="http://schemas.microsoft.com/office/powerpoint/2010/main" val="755448059"/>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String Comparisons</a:t>
            </a:r>
          </a:p>
        </p:txBody>
      </p:sp>
    </p:spTree>
    <p:extLst>
      <p:ext uri="{BB962C8B-B14F-4D97-AF65-F5344CB8AC3E}">
        <p14:creationId xmlns:p14="http://schemas.microsoft.com/office/powerpoint/2010/main" val="4278805732"/>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16816" y="1121790"/>
            <a:ext cx="6455248" cy="5158262"/>
          </a:xfrm>
          <a:ln>
            <a:noFill/>
          </a:ln>
        </p:spPr>
        <p:txBody>
          <a:bodyPr/>
          <a:lstStyle/>
          <a:p>
            <a:pPr algn="just">
              <a:defRPr/>
            </a:pPr>
            <a:r>
              <a:rPr lang="en-US" dirty="0"/>
              <a:t>Many string-processing tasks can be accomplished by using the equality and comparison operators,</a:t>
            </a:r>
          </a:p>
          <a:p>
            <a:pPr algn="just">
              <a:defRPr/>
            </a:pPr>
            <a:r>
              <a:rPr lang="en-US" dirty="0">
                <a:highlight>
                  <a:srgbClr val="FFFF00"/>
                </a:highlight>
              </a:rPr>
              <a:t>function </a:t>
            </a:r>
            <a:r>
              <a:rPr lang="en-US" dirty="0" err="1">
                <a:highlight>
                  <a:srgbClr val="FFFF00"/>
                </a:highlight>
              </a:rPr>
              <a:t>strcmp</a:t>
            </a:r>
            <a:r>
              <a:rPr lang="en-US" dirty="0">
                <a:highlight>
                  <a:srgbClr val="FFFF00"/>
                </a:highlight>
              </a:rPr>
              <a:t> to compare two strings</a:t>
            </a:r>
            <a:r>
              <a:rPr lang="en-US" dirty="0"/>
              <a:t>. </a:t>
            </a:r>
          </a:p>
          <a:p>
            <a:pPr algn="just">
              <a:defRPr/>
            </a:pPr>
            <a:r>
              <a:rPr lang="en-US" dirty="0"/>
              <a:t>The function returns -1 if the first string alphabetically precedes the second string,</a:t>
            </a:r>
          </a:p>
          <a:p>
            <a:pPr algn="just">
              <a:defRPr/>
            </a:pPr>
            <a:r>
              <a:rPr lang="en-US" dirty="0"/>
              <a:t> 0 if the strings are equal, and </a:t>
            </a:r>
          </a:p>
          <a:p>
            <a:pPr algn="just">
              <a:defRPr/>
            </a:pPr>
            <a:r>
              <a:rPr lang="en-US" dirty="0"/>
              <a:t>1 if the first string alphabetically follows the second.</a:t>
            </a:r>
          </a:p>
          <a:p>
            <a:pPr algn="just">
              <a:defRPr/>
            </a:pPr>
            <a:r>
              <a:rPr lang="en-US" dirty="0">
                <a:highlight>
                  <a:srgbClr val="FFFF00"/>
                </a:highlight>
              </a:rPr>
              <a:t>Relational operators (==, !=, &lt;=, &gt; and &gt;=) can also be used to compare strings.</a:t>
            </a:r>
          </a:p>
          <a:p>
            <a:pPr>
              <a:defRPr/>
            </a:pPr>
            <a:endParaRPr lang="en-US"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latin typeface="Armata" panose="020B0503040500060204" pitchFamily="34" charset="0"/>
              </a:rPr>
              <a:t>String Comparisons</a:t>
            </a:r>
          </a:p>
        </p:txBody>
      </p:sp>
      <p:pic>
        <p:nvPicPr>
          <p:cNvPr id="2" name="Picture 1">
            <a:extLst>
              <a:ext uri="{FF2B5EF4-FFF2-40B4-BE49-F238E27FC236}">
                <a16:creationId xmlns:a16="http://schemas.microsoft.com/office/drawing/2014/main" id="{A7CB7C36-9715-4CF8-812C-A998F623F1B4}"/>
              </a:ext>
            </a:extLst>
          </p:cNvPr>
          <p:cNvPicPr>
            <a:picLocks noChangeAspect="1"/>
          </p:cNvPicPr>
          <p:nvPr/>
        </p:nvPicPr>
        <p:blipFill>
          <a:blip r:embed="rId3"/>
          <a:stretch>
            <a:fillRect/>
          </a:stretch>
        </p:blipFill>
        <p:spPr>
          <a:xfrm>
            <a:off x="7032104" y="2060848"/>
            <a:ext cx="4786314" cy="2404148"/>
          </a:xfrm>
          <a:prstGeom prst="rect">
            <a:avLst/>
          </a:prstGeom>
          <a:ln>
            <a:solidFill>
              <a:schemeClr val="accent2"/>
            </a:solidFill>
          </a:ln>
        </p:spPr>
      </p:pic>
    </p:spTree>
    <p:extLst>
      <p:ext uri="{BB962C8B-B14F-4D97-AF65-F5344CB8AC3E}">
        <p14:creationId xmlns:p14="http://schemas.microsoft.com/office/powerpoint/2010/main" val="3712339268"/>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latin typeface="Armata" panose="020B0503040500060204" pitchFamily="34" charset="0"/>
              </a:rPr>
              <a:t>String Comparisons-using </a:t>
            </a:r>
            <a:r>
              <a:rPr lang="en-US" dirty="0" err="1">
                <a:latin typeface="Armata" panose="020B0503040500060204" pitchFamily="34" charset="0"/>
              </a:rPr>
              <a:t>strcmp</a:t>
            </a:r>
            <a:r>
              <a:rPr lang="en-US" dirty="0">
                <a:latin typeface="Armata" panose="020B0503040500060204" pitchFamily="34" charset="0"/>
              </a:rPr>
              <a:t> function</a:t>
            </a:r>
          </a:p>
        </p:txBody>
      </p:sp>
      <p:pic>
        <p:nvPicPr>
          <p:cNvPr id="2" name="Picture 1">
            <a:extLst>
              <a:ext uri="{FF2B5EF4-FFF2-40B4-BE49-F238E27FC236}">
                <a16:creationId xmlns:a16="http://schemas.microsoft.com/office/drawing/2014/main" id="{5C945AF0-D300-487F-9BF1-644667B908F2}"/>
              </a:ext>
            </a:extLst>
          </p:cNvPr>
          <p:cNvPicPr>
            <a:picLocks noChangeAspect="1"/>
          </p:cNvPicPr>
          <p:nvPr/>
        </p:nvPicPr>
        <p:blipFill>
          <a:blip r:embed="rId3"/>
          <a:stretch>
            <a:fillRect/>
          </a:stretch>
        </p:blipFill>
        <p:spPr>
          <a:xfrm>
            <a:off x="479376" y="1340768"/>
            <a:ext cx="7451298" cy="3960440"/>
          </a:xfrm>
          <a:prstGeom prst="rect">
            <a:avLst/>
          </a:prstGeom>
        </p:spPr>
      </p:pic>
      <p:pic>
        <p:nvPicPr>
          <p:cNvPr id="3" name="Picture 2">
            <a:extLst>
              <a:ext uri="{FF2B5EF4-FFF2-40B4-BE49-F238E27FC236}">
                <a16:creationId xmlns:a16="http://schemas.microsoft.com/office/drawing/2014/main" id="{7FE05B01-B7EE-4A9F-8E6F-515B8436D187}"/>
              </a:ext>
            </a:extLst>
          </p:cNvPr>
          <p:cNvPicPr>
            <a:picLocks noChangeAspect="1"/>
          </p:cNvPicPr>
          <p:nvPr/>
        </p:nvPicPr>
        <p:blipFill>
          <a:blip r:embed="rId4"/>
          <a:stretch>
            <a:fillRect/>
          </a:stretch>
        </p:blipFill>
        <p:spPr>
          <a:xfrm>
            <a:off x="8328248" y="4941168"/>
            <a:ext cx="3528366" cy="1150720"/>
          </a:xfrm>
          <a:prstGeom prst="rect">
            <a:avLst/>
          </a:prstGeom>
          <a:ln>
            <a:solidFill>
              <a:schemeClr val="accent2"/>
            </a:solidFill>
          </a:ln>
        </p:spPr>
      </p:pic>
      <p:cxnSp>
        <p:nvCxnSpPr>
          <p:cNvPr id="8" name="Straight Arrow Connector 7">
            <a:extLst>
              <a:ext uri="{FF2B5EF4-FFF2-40B4-BE49-F238E27FC236}">
                <a16:creationId xmlns:a16="http://schemas.microsoft.com/office/drawing/2014/main" id="{56B39EDF-8787-4E35-8447-3B189E21D2AE}"/>
              </a:ext>
            </a:extLst>
          </p:cNvPr>
          <p:cNvCxnSpPr/>
          <p:nvPr/>
        </p:nvCxnSpPr>
        <p:spPr>
          <a:xfrm>
            <a:off x="8040216" y="3320988"/>
            <a:ext cx="648072" cy="1476164"/>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09584"/>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latin typeface="Armata" panose="020B0503040500060204" pitchFamily="34" charset="0"/>
              </a:rPr>
              <a:t>String Comparisons-using Relational operators</a:t>
            </a:r>
          </a:p>
        </p:txBody>
      </p:sp>
      <p:cxnSp>
        <p:nvCxnSpPr>
          <p:cNvPr id="8" name="Straight Arrow Connector 7">
            <a:extLst>
              <a:ext uri="{FF2B5EF4-FFF2-40B4-BE49-F238E27FC236}">
                <a16:creationId xmlns:a16="http://schemas.microsoft.com/office/drawing/2014/main" id="{56B39EDF-8787-4E35-8447-3B189E21D2AE}"/>
              </a:ext>
            </a:extLst>
          </p:cNvPr>
          <p:cNvCxnSpPr/>
          <p:nvPr/>
        </p:nvCxnSpPr>
        <p:spPr>
          <a:xfrm>
            <a:off x="8040216" y="3320988"/>
            <a:ext cx="648072" cy="1476164"/>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76E7E1-6070-4C98-BD40-D4DA0034F6DB}"/>
              </a:ext>
            </a:extLst>
          </p:cNvPr>
          <p:cNvPicPr>
            <a:picLocks noChangeAspect="1"/>
          </p:cNvPicPr>
          <p:nvPr/>
        </p:nvPicPr>
        <p:blipFill>
          <a:blip r:embed="rId3"/>
          <a:stretch>
            <a:fillRect/>
          </a:stretch>
        </p:blipFill>
        <p:spPr>
          <a:xfrm>
            <a:off x="8040216" y="4797152"/>
            <a:ext cx="4017719" cy="686172"/>
          </a:xfrm>
          <a:prstGeom prst="rect">
            <a:avLst/>
          </a:prstGeom>
          <a:ln>
            <a:solidFill>
              <a:schemeClr val="accent2"/>
            </a:solidFill>
          </a:ln>
        </p:spPr>
      </p:pic>
      <p:pic>
        <p:nvPicPr>
          <p:cNvPr id="7" name="Picture 6">
            <a:extLst>
              <a:ext uri="{FF2B5EF4-FFF2-40B4-BE49-F238E27FC236}">
                <a16:creationId xmlns:a16="http://schemas.microsoft.com/office/drawing/2014/main" id="{9D0E4C94-3D99-4F74-8469-3E5ECC8223AF}"/>
              </a:ext>
            </a:extLst>
          </p:cNvPr>
          <p:cNvPicPr>
            <a:picLocks noChangeAspect="1"/>
          </p:cNvPicPr>
          <p:nvPr/>
        </p:nvPicPr>
        <p:blipFill>
          <a:blip r:embed="rId4"/>
          <a:stretch>
            <a:fillRect/>
          </a:stretch>
        </p:blipFill>
        <p:spPr>
          <a:xfrm>
            <a:off x="684562" y="1340768"/>
            <a:ext cx="7154882" cy="4032448"/>
          </a:xfrm>
          <a:prstGeom prst="rect">
            <a:avLst/>
          </a:prstGeom>
        </p:spPr>
      </p:pic>
    </p:spTree>
    <p:extLst>
      <p:ext uri="{BB962C8B-B14F-4D97-AF65-F5344CB8AC3E}">
        <p14:creationId xmlns:p14="http://schemas.microsoft.com/office/powerpoint/2010/main" val="2885423966"/>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String Processing with </a:t>
            </a:r>
            <a:r>
              <a:rPr lang="en-US"/>
              <a:t>Regular Expression</a:t>
            </a:r>
            <a:endParaRPr lang="en-US" dirty="0"/>
          </a:p>
        </p:txBody>
      </p:sp>
    </p:spTree>
    <p:extLst>
      <p:ext uri="{BB962C8B-B14F-4D97-AF65-F5344CB8AC3E}">
        <p14:creationId xmlns:p14="http://schemas.microsoft.com/office/powerpoint/2010/main" val="3427595447"/>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16816" y="1121790"/>
            <a:ext cx="11135768" cy="5158262"/>
          </a:xfrm>
          <a:ln>
            <a:noFill/>
          </a:ln>
        </p:spPr>
        <p:txBody>
          <a:bodyPr/>
          <a:lstStyle/>
          <a:p>
            <a:pPr algn="just">
              <a:defRPr/>
            </a:pPr>
            <a:r>
              <a:rPr lang="en-US" sz="2200" dirty="0"/>
              <a:t>PHP can process text easily and efficiently, enabling straightforward searching, substitution, extraction and concatenation of strings. </a:t>
            </a:r>
          </a:p>
          <a:p>
            <a:pPr algn="just">
              <a:defRPr/>
            </a:pPr>
            <a:r>
              <a:rPr lang="en-US" sz="2200" dirty="0">
                <a:highlight>
                  <a:srgbClr val="FFFF00"/>
                </a:highlight>
              </a:rPr>
              <a:t>Text manipulation is usually done with regular expressions</a:t>
            </a:r>
            <a:r>
              <a:rPr lang="en-US" sz="2200" dirty="0"/>
              <a:t>—a series of characters that serve as </a:t>
            </a:r>
            <a:r>
              <a:rPr lang="en-US" sz="2200" dirty="0">
                <a:highlight>
                  <a:srgbClr val="FFFF00"/>
                </a:highlight>
              </a:rPr>
              <a:t>pattern-matching templates </a:t>
            </a:r>
            <a:r>
              <a:rPr lang="en-US" sz="2200" dirty="0"/>
              <a:t>(or search criteria) in strings, text files and databases.</a:t>
            </a:r>
          </a:p>
          <a:p>
            <a:pPr algn="just">
              <a:defRPr/>
            </a:pPr>
            <a:r>
              <a:rPr lang="en-US" sz="2200" dirty="0"/>
              <a:t>A regular expression is a sequence of characters that forms a search pattern. When you search for data in a text, you can use this search pattern to describe what you are searching for. </a:t>
            </a:r>
          </a:p>
          <a:p>
            <a:pPr>
              <a:defRPr/>
            </a:pPr>
            <a:r>
              <a:rPr lang="en-US" sz="2200" dirty="0">
                <a:highlight>
                  <a:srgbClr val="FFFF00"/>
                </a:highlight>
              </a:rPr>
              <a:t>A </a:t>
            </a:r>
            <a:r>
              <a:rPr lang="en-US" sz="2200" i="1" dirty="0">
                <a:highlight>
                  <a:srgbClr val="FFFF00"/>
                </a:highlight>
              </a:rPr>
              <a:t>pattern</a:t>
            </a:r>
            <a:r>
              <a:rPr lang="en-US" sz="2200" dirty="0">
                <a:highlight>
                  <a:srgbClr val="FFFF00"/>
                </a:highlight>
              </a:rPr>
              <a:t> is a sequence of characters to be searched for in a character string</a:t>
            </a:r>
            <a:r>
              <a:rPr lang="en-US" sz="2200" dirty="0"/>
              <a:t>.</a:t>
            </a:r>
          </a:p>
          <a:p>
            <a:pPr>
              <a:defRPr/>
            </a:pPr>
            <a:r>
              <a:rPr lang="en-US" sz="2200" dirty="0"/>
              <a:t> In PHP, patterns are normally enclosed in slash characters.</a:t>
            </a:r>
          </a:p>
          <a:p>
            <a:pPr marL="0" indent="0">
              <a:buNone/>
              <a:defRPr/>
            </a:pPr>
            <a:r>
              <a:rPr lang="en-US" sz="2200" dirty="0"/>
              <a:t>	 </a:t>
            </a:r>
            <a:r>
              <a:rPr lang="en-US" sz="2200" dirty="0">
                <a:solidFill>
                  <a:srgbClr val="FF0000"/>
                </a:solidFill>
              </a:rPr>
              <a:t>/def/   </a:t>
            </a:r>
            <a:r>
              <a:rPr lang="en-US" sz="2200" dirty="0">
                <a:solidFill>
                  <a:srgbClr val="FF0000"/>
                </a:solidFill>
                <a:sym typeface="Wingdings" panose="05000000000000000000" pitchFamily="2" charset="2"/>
              </a:rPr>
              <a:t> </a:t>
            </a:r>
            <a:r>
              <a:rPr lang="en-US" sz="2200" dirty="0"/>
              <a:t>This represents the pattern def.</a:t>
            </a:r>
          </a:p>
          <a:p>
            <a:pPr>
              <a:defRPr/>
            </a:pPr>
            <a:r>
              <a:rPr lang="en-US" sz="2200" dirty="0"/>
              <a:t>If the pattern is found, a match occurs. For example, if you search the string</a:t>
            </a:r>
            <a:r>
              <a:rPr lang="en-US" sz="2200" dirty="0">
                <a:solidFill>
                  <a:srgbClr val="FF0000"/>
                </a:solidFill>
              </a:rPr>
              <a:t> redefine</a:t>
            </a:r>
            <a:r>
              <a:rPr lang="en-US" sz="2200" dirty="0"/>
              <a:t> for the pattern /def/, the pattern matches the third, fourth, and fifth characters</a:t>
            </a:r>
          </a:p>
          <a:p>
            <a:pPr algn="just">
              <a:defRPr/>
            </a:pPr>
            <a:endParaRPr lang="en-US"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spTree>
    <p:extLst>
      <p:ext uri="{BB962C8B-B14F-4D97-AF65-F5344CB8AC3E}">
        <p14:creationId xmlns:p14="http://schemas.microsoft.com/office/powerpoint/2010/main" val="17835261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4562" y="1196752"/>
            <a:ext cx="10668022" cy="5083300"/>
          </a:xfrm>
          <a:ln>
            <a:noFill/>
          </a:ln>
        </p:spPr>
        <p:txBody>
          <a:bodyPr/>
          <a:lstStyle/>
          <a:p>
            <a:r>
              <a:rPr lang="en-US" dirty="0"/>
              <a:t>Regular expressions (regex) in PHP are used for pattern matching, allowing you to search, manipulate, and validate strings based on specific patterns.</a:t>
            </a:r>
          </a:p>
          <a:p>
            <a:r>
              <a:rPr lang="en-US" dirty="0"/>
              <a:t>They are particularly useful for:</a:t>
            </a:r>
          </a:p>
          <a:p>
            <a:pPr lvl="1"/>
            <a:r>
              <a:rPr lang="en-US" sz="2200" b="1" dirty="0"/>
              <a:t>Validation</a:t>
            </a:r>
            <a:r>
              <a:rPr lang="en-US" sz="2200" dirty="0"/>
              <a:t>: Ensuring input data (like emails, phone numbers, etc.) follows a predefined format.</a:t>
            </a:r>
          </a:p>
          <a:p>
            <a:pPr lvl="1"/>
            <a:r>
              <a:rPr lang="en-US" sz="2200" b="1" dirty="0"/>
              <a:t>Search and Replace</a:t>
            </a:r>
            <a:r>
              <a:rPr lang="en-US" sz="2200" dirty="0"/>
              <a:t>: Finding parts of strings that match a pattern and replacing them.</a:t>
            </a:r>
          </a:p>
          <a:p>
            <a:pPr lvl="1"/>
            <a:r>
              <a:rPr lang="en-US" sz="2200" b="1" dirty="0"/>
              <a:t>String Parsing</a:t>
            </a:r>
            <a:r>
              <a:rPr lang="en-US" sz="2200" dirty="0"/>
              <a:t>: Extracting specific substrings based on patterns, such as pulling URLs from a block of text.</a:t>
            </a:r>
          </a:p>
          <a:p>
            <a:pPr algn="just">
              <a:defRPr/>
            </a:pPr>
            <a:r>
              <a:rPr lang="en-US" dirty="0"/>
              <a:t>A regular expression in PHP consists of three components: </a:t>
            </a:r>
          </a:p>
          <a:p>
            <a:pPr lvl="1" algn="just">
              <a:defRPr/>
            </a:pPr>
            <a:r>
              <a:rPr lang="en-US" dirty="0"/>
              <a:t>delimiters (e.g., /pattern/ or #pattern#), </a:t>
            </a:r>
          </a:p>
          <a:p>
            <a:pPr lvl="1" algn="just">
              <a:defRPr/>
            </a:pPr>
            <a:r>
              <a:rPr lang="en-US" dirty="0"/>
              <a:t>the pattern (defining the search criteria, such as /\d+/ for digits), and</a:t>
            </a:r>
          </a:p>
          <a:p>
            <a:pPr lvl="1" algn="just">
              <a:defRPr/>
            </a:pPr>
            <a:r>
              <a:rPr lang="en-US" dirty="0"/>
              <a:t> optional modifiers (like </a:t>
            </a:r>
            <a:r>
              <a:rPr lang="en-US" dirty="0" err="1"/>
              <a:t>i</a:t>
            </a:r>
            <a:r>
              <a:rPr lang="en-US" dirty="0"/>
              <a:t> for case-insensitive matching, m for multiline)</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Why is regular expressions used in PHP? What are the 3 components of a regular expression?</a:t>
            </a:r>
            <a:endParaRPr lang="en-US" dirty="0">
              <a:latin typeface="Armata" panose="020B0503040500060204" pitchFamily="34" charset="0"/>
            </a:endParaRPr>
          </a:p>
        </p:txBody>
      </p:sp>
    </p:spTree>
    <p:extLst>
      <p:ext uri="{BB962C8B-B14F-4D97-AF65-F5344CB8AC3E}">
        <p14:creationId xmlns:p14="http://schemas.microsoft.com/office/powerpoint/2010/main" val="28582374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 calcmode="lin" valueType="num">
                                      <p:cBhvr additive="base">
                                        <p:cTn id="17"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459">
                                            <p:txEl>
                                              <p:pRg st="3" end="3"/>
                                            </p:txEl>
                                          </p:spTgt>
                                        </p:tgtEl>
                                        <p:attrNameLst>
                                          <p:attrName>style.visibility</p:attrName>
                                        </p:attrNameLst>
                                      </p:cBhvr>
                                      <p:to>
                                        <p:strVal val="visible"/>
                                      </p:to>
                                    </p:set>
                                    <p:anim calcmode="lin" valueType="num">
                                      <p:cBhvr additive="base">
                                        <p:cTn id="21"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459">
                                            <p:txEl>
                                              <p:pRg st="4" end="4"/>
                                            </p:txEl>
                                          </p:spTgt>
                                        </p:tgtEl>
                                        <p:attrNameLst>
                                          <p:attrName>style.visibility</p:attrName>
                                        </p:attrNameLst>
                                      </p:cBhvr>
                                      <p:to>
                                        <p:strVal val="visible"/>
                                      </p:to>
                                    </p:set>
                                    <p:anim calcmode="lin" valueType="num">
                                      <p:cBhvr additive="base">
                                        <p:cTn id="25"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5" end="5"/>
                                            </p:txEl>
                                          </p:spTgt>
                                        </p:tgtEl>
                                        <p:attrNameLst>
                                          <p:attrName>style.visibility</p:attrName>
                                        </p:attrNameLst>
                                      </p:cBhvr>
                                      <p:to>
                                        <p:strVal val="visible"/>
                                      </p:to>
                                    </p:set>
                                    <p:anim calcmode="lin" valueType="num">
                                      <p:cBhvr additive="base">
                                        <p:cTn id="31"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459">
                                            <p:txEl>
                                              <p:pRg st="6" end="6"/>
                                            </p:txEl>
                                          </p:spTgt>
                                        </p:tgtEl>
                                        <p:attrNameLst>
                                          <p:attrName>style.visibility</p:attrName>
                                        </p:attrNameLst>
                                      </p:cBhvr>
                                      <p:to>
                                        <p:strVal val="visible"/>
                                      </p:to>
                                    </p:set>
                                    <p:anim calcmode="lin" valueType="num">
                                      <p:cBhvr additive="base">
                                        <p:cTn id="35"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459">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9459">
                                            <p:txEl>
                                              <p:pRg st="7" end="7"/>
                                            </p:txEl>
                                          </p:spTgt>
                                        </p:tgtEl>
                                        <p:attrNameLst>
                                          <p:attrName>style.visibility</p:attrName>
                                        </p:attrNameLst>
                                      </p:cBhvr>
                                      <p:to>
                                        <p:strVal val="visible"/>
                                      </p:to>
                                    </p:set>
                                    <p:anim calcmode="lin" valueType="num">
                                      <p:cBhvr additive="base">
                                        <p:cTn id="39"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9459">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9459">
                                            <p:txEl>
                                              <p:pRg st="8" end="8"/>
                                            </p:txEl>
                                          </p:spTgt>
                                        </p:tgtEl>
                                        <p:attrNameLst>
                                          <p:attrName>style.visibility</p:attrName>
                                        </p:attrNameLst>
                                      </p:cBhvr>
                                      <p:to>
                                        <p:strVal val="visible"/>
                                      </p:to>
                                    </p:set>
                                    <p:anim calcmode="lin" valueType="num">
                                      <p:cBhvr additive="base">
                                        <p:cTn id="43" dur="5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16816" y="1121790"/>
            <a:ext cx="11783840" cy="5158262"/>
          </a:xfrm>
          <a:ln>
            <a:noFill/>
          </a:ln>
        </p:spPr>
        <p:txBody>
          <a:bodyPr/>
          <a:lstStyle/>
          <a:p>
            <a:pPr>
              <a:defRPr/>
            </a:pPr>
            <a:r>
              <a:rPr lang="en-IN" dirty="0"/>
              <a:t>PHP includes </a:t>
            </a:r>
            <a:r>
              <a:rPr lang="en-IN" dirty="0">
                <a:solidFill>
                  <a:srgbClr val="FF0000"/>
                </a:solidFill>
              </a:rPr>
              <a:t>two different kinds of string pattern matching </a:t>
            </a:r>
            <a:r>
              <a:rPr lang="en-IN" dirty="0"/>
              <a:t>using regular expressions:</a:t>
            </a:r>
          </a:p>
          <a:p>
            <a:pPr>
              <a:defRPr/>
            </a:pPr>
            <a:r>
              <a:rPr lang="en-IN" dirty="0"/>
              <a:t> one that is based on POSIX regular expressions and one that is based on Perl regular expressions</a:t>
            </a:r>
          </a:p>
          <a:p>
            <a:pPr algn="just">
              <a:defRPr/>
            </a:pPr>
            <a:r>
              <a:rPr lang="en-US" dirty="0"/>
              <a:t>Function </a:t>
            </a:r>
            <a:r>
              <a:rPr lang="en-US" dirty="0" err="1"/>
              <a:t>preg_match</a:t>
            </a:r>
            <a:r>
              <a:rPr lang="en-US" dirty="0"/>
              <a:t> uses regular expressions to search a string for a specified pattern using Perl-compatible regular expressions (PCRE).</a:t>
            </a:r>
          </a:p>
          <a:p>
            <a:pPr>
              <a:defRPr/>
            </a:pPr>
            <a:r>
              <a:rPr lang="en-IN" dirty="0"/>
              <a:t>POSIX regular expressions are compiled into PHP</a:t>
            </a:r>
            <a:endParaRPr lang="en-US" dirty="0">
              <a:latin typeface="Arial" charset="0"/>
            </a:endParaRPr>
          </a:p>
          <a:p>
            <a:pPr marL="0" indent="0">
              <a:buNone/>
              <a:defRPr/>
            </a:pPr>
            <a:r>
              <a:rPr lang="en-US" dirty="0">
                <a:latin typeface="Courier New" pitchFamily="49" charset="0"/>
              </a:rPr>
              <a:t>	 </a:t>
            </a:r>
            <a:r>
              <a:rPr lang="en-US" sz="3600" dirty="0">
                <a:latin typeface="Courier New" pitchFamily="49" charset="0"/>
              </a:rPr>
              <a:t>  </a:t>
            </a:r>
            <a:r>
              <a:rPr lang="en-US" sz="3600" dirty="0" err="1">
                <a:latin typeface="Courier New" pitchFamily="49" charset="0"/>
              </a:rPr>
              <a:t>preg_match</a:t>
            </a:r>
            <a:r>
              <a:rPr lang="en-US" sz="3600" dirty="0">
                <a:latin typeface="Courier New" pitchFamily="49" charset="0"/>
              </a:rPr>
              <a:t>(</a:t>
            </a:r>
            <a:r>
              <a:rPr lang="en-US" sz="3600" dirty="0">
                <a:latin typeface="Arial" charset="0"/>
              </a:rPr>
              <a:t>regex</a:t>
            </a:r>
            <a:r>
              <a:rPr lang="en-US" sz="3600" dirty="0">
                <a:latin typeface="Courier New" pitchFamily="49" charset="0"/>
                <a:cs typeface="Courier New" pitchFamily="49" charset="0"/>
              </a:rPr>
              <a:t>, </a:t>
            </a:r>
            <a:r>
              <a:rPr lang="en-US" sz="3600" dirty="0">
                <a:latin typeface="Arial" charset="0"/>
              </a:rPr>
              <a:t>str</a:t>
            </a:r>
            <a:r>
              <a:rPr lang="en-US" sz="3600" dirty="0">
                <a:latin typeface="Courier New" pitchFamily="49" charset="0"/>
              </a:rPr>
              <a:t>)</a:t>
            </a:r>
            <a:r>
              <a:rPr lang="en-US" dirty="0">
                <a:latin typeface="Arial" charset="0"/>
              </a:rPr>
              <a:t>     - Returns a Boolean value</a:t>
            </a:r>
          </a:p>
          <a:p>
            <a:pPr>
              <a:defRPr/>
            </a:pPr>
            <a:r>
              <a:rPr lang="en-IN" dirty="0"/>
              <a:t> Perl-Compatible Regular Expression (PCRE) library must be compiled before Perl regular expressions can be used</a:t>
            </a:r>
            <a:endParaRPr lang="en-US" dirty="0">
              <a:latin typeface="Arial" charset="0"/>
            </a:endParaRPr>
          </a:p>
          <a:p>
            <a:pPr marL="0" indent="0">
              <a:buNone/>
              <a:defRPr/>
            </a:pPr>
            <a:r>
              <a:rPr lang="en-US" dirty="0">
                <a:latin typeface="Arial" charset="0"/>
              </a:rPr>
              <a:t>	</a:t>
            </a:r>
            <a:r>
              <a:rPr lang="en-US" sz="3600" dirty="0" err="1">
                <a:latin typeface="Courier New" pitchFamily="49" charset="0"/>
                <a:cs typeface="Courier New" pitchFamily="49" charset="0"/>
              </a:rPr>
              <a:t>preg_split</a:t>
            </a:r>
            <a:r>
              <a:rPr lang="en-US" sz="3600" dirty="0">
                <a:latin typeface="Courier New" pitchFamily="49" charset="0"/>
                <a:cs typeface="Courier New" pitchFamily="49" charset="0"/>
              </a:rPr>
              <a:t>(</a:t>
            </a:r>
            <a:r>
              <a:rPr lang="en-US" sz="3600" dirty="0">
                <a:latin typeface="Arial" charset="0"/>
              </a:rPr>
              <a:t>regex</a:t>
            </a:r>
            <a:r>
              <a:rPr lang="en-US" sz="3600" dirty="0">
                <a:latin typeface="Courier New" pitchFamily="49" charset="0"/>
                <a:cs typeface="Courier New" pitchFamily="49" charset="0"/>
              </a:rPr>
              <a:t>, </a:t>
            </a:r>
            <a:r>
              <a:rPr lang="en-US" sz="3600" dirty="0">
                <a:latin typeface="Arial" charset="0"/>
              </a:rPr>
              <a:t>str</a:t>
            </a:r>
            <a:r>
              <a:rPr lang="en-US" sz="3600" dirty="0">
                <a:latin typeface="Courier New" pitchFamily="49" charset="0"/>
                <a:cs typeface="Courier New" pitchFamily="49" charset="0"/>
              </a:rPr>
              <a:t>)</a:t>
            </a:r>
            <a:r>
              <a:rPr lang="en-US" dirty="0">
                <a:latin typeface="Arial" charset="0"/>
              </a:rPr>
              <a:t>  - Returns an array of the substrings</a:t>
            </a:r>
          </a:p>
          <a:p>
            <a:pPr algn="just">
              <a:defRPr/>
            </a:pPr>
            <a:endParaRPr lang="en-US"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spTree>
    <p:extLst>
      <p:ext uri="{BB962C8B-B14F-4D97-AF65-F5344CB8AC3E}">
        <p14:creationId xmlns:p14="http://schemas.microsoft.com/office/powerpoint/2010/main" val="2073146076"/>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pic>
        <p:nvPicPr>
          <p:cNvPr id="4" name="Content Placeholder 3">
            <a:extLst>
              <a:ext uri="{FF2B5EF4-FFF2-40B4-BE49-F238E27FC236}">
                <a16:creationId xmlns:a16="http://schemas.microsoft.com/office/drawing/2014/main" id="{0FA0FA98-0439-490A-B9ED-E12CB801A019}"/>
              </a:ext>
            </a:extLst>
          </p:cNvPr>
          <p:cNvPicPr>
            <a:picLocks noGrp="1" noChangeAspect="1"/>
          </p:cNvPicPr>
          <p:nvPr>
            <p:ph idx="1"/>
          </p:nvPr>
        </p:nvPicPr>
        <p:blipFill>
          <a:blip r:embed="rId3"/>
          <a:stretch>
            <a:fillRect/>
          </a:stretch>
        </p:blipFill>
        <p:spPr>
          <a:xfrm>
            <a:off x="623392" y="1124744"/>
            <a:ext cx="8383105" cy="3702353"/>
          </a:xfrm>
          <a:prstGeom prst="rect">
            <a:avLst/>
          </a:prstGeom>
        </p:spPr>
      </p:pic>
      <p:pic>
        <p:nvPicPr>
          <p:cNvPr id="6" name="Picture 5">
            <a:extLst>
              <a:ext uri="{FF2B5EF4-FFF2-40B4-BE49-F238E27FC236}">
                <a16:creationId xmlns:a16="http://schemas.microsoft.com/office/drawing/2014/main" id="{CDDE1C60-DDB4-48B4-82E0-65F41AA6CAF3}"/>
              </a:ext>
            </a:extLst>
          </p:cNvPr>
          <p:cNvPicPr>
            <a:picLocks noChangeAspect="1"/>
          </p:cNvPicPr>
          <p:nvPr/>
        </p:nvPicPr>
        <p:blipFill>
          <a:blip r:embed="rId4"/>
          <a:stretch>
            <a:fillRect/>
          </a:stretch>
        </p:blipFill>
        <p:spPr>
          <a:xfrm>
            <a:off x="5735960" y="5192189"/>
            <a:ext cx="3548424" cy="634605"/>
          </a:xfrm>
          <a:prstGeom prst="rect">
            <a:avLst/>
          </a:prstGeom>
          <a:ln>
            <a:solidFill>
              <a:schemeClr val="accent2"/>
            </a:solidFill>
          </a:ln>
        </p:spPr>
      </p:pic>
      <p:cxnSp>
        <p:nvCxnSpPr>
          <p:cNvPr id="8" name="Straight Arrow Connector 7">
            <a:extLst>
              <a:ext uri="{FF2B5EF4-FFF2-40B4-BE49-F238E27FC236}">
                <a16:creationId xmlns:a16="http://schemas.microsoft.com/office/drawing/2014/main" id="{9DB98492-9B3F-421C-9AA8-E80F983C64EE}"/>
              </a:ext>
            </a:extLst>
          </p:cNvPr>
          <p:cNvCxnSpPr/>
          <p:nvPr/>
        </p:nvCxnSpPr>
        <p:spPr>
          <a:xfrm>
            <a:off x="6240016" y="4827097"/>
            <a:ext cx="288032" cy="258087"/>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257262"/>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cxnSp>
        <p:nvCxnSpPr>
          <p:cNvPr id="8" name="Straight Arrow Connector 7">
            <a:extLst>
              <a:ext uri="{FF2B5EF4-FFF2-40B4-BE49-F238E27FC236}">
                <a16:creationId xmlns:a16="http://schemas.microsoft.com/office/drawing/2014/main" id="{9DB98492-9B3F-421C-9AA8-E80F983C64EE}"/>
              </a:ext>
            </a:extLst>
          </p:cNvPr>
          <p:cNvCxnSpPr>
            <a:cxnSpLocks/>
          </p:cNvCxnSpPr>
          <p:nvPr/>
        </p:nvCxnSpPr>
        <p:spPr>
          <a:xfrm>
            <a:off x="4896258" y="1916832"/>
            <a:ext cx="767694" cy="0"/>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41BDAA1E-004E-4647-8530-06460C701863}"/>
              </a:ext>
            </a:extLst>
          </p:cNvPr>
          <p:cNvPicPr>
            <a:picLocks noChangeAspect="1"/>
          </p:cNvPicPr>
          <p:nvPr/>
        </p:nvPicPr>
        <p:blipFill>
          <a:blip r:embed="rId3"/>
          <a:stretch>
            <a:fillRect/>
          </a:stretch>
        </p:blipFill>
        <p:spPr>
          <a:xfrm>
            <a:off x="5735960" y="1076783"/>
            <a:ext cx="4389500" cy="2827265"/>
          </a:xfrm>
          <a:prstGeom prst="rect">
            <a:avLst/>
          </a:prstGeom>
          <a:ln>
            <a:solidFill>
              <a:schemeClr val="accent2"/>
            </a:solidFill>
          </a:ln>
        </p:spPr>
      </p:pic>
      <p:pic>
        <p:nvPicPr>
          <p:cNvPr id="13" name="Picture 12">
            <a:extLst>
              <a:ext uri="{FF2B5EF4-FFF2-40B4-BE49-F238E27FC236}">
                <a16:creationId xmlns:a16="http://schemas.microsoft.com/office/drawing/2014/main" id="{2C9D14C2-4673-4B80-880C-40A604E9B656}"/>
              </a:ext>
            </a:extLst>
          </p:cNvPr>
          <p:cNvPicPr>
            <a:picLocks noChangeAspect="1"/>
          </p:cNvPicPr>
          <p:nvPr/>
        </p:nvPicPr>
        <p:blipFill>
          <a:blip r:embed="rId4"/>
          <a:stretch>
            <a:fillRect/>
          </a:stretch>
        </p:blipFill>
        <p:spPr>
          <a:xfrm>
            <a:off x="659192" y="1066532"/>
            <a:ext cx="3924640" cy="2324301"/>
          </a:xfrm>
          <a:prstGeom prst="rect">
            <a:avLst/>
          </a:prstGeom>
          <a:ln>
            <a:solidFill>
              <a:schemeClr val="accent5"/>
            </a:solidFill>
          </a:ln>
        </p:spPr>
      </p:pic>
      <p:pic>
        <p:nvPicPr>
          <p:cNvPr id="15" name="Picture 14">
            <a:extLst>
              <a:ext uri="{FF2B5EF4-FFF2-40B4-BE49-F238E27FC236}">
                <a16:creationId xmlns:a16="http://schemas.microsoft.com/office/drawing/2014/main" id="{4A7C80F5-477D-4D28-BC6F-5AACDB515A9B}"/>
              </a:ext>
            </a:extLst>
          </p:cNvPr>
          <p:cNvPicPr>
            <a:picLocks noChangeAspect="1"/>
          </p:cNvPicPr>
          <p:nvPr/>
        </p:nvPicPr>
        <p:blipFill>
          <a:blip r:embed="rId5"/>
          <a:stretch>
            <a:fillRect/>
          </a:stretch>
        </p:blipFill>
        <p:spPr>
          <a:xfrm>
            <a:off x="5267233" y="4033857"/>
            <a:ext cx="4191363" cy="2118544"/>
          </a:xfrm>
          <a:prstGeom prst="rect">
            <a:avLst/>
          </a:prstGeom>
          <a:ln>
            <a:solidFill>
              <a:srgbClr val="F04C3E"/>
            </a:solidFill>
          </a:ln>
        </p:spPr>
      </p:pic>
      <p:cxnSp>
        <p:nvCxnSpPr>
          <p:cNvPr id="17" name="Connector: Elbow 16">
            <a:extLst>
              <a:ext uri="{FF2B5EF4-FFF2-40B4-BE49-F238E27FC236}">
                <a16:creationId xmlns:a16="http://schemas.microsoft.com/office/drawing/2014/main" id="{CB58A3E7-045B-4375-859F-A79944E680BB}"/>
              </a:ext>
            </a:extLst>
          </p:cNvPr>
          <p:cNvCxnSpPr>
            <a:cxnSpLocks/>
          </p:cNvCxnSpPr>
          <p:nvPr/>
        </p:nvCxnSpPr>
        <p:spPr>
          <a:xfrm>
            <a:off x="4422516" y="3363988"/>
            <a:ext cx="844717" cy="815327"/>
          </a:xfrm>
          <a:prstGeom prst="bentConnector3">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0305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cxnSp>
        <p:nvCxnSpPr>
          <p:cNvPr id="8" name="Straight Arrow Connector 7">
            <a:extLst>
              <a:ext uri="{FF2B5EF4-FFF2-40B4-BE49-F238E27FC236}">
                <a16:creationId xmlns:a16="http://schemas.microsoft.com/office/drawing/2014/main" id="{9DB98492-9B3F-421C-9AA8-E80F983C64EE}"/>
              </a:ext>
            </a:extLst>
          </p:cNvPr>
          <p:cNvCxnSpPr/>
          <p:nvPr/>
        </p:nvCxnSpPr>
        <p:spPr>
          <a:xfrm>
            <a:off x="6240016" y="4827097"/>
            <a:ext cx="288032" cy="258087"/>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Content Placeholder 6">
            <a:extLst>
              <a:ext uri="{FF2B5EF4-FFF2-40B4-BE49-F238E27FC236}">
                <a16:creationId xmlns:a16="http://schemas.microsoft.com/office/drawing/2014/main" id="{199F9E3D-0CD6-4C04-B228-BF158E6F1E6B}"/>
              </a:ext>
            </a:extLst>
          </p:cNvPr>
          <p:cNvPicPr>
            <a:picLocks noGrp="1" noChangeAspect="1"/>
          </p:cNvPicPr>
          <p:nvPr>
            <p:ph idx="1"/>
          </p:nvPr>
        </p:nvPicPr>
        <p:blipFill>
          <a:blip r:embed="rId3"/>
          <a:stretch>
            <a:fillRect/>
          </a:stretch>
        </p:blipFill>
        <p:spPr>
          <a:xfrm>
            <a:off x="1487488" y="1009996"/>
            <a:ext cx="9001000" cy="5865335"/>
          </a:xfrm>
          <a:prstGeom prst="rect">
            <a:avLst/>
          </a:prstGeom>
        </p:spPr>
      </p:pic>
    </p:spTree>
    <p:extLst>
      <p:ext uri="{BB962C8B-B14F-4D97-AF65-F5344CB8AC3E}">
        <p14:creationId xmlns:p14="http://schemas.microsoft.com/office/powerpoint/2010/main" val="2983622969"/>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16816" y="1121790"/>
            <a:ext cx="11783840" cy="5158262"/>
          </a:xfrm>
          <a:ln>
            <a:noFill/>
          </a:ln>
        </p:spPr>
        <p:txBody>
          <a:bodyPr/>
          <a:lstStyle/>
          <a:p>
            <a:pPr>
              <a:buFontTx/>
              <a:buNone/>
            </a:pPr>
            <a:r>
              <a:rPr lang="en-US" altLang="en-US" sz="4400" dirty="0"/>
              <a:t>The ^ and $ Pattern Anchors</a:t>
            </a:r>
            <a:endParaRPr lang="en-IN" altLang="en-US" sz="4400" dirty="0"/>
          </a:p>
          <a:p>
            <a:r>
              <a:rPr lang="en-US" altLang="en-US" dirty="0">
                <a:solidFill>
                  <a:srgbClr val="FF0000"/>
                </a:solidFill>
              </a:rPr>
              <a:t>The pattern anchors ^ and $ ensure that the pattern is matched only at the beginning or the end of a string. </a:t>
            </a:r>
          </a:p>
          <a:p>
            <a:r>
              <a:rPr lang="en-US" altLang="en-US" dirty="0"/>
              <a:t>For example, the </a:t>
            </a:r>
            <a:r>
              <a:rPr lang="en-US" altLang="en-US" dirty="0">
                <a:highlight>
                  <a:srgbClr val="FFFF00"/>
                </a:highlight>
              </a:rPr>
              <a:t>pattern /^def/</a:t>
            </a:r>
            <a:r>
              <a:rPr lang="en-US" altLang="en-US" dirty="0"/>
              <a:t>matches ’def’ only if these are the </a:t>
            </a:r>
            <a:r>
              <a:rPr lang="en-US" altLang="en-US" dirty="0">
                <a:highlight>
                  <a:srgbClr val="FFFF00"/>
                </a:highlight>
              </a:rPr>
              <a:t>first three characters</a:t>
            </a:r>
            <a:r>
              <a:rPr lang="en-US" altLang="en-US" dirty="0"/>
              <a:t> in the string. </a:t>
            </a:r>
          </a:p>
          <a:p>
            <a:r>
              <a:rPr lang="en-US" altLang="en-US" dirty="0"/>
              <a:t>Similarly, the pattern </a:t>
            </a:r>
            <a:r>
              <a:rPr lang="en-US" altLang="en-US" dirty="0">
                <a:highlight>
                  <a:srgbClr val="FFFF00"/>
                </a:highlight>
              </a:rPr>
              <a:t>/def$/ </a:t>
            </a:r>
            <a:r>
              <a:rPr lang="en-US" altLang="en-US" dirty="0"/>
              <a:t>matches ’def ’only if these are the </a:t>
            </a:r>
            <a:r>
              <a:rPr lang="en-US" altLang="en-US" dirty="0">
                <a:highlight>
                  <a:srgbClr val="FFFF00"/>
                </a:highlight>
              </a:rPr>
              <a:t>last three characters </a:t>
            </a:r>
            <a:r>
              <a:rPr lang="en-US" altLang="en-US" dirty="0"/>
              <a:t>in the string.</a:t>
            </a:r>
          </a:p>
          <a:p>
            <a:r>
              <a:rPr lang="en-US" altLang="en-US" dirty="0"/>
              <a:t>You can combine ^ and $ to force matching of the entire string, as follows:</a:t>
            </a:r>
            <a:endParaRPr lang="en-IN" altLang="en-US" dirty="0"/>
          </a:p>
          <a:p>
            <a:r>
              <a:rPr lang="en-US" altLang="en-US" dirty="0">
                <a:solidFill>
                  <a:srgbClr val="FF0000"/>
                </a:solidFill>
                <a:highlight>
                  <a:srgbClr val="FFFF00"/>
                </a:highlight>
              </a:rPr>
              <a:t>/^def$/This matches only if the string is def</a:t>
            </a:r>
            <a:endParaRPr lang="en-IN" altLang="en-US" dirty="0">
              <a:highlight>
                <a:srgbClr val="FFFF00"/>
              </a:highlight>
            </a:endParaRPr>
          </a:p>
          <a:p>
            <a:pPr algn="just">
              <a:defRPr/>
            </a:pPr>
            <a:endParaRPr lang="en-US" dirty="0"/>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spTree>
    <p:extLst>
      <p:ext uri="{BB962C8B-B14F-4D97-AF65-F5344CB8AC3E}">
        <p14:creationId xmlns:p14="http://schemas.microsoft.com/office/powerpoint/2010/main" val="2737250697"/>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16816" y="1121790"/>
            <a:ext cx="11783840" cy="5158262"/>
          </a:xfrm>
          <a:ln>
            <a:noFill/>
          </a:ln>
        </p:spPr>
        <p:txBody>
          <a:bodyPr/>
          <a:lstStyle/>
          <a:p>
            <a:pPr algn="just">
              <a:defRPr/>
            </a:pPr>
            <a:r>
              <a:rPr lang="en-US" b="1" dirty="0" err="1"/>
              <a:t>preg_match</a:t>
            </a:r>
            <a:r>
              <a:rPr lang="en-US" b="1" dirty="0"/>
              <a:t>  function</a:t>
            </a:r>
          </a:p>
          <a:p>
            <a:pPr algn="just">
              <a:defRPr/>
            </a:pPr>
            <a:r>
              <a:rPr lang="en-US" dirty="0"/>
              <a:t>The </a:t>
            </a:r>
            <a:r>
              <a:rPr lang="en-US" dirty="0" err="1"/>
              <a:t>preg_match</a:t>
            </a:r>
            <a:r>
              <a:rPr lang="en-US" dirty="0"/>
              <a:t>()  function takes two parameters, the first of which is the Perl-style regular expression as a string. The second parameter is the string to be searched. </a:t>
            </a:r>
          </a:p>
          <a:p>
            <a:pPr marL="0" indent="0" algn="just">
              <a:buNone/>
              <a:defRPr/>
            </a:pPr>
            <a:r>
              <a:rPr lang="en-US" dirty="0"/>
              <a:t>	</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884B5A5F-8E06-4604-ABC5-497EE04BAA2E}"/>
              </a:ext>
            </a:extLst>
          </p:cNvPr>
          <p:cNvPicPr>
            <a:picLocks noChangeAspect="1"/>
          </p:cNvPicPr>
          <p:nvPr/>
        </p:nvPicPr>
        <p:blipFill>
          <a:blip r:embed="rId3"/>
          <a:stretch>
            <a:fillRect/>
          </a:stretch>
        </p:blipFill>
        <p:spPr>
          <a:xfrm>
            <a:off x="684562" y="2481720"/>
            <a:ext cx="6671374" cy="2603463"/>
          </a:xfrm>
          <a:prstGeom prst="rect">
            <a:avLst/>
          </a:prstGeom>
        </p:spPr>
      </p:pic>
      <p:pic>
        <p:nvPicPr>
          <p:cNvPr id="3" name="Picture 2">
            <a:extLst>
              <a:ext uri="{FF2B5EF4-FFF2-40B4-BE49-F238E27FC236}">
                <a16:creationId xmlns:a16="http://schemas.microsoft.com/office/drawing/2014/main" id="{D7FCFC04-BBCA-4E4E-A790-BC09A8A37000}"/>
              </a:ext>
            </a:extLst>
          </p:cNvPr>
          <p:cNvPicPr>
            <a:picLocks noChangeAspect="1"/>
          </p:cNvPicPr>
          <p:nvPr/>
        </p:nvPicPr>
        <p:blipFill>
          <a:blip r:embed="rId4"/>
          <a:stretch>
            <a:fillRect/>
          </a:stretch>
        </p:blipFill>
        <p:spPr>
          <a:xfrm>
            <a:off x="7420189" y="3140968"/>
            <a:ext cx="4095750" cy="1323975"/>
          </a:xfrm>
          <a:prstGeom prst="rect">
            <a:avLst/>
          </a:prstGeom>
          <a:ln>
            <a:solidFill>
              <a:schemeClr val="accent2"/>
            </a:solidFill>
          </a:ln>
        </p:spPr>
      </p:pic>
    </p:spTree>
    <p:extLst>
      <p:ext uri="{BB962C8B-B14F-4D97-AF65-F5344CB8AC3E}">
        <p14:creationId xmlns:p14="http://schemas.microsoft.com/office/powerpoint/2010/main" val="876060255"/>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16816" y="1121790"/>
            <a:ext cx="11783840" cy="5158262"/>
          </a:xfrm>
          <a:ln>
            <a:noFill/>
          </a:ln>
        </p:spPr>
        <p:txBody>
          <a:bodyPr/>
          <a:lstStyle/>
          <a:p>
            <a:pPr>
              <a:defRPr/>
            </a:pPr>
            <a:r>
              <a:rPr lang="en-IN" dirty="0"/>
              <a:t>The </a:t>
            </a:r>
            <a:r>
              <a:rPr lang="en-IN" dirty="0" err="1">
                <a:solidFill>
                  <a:schemeClr val="accent1"/>
                </a:solidFill>
              </a:rPr>
              <a:t>preg_split</a:t>
            </a:r>
            <a:r>
              <a:rPr lang="en-IN" dirty="0"/>
              <a:t> function operates on strings but returns an array and uses patterns</a:t>
            </a:r>
          </a:p>
          <a:p>
            <a:pPr>
              <a:defRPr/>
            </a:pPr>
            <a:r>
              <a:rPr lang="en-IN" dirty="0" err="1"/>
              <a:t>preg_split</a:t>
            </a:r>
            <a:r>
              <a:rPr lang="en-IN" dirty="0"/>
              <a:t> takes two parameters, the first of which is a </a:t>
            </a:r>
            <a:r>
              <a:rPr lang="en-IN" dirty="0">
                <a:solidFill>
                  <a:srgbClr val="FF0000"/>
                </a:solidFill>
              </a:rPr>
              <a:t>Perl-style pattern</a:t>
            </a:r>
            <a:r>
              <a:rPr lang="en-IN" dirty="0"/>
              <a:t> as a string. The second parameter is the </a:t>
            </a:r>
            <a:r>
              <a:rPr lang="en-IN" dirty="0">
                <a:solidFill>
                  <a:srgbClr val="FF0000"/>
                </a:solidFill>
              </a:rPr>
              <a:t>string to be split</a:t>
            </a:r>
            <a:r>
              <a:rPr lang="en-IN" dirty="0"/>
              <a:t>.  </a:t>
            </a:r>
          </a:p>
          <a:p>
            <a:pPr>
              <a:defRPr/>
            </a:pPr>
            <a:r>
              <a:rPr lang="en-IN" dirty="0"/>
              <a:t>For example, consider the following sample code:</a:t>
            </a:r>
          </a:p>
          <a:p>
            <a:pPr marL="0" indent="0">
              <a:buNone/>
              <a:defRPr/>
            </a:pPr>
            <a:r>
              <a:rPr lang="en-IN" dirty="0"/>
              <a:t>	</a:t>
            </a:r>
            <a:r>
              <a:rPr lang="en-IN" b="1" dirty="0">
                <a:solidFill>
                  <a:srgbClr val="FF0000"/>
                </a:solidFill>
              </a:rPr>
              <a:t>$</a:t>
            </a:r>
            <a:r>
              <a:rPr lang="en-IN" b="1" dirty="0" err="1">
                <a:solidFill>
                  <a:srgbClr val="FF0000"/>
                </a:solidFill>
              </a:rPr>
              <a:t>fruit_string</a:t>
            </a:r>
            <a:r>
              <a:rPr lang="en-IN" b="1" dirty="0">
                <a:solidFill>
                  <a:srgbClr val="FF0000"/>
                </a:solidFill>
              </a:rPr>
              <a:t> = "apple : orange : banana";</a:t>
            </a:r>
          </a:p>
          <a:p>
            <a:pPr marL="0" indent="0">
              <a:buNone/>
              <a:defRPr/>
            </a:pPr>
            <a:r>
              <a:rPr lang="en-IN" b="1" dirty="0">
                <a:solidFill>
                  <a:srgbClr val="FF0000"/>
                </a:solidFill>
              </a:rPr>
              <a:t> 	$fruits = </a:t>
            </a:r>
            <a:r>
              <a:rPr lang="en-IN" b="1" dirty="0" err="1">
                <a:solidFill>
                  <a:srgbClr val="FF0000"/>
                </a:solidFill>
              </a:rPr>
              <a:t>preg_split</a:t>
            </a:r>
            <a:r>
              <a:rPr lang="en-IN" b="1" dirty="0">
                <a:solidFill>
                  <a:srgbClr val="FF0000"/>
                </a:solidFill>
              </a:rPr>
              <a:t>("/ : /", $</a:t>
            </a:r>
            <a:r>
              <a:rPr lang="en-IN" b="1" dirty="0" err="1">
                <a:solidFill>
                  <a:srgbClr val="FF0000"/>
                </a:solidFill>
              </a:rPr>
              <a:t>fruit_string</a:t>
            </a:r>
            <a:r>
              <a:rPr lang="en-IN" b="1" dirty="0">
                <a:solidFill>
                  <a:srgbClr val="FF0000"/>
                </a:solidFill>
              </a:rPr>
              <a:t>);</a:t>
            </a:r>
          </a:p>
          <a:p>
            <a:pPr>
              <a:defRPr/>
            </a:pPr>
            <a:r>
              <a:rPr lang="en-IN" dirty="0"/>
              <a:t>The array $ fruits now has ( "apple", "orange", "banana").</a:t>
            </a:r>
          </a:p>
        </p:txBody>
      </p:sp>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B3AB5F1B-2477-412B-BED3-7D98C2193695}"/>
              </a:ext>
            </a:extLst>
          </p:cNvPr>
          <p:cNvPicPr>
            <a:picLocks noChangeAspect="1"/>
          </p:cNvPicPr>
          <p:nvPr/>
        </p:nvPicPr>
        <p:blipFill>
          <a:blip r:embed="rId3"/>
          <a:stretch>
            <a:fillRect/>
          </a:stretch>
        </p:blipFill>
        <p:spPr>
          <a:xfrm>
            <a:off x="767408" y="4149080"/>
            <a:ext cx="10391775" cy="1847850"/>
          </a:xfrm>
          <a:prstGeom prst="rect">
            <a:avLst/>
          </a:prstGeom>
        </p:spPr>
      </p:pic>
    </p:spTree>
    <p:extLst>
      <p:ext uri="{BB962C8B-B14F-4D97-AF65-F5344CB8AC3E}">
        <p14:creationId xmlns:p14="http://schemas.microsoft.com/office/powerpoint/2010/main" val="2327997956"/>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pic>
        <p:nvPicPr>
          <p:cNvPr id="6" name="Content Placeholder 5">
            <a:extLst>
              <a:ext uri="{FF2B5EF4-FFF2-40B4-BE49-F238E27FC236}">
                <a16:creationId xmlns:a16="http://schemas.microsoft.com/office/drawing/2014/main" id="{9DE46D32-90B3-43F2-953E-A42CEFDE041C}"/>
              </a:ext>
            </a:extLst>
          </p:cNvPr>
          <p:cNvPicPr>
            <a:picLocks noGrp="1" noChangeAspect="1"/>
          </p:cNvPicPr>
          <p:nvPr>
            <p:ph idx="1"/>
          </p:nvPr>
        </p:nvPicPr>
        <p:blipFill>
          <a:blip r:embed="rId3"/>
          <a:stretch>
            <a:fillRect/>
          </a:stretch>
        </p:blipFill>
        <p:spPr>
          <a:xfrm>
            <a:off x="-24680" y="1124744"/>
            <a:ext cx="7344816" cy="4968552"/>
          </a:xfrm>
          <a:prstGeom prst="rect">
            <a:avLst/>
          </a:prstGeom>
        </p:spPr>
      </p:pic>
      <p:pic>
        <p:nvPicPr>
          <p:cNvPr id="7" name="Picture 6">
            <a:extLst>
              <a:ext uri="{FF2B5EF4-FFF2-40B4-BE49-F238E27FC236}">
                <a16:creationId xmlns:a16="http://schemas.microsoft.com/office/drawing/2014/main" id="{F2A6B7A8-4CA5-4DC5-9A8D-2F00D846D7AA}"/>
              </a:ext>
            </a:extLst>
          </p:cNvPr>
          <p:cNvPicPr>
            <a:picLocks noChangeAspect="1"/>
          </p:cNvPicPr>
          <p:nvPr/>
        </p:nvPicPr>
        <p:blipFill>
          <a:blip r:embed="rId4"/>
          <a:stretch>
            <a:fillRect/>
          </a:stretch>
        </p:blipFill>
        <p:spPr>
          <a:xfrm>
            <a:off x="7320136" y="2504120"/>
            <a:ext cx="4629150" cy="2209800"/>
          </a:xfrm>
          <a:prstGeom prst="rect">
            <a:avLst/>
          </a:prstGeom>
        </p:spPr>
      </p:pic>
    </p:spTree>
    <p:extLst>
      <p:ext uri="{BB962C8B-B14F-4D97-AF65-F5344CB8AC3E}">
        <p14:creationId xmlns:p14="http://schemas.microsoft.com/office/powerpoint/2010/main" val="1001367848"/>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1343472" y="346123"/>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pic>
        <p:nvPicPr>
          <p:cNvPr id="4" name="Picture 3">
            <a:extLst>
              <a:ext uri="{FF2B5EF4-FFF2-40B4-BE49-F238E27FC236}">
                <a16:creationId xmlns:a16="http://schemas.microsoft.com/office/drawing/2014/main" id="{FBE13EE4-7014-441A-85A9-4F33662FCC5A}"/>
              </a:ext>
            </a:extLst>
          </p:cNvPr>
          <p:cNvPicPr>
            <a:picLocks noChangeAspect="1"/>
          </p:cNvPicPr>
          <p:nvPr/>
        </p:nvPicPr>
        <p:blipFill>
          <a:blip r:embed="rId3"/>
          <a:stretch>
            <a:fillRect/>
          </a:stretch>
        </p:blipFill>
        <p:spPr>
          <a:xfrm>
            <a:off x="907101" y="1196752"/>
            <a:ext cx="8981562" cy="3888432"/>
          </a:xfrm>
          <a:prstGeom prst="rect">
            <a:avLst/>
          </a:prstGeom>
        </p:spPr>
      </p:pic>
      <p:sp>
        <p:nvSpPr>
          <p:cNvPr id="9" name="TextBox 8">
            <a:extLst>
              <a:ext uri="{FF2B5EF4-FFF2-40B4-BE49-F238E27FC236}">
                <a16:creationId xmlns:a16="http://schemas.microsoft.com/office/drawing/2014/main" id="{CB10C688-93AD-460D-86C0-EBCA6DF5EC04}"/>
              </a:ext>
            </a:extLst>
          </p:cNvPr>
          <p:cNvSpPr txBox="1"/>
          <p:nvPr/>
        </p:nvSpPr>
        <p:spPr>
          <a:xfrm>
            <a:off x="1199456" y="5301208"/>
            <a:ext cx="7488832" cy="576064"/>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endParaRPr lang="en-US" sz="1200" dirty="0"/>
          </a:p>
        </p:txBody>
      </p:sp>
    </p:spTree>
    <p:extLst>
      <p:ext uri="{BB962C8B-B14F-4D97-AF65-F5344CB8AC3E}">
        <p14:creationId xmlns:p14="http://schemas.microsoft.com/office/powerpoint/2010/main" val="2784467418"/>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Expressions-Modifiers</a:t>
            </a:r>
            <a:endParaRPr lang="en-US" dirty="0">
              <a:latin typeface="Armata" panose="020B0503040500060204" pitchFamily="34" charset="0"/>
            </a:endParaRPr>
          </a:p>
        </p:txBody>
      </p:sp>
      <p:sp>
        <p:nvSpPr>
          <p:cNvPr id="9" name="TextBox 8">
            <a:extLst>
              <a:ext uri="{FF2B5EF4-FFF2-40B4-BE49-F238E27FC236}">
                <a16:creationId xmlns:a16="http://schemas.microsoft.com/office/drawing/2014/main" id="{CB10C688-93AD-460D-86C0-EBCA6DF5EC04}"/>
              </a:ext>
            </a:extLst>
          </p:cNvPr>
          <p:cNvSpPr txBox="1"/>
          <p:nvPr/>
        </p:nvSpPr>
        <p:spPr>
          <a:xfrm>
            <a:off x="1199456" y="5301208"/>
            <a:ext cx="7488832" cy="576064"/>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endParaRPr lang="en-US" sz="1200" dirty="0"/>
          </a:p>
        </p:txBody>
      </p:sp>
      <p:pic>
        <p:nvPicPr>
          <p:cNvPr id="2" name="Picture 1">
            <a:extLst>
              <a:ext uri="{FF2B5EF4-FFF2-40B4-BE49-F238E27FC236}">
                <a16:creationId xmlns:a16="http://schemas.microsoft.com/office/drawing/2014/main" id="{30E4EE23-4C90-4CAD-BD1A-2B0922FF9E45}"/>
              </a:ext>
            </a:extLst>
          </p:cNvPr>
          <p:cNvPicPr>
            <a:picLocks noChangeAspect="1"/>
          </p:cNvPicPr>
          <p:nvPr/>
        </p:nvPicPr>
        <p:blipFill>
          <a:blip r:embed="rId3"/>
          <a:stretch>
            <a:fillRect/>
          </a:stretch>
        </p:blipFill>
        <p:spPr>
          <a:xfrm>
            <a:off x="706599" y="1813297"/>
            <a:ext cx="7572375" cy="1800225"/>
          </a:xfrm>
          <a:prstGeom prst="rect">
            <a:avLst/>
          </a:prstGeom>
        </p:spPr>
      </p:pic>
      <p:pic>
        <p:nvPicPr>
          <p:cNvPr id="3" name="Picture 2">
            <a:extLst>
              <a:ext uri="{FF2B5EF4-FFF2-40B4-BE49-F238E27FC236}">
                <a16:creationId xmlns:a16="http://schemas.microsoft.com/office/drawing/2014/main" id="{C32160B5-9235-412A-A9A6-09E6C4C751ED}"/>
              </a:ext>
            </a:extLst>
          </p:cNvPr>
          <p:cNvPicPr>
            <a:picLocks noChangeAspect="1"/>
          </p:cNvPicPr>
          <p:nvPr/>
        </p:nvPicPr>
        <p:blipFill>
          <a:blip r:embed="rId4"/>
          <a:stretch>
            <a:fillRect/>
          </a:stretch>
        </p:blipFill>
        <p:spPr>
          <a:xfrm>
            <a:off x="706599" y="3717032"/>
            <a:ext cx="8001000" cy="2505075"/>
          </a:xfrm>
          <a:prstGeom prst="rect">
            <a:avLst/>
          </a:prstGeom>
        </p:spPr>
      </p:pic>
      <p:pic>
        <p:nvPicPr>
          <p:cNvPr id="7" name="Picture 6">
            <a:extLst>
              <a:ext uri="{FF2B5EF4-FFF2-40B4-BE49-F238E27FC236}">
                <a16:creationId xmlns:a16="http://schemas.microsoft.com/office/drawing/2014/main" id="{DF54E5C2-651D-4FAA-B194-922DBED79FE3}"/>
              </a:ext>
            </a:extLst>
          </p:cNvPr>
          <p:cNvPicPr>
            <a:picLocks noChangeAspect="1"/>
          </p:cNvPicPr>
          <p:nvPr/>
        </p:nvPicPr>
        <p:blipFill>
          <a:blip r:embed="rId5"/>
          <a:stretch>
            <a:fillRect/>
          </a:stretch>
        </p:blipFill>
        <p:spPr>
          <a:xfrm>
            <a:off x="767408" y="1394197"/>
            <a:ext cx="4905375" cy="419100"/>
          </a:xfrm>
          <a:prstGeom prst="rect">
            <a:avLst/>
          </a:prstGeom>
        </p:spPr>
      </p:pic>
    </p:spTree>
    <p:extLst>
      <p:ext uri="{BB962C8B-B14F-4D97-AF65-F5344CB8AC3E}">
        <p14:creationId xmlns:p14="http://schemas.microsoft.com/office/powerpoint/2010/main" val="4204927147"/>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Expressions-Modifiers</a:t>
            </a:r>
            <a:endParaRPr lang="en-US" dirty="0">
              <a:latin typeface="Armata" panose="020B0503040500060204" pitchFamily="34" charset="0"/>
            </a:endParaRPr>
          </a:p>
        </p:txBody>
      </p:sp>
      <p:sp>
        <p:nvSpPr>
          <p:cNvPr id="9" name="TextBox 8">
            <a:extLst>
              <a:ext uri="{FF2B5EF4-FFF2-40B4-BE49-F238E27FC236}">
                <a16:creationId xmlns:a16="http://schemas.microsoft.com/office/drawing/2014/main" id="{CB10C688-93AD-460D-86C0-EBCA6DF5EC04}"/>
              </a:ext>
            </a:extLst>
          </p:cNvPr>
          <p:cNvSpPr txBox="1"/>
          <p:nvPr/>
        </p:nvSpPr>
        <p:spPr>
          <a:xfrm>
            <a:off x="1199456" y="5301208"/>
            <a:ext cx="7488832" cy="576064"/>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endParaRPr lang="en-US" sz="1200" dirty="0"/>
          </a:p>
        </p:txBody>
      </p:sp>
      <p:pic>
        <p:nvPicPr>
          <p:cNvPr id="4" name="Picture 3">
            <a:extLst>
              <a:ext uri="{FF2B5EF4-FFF2-40B4-BE49-F238E27FC236}">
                <a16:creationId xmlns:a16="http://schemas.microsoft.com/office/drawing/2014/main" id="{CED1E015-22D5-4418-AEF2-26FEC7E03944}"/>
              </a:ext>
            </a:extLst>
          </p:cNvPr>
          <p:cNvPicPr>
            <a:picLocks noChangeAspect="1"/>
          </p:cNvPicPr>
          <p:nvPr/>
        </p:nvPicPr>
        <p:blipFill>
          <a:blip r:embed="rId3"/>
          <a:stretch>
            <a:fillRect/>
          </a:stretch>
        </p:blipFill>
        <p:spPr>
          <a:xfrm>
            <a:off x="57150" y="1511970"/>
            <a:ext cx="12134850" cy="3143250"/>
          </a:xfrm>
          <a:prstGeom prst="rect">
            <a:avLst/>
          </a:prstGeom>
        </p:spPr>
      </p:pic>
    </p:spTree>
    <p:extLst>
      <p:ext uri="{BB962C8B-B14F-4D97-AF65-F5344CB8AC3E}">
        <p14:creationId xmlns:p14="http://schemas.microsoft.com/office/powerpoint/2010/main" val="667268885"/>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sp>
        <p:nvSpPr>
          <p:cNvPr id="9" name="TextBox 8">
            <a:extLst>
              <a:ext uri="{FF2B5EF4-FFF2-40B4-BE49-F238E27FC236}">
                <a16:creationId xmlns:a16="http://schemas.microsoft.com/office/drawing/2014/main" id="{CB10C688-93AD-460D-86C0-EBCA6DF5EC04}"/>
              </a:ext>
            </a:extLst>
          </p:cNvPr>
          <p:cNvSpPr txBox="1"/>
          <p:nvPr/>
        </p:nvSpPr>
        <p:spPr>
          <a:xfrm>
            <a:off x="1199456" y="5301208"/>
            <a:ext cx="7488832" cy="576064"/>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endParaRPr lang="en-US" sz="1200" dirty="0"/>
          </a:p>
        </p:txBody>
      </p:sp>
      <p:pic>
        <p:nvPicPr>
          <p:cNvPr id="3" name="Picture 2">
            <a:extLst>
              <a:ext uri="{FF2B5EF4-FFF2-40B4-BE49-F238E27FC236}">
                <a16:creationId xmlns:a16="http://schemas.microsoft.com/office/drawing/2014/main" id="{3DB24BA9-6B78-4088-A9F8-3BEDB686786A}"/>
              </a:ext>
            </a:extLst>
          </p:cNvPr>
          <p:cNvPicPr>
            <a:picLocks noChangeAspect="1"/>
          </p:cNvPicPr>
          <p:nvPr/>
        </p:nvPicPr>
        <p:blipFill>
          <a:blip r:embed="rId3"/>
          <a:stretch>
            <a:fillRect/>
          </a:stretch>
        </p:blipFill>
        <p:spPr>
          <a:xfrm>
            <a:off x="1211988" y="1268760"/>
            <a:ext cx="7695026" cy="4536504"/>
          </a:xfrm>
          <a:prstGeom prst="rect">
            <a:avLst/>
          </a:prstGeom>
        </p:spPr>
      </p:pic>
    </p:spTree>
    <p:extLst>
      <p:ext uri="{BB962C8B-B14F-4D97-AF65-F5344CB8AC3E}">
        <p14:creationId xmlns:p14="http://schemas.microsoft.com/office/powerpoint/2010/main" val="3747364497"/>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sp>
        <p:nvSpPr>
          <p:cNvPr id="4" name="TextBox 3">
            <a:extLst>
              <a:ext uri="{FF2B5EF4-FFF2-40B4-BE49-F238E27FC236}">
                <a16:creationId xmlns:a16="http://schemas.microsoft.com/office/drawing/2014/main" id="{CE2F1276-B05B-4DED-AB4E-03CC624BB0C1}"/>
              </a:ext>
            </a:extLst>
          </p:cNvPr>
          <p:cNvSpPr txBox="1"/>
          <p:nvPr/>
        </p:nvSpPr>
        <p:spPr>
          <a:xfrm>
            <a:off x="839416" y="1147411"/>
            <a:ext cx="9204101" cy="821763"/>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2000" dirty="0"/>
              <a:t>A period (.) in a regular expression matches any single character. </a:t>
            </a:r>
            <a:br>
              <a:rPr lang="en-US" sz="2000" dirty="0"/>
            </a:br>
            <a:r>
              <a:rPr lang="en-US" sz="2000" dirty="0"/>
              <a:t>You can negate a character class with a caret (^) at the start.</a:t>
            </a:r>
            <a:br>
              <a:rPr lang="en-US" sz="2000" dirty="0"/>
            </a:br>
            <a:endParaRPr lang="en-US" sz="2000" dirty="0"/>
          </a:p>
        </p:txBody>
      </p:sp>
      <p:pic>
        <p:nvPicPr>
          <p:cNvPr id="6" name="Picture 5">
            <a:extLst>
              <a:ext uri="{FF2B5EF4-FFF2-40B4-BE49-F238E27FC236}">
                <a16:creationId xmlns:a16="http://schemas.microsoft.com/office/drawing/2014/main" id="{6B80C3FF-D2C0-4B2B-89F6-B08F050716F2}"/>
              </a:ext>
            </a:extLst>
          </p:cNvPr>
          <p:cNvPicPr>
            <a:picLocks noChangeAspect="1"/>
          </p:cNvPicPr>
          <p:nvPr/>
        </p:nvPicPr>
        <p:blipFill>
          <a:blip r:embed="rId3"/>
          <a:stretch>
            <a:fillRect/>
          </a:stretch>
        </p:blipFill>
        <p:spPr>
          <a:xfrm>
            <a:off x="1127448" y="2276872"/>
            <a:ext cx="9024701" cy="3578460"/>
          </a:xfrm>
          <a:prstGeom prst="rect">
            <a:avLst/>
          </a:prstGeom>
        </p:spPr>
      </p:pic>
    </p:spTree>
    <p:extLst>
      <p:ext uri="{BB962C8B-B14F-4D97-AF65-F5344CB8AC3E}">
        <p14:creationId xmlns:p14="http://schemas.microsoft.com/office/powerpoint/2010/main" val="1122925811"/>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sp>
        <p:nvSpPr>
          <p:cNvPr id="4" name="TextBox 3">
            <a:extLst>
              <a:ext uri="{FF2B5EF4-FFF2-40B4-BE49-F238E27FC236}">
                <a16:creationId xmlns:a16="http://schemas.microsoft.com/office/drawing/2014/main" id="{CE2F1276-B05B-4DED-AB4E-03CC624BB0C1}"/>
              </a:ext>
            </a:extLst>
          </p:cNvPr>
          <p:cNvSpPr txBox="1"/>
          <p:nvPr/>
        </p:nvSpPr>
        <p:spPr>
          <a:xfrm>
            <a:off x="839416" y="1147411"/>
            <a:ext cx="9204101" cy="560153"/>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2000" dirty="0"/>
              <a:t>You can define a range of characters with a hyphen (-). This simplifies character classes like “all letters” and “all digits”:</a:t>
            </a:r>
          </a:p>
        </p:txBody>
      </p:sp>
      <p:pic>
        <p:nvPicPr>
          <p:cNvPr id="2" name="Picture 1">
            <a:extLst>
              <a:ext uri="{FF2B5EF4-FFF2-40B4-BE49-F238E27FC236}">
                <a16:creationId xmlns:a16="http://schemas.microsoft.com/office/drawing/2014/main" id="{E57106B7-1F63-4B07-B910-D2652A5D2208}"/>
              </a:ext>
            </a:extLst>
          </p:cNvPr>
          <p:cNvPicPr>
            <a:picLocks noChangeAspect="1"/>
          </p:cNvPicPr>
          <p:nvPr/>
        </p:nvPicPr>
        <p:blipFill>
          <a:blip r:embed="rId3"/>
          <a:stretch>
            <a:fillRect/>
          </a:stretch>
        </p:blipFill>
        <p:spPr>
          <a:xfrm>
            <a:off x="856378" y="1988840"/>
            <a:ext cx="10479243" cy="2773388"/>
          </a:xfrm>
          <a:prstGeom prst="rect">
            <a:avLst/>
          </a:prstGeom>
        </p:spPr>
      </p:pic>
    </p:spTree>
    <p:extLst>
      <p:ext uri="{BB962C8B-B14F-4D97-AF65-F5344CB8AC3E}">
        <p14:creationId xmlns:p14="http://schemas.microsoft.com/office/powerpoint/2010/main" val="2989121465"/>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sp>
        <p:nvSpPr>
          <p:cNvPr id="9" name="TextBox 8">
            <a:extLst>
              <a:ext uri="{FF2B5EF4-FFF2-40B4-BE49-F238E27FC236}">
                <a16:creationId xmlns:a16="http://schemas.microsoft.com/office/drawing/2014/main" id="{CB10C688-93AD-460D-86C0-EBCA6DF5EC04}"/>
              </a:ext>
            </a:extLst>
          </p:cNvPr>
          <p:cNvSpPr txBox="1"/>
          <p:nvPr/>
        </p:nvSpPr>
        <p:spPr>
          <a:xfrm>
            <a:off x="1199456" y="5301208"/>
            <a:ext cx="7488832" cy="576064"/>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endParaRPr lang="en-US" sz="1200" dirty="0"/>
          </a:p>
        </p:txBody>
      </p:sp>
      <p:pic>
        <p:nvPicPr>
          <p:cNvPr id="6" name="Picture 5">
            <a:extLst>
              <a:ext uri="{FF2B5EF4-FFF2-40B4-BE49-F238E27FC236}">
                <a16:creationId xmlns:a16="http://schemas.microsoft.com/office/drawing/2014/main" id="{C07F9A5E-CA52-4D52-B80E-1670804BB236}"/>
              </a:ext>
            </a:extLst>
          </p:cNvPr>
          <p:cNvPicPr>
            <a:picLocks noChangeAspect="1"/>
          </p:cNvPicPr>
          <p:nvPr/>
        </p:nvPicPr>
        <p:blipFill>
          <a:blip r:embed="rId3"/>
          <a:stretch>
            <a:fillRect/>
          </a:stretch>
        </p:blipFill>
        <p:spPr>
          <a:xfrm>
            <a:off x="1271464" y="2278100"/>
            <a:ext cx="8965556" cy="3888432"/>
          </a:xfrm>
          <a:prstGeom prst="rect">
            <a:avLst/>
          </a:prstGeom>
        </p:spPr>
      </p:pic>
      <p:sp>
        <p:nvSpPr>
          <p:cNvPr id="2" name="TextBox 1">
            <a:extLst>
              <a:ext uri="{FF2B5EF4-FFF2-40B4-BE49-F238E27FC236}">
                <a16:creationId xmlns:a16="http://schemas.microsoft.com/office/drawing/2014/main" id="{CE58C1D5-BFEE-4944-AD15-A4BCFA10866E}"/>
              </a:ext>
            </a:extLst>
          </p:cNvPr>
          <p:cNvSpPr txBox="1"/>
          <p:nvPr/>
        </p:nvSpPr>
        <p:spPr>
          <a:xfrm>
            <a:off x="684562" y="1211386"/>
            <a:ext cx="11028062" cy="898708"/>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2000" dirty="0"/>
              <a:t>To specify a repeating pattern, you use something called a quantifier.</a:t>
            </a:r>
          </a:p>
          <a:p>
            <a:pPr marL="285750" indent="-285750">
              <a:lnSpc>
                <a:spcPct val="85000"/>
              </a:lnSpc>
              <a:spcAft>
                <a:spcPts val="600"/>
              </a:spcAft>
              <a:buClr>
                <a:schemeClr val="accent2"/>
              </a:buClr>
              <a:buSzPct val="70000"/>
              <a:buFont typeface="Arial" pitchFamily="34" charset="0"/>
              <a:buChar char="►"/>
            </a:pPr>
            <a:r>
              <a:rPr lang="en-US" sz="2000" dirty="0"/>
              <a:t>The quantifier goes after the pattern that’s repeated and says how many times to repeat that pattern</a:t>
            </a:r>
          </a:p>
        </p:txBody>
      </p:sp>
    </p:spTree>
    <p:extLst>
      <p:ext uri="{BB962C8B-B14F-4D97-AF65-F5344CB8AC3E}">
        <p14:creationId xmlns:p14="http://schemas.microsoft.com/office/powerpoint/2010/main" val="2385464030"/>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84562" y="375392"/>
            <a:ext cx="9204101" cy="634605"/>
          </a:xfrm>
        </p:spPr>
        <p:txBody>
          <a:bodyPr vert="horz" lIns="0" tIns="0" rIns="0" bIns="0" rtlCol="0" anchor="t" anchorCtr="0">
            <a:noAutofit/>
          </a:bodyPr>
          <a:lstStyle/>
          <a:p>
            <a:r>
              <a:rPr lang="en-US" dirty="0"/>
              <a:t>String Processing with Regular Expressions</a:t>
            </a: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896617FC-25AF-488C-9B2B-A4AB8395C169}"/>
              </a:ext>
            </a:extLst>
          </p:cNvPr>
          <p:cNvPicPr>
            <a:picLocks noChangeAspect="1"/>
          </p:cNvPicPr>
          <p:nvPr/>
        </p:nvPicPr>
        <p:blipFill>
          <a:blip r:embed="rId3"/>
          <a:stretch>
            <a:fillRect/>
          </a:stretch>
        </p:blipFill>
        <p:spPr>
          <a:xfrm>
            <a:off x="639607" y="1268760"/>
            <a:ext cx="10912786" cy="2476715"/>
          </a:xfrm>
          <a:prstGeom prst="rect">
            <a:avLst/>
          </a:prstGeom>
        </p:spPr>
      </p:pic>
    </p:spTree>
    <p:extLst>
      <p:ext uri="{BB962C8B-B14F-4D97-AF65-F5344CB8AC3E}">
        <p14:creationId xmlns:p14="http://schemas.microsoft.com/office/powerpoint/2010/main" val="2903357880"/>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pPr algn="ctr"/>
            <a:r>
              <a:rPr lang="en-IN" dirty="0"/>
              <a:t>Thank You</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1824" y="692696"/>
            <a:ext cx="1584176" cy="1531370"/>
          </a:xfrm>
          <a:prstGeom prst="rect">
            <a:avLst/>
          </a:prstGeom>
        </p:spPr>
      </p:pic>
    </p:spTree>
    <p:extLst>
      <p:ext uri="{BB962C8B-B14F-4D97-AF65-F5344CB8AC3E}">
        <p14:creationId xmlns:p14="http://schemas.microsoft.com/office/powerpoint/2010/main" val="1314720501"/>
      </p:ext>
    </p:extLst>
  </p:cSld>
  <p:clrMapOvr>
    <a:masterClrMapping/>
  </p:clrMapOvr>
  <p:transition>
    <p:fade/>
  </p:transition>
</p:sld>
</file>

<file path=ppt/theme/theme1.xml><?xml version="1.0" encoding="utf-8"?>
<a:theme xmlns:a="http://schemas.openxmlformats.org/drawingml/2006/main" name="EYU Regular presentation">
  <a:themeElements>
    <a:clrScheme name="Custom 1">
      <a:dk1>
        <a:srgbClr val="000000"/>
      </a:dk1>
      <a:lt1>
        <a:srgbClr val="808080"/>
      </a:lt1>
      <a:dk2>
        <a:srgbClr val="FFFFFF"/>
      </a:dk2>
      <a:lt2>
        <a:srgbClr val="80808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2.xml><?xml version="1.0" encoding="utf-8"?>
<a:theme xmlns:a="http://schemas.openxmlformats.org/drawingml/2006/main" name="EY light projection">
  <a:themeElements>
    <a:clrScheme name="Custom 1">
      <a:dk1>
        <a:srgbClr val="000000"/>
      </a:dk1>
      <a:lt1>
        <a:srgbClr val="808080"/>
      </a:lt1>
      <a:dk2>
        <a:srgbClr val="FFFFFF"/>
      </a:dk2>
      <a:lt2>
        <a:srgbClr val="80808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3.xml><?xml version="1.0" encoding="utf-8"?>
<a:theme xmlns:a="http://schemas.openxmlformats.org/drawingml/2006/main" name="1_EY light projection">
  <a:themeElements>
    <a:clrScheme name="Custom 1">
      <a:dk1>
        <a:srgbClr val="000000"/>
      </a:dk1>
      <a:lt1>
        <a:srgbClr val="808080"/>
      </a:lt1>
      <a:dk2>
        <a:srgbClr val="FFFFFF"/>
      </a:dk2>
      <a:lt2>
        <a:srgbClr val="80808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4.xml><?xml version="1.0" encoding="utf-8"?>
<a:theme xmlns:a="http://schemas.openxmlformats.org/drawingml/2006/main" name="EY regular presentation_2010">
  <a:themeElements>
    <a:clrScheme name="Custom 1">
      <a:dk1>
        <a:srgbClr val="000000"/>
      </a:dk1>
      <a:lt1>
        <a:srgbClr val="808080"/>
      </a:lt1>
      <a:dk2>
        <a:srgbClr val="FFFFFF"/>
      </a:dk2>
      <a:lt2>
        <a:srgbClr val="80808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11356</TotalTime>
  <Words>8505</Words>
  <Application>Microsoft Office PowerPoint</Application>
  <PresentationFormat>Widescreen</PresentationFormat>
  <Paragraphs>812</Paragraphs>
  <Slides>146</Slides>
  <Notes>133</Notes>
  <HiddenSlides>1</HiddenSlides>
  <MMClips>0</MMClips>
  <ScaleCrop>false</ScaleCrop>
  <HeadingPairs>
    <vt:vector size="8" baseType="variant">
      <vt:variant>
        <vt:lpstr>Fonts Used</vt:lpstr>
      </vt:variant>
      <vt:variant>
        <vt:i4>8</vt:i4>
      </vt:variant>
      <vt:variant>
        <vt:lpstr>Theme</vt:lpstr>
      </vt:variant>
      <vt:variant>
        <vt:i4>4</vt:i4>
      </vt:variant>
      <vt:variant>
        <vt:lpstr>Embedded OLE Servers</vt:lpstr>
      </vt:variant>
      <vt:variant>
        <vt:i4>1</vt:i4>
      </vt:variant>
      <vt:variant>
        <vt:lpstr>Slide Titles</vt:lpstr>
      </vt:variant>
      <vt:variant>
        <vt:i4>146</vt:i4>
      </vt:variant>
    </vt:vector>
  </HeadingPairs>
  <TitlesOfParts>
    <vt:vector size="159" baseType="lpstr">
      <vt:lpstr>Arial</vt:lpstr>
      <vt:lpstr>Armata</vt:lpstr>
      <vt:lpstr>Calibri</vt:lpstr>
      <vt:lpstr>Courier</vt:lpstr>
      <vt:lpstr>Courier New</vt:lpstr>
      <vt:lpstr>EYInterstate</vt:lpstr>
      <vt:lpstr>Open Sans</vt:lpstr>
      <vt:lpstr>Wingdings</vt:lpstr>
      <vt:lpstr>EYU Regular presentation</vt:lpstr>
      <vt:lpstr>EY light projection</vt:lpstr>
      <vt:lpstr>1_EY light projection</vt:lpstr>
      <vt:lpstr>EY regular presentation_2010</vt:lpstr>
      <vt:lpstr>Bitmap Image</vt:lpstr>
      <vt:lpstr>DEPARTMENT OF COMPUTER SCIENCE &amp; ENGINEERING</vt:lpstr>
      <vt:lpstr>PowerPoint Presentation</vt:lpstr>
      <vt:lpstr>Module 3  (CO3, Cognitive Knowledge Level: Apply)</vt:lpstr>
      <vt:lpstr>PowerPoint Presentation</vt:lpstr>
      <vt:lpstr>Introduction</vt:lpstr>
      <vt:lpstr>Introduction to PHP</vt:lpstr>
      <vt:lpstr>Three-tier web-based application</vt:lpstr>
      <vt:lpstr>Three-tier web-based application</vt:lpstr>
      <vt:lpstr>Client-Side Scripting versus Server-Side Scripting</vt:lpstr>
      <vt:lpstr>Accessing Web Server</vt:lpstr>
      <vt:lpstr>Installing to PHP</vt:lpstr>
      <vt:lpstr>PHP Language Structure</vt:lpstr>
      <vt:lpstr>Building blocks of PHP</vt:lpstr>
      <vt:lpstr>Building blocks of PHP</vt:lpstr>
      <vt:lpstr>Building blocks of PHP</vt:lpstr>
      <vt:lpstr>Building blocks of PHP</vt:lpstr>
      <vt:lpstr>Building blocks of PHP</vt:lpstr>
      <vt:lpstr>Superglobal variables</vt:lpstr>
      <vt:lpstr>Building blocks of PHP</vt:lpstr>
      <vt:lpstr>Building blocks of PHP</vt:lpstr>
      <vt:lpstr>PowerPoint Presentation</vt:lpstr>
      <vt:lpstr>PowerPoint Presentation</vt:lpstr>
      <vt:lpstr>PowerPoint Presentation</vt:lpstr>
      <vt:lpstr>Building blocks of PHP</vt:lpstr>
      <vt:lpstr>Building blocks of PHP</vt:lpstr>
      <vt:lpstr>Building blocks of PHP</vt:lpstr>
      <vt:lpstr>Building blocks of PHP</vt:lpstr>
      <vt:lpstr>Determining data types</vt:lpstr>
      <vt:lpstr>changing data types</vt:lpstr>
      <vt:lpstr>changing data types</vt:lpstr>
      <vt:lpstr>changing data types with settype()</vt:lpstr>
      <vt:lpstr>changing data types by casting</vt:lpstr>
      <vt:lpstr>Building blocks of PHP</vt:lpstr>
      <vt:lpstr>Building blocks of PHP</vt:lpstr>
      <vt:lpstr>Building blocks of PHP</vt:lpstr>
      <vt:lpstr>Building blocks of PHP</vt:lpstr>
      <vt:lpstr>Building blocks of PHP</vt:lpstr>
      <vt:lpstr>Building blocks of PHP</vt:lpstr>
      <vt:lpstr>Building blocks of PHP</vt:lpstr>
      <vt:lpstr>floor(),ceil()</vt:lpstr>
      <vt:lpstr>rand()</vt:lpstr>
      <vt:lpstr>Building blocks of PHP</vt:lpstr>
      <vt:lpstr>Building blocks of PHP</vt:lpstr>
      <vt:lpstr>Echo and Print</vt:lpstr>
      <vt:lpstr>PowerPoint Presentation</vt:lpstr>
      <vt:lpstr>Flow Control statements in PHP</vt:lpstr>
      <vt:lpstr>Input handling in PHP</vt:lpstr>
      <vt:lpstr>Flow Control statements in PHP</vt:lpstr>
      <vt:lpstr>Loop statements in PHP</vt:lpstr>
      <vt:lpstr>Loop statements in PHP</vt:lpstr>
      <vt:lpstr>PowerPoint Presentation</vt:lpstr>
      <vt:lpstr>Loop statements in PHP</vt:lpstr>
      <vt:lpstr>University Questions</vt:lpstr>
      <vt:lpstr>University Questions</vt:lpstr>
      <vt:lpstr>University Questions</vt:lpstr>
      <vt:lpstr>Basic Programs-Palindrome number</vt:lpstr>
      <vt:lpstr>PowerPoint Presentation</vt:lpstr>
      <vt:lpstr>Arrays in PHP</vt:lpstr>
      <vt:lpstr>Creating numeric Arrays in PHP</vt:lpstr>
      <vt:lpstr>Creating numeric Arrays in PHP</vt:lpstr>
      <vt:lpstr>Creating Associative Arrays in PHP</vt:lpstr>
      <vt:lpstr>Creating Associative Arrays in PHP</vt:lpstr>
      <vt:lpstr>PowerPoint Presentation</vt:lpstr>
      <vt:lpstr>Functions dealing with Array</vt:lpstr>
      <vt:lpstr>Functions dealing with Array</vt:lpstr>
      <vt:lpstr>Functions dealing with Array</vt:lpstr>
      <vt:lpstr>Functions dealing with Array</vt:lpstr>
      <vt:lpstr>Functions dealing with Array-explode and implode</vt:lpstr>
      <vt:lpstr>Functions dealing with Array</vt:lpstr>
      <vt:lpstr>Functions dealing with Array</vt:lpstr>
      <vt:lpstr>To process Array use foreach statement</vt:lpstr>
      <vt:lpstr>To process Array use foreach statement</vt:lpstr>
      <vt:lpstr>Sorting Arrays</vt:lpstr>
      <vt:lpstr>Sorting Arrays</vt:lpstr>
      <vt:lpstr>Sorting Arrays</vt:lpstr>
      <vt:lpstr>Sorting Arrays</vt:lpstr>
      <vt:lpstr>Sorting Arrays</vt:lpstr>
      <vt:lpstr> Arrays-Using array_search() </vt:lpstr>
      <vt:lpstr> Arrays-Using array_diff()  </vt:lpstr>
      <vt:lpstr> PHP Program to find if an array is a subset of another:   </vt:lpstr>
      <vt:lpstr> PHP Program to check whether an array is empty or not</vt:lpstr>
      <vt:lpstr> University Question </vt:lpstr>
      <vt:lpstr> University Question </vt:lpstr>
      <vt:lpstr>PowerPoint Presentation</vt:lpstr>
      <vt:lpstr>Functions</vt:lpstr>
      <vt:lpstr>Functions</vt:lpstr>
      <vt:lpstr>Functions</vt:lpstr>
      <vt:lpstr>Functions-scope of variables</vt:lpstr>
      <vt:lpstr>Functions</vt:lpstr>
      <vt:lpstr>Functions-Loosely Typed Language</vt:lpstr>
      <vt:lpstr>Functions-Loosely Typed Language</vt:lpstr>
      <vt:lpstr>Functions-returning values</vt:lpstr>
      <vt:lpstr>Functions-PHP Return Type Declarations </vt:lpstr>
      <vt:lpstr>PLEASE NOTE!!! </vt:lpstr>
      <vt:lpstr>Functions-Pass by value </vt:lpstr>
      <vt:lpstr>Functions-Pass by reference </vt:lpstr>
      <vt:lpstr>University question </vt:lpstr>
      <vt:lpstr>University question </vt:lpstr>
      <vt:lpstr>University question                               contd… </vt:lpstr>
      <vt:lpstr>University question              contd… </vt:lpstr>
      <vt:lpstr>University question </vt:lpstr>
      <vt:lpstr>University question </vt:lpstr>
      <vt:lpstr>University question </vt:lpstr>
      <vt:lpstr>University question </vt:lpstr>
      <vt:lpstr>PowerPoint Presentation</vt:lpstr>
      <vt:lpstr>University question </vt:lpstr>
      <vt:lpstr>University question </vt:lpstr>
      <vt:lpstr>University question </vt:lpstr>
      <vt:lpstr>University question </vt:lpstr>
      <vt:lpstr>PowerPoint Presentation</vt:lpstr>
      <vt:lpstr>Objects</vt:lpstr>
      <vt:lpstr>Objects</vt:lpstr>
      <vt:lpstr>Objects</vt:lpstr>
      <vt:lpstr>Objects</vt:lpstr>
      <vt:lpstr>Properties of Objects</vt:lpstr>
      <vt:lpstr>Properties of Objects</vt:lpstr>
      <vt:lpstr>Object Methods</vt:lpstr>
      <vt:lpstr>Object Methods</vt:lpstr>
      <vt:lpstr>Changing the value of a property from within a method</vt:lpstr>
      <vt:lpstr>Constructors</vt:lpstr>
      <vt:lpstr>Object Inheritance</vt:lpstr>
      <vt:lpstr>Method 0verriding</vt:lpstr>
      <vt:lpstr>PowerPoint Presentation</vt:lpstr>
      <vt:lpstr>String Comparisons</vt:lpstr>
      <vt:lpstr>String Comparisons-using strcmp function</vt:lpstr>
      <vt:lpstr>String Comparisons-using Relational operators</vt:lpstr>
      <vt:lpstr>PowerPoint Presentation</vt:lpstr>
      <vt:lpstr>String Processing with Regular Expressions</vt:lpstr>
      <vt:lpstr>Why is regular expressions used in PHP? What are the 3 components of a regular expression?</vt:lpstr>
      <vt:lpstr>String Processing with Regular Expressions</vt:lpstr>
      <vt:lpstr>String Processing with Regular Expressions</vt:lpstr>
      <vt:lpstr>String Processing with Regular Expressions</vt:lpstr>
      <vt:lpstr>String Processing with Regular Expressions</vt:lpstr>
      <vt:lpstr>String Processing with Regular Expressions</vt:lpstr>
      <vt:lpstr>String Processing with Regular Expressions</vt:lpstr>
      <vt:lpstr>String Processing with Regular Expressions</vt:lpstr>
      <vt:lpstr>String Processing with Regular Expressions</vt:lpstr>
      <vt:lpstr>String Processing with Regular Expressions</vt:lpstr>
      <vt:lpstr>String Processing with Regular Expressions-Modifiers</vt:lpstr>
      <vt:lpstr>String Processing with Regular Expressions-Modifiers</vt:lpstr>
      <vt:lpstr>String Processing with Regular Expressions</vt:lpstr>
      <vt:lpstr>String Processing with Regular Expressions</vt:lpstr>
      <vt:lpstr>String Processing with Regular Expressions</vt:lpstr>
      <vt:lpstr>String Processing with Regular Expressions</vt:lpstr>
      <vt:lpstr>String Processing with Regular Expressions</vt:lpstr>
      <vt:lpstr>PowerPoint Presentation</vt:lpstr>
    </vt:vector>
  </TitlesOfParts>
  <Company>Ernst &amp; Young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EY Presentation</dc:title>
  <dc:creator>Vicky Vamvakousi</dc:creator>
  <cp:lastModifiedBy>Rhea Maria James</cp:lastModifiedBy>
  <cp:revision>768</cp:revision>
  <dcterms:created xsi:type="dcterms:W3CDTF">2014-04-11T07:04:28Z</dcterms:created>
  <dcterms:modified xsi:type="dcterms:W3CDTF">2025-10-09T16:02:35Z</dcterms:modified>
</cp:coreProperties>
</file>