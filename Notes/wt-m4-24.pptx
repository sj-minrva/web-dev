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690" r:id="rId3"/>
    <p:sldMasterId id="2147483707" r:id="rId4"/>
  </p:sldMasterIdLst>
  <p:notesMasterIdLst>
    <p:notesMasterId r:id="rId112"/>
  </p:notesMasterIdLst>
  <p:handoutMasterIdLst>
    <p:handoutMasterId r:id="rId113"/>
  </p:handoutMasterIdLst>
  <p:sldIdLst>
    <p:sldId id="268" r:id="rId5"/>
    <p:sldId id="298" r:id="rId6"/>
    <p:sldId id="990" r:id="rId7"/>
    <p:sldId id="413" r:id="rId8"/>
    <p:sldId id="461" r:id="rId9"/>
    <p:sldId id="991" r:id="rId10"/>
    <p:sldId id="992" r:id="rId11"/>
    <p:sldId id="993" r:id="rId12"/>
    <p:sldId id="994" r:id="rId13"/>
    <p:sldId id="598" r:id="rId14"/>
    <p:sldId id="1016" r:id="rId15"/>
    <p:sldId id="1017" r:id="rId16"/>
    <p:sldId id="1018" r:id="rId17"/>
    <p:sldId id="1019" r:id="rId18"/>
    <p:sldId id="1020" r:id="rId19"/>
    <p:sldId id="1021" r:id="rId20"/>
    <p:sldId id="1096" r:id="rId21"/>
    <p:sldId id="1097" r:id="rId22"/>
    <p:sldId id="1004" r:id="rId23"/>
    <p:sldId id="1005" r:id="rId24"/>
    <p:sldId id="1006" r:id="rId25"/>
    <p:sldId id="1007" r:id="rId26"/>
    <p:sldId id="1008" r:id="rId27"/>
    <p:sldId id="1009" r:id="rId28"/>
    <p:sldId id="1010" r:id="rId29"/>
    <p:sldId id="1052" r:id="rId30"/>
    <p:sldId id="1053" r:id="rId31"/>
    <p:sldId id="1054" r:id="rId32"/>
    <p:sldId id="1011" r:id="rId33"/>
    <p:sldId id="1012" r:id="rId34"/>
    <p:sldId id="1013" r:id="rId35"/>
    <p:sldId id="1014" r:id="rId36"/>
    <p:sldId id="1015" r:id="rId37"/>
    <p:sldId id="1074" r:id="rId38"/>
    <p:sldId id="1075" r:id="rId39"/>
    <p:sldId id="1077" r:id="rId40"/>
    <p:sldId id="1078" r:id="rId41"/>
    <p:sldId id="1079" r:id="rId42"/>
    <p:sldId id="1094" r:id="rId43"/>
    <p:sldId id="1095" r:id="rId44"/>
    <p:sldId id="1022" r:id="rId45"/>
    <p:sldId id="997" r:id="rId46"/>
    <p:sldId id="1080" r:id="rId47"/>
    <p:sldId id="1024" r:id="rId48"/>
    <p:sldId id="1025" r:id="rId49"/>
    <p:sldId id="1023" r:id="rId50"/>
    <p:sldId id="999" r:id="rId51"/>
    <p:sldId id="1027" r:id="rId52"/>
    <p:sldId id="1081" r:id="rId53"/>
    <p:sldId id="1086" r:id="rId54"/>
    <p:sldId id="1087" r:id="rId55"/>
    <p:sldId id="1028" r:id="rId56"/>
    <p:sldId id="1029" r:id="rId57"/>
    <p:sldId id="1084" r:id="rId58"/>
    <p:sldId id="1003" r:id="rId59"/>
    <p:sldId id="1030" r:id="rId60"/>
    <p:sldId id="1000" r:id="rId61"/>
    <p:sldId id="995" r:id="rId62"/>
    <p:sldId id="996" r:id="rId63"/>
    <p:sldId id="1088" r:id="rId64"/>
    <p:sldId id="1031" r:id="rId65"/>
    <p:sldId id="1032" r:id="rId66"/>
    <p:sldId id="998" r:id="rId67"/>
    <p:sldId id="1085" r:id="rId68"/>
    <p:sldId id="1033" r:id="rId69"/>
    <p:sldId id="1035" r:id="rId70"/>
    <p:sldId id="1036" r:id="rId71"/>
    <p:sldId id="1034" r:id="rId72"/>
    <p:sldId id="1089" r:id="rId73"/>
    <p:sldId id="1037" r:id="rId74"/>
    <p:sldId id="1038" r:id="rId75"/>
    <p:sldId id="1039" r:id="rId76"/>
    <p:sldId id="1042" r:id="rId77"/>
    <p:sldId id="1040" r:id="rId78"/>
    <p:sldId id="1041" r:id="rId79"/>
    <p:sldId id="1090" r:id="rId80"/>
    <p:sldId id="1091" r:id="rId81"/>
    <p:sldId id="1092" r:id="rId82"/>
    <p:sldId id="1093" r:id="rId83"/>
    <p:sldId id="1043" r:id="rId84"/>
    <p:sldId id="1044" r:id="rId85"/>
    <p:sldId id="1045" r:id="rId86"/>
    <p:sldId id="1046" r:id="rId87"/>
    <p:sldId id="1047" r:id="rId88"/>
    <p:sldId id="1051" r:id="rId89"/>
    <p:sldId id="1048" r:id="rId90"/>
    <p:sldId id="1049" r:id="rId91"/>
    <p:sldId id="1050" r:id="rId92"/>
    <p:sldId id="1055" r:id="rId93"/>
    <p:sldId id="1056" r:id="rId94"/>
    <p:sldId id="1073" r:id="rId95"/>
    <p:sldId id="1058" r:id="rId96"/>
    <p:sldId id="1057" r:id="rId97"/>
    <p:sldId id="1062" r:id="rId98"/>
    <p:sldId id="1064" r:id="rId99"/>
    <p:sldId id="1067" r:id="rId100"/>
    <p:sldId id="1060" r:id="rId101"/>
    <p:sldId id="1066" r:id="rId102"/>
    <p:sldId id="1061" r:id="rId103"/>
    <p:sldId id="1063" r:id="rId104"/>
    <p:sldId id="1068" r:id="rId105"/>
    <p:sldId id="1065" r:id="rId106"/>
    <p:sldId id="1069" r:id="rId107"/>
    <p:sldId id="1070" r:id="rId108"/>
    <p:sldId id="1071" r:id="rId109"/>
    <p:sldId id="1072" r:id="rId110"/>
    <p:sldId id="688" r:id="rId111"/>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orient="horz" pos="3838" userDrawn="1">
          <p15:clr>
            <a:srgbClr val="A4A3A4"/>
          </p15:clr>
        </p15:guide>
        <p15:guide id="3"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7E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1905" autoAdjust="0"/>
  </p:normalViewPr>
  <p:slideViewPr>
    <p:cSldViewPr>
      <p:cViewPr>
        <p:scale>
          <a:sx n="75" d="100"/>
          <a:sy n="75" d="100"/>
        </p:scale>
        <p:origin x="974" y="67"/>
      </p:cViewPr>
      <p:guideLst>
        <p:guide orient="horz" pos="3884"/>
        <p:guide orient="horz" pos="3838"/>
        <p:guide pos="3840"/>
      </p:guideLst>
    </p:cSldViewPr>
  </p:slideViewPr>
  <p:notesTextViewPr>
    <p:cViewPr>
      <p:scale>
        <a:sx n="1" d="1"/>
        <a:sy n="1" d="1"/>
      </p:scale>
      <p:origin x="0" y="0"/>
    </p:cViewPr>
  </p:notesTextViewPr>
  <p:sorterViewPr>
    <p:cViewPr>
      <p:scale>
        <a:sx n="100" d="100"/>
        <a:sy n="100" d="100"/>
      </p:scale>
      <p:origin x="0" y="0"/>
    </p:cViewPr>
  </p:sorterViewPr>
  <p:notesViewPr>
    <p:cSldViewPr>
      <p:cViewPr varScale="1">
        <p:scale>
          <a:sx n="55" d="100"/>
          <a:sy n="55" d="100"/>
        </p:scale>
        <p:origin x="-285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ableStyles" Target="tableStyle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notesMaster" Target="notesMasters/notesMaster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handoutMaster" Target="handoutMasters/handoutMaster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397089B-D374-4627-9F33-CA940E3B29F1}" type="datetimeFigureOut">
              <a:rPr lang="en-US" smtClean="0"/>
              <a:pPr/>
              <a:t>11/10/2025</a:t>
            </a:fld>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D33C253-DD25-4D82-8548-B5428707B488}" type="slidenum">
              <a:rPr lang="en-US" smtClean="0"/>
              <a:pPr/>
              <a:t>‹#›</a:t>
            </a:fld>
            <a:endParaRPr lang="en-US" dirty="0"/>
          </a:p>
        </p:txBody>
      </p:sp>
    </p:spTree>
    <p:extLst>
      <p:ext uri="{BB962C8B-B14F-4D97-AF65-F5344CB8AC3E}">
        <p14:creationId xmlns:p14="http://schemas.microsoft.com/office/powerpoint/2010/main" val="26370250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l-G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1EECD03-7277-4269-A7EC-8B1E3728BF24}" type="datetimeFigureOut">
              <a:rPr lang="el-GR" smtClean="0"/>
              <a:pPr/>
              <a:t>10/11/2025</a:t>
            </a:fld>
            <a:endParaRPr lang="el-G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l-G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l-G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l-G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EA1FA17-B5DB-481C-8402-B3CAE17DEC83}" type="slidenum">
              <a:rPr lang="el-GR" smtClean="0"/>
              <a:pPr/>
              <a:t>‹#›</a:t>
            </a:fld>
            <a:endParaRPr lang="el-GR"/>
          </a:p>
        </p:txBody>
      </p:sp>
    </p:spTree>
    <p:extLst>
      <p:ext uri="{BB962C8B-B14F-4D97-AF65-F5344CB8AC3E}">
        <p14:creationId xmlns:p14="http://schemas.microsoft.com/office/powerpoint/2010/main" val="2961141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hangingPunct="0"/>
            <a:r>
              <a:rPr lang="en-US" b="1" dirty="0"/>
              <a:t>Welcome the participants to the program.</a:t>
            </a:r>
            <a:endParaRPr lang="en-US" dirty="0"/>
          </a:p>
          <a:p>
            <a:pPr hangingPunct="0"/>
            <a:r>
              <a:rPr lang="en-US" b="1" dirty="0"/>
              <a:t>Introduce yourself and briefly summarize your experience at EY and your interest in presenting at </a:t>
            </a:r>
            <a:r>
              <a:rPr lang="en-US" b="1" i="1" dirty="0"/>
              <a:t>Welcome to EY</a:t>
            </a:r>
            <a:r>
              <a:rPr lang="en-US" b="1" dirty="0"/>
              <a:t>.</a:t>
            </a:r>
            <a:endParaRPr lang="en-US" dirty="0"/>
          </a:p>
          <a:p>
            <a:pPr hangingPunct="0"/>
            <a:r>
              <a:rPr lang="en-US" b="1" dirty="0"/>
              <a:t>Have co-facilitators, if present, introduce themselves and provide background information.</a:t>
            </a:r>
            <a:endParaRPr lang="en-US" dirty="0"/>
          </a:p>
          <a:p>
            <a:pPr hangingPunct="0"/>
            <a:r>
              <a:rPr lang="en-US" b="1" dirty="0"/>
              <a:t>State the following to help participants understand the context of Welcome to EY:  </a:t>
            </a:r>
          </a:p>
          <a:p>
            <a:pPr hangingPunct="0"/>
            <a:r>
              <a:rPr lang="en-US" dirty="0"/>
              <a:t>This course was designed for all ranks around the globe. It provides you with foundational knowledge that will help to explain our culture, our processes and how we go to market.</a:t>
            </a:r>
          </a:p>
          <a:p>
            <a:pPr hangingPunct="0"/>
            <a:r>
              <a:rPr lang="en-US" dirty="0"/>
              <a:t>However, your service line will provide the specifics about your role and your job. </a:t>
            </a:r>
          </a:p>
          <a:p>
            <a:r>
              <a:rPr lang="en-US" dirty="0"/>
              <a:t>As an organization, we want to invest in you, give you consistent content globally, let you meet other new hires across service lines and meet some of our leaders.</a:t>
            </a:r>
          </a:p>
        </p:txBody>
      </p:sp>
      <p:sp>
        <p:nvSpPr>
          <p:cNvPr id="4" name="Slide Number Placeholder 3"/>
          <p:cNvSpPr>
            <a:spLocks noGrp="1"/>
          </p:cNvSpPr>
          <p:nvPr>
            <p:ph type="sldNum" sz="quarter" idx="10"/>
          </p:nvPr>
        </p:nvSpPr>
        <p:spPr/>
        <p:txBody>
          <a:bodyPr/>
          <a:lstStyle/>
          <a:p>
            <a:fld id="{AEA1FA17-B5DB-481C-8402-B3CAE17DEC83}" type="slidenum">
              <a:rPr lang="el-GR" smtClean="0"/>
              <a:pPr/>
              <a:t>1</a:t>
            </a:fld>
            <a:endParaRPr lang="el-GR"/>
          </a:p>
        </p:txBody>
      </p:sp>
    </p:spTree>
    <p:extLst>
      <p:ext uri="{BB962C8B-B14F-4D97-AF65-F5344CB8AC3E}">
        <p14:creationId xmlns:p14="http://schemas.microsoft.com/office/powerpoint/2010/main" val="22513934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235428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467764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955419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49521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419586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44387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111072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007752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424459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70638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654389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590605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86177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31755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074667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525796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789579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0903219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987544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3867703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96670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883435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898797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687274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339943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2888530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199666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055793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570542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963095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1052237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5187320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951824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5307491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00077317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5811944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7704865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03908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050309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624456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6108519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59282359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5549636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0664871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6124019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1059487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8652776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4035508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1266061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75862484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44285426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4440110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2571204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7826390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90024892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99661295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08792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3353705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73756292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88464875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364879502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6375589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6795145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5170138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9260752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21966198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8574213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87860137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573232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58662399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96380413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5216021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35165989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8905423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29344741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07423248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4226216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4846595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4477092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50621907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6625801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6098105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1599017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343002840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93240595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1154105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emf"/><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auto">
          <a:xfrm>
            <a:off x="3028346" y="5747990"/>
            <a:ext cx="1311311" cy="745200"/>
          </a:xfrm>
          <a:prstGeom prst="rect">
            <a:avLst/>
          </a:prstGeom>
          <a:noFill/>
          <a:ln w="9525">
            <a:noFill/>
            <a:miter lim="800000"/>
            <a:headEnd/>
            <a:tailEnd/>
          </a:ln>
          <a:effectLst/>
        </p:spPr>
      </p:pic>
      <p:sp>
        <p:nvSpPr>
          <p:cNvPr id="2" name="Title 1"/>
          <p:cNvSpPr>
            <a:spLocks noGrp="1"/>
          </p:cNvSpPr>
          <p:nvPr>
            <p:ph type="ctrTitle"/>
          </p:nvPr>
        </p:nvSpPr>
        <p:spPr>
          <a:xfrm>
            <a:off x="3110400" y="725348"/>
            <a:ext cx="7320000" cy="860400"/>
          </a:xfrm>
        </p:spPr>
        <p:txBody>
          <a:bodyPr/>
          <a:lstStyle/>
          <a:p>
            <a:r>
              <a:rPr lang="en-US"/>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sp>
        <p:nvSpPr>
          <p:cNvPr id="1032" name="Freeform 8"/>
          <p:cNvSpPr>
            <a:spLocks/>
          </p:cNvSpPr>
          <p:nvPr userDrawn="1"/>
        </p:nvSpPr>
        <p:spPr bwMode="gray">
          <a:xfrm>
            <a:off x="3030963" y="2405085"/>
            <a:ext cx="9161037" cy="249522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0" name="Freeform 9"/>
          <p:cNvSpPr/>
          <p:nvPr userDrawn="1"/>
        </p:nvSpPr>
        <p:spPr>
          <a:xfrm>
            <a:off x="-12192" y="4411264"/>
            <a:ext cx="3048000" cy="1318973"/>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Lst>
            <a:ahLst/>
            <a:cxnLst>
              <a:cxn ang="0">
                <a:pos x="connsiteX0" y="connsiteY0"/>
              </a:cxn>
              <a:cxn ang="0">
                <a:pos x="connsiteX1" y="connsiteY1"/>
              </a:cxn>
              <a:cxn ang="0">
                <a:pos x="connsiteX2" y="connsiteY2"/>
              </a:cxn>
              <a:cxn ang="0">
                <a:pos x="connsiteX3" y="connsiteY3"/>
              </a:cxn>
            </a:cxnLst>
            <a:rect l="l" t="t" r="r" b="b"/>
            <a:pathLst>
              <a:path w="2286000" h="1318973">
                <a:moveTo>
                  <a:pt x="0" y="1318973"/>
                </a:moveTo>
                <a:lnTo>
                  <a:pt x="0" y="0"/>
                </a:lnTo>
                <a:lnTo>
                  <a:pt x="2286000" y="486803"/>
                </a:lnTo>
                <a:lnTo>
                  <a:pt x="0" y="1318973"/>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pic>
        <p:nvPicPr>
          <p:cNvPr id="11" name="Picture 10" descr="EYU_identifier_r100_g100_b100.png"/>
          <p:cNvPicPr>
            <a:picLocks noChangeAspect="1"/>
          </p:cNvPicPr>
          <p:nvPr userDrawn="1"/>
        </p:nvPicPr>
        <p:blipFill>
          <a:blip r:embed="rId4" cstate="print"/>
          <a:stretch>
            <a:fillRect/>
          </a:stretch>
        </p:blipFill>
        <p:spPr>
          <a:xfrm>
            <a:off x="406400" y="304800"/>
            <a:ext cx="1170432" cy="760782"/>
          </a:xfrm>
          <a:prstGeom prst="rect">
            <a:avLst/>
          </a:prstGeom>
        </p:spPr>
      </p:pic>
    </p:spTree>
    <p:extLst>
      <p:ext uri="{BB962C8B-B14F-4D97-AF65-F5344CB8AC3E}">
        <p14:creationId xmlns:p14="http://schemas.microsoft.com/office/powerpoint/2010/main" val="88081197"/>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37592751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dirty="0"/>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630815197"/>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a:xfrm>
            <a:off x="3451200" y="6323013"/>
            <a:ext cx="4579200" cy="201600"/>
          </a:xfrm>
        </p:spPr>
        <p:txBody>
          <a:bodyPr/>
          <a:lstStyle/>
          <a:p>
            <a:r>
              <a:rPr lang="en-GB">
                <a:solidFill>
                  <a:srgbClr val="808080"/>
                </a:solidFill>
              </a:rPr>
              <a:t>Presentation title</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24104969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97339116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967726354"/>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077" name="Freeform 5"/>
          <p:cNvSpPr>
            <a:spLocks/>
          </p:cNvSpPr>
          <p:nvPr userDrawn="1"/>
        </p:nvSpPr>
        <p:spPr bwMode="gray">
          <a:xfrm>
            <a:off x="609600" y="1039814"/>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899230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4101"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60905094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232377379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333679414"/>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5949770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05645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3029257" y="5745156"/>
            <a:ext cx="1311311" cy="745200"/>
          </a:xfrm>
          <a:prstGeom prst="rect">
            <a:avLst/>
          </a:prstGeom>
          <a:noFill/>
          <a:ln w="9525">
            <a:noFill/>
            <a:miter lim="800000"/>
            <a:headEnd/>
            <a:tailEnd/>
          </a:ln>
          <a:effectLst/>
        </p:spPr>
      </p:pic>
      <p:grpSp>
        <p:nvGrpSpPr>
          <p:cNvPr id="10" name="Group 9"/>
          <p:cNvGrpSpPr/>
          <p:nvPr userDrawn="1"/>
        </p:nvGrpSpPr>
        <p:grpSpPr>
          <a:xfrm>
            <a:off x="-1407" y="2405319"/>
            <a:ext cx="12193405" cy="3346232"/>
            <a:chOff x="-1055" y="2405319"/>
            <a:chExt cx="9145054" cy="3346232"/>
          </a:xfrm>
        </p:grpSpPr>
        <p:sp>
          <p:nvSpPr>
            <p:cNvPr id="9" name="Freeform 8"/>
            <p:cNvSpPr>
              <a:spLocks/>
            </p:cNvSpPr>
            <p:nvPr userDrawn="1"/>
          </p:nvSpPr>
          <p:spPr bwMode="gray">
            <a:xfrm>
              <a:off x="2273866" y="2405319"/>
              <a:ext cx="6870133"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pic>
          <p:nvPicPr>
            <p:cNvPr id="14" name="Picture 3"/>
            <p:cNvPicPr>
              <a:picLocks noChangeAspect="1" noChangeArrowheads="1"/>
            </p:cNvPicPr>
            <p:nvPr userDrawn="1"/>
          </p:nvPicPr>
          <p:blipFill>
            <a:blip r:embed="rId3" cstate="print"/>
            <a:srcRect/>
            <a:stretch>
              <a:fillRect/>
            </a:stretch>
          </p:blipFill>
          <p:spPr bwMode="auto">
            <a:xfrm>
              <a:off x="-1055" y="4411633"/>
              <a:ext cx="2285060" cy="1339918"/>
            </a:xfrm>
            <a:prstGeom prst="rect">
              <a:avLst/>
            </a:prstGeom>
            <a:noFill/>
            <a:ln w="9525">
              <a:noFill/>
              <a:miter lim="800000"/>
              <a:headEnd/>
              <a:tailEnd/>
            </a:ln>
            <a:effectLst/>
          </p:spPr>
        </p:pic>
      </p:grpSp>
    </p:spTree>
    <p:extLst>
      <p:ext uri="{BB962C8B-B14F-4D97-AF65-F5344CB8AC3E}">
        <p14:creationId xmlns:p14="http://schemas.microsoft.com/office/powerpoint/2010/main" val="342787410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Cover_photo_or_illustration_input">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sp>
        <p:nvSpPr>
          <p:cNvPr id="9" name="Freeform 8"/>
          <p:cNvSpPr>
            <a:spLocks/>
          </p:cNvSpPr>
          <p:nvPr userDrawn="1"/>
        </p:nvSpPr>
        <p:spPr bwMode="gray">
          <a:xfrm>
            <a:off x="3031822" y="2405319"/>
            <a:ext cx="9160177"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7" name="Freeform 6"/>
          <p:cNvSpPr/>
          <p:nvPr userDrawn="1"/>
        </p:nvSpPr>
        <p:spPr>
          <a:xfrm>
            <a:off x="-12192" y="3000376"/>
            <a:ext cx="3048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2"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8" name="TextBox 7"/>
          <p:cNvSpPr txBox="1"/>
          <p:nvPr userDrawn="1"/>
        </p:nvSpPr>
        <p:spPr>
          <a:xfrm>
            <a:off x="87091" y="4047893"/>
            <a:ext cx="2381045" cy="664797"/>
          </a:xfrm>
          <a:prstGeom prst="rect">
            <a:avLst/>
          </a:prstGeom>
          <a:noFill/>
        </p:spPr>
        <p:txBody>
          <a:bodyPr wrap="square" lIns="0" tIns="36576" rIns="0" bIns="0" rtlCol="0">
            <a:spAutoFit/>
          </a:bodyPr>
          <a:lstStyle/>
          <a:p>
            <a:pPr>
              <a:lnSpc>
                <a:spcPct val="85000"/>
              </a:lnSpc>
              <a:spcAft>
                <a:spcPts val="600"/>
              </a:spcAft>
              <a:buClr>
                <a:srgbClr val="FFD200"/>
              </a:buClr>
              <a:buSzPct val="70000"/>
            </a:pPr>
            <a:r>
              <a:rPr lang="en-US" sz="1600" b="1" dirty="0">
                <a:solidFill>
                  <a:srgbClr val="FFD200"/>
                </a:solidFill>
              </a:rPr>
              <a:t>Placeholder image — to replace this image, select View&gt;Notes Page</a:t>
            </a:r>
          </a:p>
        </p:txBody>
      </p:sp>
    </p:spTree>
    <p:extLst>
      <p:ext uri="{BB962C8B-B14F-4D97-AF65-F5344CB8AC3E}">
        <p14:creationId xmlns:p14="http://schemas.microsoft.com/office/powerpoint/2010/main" val="164740702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4" name="Rectangle 3"/>
          <p:cNvSpPr/>
          <p:nvPr userDrawn="1"/>
        </p:nvSpPr>
        <p:spPr>
          <a:xfrm>
            <a:off x="11064552" y="6415200"/>
            <a:ext cx="57606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2" name="Title 1"/>
          <p:cNvSpPr>
            <a:spLocks noGrp="1"/>
          </p:cNvSpPr>
          <p:nvPr>
            <p:ph type="title" hasCustomPrompt="1"/>
          </p:nvPr>
        </p:nvSpPr>
        <p:spPr/>
        <p:txBody>
          <a:bodyPr/>
          <a:lstStyle>
            <a:lvl1pPr>
              <a:defRPr>
                <a:latin typeface="Armata"/>
              </a:defRPr>
            </a:lvl1pPr>
          </a:lstStyle>
          <a:p>
            <a:br>
              <a:rPr lang="en-US" dirty="0"/>
            </a:br>
            <a:r>
              <a:rPr lang="en-US" dirty="0"/>
              <a:t>Click to edit Master title style</a:t>
            </a:r>
            <a:endParaRPr lang="en-GB" dirty="0"/>
          </a:p>
        </p:txBody>
      </p:sp>
      <p:sp>
        <p:nvSpPr>
          <p:cNvPr id="3" name="Content Placeholder 2"/>
          <p:cNvSpPr>
            <a:spLocks noGrp="1"/>
          </p:cNvSpPr>
          <p:nvPr>
            <p:ph idx="1"/>
          </p:nvPr>
        </p:nvSpPr>
        <p:spPr/>
        <p:txBody>
          <a:bodyPr/>
          <a:lstStyle>
            <a:lvl1pPr>
              <a:defRPr>
                <a:latin typeface="Open Sans" panose="020B0606030504020204" pitchFamily="34" charset="0"/>
                <a:ea typeface="Open Sans" panose="020B0606030504020204" pitchFamily="34" charset="0"/>
                <a:cs typeface="Open Sans" panose="020B0606030504020204" pitchFamily="34" charset="0"/>
              </a:defRPr>
            </a:lvl1pPr>
            <a:lvl2pPr>
              <a:defRPr>
                <a:latin typeface="Open Sans" panose="020B0606030504020204" pitchFamily="34" charset="0"/>
                <a:ea typeface="Open Sans" panose="020B0606030504020204" pitchFamily="34" charset="0"/>
                <a:cs typeface="Open Sans" panose="020B0606030504020204" pitchFamily="34" charset="0"/>
              </a:defRPr>
            </a:lvl2pPr>
            <a:lvl3pPr>
              <a:defRPr>
                <a:latin typeface="Open Sans" panose="020B0606030504020204" pitchFamily="34" charset="0"/>
                <a:ea typeface="Open Sans" panose="020B0606030504020204" pitchFamily="34" charset="0"/>
                <a:cs typeface="Open Sans" panose="020B0606030504020204" pitchFamily="34" charset="0"/>
              </a:defRPr>
            </a:lvl3pPr>
            <a:lvl4pPr>
              <a:defRPr>
                <a:latin typeface="Open Sans" panose="020B0606030504020204" pitchFamily="34" charset="0"/>
                <a:ea typeface="Open Sans" panose="020B0606030504020204" pitchFamily="34" charset="0"/>
                <a:cs typeface="Open Sans" panose="020B0606030504020204" pitchFamily="34" charset="0"/>
              </a:defRPr>
            </a:lvl4pPr>
            <a:lvl5pPr>
              <a:defRPr>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280200770"/>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40375283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8108285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endParaRPr lang="en-GB" dirty="0"/>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endParaRPr lang="en-GB" dirty="0"/>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0613403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870024978"/>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29601"/>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74867293"/>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3692518449"/>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7"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1077118817"/>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5"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158879337"/>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4027859439"/>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0231028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13430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cSld name="Line divider 3">
    <p:spTree>
      <p:nvGrpSpPr>
        <p:cNvPr id="1" name=""/>
        <p:cNvGrpSpPr/>
        <p:nvPr/>
      </p:nvGrpSpPr>
      <p:grpSpPr>
        <a:xfrm>
          <a:off x="0" y="0"/>
          <a:ext cx="0" cy="0"/>
          <a:chOff x="0" y="0"/>
          <a:chExt cx="0" cy="0"/>
        </a:xfrm>
      </p:grpSpPr>
      <p:sp>
        <p:nvSpPr>
          <p:cNvPr id="5" name="Rectangle 4"/>
          <p:cNvSpPr/>
          <p:nvPr userDrawn="1"/>
        </p:nvSpPr>
        <p:spPr>
          <a:xfrm>
            <a:off x="508000" y="60198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4" name="Rectangle 3"/>
          <p:cNvSpPr/>
          <p:nvPr userDrawn="1"/>
        </p:nvSpPr>
        <p:spPr>
          <a:xfrm>
            <a:off x="508000" y="9144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pic>
        <p:nvPicPr>
          <p:cNvPr id="7" name="Picture 13" descr="PPTbackground_3_HANDOUT"/>
          <p:cNvPicPr>
            <a:picLocks noChangeAspect="1" noChangeArrowheads="1"/>
          </p:cNvPicPr>
          <p:nvPr userDrawn="1"/>
        </p:nvPicPr>
        <p:blipFill>
          <a:blip r:embed="rId2" cstate="print"/>
          <a:srcRect/>
          <a:stretch>
            <a:fillRect/>
          </a:stretch>
        </p:blipFill>
        <p:spPr bwMode="auto">
          <a:xfrm>
            <a:off x="637117" y="1023938"/>
            <a:ext cx="10945283" cy="5222875"/>
          </a:xfrm>
          <a:prstGeom prst="rect">
            <a:avLst/>
          </a:prstGeom>
          <a:noFill/>
        </p:spPr>
      </p:pic>
    </p:spTree>
    <p:extLst>
      <p:ext uri="{BB962C8B-B14F-4D97-AF65-F5344CB8AC3E}">
        <p14:creationId xmlns:p14="http://schemas.microsoft.com/office/powerpoint/2010/main" val="202299850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Footer Placeholder 2"/>
          <p:cNvSpPr>
            <a:spLocks noGrp="1"/>
          </p:cNvSpPr>
          <p:nvPr>
            <p:ph type="ftr" sz="quarter" idx="10"/>
          </p:nvPr>
        </p:nvSpPr>
        <p:spPr/>
        <p:txBody>
          <a:bodyPr/>
          <a:lstStyle/>
          <a:p>
            <a:r>
              <a:rPr lang="en-GB">
                <a:solidFill>
                  <a:srgbClr val="808080"/>
                </a:solidFill>
              </a:rPr>
              <a:t>HELPE Information Security</a:t>
            </a:r>
            <a:endParaRPr lang="en-GB" dirty="0">
              <a:solidFill>
                <a:srgbClr val="808080"/>
              </a:solidFill>
            </a:endParaRPr>
          </a:p>
        </p:txBody>
      </p:sp>
      <p:sp>
        <p:nvSpPr>
          <p:cNvPr id="5" name="Freeform 4"/>
          <p:cNvSpPr/>
          <p:nvPr userDrawn="1"/>
        </p:nvSpPr>
        <p:spPr bwMode="gray">
          <a:xfrm flipH="1">
            <a:off x="2" y="2614613"/>
            <a:ext cx="11280479" cy="1498600"/>
          </a:xfrm>
          <a:custGeom>
            <a:avLst/>
            <a:gdLst>
              <a:gd name="connsiteX0" fmla="*/ 85725 w 7705725"/>
              <a:gd name="connsiteY0" fmla="*/ 0 h 1704975"/>
              <a:gd name="connsiteX1" fmla="*/ 7705725 w 7705725"/>
              <a:gd name="connsiteY1" fmla="*/ 0 h 1704975"/>
              <a:gd name="connsiteX2" fmla="*/ 7705725 w 7705725"/>
              <a:gd name="connsiteY2" fmla="*/ 1704975 h 1704975"/>
              <a:gd name="connsiteX3" fmla="*/ 0 w 7705725"/>
              <a:gd name="connsiteY3" fmla="*/ 1704975 h 1704975"/>
              <a:gd name="connsiteX4" fmla="*/ 85725 w 7705725"/>
              <a:gd name="connsiteY4" fmla="*/ 0 h 1704975"/>
              <a:gd name="connsiteX0" fmla="*/ 0 w 7620000"/>
              <a:gd name="connsiteY0" fmla="*/ 0 h 1705429"/>
              <a:gd name="connsiteX1" fmla="*/ 7620000 w 7620000"/>
              <a:gd name="connsiteY1" fmla="*/ 0 h 1705429"/>
              <a:gd name="connsiteX2" fmla="*/ 7620000 w 7620000"/>
              <a:gd name="connsiteY2" fmla="*/ 1704975 h 1705429"/>
              <a:gd name="connsiteX3" fmla="*/ 329085 w 7620000"/>
              <a:gd name="connsiteY3" fmla="*/ 1705429 h 1705429"/>
              <a:gd name="connsiteX4" fmla="*/ 0 w 7620000"/>
              <a:gd name="connsiteY4" fmla="*/ 0 h 170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0" h="1705429">
                <a:moveTo>
                  <a:pt x="0" y="0"/>
                </a:moveTo>
                <a:lnTo>
                  <a:pt x="7620000" y="0"/>
                </a:lnTo>
                <a:lnTo>
                  <a:pt x="7620000" y="1704975"/>
                </a:lnTo>
                <a:lnTo>
                  <a:pt x="329085" y="1705429"/>
                </a:lnTo>
                <a:lnTo>
                  <a:pt x="0" y="0"/>
                </a:lnTo>
                <a:close/>
              </a:path>
            </a:pathLst>
          </a:custGeom>
          <a:solidFill>
            <a:srgbClr val="646464"/>
          </a:solidFill>
          <a:ln w="9525">
            <a:noFill/>
            <a:round/>
            <a:headEnd/>
            <a:tailEnd/>
          </a:ln>
        </p:spPr>
        <p:txBody>
          <a:bodyPr lIns="83962" tIns="41981" rIns="83962" bIns="41981"/>
          <a:lstStyle/>
          <a:p>
            <a:pPr eaLnBrk="0" fontAlgn="base" hangingPunct="0">
              <a:spcBef>
                <a:spcPct val="0"/>
              </a:spcBef>
              <a:spcAft>
                <a:spcPct val="0"/>
              </a:spcAft>
              <a:defRPr/>
            </a:pPr>
            <a:endParaRPr lang="en-GB" sz="700" dirty="0">
              <a:solidFill>
                <a:srgbClr val="000000"/>
              </a:solidFill>
            </a:endParaRPr>
          </a:p>
        </p:txBody>
      </p:sp>
      <p:sp>
        <p:nvSpPr>
          <p:cNvPr id="6" name="Text Placeholder 9"/>
          <p:cNvSpPr>
            <a:spLocks noGrp="1"/>
          </p:cNvSpPr>
          <p:nvPr>
            <p:ph type="body" sz="quarter" idx="11"/>
          </p:nvPr>
        </p:nvSpPr>
        <p:spPr bwMode="gray">
          <a:xfrm>
            <a:off x="729620" y="3080634"/>
            <a:ext cx="8097944" cy="708406"/>
          </a:xfrm>
          <a:prstGeom prst="rect">
            <a:avLst/>
          </a:prstGeom>
        </p:spPr>
        <p:txBody>
          <a:bodyPr lIns="83969" tIns="41985" rIns="83969" bIns="41985"/>
          <a:lstStyle>
            <a:lvl1pPr>
              <a:lnSpc>
                <a:spcPct val="90000"/>
              </a:lnSpc>
              <a:spcAft>
                <a:spcPts val="0"/>
              </a:spcAft>
              <a:buNone/>
              <a:defRPr lang="en-GB" sz="3100" b="1" kern="1200" dirty="0" smtClean="0">
                <a:solidFill>
                  <a:srgbClr val="FFD200"/>
                </a:solidFill>
                <a:latin typeface="+mj-lt"/>
                <a:ea typeface="+mn-ea"/>
                <a:cs typeface="Arial" charset="0"/>
              </a:defRPr>
            </a:lvl1pPr>
          </a:lstStyle>
          <a:p>
            <a:pPr lvl="0"/>
            <a:r>
              <a:rPr lang="en-US" dirty="0"/>
              <a:t>Click to edit Master text styles</a:t>
            </a:r>
          </a:p>
        </p:txBody>
      </p:sp>
      <p:sp>
        <p:nvSpPr>
          <p:cNvPr id="7" name="Text Placeholder 7"/>
          <p:cNvSpPr>
            <a:spLocks noGrp="1"/>
          </p:cNvSpPr>
          <p:nvPr>
            <p:ph type="body" sz="quarter" idx="12"/>
          </p:nvPr>
        </p:nvSpPr>
        <p:spPr bwMode="gray">
          <a:xfrm>
            <a:off x="733346" y="2800662"/>
            <a:ext cx="8094156" cy="254067"/>
          </a:xfrm>
          <a:prstGeom prst="rect">
            <a:avLst/>
          </a:prstGeom>
        </p:spPr>
        <p:txBody>
          <a:bodyPr wrap="none" lIns="83969" tIns="41985" rIns="83969" bIns="41985" anchor="ctr"/>
          <a:lstStyle>
            <a:lvl1pPr>
              <a:buNone/>
              <a:defRPr lang="en-US" sz="1500" b="1" kern="1200" dirty="0" smtClean="0">
                <a:solidFill>
                  <a:schemeClr val="tx2"/>
                </a:solidFill>
                <a:latin typeface="+mj-lt"/>
                <a:ea typeface="+mn-ea"/>
                <a:cs typeface="Arial" charset="0"/>
              </a:defRPr>
            </a:lvl1pPr>
          </a:lstStyle>
          <a:p>
            <a:pPr lvl="0"/>
            <a:r>
              <a:rPr lang="en-US" dirty="0"/>
              <a:t>Click to edit Master text styles</a:t>
            </a:r>
          </a:p>
        </p:txBody>
      </p:sp>
      <p:sp>
        <p:nvSpPr>
          <p:cNvPr id="4" name="Rectangle 3"/>
          <p:cNvSpPr/>
          <p:nvPr userDrawn="1"/>
        </p:nvSpPr>
        <p:spPr>
          <a:xfrm>
            <a:off x="10848528" y="6415200"/>
            <a:ext cx="93610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spTree>
    <p:extLst>
      <p:ext uri="{BB962C8B-B14F-4D97-AF65-F5344CB8AC3E}">
        <p14:creationId xmlns:p14="http://schemas.microsoft.com/office/powerpoint/2010/main" val="396168358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spTree>
    <p:extLst>
      <p:ext uri="{BB962C8B-B14F-4D97-AF65-F5344CB8AC3E}">
        <p14:creationId xmlns:p14="http://schemas.microsoft.com/office/powerpoint/2010/main" val="3822772199"/>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Cover_photo_or_illustration_input">
    <p:spTree>
      <p:nvGrpSpPr>
        <p:cNvPr id="1" name=""/>
        <p:cNvGrpSpPr/>
        <p:nvPr/>
      </p:nvGrpSpPr>
      <p:grpSpPr>
        <a:xfrm>
          <a:off x="0" y="0"/>
          <a:ext cx="0" cy="0"/>
          <a:chOff x="0" y="0"/>
          <a:chExt cx="0" cy="0"/>
        </a:xfrm>
      </p:grpSpPr>
      <p:sp>
        <p:nvSpPr>
          <p:cNvPr id="2" name="Title 1"/>
          <p:cNvSpPr>
            <a:spLocks noGrp="1"/>
          </p:cNvSpPr>
          <p:nvPr>
            <p:ph type="ctrTitle"/>
          </p:nvPr>
        </p:nvSpPr>
        <p:spPr>
          <a:xfrm>
            <a:off x="3110400" y="777600"/>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110400" y="1753200"/>
            <a:ext cx="7320000" cy="968400"/>
          </a:xfrm>
        </p:spPr>
        <p:txBody>
          <a:bodyPr/>
          <a:lstStyle>
            <a:lvl1pPr marL="0" indent="0" algn="l">
              <a:buNone/>
              <a:defRPr sz="2000">
                <a:solidFill>
                  <a:schemeClr val="bg2"/>
                </a:solidFill>
              </a:defRPr>
            </a:lvl1pPr>
            <a:lvl2pPr marL="0" indent="0" algn="l">
              <a:buNone/>
              <a:defRPr sz="1600">
                <a:solidFill>
                  <a:schemeClr val="bg2"/>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a:p>
            <a:pPr lvl="1"/>
            <a:endParaRPr lang="en-GB" dirty="0"/>
          </a:p>
        </p:txBody>
      </p:sp>
      <p:pic>
        <p:nvPicPr>
          <p:cNvPr id="11" name="Picture 2"/>
          <p:cNvPicPr>
            <a:picLocks noChangeAspect="1" noChangeArrowheads="1"/>
          </p:cNvPicPr>
          <p:nvPr userDrawn="1"/>
        </p:nvPicPr>
        <p:blipFill>
          <a:blip r:embed="rId2" cstate="print"/>
          <a:srcRect/>
          <a:stretch>
            <a:fillRect/>
          </a:stretch>
        </p:blipFill>
        <p:spPr bwMode="auto">
          <a:xfrm>
            <a:off x="3029257" y="5745156"/>
            <a:ext cx="1311311" cy="745200"/>
          </a:xfrm>
          <a:prstGeom prst="rect">
            <a:avLst/>
          </a:prstGeom>
          <a:noFill/>
          <a:ln w="9525">
            <a:noFill/>
            <a:miter lim="800000"/>
            <a:headEnd/>
            <a:tailEnd/>
          </a:ln>
          <a:effectLst/>
        </p:spPr>
      </p:pic>
      <p:sp>
        <p:nvSpPr>
          <p:cNvPr id="9" name="Freeform 8"/>
          <p:cNvSpPr>
            <a:spLocks/>
          </p:cNvSpPr>
          <p:nvPr userDrawn="1"/>
        </p:nvSpPr>
        <p:spPr bwMode="gray">
          <a:xfrm>
            <a:off x="3031822" y="2405319"/>
            <a:ext cx="9160177" cy="2494990"/>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7" name="Freeform 6"/>
          <p:cNvSpPr/>
          <p:nvPr userDrawn="1"/>
        </p:nvSpPr>
        <p:spPr>
          <a:xfrm>
            <a:off x="-12192" y="3000376"/>
            <a:ext cx="3048000" cy="2729861"/>
          </a:xfrm>
          <a:custGeom>
            <a:avLst/>
            <a:gdLst>
              <a:gd name="connsiteX0" fmla="*/ 0 w 2286000"/>
              <a:gd name="connsiteY0" fmla="*/ 1318973 h 1318973"/>
              <a:gd name="connsiteX1" fmla="*/ 0 w 2286000"/>
              <a:gd name="connsiteY1" fmla="*/ 0 h 1318973"/>
              <a:gd name="connsiteX2" fmla="*/ 2286000 w 2286000"/>
              <a:gd name="connsiteY2" fmla="*/ 486803 h 1318973"/>
              <a:gd name="connsiteX3" fmla="*/ 0 w 2286000"/>
              <a:gd name="connsiteY3" fmla="*/ 1318973 h 1318973"/>
              <a:gd name="connsiteX0" fmla="*/ 0 w 2286000"/>
              <a:gd name="connsiteY0" fmla="*/ 2729861 h 2729861"/>
              <a:gd name="connsiteX1" fmla="*/ 9144 w 2286000"/>
              <a:gd name="connsiteY1" fmla="*/ 0 h 2729861"/>
              <a:gd name="connsiteX2" fmla="*/ 2286000 w 2286000"/>
              <a:gd name="connsiteY2" fmla="*/ 1897691 h 2729861"/>
              <a:gd name="connsiteX3" fmla="*/ 0 w 2286000"/>
              <a:gd name="connsiteY3" fmla="*/ 2729861 h 2729861"/>
            </a:gdLst>
            <a:ahLst/>
            <a:cxnLst>
              <a:cxn ang="0">
                <a:pos x="connsiteX0" y="connsiteY0"/>
              </a:cxn>
              <a:cxn ang="0">
                <a:pos x="connsiteX1" y="connsiteY1"/>
              </a:cxn>
              <a:cxn ang="0">
                <a:pos x="connsiteX2" y="connsiteY2"/>
              </a:cxn>
              <a:cxn ang="0">
                <a:pos x="connsiteX3" y="connsiteY3"/>
              </a:cxn>
            </a:cxnLst>
            <a:rect l="l" t="t" r="r" b="b"/>
            <a:pathLst>
              <a:path w="2286000" h="2729861">
                <a:moveTo>
                  <a:pt x="0" y="2729861"/>
                </a:moveTo>
                <a:lnTo>
                  <a:pt x="9144" y="0"/>
                </a:lnTo>
                <a:lnTo>
                  <a:pt x="2286000" y="1897691"/>
                </a:lnTo>
                <a:lnTo>
                  <a:pt x="0" y="2729861"/>
                </a:lnTo>
                <a:close/>
              </a:path>
            </a:pathLst>
          </a:custGeom>
          <a:blipFill>
            <a:blip r:embed="rId3" cstate="prin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rgbClr val="000000"/>
              </a:solidFill>
            </a:endParaRPr>
          </a:p>
        </p:txBody>
      </p:sp>
      <p:sp>
        <p:nvSpPr>
          <p:cNvPr id="8" name="TextBox 7"/>
          <p:cNvSpPr txBox="1"/>
          <p:nvPr userDrawn="1"/>
        </p:nvSpPr>
        <p:spPr>
          <a:xfrm>
            <a:off x="87091" y="4047893"/>
            <a:ext cx="2381045" cy="664797"/>
          </a:xfrm>
          <a:prstGeom prst="rect">
            <a:avLst/>
          </a:prstGeom>
          <a:noFill/>
        </p:spPr>
        <p:txBody>
          <a:bodyPr wrap="square" lIns="0" tIns="36576" rIns="0" bIns="0" rtlCol="0">
            <a:spAutoFit/>
          </a:bodyPr>
          <a:lstStyle/>
          <a:p>
            <a:pPr>
              <a:lnSpc>
                <a:spcPct val="85000"/>
              </a:lnSpc>
              <a:spcAft>
                <a:spcPts val="600"/>
              </a:spcAft>
              <a:buClr>
                <a:srgbClr val="FFD200"/>
              </a:buClr>
              <a:buSzPct val="70000"/>
            </a:pPr>
            <a:r>
              <a:rPr lang="en-US" sz="1600" b="1" dirty="0">
                <a:solidFill>
                  <a:srgbClr val="FFD200"/>
                </a:solidFill>
              </a:rPr>
              <a:t>Placeholder image — to replace this image, select View&gt;Notes Page</a:t>
            </a:r>
          </a:p>
        </p:txBody>
      </p:sp>
    </p:spTree>
    <p:extLst>
      <p:ext uri="{BB962C8B-B14F-4D97-AF65-F5344CB8AC3E}">
        <p14:creationId xmlns:p14="http://schemas.microsoft.com/office/powerpoint/2010/main" val="402156244"/>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482250752"/>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Presentation title</a:t>
            </a: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3967265047"/>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38881520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Presentation title</a:t>
            </a: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endParaRPr lang="en-GB" dirty="0"/>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endParaRPr lang="en-GB" dirty="0"/>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9348034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1136099396"/>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29601"/>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2612799592"/>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6"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3190284434"/>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pic>
        <p:nvPicPr>
          <p:cNvPr id="7"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133103484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5"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blipFill dpi="0" rotWithShape="1">
            <a:blip r:embed="rId2" cstate="print"/>
            <a:srcRect/>
            <a:stretch>
              <a:fillRect/>
            </a:stretch>
          </a:bli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437611327"/>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Presentation title</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6188974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96093308"/>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0066149"/>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cSld name="Line divider 3">
    <p:spTree>
      <p:nvGrpSpPr>
        <p:cNvPr id="1" name=""/>
        <p:cNvGrpSpPr/>
        <p:nvPr/>
      </p:nvGrpSpPr>
      <p:grpSpPr>
        <a:xfrm>
          <a:off x="0" y="0"/>
          <a:ext cx="0" cy="0"/>
          <a:chOff x="0" y="0"/>
          <a:chExt cx="0" cy="0"/>
        </a:xfrm>
      </p:grpSpPr>
      <p:sp>
        <p:nvSpPr>
          <p:cNvPr id="5" name="Rectangle 4"/>
          <p:cNvSpPr/>
          <p:nvPr userDrawn="1"/>
        </p:nvSpPr>
        <p:spPr>
          <a:xfrm>
            <a:off x="508000" y="60198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4" name="Rectangle 3"/>
          <p:cNvSpPr/>
          <p:nvPr userDrawn="1"/>
        </p:nvSpPr>
        <p:spPr>
          <a:xfrm>
            <a:off x="508000" y="914400"/>
            <a:ext cx="1127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rgbClr val="646464"/>
              </a:solidFill>
            </a:endParaRPr>
          </a:p>
        </p:txBody>
      </p:sp>
      <p:sp>
        <p:nvSpPr>
          <p:cNvPr id="2" name="Title 1"/>
          <p:cNvSpPr>
            <a:spLocks noGrp="1"/>
          </p:cNvSpPr>
          <p:nvPr>
            <p:ph type="title"/>
          </p:nvPr>
        </p:nvSpPr>
        <p:spPr/>
        <p:txBody>
          <a:bodyPr/>
          <a:lstStyle>
            <a:lvl1pPr>
              <a:defRPr>
                <a:solidFill>
                  <a:schemeClr val="bg1"/>
                </a:solidFill>
              </a:defRPr>
            </a:lvl1pPr>
          </a:lstStyle>
          <a:p>
            <a:r>
              <a:rPr lang="en-US" noProof="0"/>
              <a:t>Click to edit Master title style</a:t>
            </a:r>
          </a:p>
        </p:txBody>
      </p:sp>
      <p:pic>
        <p:nvPicPr>
          <p:cNvPr id="7" name="Picture 13" descr="PPTbackground_3_HANDOUT"/>
          <p:cNvPicPr>
            <a:picLocks noChangeAspect="1" noChangeArrowheads="1"/>
          </p:cNvPicPr>
          <p:nvPr userDrawn="1"/>
        </p:nvPicPr>
        <p:blipFill>
          <a:blip r:embed="rId2" cstate="print"/>
          <a:srcRect/>
          <a:stretch>
            <a:fillRect/>
          </a:stretch>
        </p:blipFill>
        <p:spPr bwMode="auto">
          <a:xfrm>
            <a:off x="637117" y="1023938"/>
            <a:ext cx="10945283" cy="5222875"/>
          </a:xfrm>
          <a:prstGeom prst="rect">
            <a:avLst/>
          </a:prstGeom>
          <a:noFill/>
        </p:spPr>
      </p:pic>
    </p:spTree>
    <p:extLst>
      <p:ext uri="{BB962C8B-B14F-4D97-AF65-F5344CB8AC3E}">
        <p14:creationId xmlns:p14="http://schemas.microsoft.com/office/powerpoint/2010/main" val="2445285069"/>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11/10/2025</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33926982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Cover">
    <p:spTree>
      <p:nvGrpSpPr>
        <p:cNvPr id="1" name=""/>
        <p:cNvGrpSpPr/>
        <p:nvPr/>
      </p:nvGrpSpPr>
      <p:grpSpPr>
        <a:xfrm>
          <a:off x="0" y="0"/>
          <a:ext cx="0" cy="0"/>
          <a:chOff x="0" y="0"/>
          <a:chExt cx="0" cy="0"/>
        </a:xfrm>
      </p:grpSpPr>
      <p:pic>
        <p:nvPicPr>
          <p:cNvPr id="9" name="Picture 2"/>
          <p:cNvPicPr>
            <a:picLocks noChangeAspect="1" noChangeArrowheads="1"/>
          </p:cNvPicPr>
          <p:nvPr userDrawn="1"/>
        </p:nvPicPr>
        <p:blipFill>
          <a:blip r:embed="rId2" cstate="print"/>
          <a:srcRect/>
          <a:stretch>
            <a:fillRect/>
          </a:stretch>
        </p:blipFill>
        <p:spPr bwMode="gray">
          <a:xfrm>
            <a:off x="3031000" y="5748934"/>
            <a:ext cx="1311311" cy="745200"/>
          </a:xfrm>
          <a:prstGeom prst="rect">
            <a:avLst/>
          </a:prstGeom>
          <a:noFill/>
          <a:ln w="9525">
            <a:noFill/>
            <a:miter lim="800000"/>
            <a:headEnd/>
            <a:tailEnd/>
          </a:ln>
          <a:effectLst/>
        </p:spPr>
      </p:pic>
      <p:sp>
        <p:nvSpPr>
          <p:cNvPr id="2" name="Title 1"/>
          <p:cNvSpPr>
            <a:spLocks noGrp="1"/>
          </p:cNvSpPr>
          <p:nvPr>
            <p:ph type="ctrTitle"/>
          </p:nvPr>
        </p:nvSpPr>
        <p:spPr>
          <a:xfrm>
            <a:off x="3043413" y="757504"/>
            <a:ext cx="7320000" cy="860400"/>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3043413" y="1753200"/>
            <a:ext cx="7320000" cy="968400"/>
          </a:xfrm>
        </p:spPr>
        <p:txBody>
          <a:bodyPr/>
          <a:lstStyle>
            <a:lvl1pPr marL="0" indent="0" algn="l">
              <a:buNone/>
              <a:defRPr sz="2000">
                <a:solidFill>
                  <a:schemeClr val="bg2"/>
                </a:solidFill>
              </a:defRPr>
            </a:lvl1pPr>
            <a:lvl2pPr marL="0" indent="0" algn="l">
              <a:buNone/>
              <a:defRPr sz="1600">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grpSp>
        <p:nvGrpSpPr>
          <p:cNvPr id="7" name="Group 6"/>
          <p:cNvGrpSpPr/>
          <p:nvPr userDrawn="1"/>
        </p:nvGrpSpPr>
        <p:grpSpPr>
          <a:xfrm>
            <a:off x="0" y="2403073"/>
            <a:ext cx="12192000" cy="3347943"/>
            <a:chOff x="0" y="2403072"/>
            <a:chExt cx="9144000" cy="3347943"/>
          </a:xfrm>
        </p:grpSpPr>
        <p:sp>
          <p:nvSpPr>
            <p:cNvPr id="13" name="Freeform 8"/>
            <p:cNvSpPr>
              <a:spLocks/>
            </p:cNvSpPr>
            <p:nvPr userDrawn="1"/>
          </p:nvSpPr>
          <p:spPr bwMode="gray">
            <a:xfrm>
              <a:off x="2279115" y="2403072"/>
              <a:ext cx="6864885" cy="2493085"/>
            </a:xfrm>
            <a:custGeom>
              <a:avLst/>
              <a:gdLst/>
              <a:ahLst/>
              <a:cxnLst>
                <a:cxn ang="0">
                  <a:pos x="0" y="1852"/>
                </a:cxn>
                <a:cxn ang="0">
                  <a:pos x="5081" y="0"/>
                </a:cxn>
                <a:cxn ang="0">
                  <a:pos x="5081" y="968"/>
                </a:cxn>
                <a:cxn ang="0">
                  <a:pos x="0" y="1852"/>
                </a:cxn>
              </a:cxnLst>
              <a:rect l="0" t="0" r="r" b="b"/>
              <a:pathLst>
                <a:path w="5081" h="1852">
                  <a:moveTo>
                    <a:pt x="0" y="1852"/>
                  </a:moveTo>
                  <a:lnTo>
                    <a:pt x="5081" y="0"/>
                  </a:lnTo>
                  <a:lnTo>
                    <a:pt x="5081" y="968"/>
                  </a:lnTo>
                  <a:lnTo>
                    <a:pt x="0" y="1852"/>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pic>
          <p:nvPicPr>
            <p:cNvPr id="14" name="Picture 3"/>
            <p:cNvPicPr>
              <a:picLocks noChangeAspect="1" noChangeArrowheads="1"/>
            </p:cNvPicPr>
            <p:nvPr userDrawn="1"/>
          </p:nvPicPr>
          <p:blipFill>
            <a:blip r:embed="rId3" cstate="print"/>
            <a:srcRect/>
            <a:stretch>
              <a:fillRect/>
            </a:stretch>
          </p:blipFill>
          <p:spPr bwMode="auto">
            <a:xfrm>
              <a:off x="0" y="4408610"/>
              <a:ext cx="2289301" cy="1342405"/>
            </a:xfrm>
            <a:prstGeom prst="rect">
              <a:avLst/>
            </a:prstGeom>
            <a:noFill/>
            <a:ln w="9525">
              <a:noFill/>
              <a:miter lim="800000"/>
              <a:headEnd/>
              <a:tailEnd/>
            </a:ln>
            <a:effectLst/>
          </p:spPr>
        </p:pic>
      </p:grpSp>
    </p:spTree>
    <p:extLst>
      <p:ext uri="{BB962C8B-B14F-4D97-AF65-F5344CB8AC3E}">
        <p14:creationId xmlns:p14="http://schemas.microsoft.com/office/powerpoint/2010/main" val="719396326"/>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1855723370"/>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Footer Placeholder 4"/>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7"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8"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710304615"/>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7600" y="1600201"/>
            <a:ext cx="53848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a:xfrm>
            <a:off x="3451200" y="6413445"/>
            <a:ext cx="4579200" cy="201600"/>
          </a:xfrm>
        </p:spPr>
        <p:txBody>
          <a:bodyPr/>
          <a:lstStyle/>
          <a:p>
            <a:r>
              <a:rPr lang="en-GB">
                <a:solidFill>
                  <a:srgbClr val="808080"/>
                </a:solidFill>
              </a:rPr>
              <a:t>HELPE Information Security</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2"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239490850"/>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09600" y="2196001"/>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1600" y="2178000"/>
            <a:ext cx="5390400" cy="3994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6" name="Footer Placeholder 5"/>
          <p:cNvSpPr>
            <a:spLocks noGrp="1"/>
          </p:cNvSpPr>
          <p:nvPr>
            <p:ph type="ftr" sz="quarter" idx="11"/>
          </p:nvPr>
        </p:nvSpPr>
        <p:spPr/>
        <p:txBody>
          <a:bodyPr/>
          <a:lstStyle/>
          <a:p>
            <a:r>
              <a:rPr lang="en-GB">
                <a:solidFill>
                  <a:srgbClr val="808080"/>
                </a:solidFill>
              </a:rPr>
              <a:t>HELPE Information Security</a:t>
            </a:r>
            <a:endParaRPr lang="en-GB" dirty="0">
              <a:solidFill>
                <a:srgbClr val="808080"/>
              </a:solidFill>
            </a:endParaRPr>
          </a:p>
        </p:txBody>
      </p:sp>
      <p:sp>
        <p:nvSpPr>
          <p:cNvPr id="8" name="Line 10"/>
          <p:cNvSpPr>
            <a:spLocks noChangeShapeType="1"/>
          </p:cNvSpPr>
          <p:nvPr userDrawn="1"/>
        </p:nvSpPr>
        <p:spPr bwMode="auto">
          <a:xfrm>
            <a:off x="609600" y="1044000"/>
            <a:ext cx="10972800"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
        <p:nvSpPr>
          <p:cNvPr id="10" name="Text Placeholder 9"/>
          <p:cNvSpPr>
            <a:spLocks noGrp="1"/>
          </p:cNvSpPr>
          <p:nvPr>
            <p:ph type="body" sz="quarter" idx="12"/>
          </p:nvPr>
        </p:nvSpPr>
        <p:spPr>
          <a:xfrm>
            <a:off x="609600" y="1490400"/>
            <a:ext cx="5390400" cy="640800"/>
          </a:xfrm>
        </p:spPr>
        <p:txBody>
          <a:bodyPr anchor="b"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201600" y="1490400"/>
            <a:ext cx="5390400" cy="640800"/>
          </a:xfrm>
        </p:spPr>
        <p:txBody>
          <a:bodyPr anchor="b"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487311791"/>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3" name="Text Placeholder 2"/>
          <p:cNvSpPr>
            <a:spLocks noGrp="1"/>
          </p:cNvSpPr>
          <p:nvPr>
            <p:ph type="body" sz="quarter" idx="11"/>
          </p:nvPr>
        </p:nvSpPr>
        <p:spPr>
          <a:xfrm>
            <a:off x="607485" y="1025526"/>
            <a:ext cx="10972800"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600" y="6242400"/>
            <a:ext cx="10972800" cy="0"/>
          </a:xfrm>
          <a:prstGeom prst="line">
            <a:avLst/>
          </a:prstGeom>
          <a:noFill/>
          <a:ln w="3175">
            <a:solidFill>
              <a:schemeClr val="bg1"/>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800" dirty="0">
              <a:solidFill>
                <a:srgbClr val="808080"/>
              </a:solidFill>
            </a:endParaRPr>
          </a:p>
        </p:txBody>
      </p:sp>
    </p:spTree>
    <p:extLst>
      <p:ext uri="{BB962C8B-B14F-4D97-AF65-F5344CB8AC3E}">
        <p14:creationId xmlns:p14="http://schemas.microsoft.com/office/powerpoint/2010/main" val="2759970835"/>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3077" name="Freeform 5"/>
          <p:cNvSpPr>
            <a:spLocks/>
          </p:cNvSpPr>
          <p:nvPr userDrawn="1"/>
        </p:nvSpPr>
        <p:spPr bwMode="gray">
          <a:xfrm>
            <a:off x="609600" y="1039814"/>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57664481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dirty="0"/>
              <a:t>Click to edit Master title style</a:t>
            </a:r>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4101" name="Freeform 5"/>
          <p:cNvSpPr>
            <a:spLocks/>
          </p:cNvSpPr>
          <p:nvPr userDrawn="1"/>
        </p:nvSpPr>
        <p:spPr bwMode="gray">
          <a:xfrm>
            <a:off x="609600" y="1040400"/>
            <a:ext cx="10972800" cy="5184775"/>
          </a:xfrm>
          <a:custGeom>
            <a:avLst/>
            <a:gdLst/>
            <a:ahLst/>
            <a:cxnLst>
              <a:cxn ang="0">
                <a:pos x="0" y="0"/>
              </a:cxn>
              <a:cxn ang="0">
                <a:pos x="0" y="3266"/>
              </a:cxn>
              <a:cxn ang="0">
                <a:pos x="5184" y="2352"/>
              </a:cxn>
              <a:cxn ang="0">
                <a:pos x="5184" y="0"/>
              </a:cxn>
              <a:cxn ang="0">
                <a:pos x="0" y="0"/>
              </a:cxn>
            </a:cxnLst>
            <a:rect l="0" t="0" r="r" b="b"/>
            <a:pathLst>
              <a:path w="5184" h="3266">
                <a:moveTo>
                  <a:pt x="0" y="0"/>
                </a:moveTo>
                <a:lnTo>
                  <a:pt x="0" y="3266"/>
                </a:lnTo>
                <a:lnTo>
                  <a:pt x="5184" y="2352"/>
                </a:lnTo>
                <a:lnTo>
                  <a:pt x="5184" y="0"/>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Tree>
    <p:extLst>
      <p:ext uri="{BB962C8B-B14F-4D97-AF65-F5344CB8AC3E}">
        <p14:creationId xmlns:p14="http://schemas.microsoft.com/office/powerpoint/2010/main" val="1375236689"/>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vider 4">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600" y="201168"/>
            <a:ext cx="10972800" cy="804672"/>
          </a:xfrm>
          <a:prstGeom prst="rect">
            <a:avLst/>
          </a:prstGeom>
          <a:noFill/>
          <a:ln w="9525">
            <a:noFill/>
            <a:miter lim="800000"/>
            <a:headEnd/>
            <a:tailEnd/>
          </a:ln>
          <a:effectLst/>
        </p:spPr>
        <p:txBody>
          <a:bodyPr vert="horz" wrap="square" lIns="0" tIns="3600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pic>
        <p:nvPicPr>
          <p:cNvPr id="6" name="Picture 2"/>
          <p:cNvPicPr>
            <a:picLocks noChangeAspect="1" noChangeArrowheads="1"/>
          </p:cNvPicPr>
          <p:nvPr userDrawn="1"/>
        </p:nvPicPr>
        <p:blipFill>
          <a:blip r:embed="rId2" cstate="print"/>
          <a:srcRect/>
          <a:stretch>
            <a:fillRect/>
          </a:stretch>
        </p:blipFill>
        <p:spPr bwMode="auto">
          <a:xfrm>
            <a:off x="609601" y="1044000"/>
            <a:ext cx="10967399" cy="5184000"/>
          </a:xfrm>
          <a:prstGeom prst="rect">
            <a:avLst/>
          </a:prstGeom>
          <a:noFill/>
          <a:ln w="9525">
            <a:noFill/>
            <a:miter lim="800000"/>
            <a:headEnd/>
            <a:tailEnd/>
          </a:ln>
          <a:effectLst/>
        </p:spPr>
      </p:pic>
    </p:spTree>
    <p:extLst>
      <p:ext uri="{BB962C8B-B14F-4D97-AF65-F5344CB8AC3E}">
        <p14:creationId xmlns:p14="http://schemas.microsoft.com/office/powerpoint/2010/main" val="457191164"/>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12" name="Footer Placeholder 11"/>
          <p:cNvSpPr>
            <a:spLocks noGrp="1"/>
          </p:cNvSpPr>
          <p:nvPr>
            <p:ph type="ftr" sz="quarter" idx="10"/>
          </p:nvPr>
        </p:nvSpPr>
        <p:spPr/>
        <p:txBody>
          <a:bodyPr/>
          <a:lstStyle/>
          <a:p>
            <a:r>
              <a:rPr lang="en-US">
                <a:solidFill>
                  <a:srgbClr val="808080"/>
                </a:solidFill>
              </a:rPr>
              <a:t>HELPE Information Security</a:t>
            </a:r>
            <a:endParaRPr lang="en-US" dirty="0">
              <a:solidFill>
                <a:srgbClr val="808080"/>
              </a:solidFill>
            </a:endParaRPr>
          </a:p>
        </p:txBody>
      </p:sp>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Tree>
    <p:extLst>
      <p:ext uri="{BB962C8B-B14F-4D97-AF65-F5344CB8AC3E}">
        <p14:creationId xmlns:p14="http://schemas.microsoft.com/office/powerpoint/2010/main" val="2049028320"/>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484" y="6243638"/>
            <a:ext cx="10972800" cy="0"/>
          </a:xfrm>
          <a:prstGeom prst="line">
            <a:avLst/>
          </a:prstGeom>
          <a:noFill/>
          <a:ln w="3175">
            <a:solidFill>
              <a:schemeClr val="bg1"/>
            </a:solidFill>
            <a:round/>
            <a:headEnd/>
            <a:tailEnd/>
          </a:ln>
          <a:effectLst/>
        </p:spPr>
        <p:txBody>
          <a:bodyPr wrap="none" anchor="ctr"/>
          <a:lstStyle/>
          <a:p>
            <a:endParaRPr lang="en-US" sz="1800" dirty="0">
              <a:solidFill>
                <a:srgbClr val="808080"/>
              </a:solidFill>
            </a:endParaRPr>
          </a:p>
        </p:txBody>
      </p:sp>
      <p:sp>
        <p:nvSpPr>
          <p:cNvPr id="8" name="Content Placeholder 2"/>
          <p:cNvSpPr>
            <a:spLocks noGrp="1"/>
          </p:cNvSpPr>
          <p:nvPr>
            <p:ph idx="1"/>
          </p:nvPr>
        </p:nvSpPr>
        <p:spPr>
          <a:xfrm>
            <a:off x="607483" y="719139"/>
            <a:ext cx="4675200"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13847095"/>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2534910"/>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Divider">
    <p:spTree>
      <p:nvGrpSpPr>
        <p:cNvPr id="1" name=""/>
        <p:cNvGrpSpPr/>
        <p:nvPr/>
      </p:nvGrpSpPr>
      <p:grpSpPr>
        <a:xfrm>
          <a:off x="0" y="0"/>
          <a:ext cx="0" cy="0"/>
          <a:chOff x="0" y="0"/>
          <a:chExt cx="0" cy="0"/>
        </a:xfrm>
      </p:grpSpPr>
      <p:sp>
        <p:nvSpPr>
          <p:cNvPr id="7" name="Freeform 6"/>
          <p:cNvSpPr/>
          <p:nvPr userDrawn="1"/>
        </p:nvSpPr>
        <p:spPr bwMode="auto">
          <a:xfrm rot="10800000">
            <a:off x="10008198" y="2323429"/>
            <a:ext cx="1693081" cy="2072947"/>
          </a:xfrm>
          <a:custGeom>
            <a:avLst/>
            <a:gdLst>
              <a:gd name="connsiteX0" fmla="*/ 0 w 1459832"/>
              <a:gd name="connsiteY0" fmla="*/ 2245895 h 2245895"/>
              <a:gd name="connsiteX1" fmla="*/ 441158 w 1459832"/>
              <a:gd name="connsiteY1" fmla="*/ 0 h 2245895"/>
              <a:gd name="connsiteX2" fmla="*/ 1459832 w 1459832"/>
              <a:gd name="connsiteY2" fmla="*/ 0 h 2245895"/>
              <a:gd name="connsiteX3" fmla="*/ 1459832 w 1459832"/>
              <a:gd name="connsiteY3" fmla="*/ 2245895 h 2245895"/>
              <a:gd name="connsiteX4" fmla="*/ 0 w 1459832"/>
              <a:gd name="connsiteY4" fmla="*/ 2245895 h 22458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59832" h="2245895">
                <a:moveTo>
                  <a:pt x="0" y="2245895"/>
                </a:moveTo>
                <a:lnTo>
                  <a:pt x="441158" y="0"/>
                </a:lnTo>
                <a:lnTo>
                  <a:pt x="1459832" y="0"/>
                </a:lnTo>
                <a:lnTo>
                  <a:pt x="1459832" y="2245895"/>
                </a:lnTo>
                <a:lnTo>
                  <a:pt x="0" y="2245895"/>
                </a:lnTo>
                <a:close/>
              </a:path>
            </a:pathLst>
          </a:custGeom>
          <a:solidFill>
            <a:srgbClr val="CDCDCD"/>
          </a:solidFill>
          <a:ln w="12700" cap="rnd">
            <a:noFill/>
            <a:prstDash val="sysDot"/>
            <a:round/>
            <a:headEnd type="none" w="sm" len="sm"/>
            <a:tailEnd type="none" w="sm" len="sm"/>
          </a:ln>
        </p:spPr>
        <p:txBody>
          <a:bodyPr lIns="80095" tIns="40048" rIns="80095" bIns="40048"/>
          <a:lstStyle/>
          <a:p>
            <a:pPr algn="ctr" defTabSz="914287" eaLnBrk="0" hangingPunct="0">
              <a:defRPr/>
            </a:pPr>
            <a:endParaRPr lang="en-US" sz="1800" kern="0" dirty="0">
              <a:solidFill>
                <a:srgbClr val="646464"/>
              </a:solidFill>
              <a:latin typeface="EYInterstate" pitchFamily="2" charset="0"/>
              <a:cs typeface="Arial" charset="0"/>
            </a:endParaRPr>
          </a:p>
        </p:txBody>
      </p:sp>
      <p:sp>
        <p:nvSpPr>
          <p:cNvPr id="8" name="Rectangle 7"/>
          <p:cNvSpPr/>
          <p:nvPr userDrawn="1"/>
        </p:nvSpPr>
        <p:spPr bwMode="auto">
          <a:xfrm rot="10800000">
            <a:off x="3" y="2323429"/>
            <a:ext cx="10182031" cy="2072947"/>
          </a:xfrm>
          <a:prstGeom prst="rect">
            <a:avLst/>
          </a:prstGeom>
          <a:solidFill>
            <a:srgbClr val="CDCDCD"/>
          </a:solidFill>
          <a:ln w="12700" cap="rnd">
            <a:noFill/>
            <a:prstDash val="sysDot"/>
            <a:round/>
            <a:headEnd type="none" w="sm" len="sm"/>
            <a:tailEnd type="none" w="sm" len="sm"/>
          </a:ln>
        </p:spPr>
        <p:txBody>
          <a:bodyPr lIns="80095" tIns="40048" rIns="80095" bIns="40048"/>
          <a:lstStyle/>
          <a:p>
            <a:pPr algn="ctr" defTabSz="914287" eaLnBrk="0" hangingPunct="0">
              <a:defRPr/>
            </a:pPr>
            <a:endParaRPr lang="en-US" sz="1800" kern="0" dirty="0">
              <a:solidFill>
                <a:srgbClr val="646464"/>
              </a:solidFill>
              <a:latin typeface="EYInterstate" pitchFamily="2" charset="0"/>
              <a:cs typeface="Arial" charset="0"/>
            </a:endParaRP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5470" y="2590343"/>
            <a:ext cx="3078241" cy="1539121"/>
          </a:xfrm>
          <a:prstGeom prst="rect">
            <a:avLst/>
          </a:prstGeom>
        </p:spPr>
      </p:pic>
      <p:sp>
        <p:nvSpPr>
          <p:cNvPr id="11" name="Content Placeholder 2"/>
          <p:cNvSpPr>
            <a:spLocks noGrp="1"/>
          </p:cNvSpPr>
          <p:nvPr>
            <p:ph idx="1"/>
          </p:nvPr>
        </p:nvSpPr>
        <p:spPr>
          <a:xfrm>
            <a:off x="3712396" y="2323428"/>
            <a:ext cx="7315201" cy="2072948"/>
          </a:xfrm>
        </p:spPr>
        <p:txBody>
          <a:bodyPr anchor="ctr"/>
          <a:lstStyle>
            <a:lvl1pPr marL="0" indent="0">
              <a:buFontTx/>
              <a:buNone/>
              <a:defRPr>
                <a:solidFill>
                  <a:schemeClr val="tx1"/>
                </a:solidFill>
              </a:defRPr>
            </a:lvl1pPr>
            <a:lvl2pPr marL="355600" indent="0">
              <a:buFontTx/>
              <a:buNone/>
              <a:defRPr>
                <a:solidFill>
                  <a:schemeClr val="tx1"/>
                </a:solidFill>
              </a:defRPr>
            </a:lvl2pPr>
            <a:lvl3pPr marL="723900" indent="0">
              <a:buFontTx/>
              <a:buNone/>
              <a:defRPr>
                <a:solidFill>
                  <a:schemeClr val="tx1"/>
                </a:solidFill>
              </a:defRPr>
            </a:lvl3pPr>
            <a:lvl4pPr marL="1077913" indent="0">
              <a:buFontTx/>
              <a:buNone/>
              <a:defRPr>
                <a:solidFill>
                  <a:schemeClr val="tx1"/>
                </a:solidFill>
              </a:defRPr>
            </a:lvl4pPr>
            <a:lvl5pPr marL="1433512" indent="0">
              <a:buFontTx/>
              <a:buNone/>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0637356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l-GR"/>
          </a:p>
        </p:txBody>
      </p:sp>
      <p:sp>
        <p:nvSpPr>
          <p:cNvPr id="3" name="Footer Placeholder 2"/>
          <p:cNvSpPr>
            <a:spLocks noGrp="1"/>
          </p:cNvSpPr>
          <p:nvPr>
            <p:ph type="ftr" sz="quarter" idx="10"/>
          </p:nvPr>
        </p:nvSpPr>
        <p:spPr/>
        <p:txBody>
          <a:bodyPr/>
          <a:lstStyle/>
          <a:p>
            <a:r>
              <a:rPr lang="en-GB">
                <a:solidFill>
                  <a:srgbClr val="808080"/>
                </a:solidFill>
              </a:rPr>
              <a:t>HELPE Information Security</a:t>
            </a:r>
            <a:endParaRPr lang="en-GB" dirty="0">
              <a:solidFill>
                <a:srgbClr val="808080"/>
              </a:solidFill>
            </a:endParaRPr>
          </a:p>
        </p:txBody>
      </p:sp>
      <p:sp>
        <p:nvSpPr>
          <p:cNvPr id="5" name="Freeform 4"/>
          <p:cNvSpPr/>
          <p:nvPr userDrawn="1"/>
        </p:nvSpPr>
        <p:spPr bwMode="gray">
          <a:xfrm flipH="1">
            <a:off x="2" y="2614613"/>
            <a:ext cx="11280479" cy="1498600"/>
          </a:xfrm>
          <a:custGeom>
            <a:avLst/>
            <a:gdLst>
              <a:gd name="connsiteX0" fmla="*/ 85725 w 7705725"/>
              <a:gd name="connsiteY0" fmla="*/ 0 h 1704975"/>
              <a:gd name="connsiteX1" fmla="*/ 7705725 w 7705725"/>
              <a:gd name="connsiteY1" fmla="*/ 0 h 1704975"/>
              <a:gd name="connsiteX2" fmla="*/ 7705725 w 7705725"/>
              <a:gd name="connsiteY2" fmla="*/ 1704975 h 1704975"/>
              <a:gd name="connsiteX3" fmla="*/ 0 w 7705725"/>
              <a:gd name="connsiteY3" fmla="*/ 1704975 h 1704975"/>
              <a:gd name="connsiteX4" fmla="*/ 85725 w 7705725"/>
              <a:gd name="connsiteY4" fmla="*/ 0 h 1704975"/>
              <a:gd name="connsiteX0" fmla="*/ 0 w 7620000"/>
              <a:gd name="connsiteY0" fmla="*/ 0 h 1705429"/>
              <a:gd name="connsiteX1" fmla="*/ 7620000 w 7620000"/>
              <a:gd name="connsiteY1" fmla="*/ 0 h 1705429"/>
              <a:gd name="connsiteX2" fmla="*/ 7620000 w 7620000"/>
              <a:gd name="connsiteY2" fmla="*/ 1704975 h 1705429"/>
              <a:gd name="connsiteX3" fmla="*/ 329085 w 7620000"/>
              <a:gd name="connsiteY3" fmla="*/ 1705429 h 1705429"/>
              <a:gd name="connsiteX4" fmla="*/ 0 w 7620000"/>
              <a:gd name="connsiteY4" fmla="*/ 0 h 170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00" h="1705429">
                <a:moveTo>
                  <a:pt x="0" y="0"/>
                </a:moveTo>
                <a:lnTo>
                  <a:pt x="7620000" y="0"/>
                </a:lnTo>
                <a:lnTo>
                  <a:pt x="7620000" y="1704975"/>
                </a:lnTo>
                <a:lnTo>
                  <a:pt x="329085" y="1705429"/>
                </a:lnTo>
                <a:lnTo>
                  <a:pt x="0" y="0"/>
                </a:lnTo>
                <a:close/>
              </a:path>
            </a:pathLst>
          </a:custGeom>
          <a:solidFill>
            <a:srgbClr val="646464"/>
          </a:solidFill>
          <a:ln w="9525">
            <a:noFill/>
            <a:round/>
            <a:headEnd/>
            <a:tailEnd/>
          </a:ln>
        </p:spPr>
        <p:txBody>
          <a:bodyPr lIns="83962" tIns="41981" rIns="83962" bIns="41981"/>
          <a:lstStyle/>
          <a:p>
            <a:pPr eaLnBrk="0" fontAlgn="base" hangingPunct="0">
              <a:spcBef>
                <a:spcPct val="0"/>
              </a:spcBef>
              <a:spcAft>
                <a:spcPct val="0"/>
              </a:spcAft>
              <a:defRPr/>
            </a:pPr>
            <a:endParaRPr lang="en-GB" sz="700" dirty="0">
              <a:solidFill>
                <a:srgbClr val="000000"/>
              </a:solidFill>
            </a:endParaRPr>
          </a:p>
        </p:txBody>
      </p:sp>
      <p:sp>
        <p:nvSpPr>
          <p:cNvPr id="6" name="Text Placeholder 9"/>
          <p:cNvSpPr>
            <a:spLocks noGrp="1"/>
          </p:cNvSpPr>
          <p:nvPr>
            <p:ph type="body" sz="quarter" idx="11"/>
          </p:nvPr>
        </p:nvSpPr>
        <p:spPr bwMode="gray">
          <a:xfrm>
            <a:off x="729620" y="3080634"/>
            <a:ext cx="8097944" cy="708406"/>
          </a:xfrm>
          <a:prstGeom prst="rect">
            <a:avLst/>
          </a:prstGeom>
        </p:spPr>
        <p:txBody>
          <a:bodyPr lIns="83969" tIns="41985" rIns="83969" bIns="41985"/>
          <a:lstStyle>
            <a:lvl1pPr>
              <a:lnSpc>
                <a:spcPct val="90000"/>
              </a:lnSpc>
              <a:spcAft>
                <a:spcPts val="0"/>
              </a:spcAft>
              <a:buNone/>
              <a:defRPr lang="en-GB" sz="3100" b="1" kern="1200" dirty="0" smtClean="0">
                <a:solidFill>
                  <a:srgbClr val="FFD200"/>
                </a:solidFill>
                <a:latin typeface="+mj-lt"/>
                <a:ea typeface="+mn-ea"/>
                <a:cs typeface="Arial" charset="0"/>
              </a:defRPr>
            </a:lvl1pPr>
          </a:lstStyle>
          <a:p>
            <a:pPr lvl="0"/>
            <a:r>
              <a:rPr lang="en-US" dirty="0"/>
              <a:t>Click to edit Master text styles</a:t>
            </a:r>
          </a:p>
        </p:txBody>
      </p:sp>
      <p:sp>
        <p:nvSpPr>
          <p:cNvPr id="7" name="Text Placeholder 7"/>
          <p:cNvSpPr>
            <a:spLocks noGrp="1"/>
          </p:cNvSpPr>
          <p:nvPr>
            <p:ph type="body" sz="quarter" idx="12"/>
          </p:nvPr>
        </p:nvSpPr>
        <p:spPr bwMode="gray">
          <a:xfrm>
            <a:off x="733346" y="2800662"/>
            <a:ext cx="8094156" cy="254067"/>
          </a:xfrm>
          <a:prstGeom prst="rect">
            <a:avLst/>
          </a:prstGeom>
        </p:spPr>
        <p:txBody>
          <a:bodyPr wrap="none" lIns="83969" tIns="41985" rIns="83969" bIns="41985" anchor="ctr"/>
          <a:lstStyle>
            <a:lvl1pPr>
              <a:buNone/>
              <a:defRPr lang="en-US" sz="1500" b="1" kern="1200" dirty="0" smtClean="0">
                <a:solidFill>
                  <a:schemeClr val="tx2"/>
                </a:solidFill>
                <a:latin typeface="+mj-lt"/>
                <a:ea typeface="+mn-ea"/>
                <a:cs typeface="Arial" charset="0"/>
              </a:defRPr>
            </a:lvl1pPr>
          </a:lstStyle>
          <a:p>
            <a:pPr lvl="0"/>
            <a:r>
              <a:rPr lang="en-US" dirty="0"/>
              <a:t>Click to edit Master text styles</a:t>
            </a:r>
          </a:p>
        </p:txBody>
      </p:sp>
      <p:sp>
        <p:nvSpPr>
          <p:cNvPr id="4" name="Rectangle 3"/>
          <p:cNvSpPr/>
          <p:nvPr userDrawn="1"/>
        </p:nvSpPr>
        <p:spPr>
          <a:xfrm>
            <a:off x="10848528" y="6415200"/>
            <a:ext cx="936104" cy="326168"/>
          </a:xfrm>
          <a:prstGeom prst="rect">
            <a:avLst/>
          </a:prstGeom>
          <a:solidFill>
            <a:schemeClr val="tx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200" dirty="0">
              <a:solidFill>
                <a:schemeClr val="tx1"/>
              </a:solidFill>
            </a:endParaRPr>
          </a:p>
        </p:txBody>
      </p:sp>
    </p:spTree>
    <p:extLst>
      <p:ext uri="{BB962C8B-B14F-4D97-AF65-F5344CB8AC3E}">
        <p14:creationId xmlns:p14="http://schemas.microsoft.com/office/powerpoint/2010/main" val="364072820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theme" Target="../theme/theme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slideLayout" Target="../slideLayouts/slideLayout57.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5" Type="http://schemas.openxmlformats.org/officeDocument/2006/relationships/theme" Target="../theme/theme4.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11414786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p:fade/>
  </p:transition>
  <p:hf sldNum="0" hdr="0" dt="0"/>
  <p:txStyles>
    <p:titleStyle>
      <a:lvl1pPr algn="l" defTabSz="914400" rtl="0" eaLnBrk="1" latinLnBrk="0" hangingPunct="1">
        <a:lnSpc>
          <a:spcPct val="85000"/>
        </a:lnSpc>
        <a:spcBef>
          <a:spcPct val="0"/>
        </a:spcBef>
        <a:buNone/>
        <a:defRPr sz="30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353097775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722" r:id="rId16"/>
  </p:sldLayoutIdLst>
  <p:transition>
    <p:fade/>
  </p:transition>
  <p:hf sldNum="0" hdr="0" dt="0"/>
  <p:txStyles>
    <p:titleStyle>
      <a:lvl1pPr algn="l" defTabSz="914400" rtl="0" eaLnBrk="1" latinLnBrk="0" hangingPunct="1">
        <a:lnSpc>
          <a:spcPct val="85000"/>
        </a:lnSpc>
        <a:spcBef>
          <a:spcPct val="0"/>
        </a:spcBef>
        <a:buNone/>
        <a:defRPr sz="3000" b="1" kern="1200">
          <a:solidFill>
            <a:srgbClr val="808080"/>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01600"/>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Presentation title</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358813441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23" r:id="rId16"/>
  </p:sldLayoutIdLst>
  <p:transition>
    <p:fade/>
  </p:transition>
  <p:hf sldNum="0" hdr="0" dt="0"/>
  <p:txStyles>
    <p:titleStyle>
      <a:lvl1pPr algn="l" defTabSz="914400" rtl="0" eaLnBrk="1" latinLnBrk="0" hangingPunct="1">
        <a:lnSpc>
          <a:spcPct val="85000"/>
        </a:lnSpc>
        <a:spcBef>
          <a:spcPct val="0"/>
        </a:spcBef>
        <a:buNone/>
        <a:defRPr sz="3000" b="1" kern="1200">
          <a:solidFill>
            <a:srgbClr val="808080"/>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rgbClr val="808080"/>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rgbClr val="808080"/>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rgbClr val="808080"/>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rgbClr val="80808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0" y="1425600"/>
            <a:ext cx="10972800" cy="4698000"/>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1200" y="6415200"/>
            <a:ext cx="4579200" cy="201600"/>
          </a:xfrm>
          <a:prstGeom prst="rect">
            <a:avLst/>
          </a:prstGeom>
        </p:spPr>
        <p:txBody>
          <a:bodyPr vert="horz" lIns="0" tIns="0" rIns="0" bIns="0" rtlCol="0" anchor="t" anchorCtr="0">
            <a:noAutofit/>
          </a:bodyPr>
          <a:lstStyle>
            <a:lvl1pPr algn="l">
              <a:defRPr sz="1100">
                <a:solidFill>
                  <a:schemeClr val="bg1"/>
                </a:solidFill>
              </a:defRPr>
            </a:lvl1pPr>
          </a:lstStyle>
          <a:p>
            <a:r>
              <a:rPr lang="en-GB">
                <a:solidFill>
                  <a:srgbClr val="808080"/>
                </a:solidFill>
              </a:rPr>
              <a:t>HELPE Information Security</a:t>
            </a:r>
            <a:endParaRPr lang="en-GB" dirty="0">
              <a:solidFill>
                <a:srgbClr val="808080"/>
              </a:solidFill>
            </a:endParaRPr>
          </a:p>
        </p:txBody>
      </p:sp>
      <p:sp>
        <p:nvSpPr>
          <p:cNvPr id="7" name="TextBox 6"/>
          <p:cNvSpPr txBox="1"/>
          <p:nvPr/>
        </p:nvSpPr>
        <p:spPr>
          <a:xfrm>
            <a:off x="609600" y="6415200"/>
            <a:ext cx="960000" cy="198000"/>
          </a:xfrm>
          <a:prstGeom prst="rect">
            <a:avLst/>
          </a:prstGeom>
          <a:noFill/>
        </p:spPr>
        <p:txBody>
          <a:bodyPr wrap="square" lIns="0" tIns="0" rIns="0" bIns="0" rtlCol="0">
            <a:noAutofit/>
          </a:bodyPr>
          <a:lstStyle/>
          <a:p>
            <a:r>
              <a:rPr lang="en-GB" sz="1100" dirty="0">
                <a:solidFill>
                  <a:srgbClr val="808080"/>
                </a:solidFill>
              </a:rPr>
              <a:t>Page </a:t>
            </a:r>
            <a:fld id="{9AE4D82F-B047-469B-AC52-A46321747EAF}" type="slidenum">
              <a:rPr lang="en-GB" sz="1100">
                <a:solidFill>
                  <a:srgbClr val="808080"/>
                </a:solidFill>
              </a:rPr>
              <a:pPr/>
              <a:t>‹#›</a:t>
            </a:fld>
            <a:endParaRPr lang="en-GB" sz="1100" dirty="0">
              <a:solidFill>
                <a:srgbClr val="808080"/>
              </a:solidFill>
            </a:endParaRPr>
          </a:p>
        </p:txBody>
      </p:sp>
      <p:grpSp>
        <p:nvGrpSpPr>
          <p:cNvPr id="8" name="Group 7"/>
          <p:cNvGrpSpPr/>
          <p:nvPr/>
        </p:nvGrpSpPr>
        <p:grpSpPr bwMode="gray">
          <a:xfrm>
            <a:off x="11131552" y="6450014"/>
            <a:ext cx="450849" cy="204787"/>
            <a:chOff x="8348663" y="6450013"/>
            <a:chExt cx="338137" cy="204787"/>
          </a:xfrm>
          <a:solidFill>
            <a:srgbClr val="808080"/>
          </a:solidFill>
        </p:grpSpPr>
        <p:sp>
          <p:nvSpPr>
            <p:cNvPr id="10" name="Freeform 5"/>
            <p:cNvSpPr>
              <a:spLocks/>
            </p:cNvSpPr>
            <p:nvPr userDrawn="1"/>
          </p:nvSpPr>
          <p:spPr bwMode="gray">
            <a:xfrm>
              <a:off x="8348663" y="6450013"/>
              <a:ext cx="163512" cy="204787"/>
            </a:xfrm>
            <a:custGeom>
              <a:avLst/>
              <a:gdLst/>
              <a:ahLst/>
              <a:cxnLst>
                <a:cxn ang="0">
                  <a:pos x="39" y="78"/>
                </a:cxn>
                <a:cxn ang="0">
                  <a:pos x="85" y="78"/>
                </a:cxn>
                <a:cxn ang="0">
                  <a:pos x="85" y="51"/>
                </a:cxn>
                <a:cxn ang="0">
                  <a:pos x="39" y="51"/>
                </a:cxn>
                <a:cxn ang="0">
                  <a:pos x="39" y="30"/>
                </a:cxn>
                <a:cxn ang="0">
                  <a:pos x="90" y="30"/>
                </a:cxn>
                <a:cxn ang="0">
                  <a:pos x="73" y="0"/>
                </a:cxn>
                <a:cxn ang="0">
                  <a:pos x="0" y="0"/>
                </a:cxn>
                <a:cxn ang="0">
                  <a:pos x="0" y="129"/>
                </a:cxn>
                <a:cxn ang="0">
                  <a:pos x="103" y="129"/>
                </a:cxn>
                <a:cxn ang="0">
                  <a:pos x="103" y="99"/>
                </a:cxn>
                <a:cxn ang="0">
                  <a:pos x="39" y="99"/>
                </a:cxn>
                <a:cxn ang="0">
                  <a:pos x="39" y="78"/>
                </a:cxn>
              </a:cxnLst>
              <a:rect l="0" t="0" r="r" b="b"/>
              <a:pathLst>
                <a:path w="103" h="129">
                  <a:moveTo>
                    <a:pt x="39" y="78"/>
                  </a:moveTo>
                  <a:lnTo>
                    <a:pt x="85" y="78"/>
                  </a:lnTo>
                  <a:lnTo>
                    <a:pt x="85" y="51"/>
                  </a:lnTo>
                  <a:lnTo>
                    <a:pt x="39" y="51"/>
                  </a:lnTo>
                  <a:lnTo>
                    <a:pt x="39" y="30"/>
                  </a:lnTo>
                  <a:lnTo>
                    <a:pt x="90" y="30"/>
                  </a:lnTo>
                  <a:lnTo>
                    <a:pt x="73" y="0"/>
                  </a:lnTo>
                  <a:lnTo>
                    <a:pt x="0" y="0"/>
                  </a:lnTo>
                  <a:lnTo>
                    <a:pt x="0" y="129"/>
                  </a:lnTo>
                  <a:lnTo>
                    <a:pt x="103" y="129"/>
                  </a:lnTo>
                  <a:lnTo>
                    <a:pt x="103" y="99"/>
                  </a:lnTo>
                  <a:lnTo>
                    <a:pt x="39" y="99"/>
                  </a:lnTo>
                  <a:lnTo>
                    <a:pt x="39" y="7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sp>
          <p:nvSpPr>
            <p:cNvPr id="11" name="Freeform 6"/>
            <p:cNvSpPr>
              <a:spLocks/>
            </p:cNvSpPr>
            <p:nvPr userDrawn="1"/>
          </p:nvSpPr>
          <p:spPr bwMode="gray">
            <a:xfrm>
              <a:off x="8483600" y="6450013"/>
              <a:ext cx="203200" cy="204787"/>
            </a:xfrm>
            <a:custGeom>
              <a:avLst/>
              <a:gdLst/>
              <a:ahLst/>
              <a:cxnLst>
                <a:cxn ang="0">
                  <a:pos x="86" y="0"/>
                </a:cxn>
                <a:cxn ang="0">
                  <a:pos x="64" y="42"/>
                </a:cxn>
                <a:cxn ang="0">
                  <a:pos x="42" y="0"/>
                </a:cxn>
                <a:cxn ang="0">
                  <a:pos x="0" y="0"/>
                </a:cxn>
                <a:cxn ang="0">
                  <a:pos x="45" y="78"/>
                </a:cxn>
                <a:cxn ang="0">
                  <a:pos x="45" y="129"/>
                </a:cxn>
                <a:cxn ang="0">
                  <a:pos x="83" y="129"/>
                </a:cxn>
                <a:cxn ang="0">
                  <a:pos x="83" y="78"/>
                </a:cxn>
                <a:cxn ang="0">
                  <a:pos x="128" y="0"/>
                </a:cxn>
                <a:cxn ang="0">
                  <a:pos x="86" y="0"/>
                </a:cxn>
              </a:cxnLst>
              <a:rect l="0" t="0" r="r" b="b"/>
              <a:pathLst>
                <a:path w="128" h="129">
                  <a:moveTo>
                    <a:pt x="86" y="0"/>
                  </a:moveTo>
                  <a:lnTo>
                    <a:pt x="64" y="42"/>
                  </a:lnTo>
                  <a:lnTo>
                    <a:pt x="42" y="0"/>
                  </a:lnTo>
                  <a:lnTo>
                    <a:pt x="0" y="0"/>
                  </a:lnTo>
                  <a:lnTo>
                    <a:pt x="45" y="78"/>
                  </a:lnTo>
                  <a:lnTo>
                    <a:pt x="45" y="129"/>
                  </a:lnTo>
                  <a:lnTo>
                    <a:pt x="83" y="129"/>
                  </a:lnTo>
                  <a:lnTo>
                    <a:pt x="83" y="78"/>
                  </a:lnTo>
                  <a:lnTo>
                    <a:pt x="128" y="0"/>
                  </a:lnTo>
                  <a:lnTo>
                    <a:pt x="86" y="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sz="1800">
                <a:solidFill>
                  <a:srgbClr val="000000"/>
                </a:solidFill>
              </a:endParaRPr>
            </a:p>
          </p:txBody>
        </p:sp>
      </p:grpSp>
    </p:spTree>
    <p:extLst>
      <p:ext uri="{BB962C8B-B14F-4D97-AF65-F5344CB8AC3E}">
        <p14:creationId xmlns:p14="http://schemas.microsoft.com/office/powerpoint/2010/main" val="2661508408"/>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Lst>
  <p:transition>
    <p:fade/>
  </p:transition>
  <p:hf sldNum="0" hdr="0" ftr="0" dt="0"/>
  <p:txStyles>
    <p:titleStyle>
      <a:lvl1pPr algn="l" defTabSz="914400" rtl="0" eaLnBrk="1" latinLnBrk="0" hangingPunct="1">
        <a:lnSpc>
          <a:spcPct val="85000"/>
        </a:lnSpc>
        <a:spcBef>
          <a:spcPct val="0"/>
        </a:spcBef>
        <a:buNone/>
        <a:defRPr sz="2800" b="1"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09613" indent="-354013"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77913" indent="-354013"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33513" indent="-355600"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7525" indent="-354013"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0.png"/><Relationship Id="rId7" Type="http://schemas.openxmlformats.org/officeDocument/2006/relationships/oleObject" Target="../embeddings/oleObject2.bin"/><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oleObject" Target="../embeddings/oleObject1.bin"/><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5.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image" Target="../media/image4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5.xml"/><Relationship Id="rId5" Type="http://schemas.openxmlformats.org/officeDocument/2006/relationships/image" Target="../media/image47.png"/><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0.xml"/><Relationship Id="rId1" Type="http://schemas.openxmlformats.org/officeDocument/2006/relationships/slideLayout" Target="../slideLayouts/slideLayout15.xml"/><Relationship Id="rId4" Type="http://schemas.openxmlformats.org/officeDocument/2006/relationships/image" Target="../media/image53.png"/></Relationships>
</file>

<file path=ppt/slides/_rels/slide3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1.xml"/><Relationship Id="rId1" Type="http://schemas.openxmlformats.org/officeDocument/2006/relationships/slideLayout" Target="../slideLayouts/slideLayout15.xml"/><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15.xml"/><Relationship Id="rId5" Type="http://schemas.openxmlformats.org/officeDocument/2006/relationships/image" Target="../media/image62.png"/><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4.xml"/><Relationship Id="rId1" Type="http://schemas.openxmlformats.org/officeDocument/2006/relationships/slideLayout" Target="../slideLayouts/slideLayout15.xml"/><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6.xml"/></Relationships>
</file>

<file path=ppt/slides/_rels/slide3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5.xml"/><Relationship Id="rId1" Type="http://schemas.openxmlformats.org/officeDocument/2006/relationships/slideLayout" Target="../slideLayouts/slideLayout15.xml"/><Relationship Id="rId4" Type="http://schemas.openxmlformats.org/officeDocument/2006/relationships/image" Target="../media/image68.png"/></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3.xml"/><Relationship Id="rId1" Type="http://schemas.openxmlformats.org/officeDocument/2006/relationships/slideLayout" Target="../slideLayouts/slideLayout15.xml"/><Relationship Id="rId5" Type="http://schemas.openxmlformats.org/officeDocument/2006/relationships/image" Target="../media/image74.png"/><Relationship Id="rId4" Type="http://schemas.openxmlformats.org/officeDocument/2006/relationships/image" Target="../media/image7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46.xml"/><Relationship Id="rId1" Type="http://schemas.openxmlformats.org/officeDocument/2006/relationships/slideLayout" Target="../slideLayouts/slideLayout15.xml"/><Relationship Id="rId5" Type="http://schemas.openxmlformats.org/officeDocument/2006/relationships/image" Target="../media/image78.png"/><Relationship Id="rId4" Type="http://schemas.openxmlformats.org/officeDocument/2006/relationships/image" Target="../media/image77.png"/></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7.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6.xml"/><Relationship Id="rId4" Type="http://schemas.openxmlformats.org/officeDocument/2006/relationships/image" Target="../media/image83.png"/></Relationships>
</file>

<file path=ppt/slides/_rels/slide5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9.xml"/><Relationship Id="rId1" Type="http://schemas.openxmlformats.org/officeDocument/2006/relationships/slideLayout" Target="../slideLayouts/slideLayout15.xml"/><Relationship Id="rId4" Type="http://schemas.openxmlformats.org/officeDocument/2006/relationships/image" Target="../media/image8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2.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53.xml"/><Relationship Id="rId1" Type="http://schemas.openxmlformats.org/officeDocument/2006/relationships/slideLayout" Target="../slideLayouts/slideLayout15.xml"/><Relationship Id="rId5" Type="http://schemas.openxmlformats.org/officeDocument/2006/relationships/image" Target="../media/image90.png"/><Relationship Id="rId4" Type="http://schemas.openxmlformats.org/officeDocument/2006/relationships/image" Target="../media/image89.png"/></Relationships>
</file>

<file path=ppt/slides/_rels/slide6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6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6.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7.xml"/><Relationship Id="rId1" Type="http://schemas.openxmlformats.org/officeDocument/2006/relationships/slideLayout" Target="../slideLayouts/slideLayout15.xml"/><Relationship Id="rId4" Type="http://schemas.openxmlformats.org/officeDocument/2006/relationships/image" Target="../media/image94.png"/></Relationships>
</file>

<file path=ppt/slides/_rels/slide6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8.xml"/><Relationship Id="rId1" Type="http://schemas.openxmlformats.org/officeDocument/2006/relationships/slideLayout" Target="../slideLayouts/slideLayout15.xml"/><Relationship Id="rId4" Type="http://schemas.openxmlformats.org/officeDocument/2006/relationships/image" Target="../media/image95.png"/></Relationships>
</file>

<file path=ppt/slides/_rels/slide6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59.xml"/><Relationship Id="rId1" Type="http://schemas.openxmlformats.org/officeDocument/2006/relationships/slideLayout" Target="../slideLayouts/slideLayout15.xml"/><Relationship Id="rId4" Type="http://schemas.openxmlformats.org/officeDocument/2006/relationships/image" Target="../media/image9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7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60.xml"/><Relationship Id="rId1" Type="http://schemas.openxmlformats.org/officeDocument/2006/relationships/slideLayout" Target="../slideLayouts/slideLayout15.xml"/><Relationship Id="rId4" Type="http://schemas.openxmlformats.org/officeDocument/2006/relationships/image" Target="../media/image95.png"/></Relationships>
</file>

<file path=ppt/slides/_rels/slide7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62.xml"/><Relationship Id="rId1" Type="http://schemas.openxmlformats.org/officeDocument/2006/relationships/slideLayout" Target="../slideLayouts/slideLayout15.xml"/><Relationship Id="rId5" Type="http://schemas.openxmlformats.org/officeDocument/2006/relationships/image" Target="../media/image100.png"/><Relationship Id="rId4" Type="http://schemas.openxmlformats.org/officeDocument/2006/relationships/image" Target="../media/image99.png"/></Relationships>
</file>

<file path=ppt/slides/_rels/slide73.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3.xml"/><Relationship Id="rId1" Type="http://schemas.openxmlformats.org/officeDocument/2006/relationships/slideLayout" Target="../slideLayouts/slideLayout15.xml"/><Relationship Id="rId4" Type="http://schemas.openxmlformats.org/officeDocument/2006/relationships/image" Target="../media/image102.png"/></Relationships>
</file>

<file path=ppt/slides/_rels/slide74.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7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66.xml"/><Relationship Id="rId1" Type="http://schemas.openxmlformats.org/officeDocument/2006/relationships/slideLayout" Target="../slideLayouts/slideLayout15.xml"/><Relationship Id="rId4" Type="http://schemas.openxmlformats.org/officeDocument/2006/relationships/image" Target="../media/image106.png"/></Relationships>
</file>

<file path=ppt/slides/_rels/slide7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7.xml"/><Relationship Id="rId1" Type="http://schemas.openxmlformats.org/officeDocument/2006/relationships/slideLayout" Target="../slideLayouts/slideLayout15.xml"/><Relationship Id="rId4" Type="http://schemas.openxmlformats.org/officeDocument/2006/relationships/image" Target="../media/image108.png"/></Relationships>
</file>

<file path=ppt/slides/_rels/slide78.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8.xml"/><Relationship Id="rId1" Type="http://schemas.openxmlformats.org/officeDocument/2006/relationships/slideLayout" Target="../slideLayouts/slideLayout15.xml"/><Relationship Id="rId4" Type="http://schemas.openxmlformats.org/officeDocument/2006/relationships/image" Target="../media/image109.png"/></Relationships>
</file>

<file path=ppt/slides/_rels/slide7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82.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8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8" Type="http://schemas.openxmlformats.org/officeDocument/2006/relationships/image" Target="../media/image119.png"/><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notesSlide" Target="../notesSlides/notesSlide74.xml"/><Relationship Id="rId1" Type="http://schemas.openxmlformats.org/officeDocument/2006/relationships/slideLayout" Target="../slideLayouts/slideLayout15.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 Id="rId9" Type="http://schemas.openxmlformats.org/officeDocument/2006/relationships/image" Target="../media/image120.png"/></Relationships>
</file>

<file path=ppt/slides/_rels/slide87.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75.xml"/><Relationship Id="rId1" Type="http://schemas.openxmlformats.org/officeDocument/2006/relationships/slideLayout" Target="../slideLayouts/slideLayout15.xml"/></Relationships>
</file>

<file path=ppt/slides/_rels/slide8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76.xml"/><Relationship Id="rId1" Type="http://schemas.openxmlformats.org/officeDocument/2006/relationships/slideLayout" Target="../slideLayouts/slideLayout1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6.xml"/><Relationship Id="rId4" Type="http://schemas.openxmlformats.org/officeDocument/2006/relationships/image" Target="../media/image126.png"/></Relationships>
</file>

<file path=ppt/slides/_rels/slide93.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6.xml"/></Relationships>
</file>

<file path=ppt/slides/_rels/slide9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79.xml"/><Relationship Id="rId1" Type="http://schemas.openxmlformats.org/officeDocument/2006/relationships/slideLayout" Target="../slideLayouts/slideLayout15.xml"/></Relationships>
</file>

<file path=ppt/slides/_rels/slide9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80.xml"/><Relationship Id="rId1" Type="http://schemas.openxmlformats.org/officeDocument/2006/relationships/slideLayout" Target="../slideLayouts/slideLayout15.xml"/><Relationship Id="rId4" Type="http://schemas.openxmlformats.org/officeDocument/2006/relationships/image" Target="../media/image130.png"/></Relationships>
</file>

<file path=ppt/slides/_rels/slide96.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81.xml"/><Relationship Id="rId1" Type="http://schemas.openxmlformats.org/officeDocument/2006/relationships/slideLayout" Target="../slideLayouts/slideLayout15.xml"/><Relationship Id="rId4" Type="http://schemas.openxmlformats.org/officeDocument/2006/relationships/image" Target="../media/image125.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5.xml"/></Relationships>
</file>

<file path=ppt/slides/_rels/slide9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83.xml"/><Relationship Id="rId1" Type="http://schemas.openxmlformats.org/officeDocument/2006/relationships/slideLayout" Target="../slideLayouts/slideLayout15.xml"/></Relationships>
</file>

<file path=ppt/slides/_rels/slide99.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6.xml"/></Relationships>
</file>

<file path=ppt/slides/_rels/slide100.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5.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5.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5.xml"/></Relationships>
</file>

<file path=ppt/slides/_rels/slide104.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87.xml"/><Relationship Id="rId1" Type="http://schemas.openxmlformats.org/officeDocument/2006/relationships/slideLayout" Target="../slideLayouts/slideLayout15.xml"/></Relationships>
</file>

<file path=ppt/slides/_rels/slide105.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6.xml"/></Relationships>
</file>

<file path=ppt/slides/_rels/slide10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6.xml"/><Relationship Id="rId4" Type="http://schemas.openxmlformats.org/officeDocument/2006/relationships/hyperlink" Target="https://cse.lms.sjcetpalai.ac.in/pluginfile.php/6628/mod_resource/content/1/dynamic-content-php-m4.pdf"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ctrTitle"/>
          </p:nvPr>
        </p:nvSpPr>
        <p:spPr>
          <a:xfrm>
            <a:off x="407368" y="3561429"/>
            <a:ext cx="11665296" cy="936104"/>
          </a:xfrm>
        </p:spPr>
        <p:txBody>
          <a:bodyPr/>
          <a:lstStyle/>
          <a:p>
            <a:pPr algn="ctr">
              <a:lnSpc>
                <a:spcPct val="150000"/>
              </a:lnSpc>
            </a:pPr>
            <a:r>
              <a:rPr lang="en-GB" sz="2400" dirty="0">
                <a:latin typeface="Armata" panose="020B0503040500060204" pitchFamily="34" charset="0"/>
              </a:rPr>
              <a:t>DEPARTMENT OF COMPUTER SCIENCE &amp; ENGINEERING</a:t>
            </a:r>
          </a:p>
        </p:txBody>
      </p:sp>
      <p:sp>
        <p:nvSpPr>
          <p:cNvPr id="2" name="Subtitle 1"/>
          <p:cNvSpPr>
            <a:spLocks noGrp="1"/>
          </p:cNvSpPr>
          <p:nvPr>
            <p:ph type="subTitle" idx="1"/>
          </p:nvPr>
        </p:nvSpPr>
        <p:spPr>
          <a:xfrm>
            <a:off x="1626200" y="4221088"/>
            <a:ext cx="8928992" cy="576064"/>
          </a:xfrm>
        </p:spPr>
        <p:txBody>
          <a:bodyPr/>
          <a:lstStyle/>
          <a:p>
            <a:pPr algn="ctr"/>
            <a:r>
              <a:rPr lang="en-US" dirty="0"/>
              <a:t>CST463 </a:t>
            </a: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a:t>WEB PROGRAMMING</a:t>
            </a:r>
          </a:p>
        </p:txBody>
      </p:sp>
      <p:sp>
        <p:nvSpPr>
          <p:cNvPr id="7" name="Subtitle 1"/>
          <p:cNvSpPr txBox="1">
            <a:spLocks/>
          </p:cNvSpPr>
          <p:nvPr/>
        </p:nvSpPr>
        <p:spPr>
          <a:xfrm>
            <a:off x="4125554" y="5683946"/>
            <a:ext cx="3076796" cy="315416"/>
          </a:xfrm>
          <a:prstGeom prst="rect">
            <a:avLst/>
          </a:prstGeom>
        </p:spPr>
        <p:txBody>
          <a:bodyPr vert="horz" lIns="0" tIns="0" rIns="0" bIns="0" rtlCol="0" anchor="t" anchorCtr="0">
            <a:noAutofit/>
          </a:bodyPr>
          <a:lstStyle>
            <a:lvl1pPr marL="0" indent="0" algn="l" defTabSz="914400" rtl="0" eaLnBrk="1" latinLnBrk="0" hangingPunct="1">
              <a:spcBef>
                <a:spcPct val="20000"/>
              </a:spcBef>
              <a:buClr>
                <a:schemeClr val="accent2"/>
              </a:buClr>
              <a:buSzPct val="70000"/>
              <a:buFont typeface="Arial" pitchFamily="34" charset="0"/>
              <a:buNone/>
              <a:defRPr sz="2000" kern="1200">
                <a:solidFill>
                  <a:schemeClr val="bg2"/>
                </a:solidFill>
                <a:latin typeface="+mn-lt"/>
                <a:ea typeface="+mn-ea"/>
                <a:cs typeface="+mn-cs"/>
              </a:defRPr>
            </a:lvl1pPr>
            <a:lvl2pPr marL="0" indent="0" algn="l" defTabSz="914400" rtl="0" eaLnBrk="1" latinLnBrk="0" hangingPunct="1">
              <a:spcBef>
                <a:spcPct val="20000"/>
              </a:spcBef>
              <a:buClr>
                <a:schemeClr val="accent2"/>
              </a:buClr>
              <a:buSzPct val="70000"/>
              <a:buFont typeface="Arial" pitchFamily="34" charset="0"/>
              <a:buNone/>
              <a:defRPr sz="1600" kern="1200">
                <a:solidFill>
                  <a:schemeClr val="bg2"/>
                </a:solidFill>
                <a:latin typeface="+mn-lt"/>
                <a:ea typeface="+mn-ea"/>
                <a:cs typeface="+mn-cs"/>
              </a:defRPr>
            </a:lvl2pPr>
            <a:lvl3pPr marL="914400" indent="0" algn="ctr" defTabSz="914400" rtl="0" eaLnBrk="1" latinLnBrk="0" hangingPunct="1">
              <a:spcBef>
                <a:spcPct val="20000"/>
              </a:spcBef>
              <a:buClr>
                <a:schemeClr val="accent2"/>
              </a:buClr>
              <a:buSzPct val="70000"/>
              <a:buFont typeface="Arial"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spcBef>
                <a:spcPct val="20000"/>
              </a:spcBef>
              <a:buClr>
                <a:schemeClr val="accent2"/>
              </a:buClr>
              <a:buSzPct val="70000"/>
              <a:buFont typeface="Arial"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spcBef>
                <a:spcPct val="20000"/>
              </a:spcBef>
              <a:buClr>
                <a:schemeClr val="accent2"/>
              </a:buClr>
              <a:buSzPct val="70000"/>
              <a:buFont typeface="Arial"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ctr"/>
            <a:fld id="{DEAD4673-6CAE-464D-9126-8443A17B3EEC}" type="datetime3">
              <a:rPr lang="en-US" sz="1400" smtClean="0">
                <a:latin typeface="Open Sans" panose="020B0606030504020204" pitchFamily="34" charset="0"/>
                <a:ea typeface="Open Sans" panose="020B0606030504020204" pitchFamily="34" charset="0"/>
                <a:cs typeface="Open Sans" panose="020B0606030504020204" pitchFamily="34" charset="0"/>
              </a:rPr>
              <a:pPr algn="ctr"/>
              <a:t>10 November 2025</a:t>
            </a:fld>
            <a:endParaRPr lang="en-US" sz="14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0470868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84EAC596-008A-4E62-9DE5-44A3DC6DB0BE}"/>
              </a:ext>
            </a:extLst>
          </p:cNvPr>
          <p:cNvGrpSpPr/>
          <p:nvPr/>
        </p:nvGrpSpPr>
        <p:grpSpPr>
          <a:xfrm>
            <a:off x="0" y="0"/>
            <a:ext cx="12192000" cy="6858000"/>
            <a:chOff x="0" y="0"/>
            <a:chExt cx="12192000" cy="6858000"/>
          </a:xfrm>
        </p:grpSpPr>
        <p:sp>
          <p:nvSpPr>
            <p:cNvPr id="8" name="Rectangle 7">
              <a:extLst>
                <a:ext uri="{FF2B5EF4-FFF2-40B4-BE49-F238E27FC236}">
                  <a16:creationId xmlns:a16="http://schemas.microsoft.com/office/drawing/2014/main" id="{C491EBE2-4822-45B7-AC9B-E1F36232F83D}"/>
                </a:ext>
              </a:extLst>
            </p:cNvPr>
            <p:cNvSpPr/>
            <p:nvPr/>
          </p:nvSpPr>
          <p:spPr>
            <a:xfrm>
              <a:off x="0" y="0"/>
              <a:ext cx="12192000" cy="6858000"/>
            </a:xfrm>
            <a:prstGeom prst="rect">
              <a:avLst/>
            </a:prstGeom>
            <a:solidFill>
              <a:srgbClr val="F3C900"/>
            </a:solidFill>
            <a:ln>
              <a:solidFill>
                <a:srgbClr val="F3C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F3C900"/>
                </a:solidFill>
              </a:endParaRPr>
            </a:p>
          </p:txBody>
        </p:sp>
        <p:sp>
          <p:nvSpPr>
            <p:cNvPr id="9" name="Rectangle 8">
              <a:extLst>
                <a:ext uri="{FF2B5EF4-FFF2-40B4-BE49-F238E27FC236}">
                  <a16:creationId xmlns:a16="http://schemas.microsoft.com/office/drawing/2014/main" id="{4DD8927A-5832-42CF-B507-344B633EDBA7}"/>
                </a:ext>
              </a:extLst>
            </p:cNvPr>
            <p:cNvSpPr/>
            <p:nvPr/>
          </p:nvSpPr>
          <p:spPr>
            <a:xfrm>
              <a:off x="0" y="4785360"/>
              <a:ext cx="12192000" cy="2072640"/>
            </a:xfrm>
            <a:prstGeom prst="rect">
              <a:avLst/>
            </a:prstGeom>
            <a:solidFill>
              <a:srgbClr val="505050"/>
            </a:solidFill>
            <a:ln>
              <a:solidFill>
                <a:srgbClr val="50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44" name="Picture 20" descr="Power BI DATEDIFF only working days, hours and so on... • Tomasz Poszytek,  Business Applications MVP">
              <a:extLst>
                <a:ext uri="{FF2B5EF4-FFF2-40B4-BE49-F238E27FC236}">
                  <a16:creationId xmlns:a16="http://schemas.microsoft.com/office/drawing/2014/main" id="{C5C4553B-D589-4EEB-AD82-80951C03FF8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918"/>
            <a:stretch/>
          </p:blipFill>
          <p:spPr bwMode="auto">
            <a:xfrm>
              <a:off x="6855033" y="1150621"/>
              <a:ext cx="4674027" cy="5181600"/>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988F4FA0-B89B-4866-80ED-9FEFA0C6884C}"/>
                </a:ext>
              </a:extLst>
            </p:cNvPr>
            <p:cNvSpPr/>
            <p:nvPr/>
          </p:nvSpPr>
          <p:spPr>
            <a:xfrm>
              <a:off x="336370" y="1551563"/>
              <a:ext cx="184731" cy="1107996"/>
            </a:xfrm>
            <a:prstGeom prst="rect">
              <a:avLst/>
            </a:prstGeom>
            <a:noFill/>
          </p:spPr>
          <p:txBody>
            <a:bodyPr wrap="none" lIns="91440" tIns="45720" rIns="91440" bIns="45720">
              <a:spAutoFit/>
            </a:bodyPr>
            <a:lstStyle/>
            <a:p>
              <a:endParaRPr lang="en-US" sz="6600" b="0" cap="none" spc="0" dirty="0">
                <a:ln w="0"/>
                <a:solidFill>
                  <a:schemeClr val="tx1"/>
                </a:solidFill>
                <a:effectLst>
                  <a:outerShdw blurRad="38100" dist="19050" dir="2700000" algn="tl" rotWithShape="0">
                    <a:schemeClr val="dk1">
                      <a:alpha val="40000"/>
                    </a:schemeClr>
                  </a:outerShdw>
                </a:effectLst>
              </a:endParaRPr>
            </a:p>
          </p:txBody>
        </p:sp>
      </p:grpSp>
      <p:sp>
        <p:nvSpPr>
          <p:cNvPr id="6" name="TextBox 5">
            <a:extLst>
              <a:ext uri="{FF2B5EF4-FFF2-40B4-BE49-F238E27FC236}">
                <a16:creationId xmlns:a16="http://schemas.microsoft.com/office/drawing/2014/main" id="{A614C452-4AE1-45D8-A4E2-0018C5D5A0E1}"/>
              </a:ext>
            </a:extLst>
          </p:cNvPr>
          <p:cNvSpPr txBox="1"/>
          <p:nvPr/>
        </p:nvSpPr>
        <p:spPr>
          <a:xfrm>
            <a:off x="153376" y="224064"/>
            <a:ext cx="8856984" cy="846386"/>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4400" dirty="0"/>
              <a:t>CST463 </a:t>
            </a:r>
            <a:r>
              <a:rPr lang="en-US" sz="4400" dirty="0">
                <a:latin typeface="Open Sans" panose="020B0606030504020204" pitchFamily="34" charset="0"/>
                <a:ea typeface="Open Sans" panose="020B0606030504020204" pitchFamily="34" charset="0"/>
                <a:cs typeface="Open Sans" panose="020B0606030504020204" pitchFamily="34" charset="0"/>
              </a:rPr>
              <a:t>- </a:t>
            </a:r>
            <a:r>
              <a:rPr lang="en-US" sz="4400" dirty="0"/>
              <a:t>WEB PROGRAMMING</a:t>
            </a:r>
          </a:p>
          <a:p>
            <a:pPr marL="285750" indent="-285750">
              <a:lnSpc>
                <a:spcPct val="85000"/>
              </a:lnSpc>
              <a:spcAft>
                <a:spcPts val="600"/>
              </a:spcAft>
              <a:buClr>
                <a:schemeClr val="accent2"/>
              </a:buClr>
              <a:buSzPct val="70000"/>
              <a:buFont typeface="Arial" pitchFamily="34" charset="0"/>
              <a:buChar char="►"/>
            </a:pPr>
            <a:endParaRPr lang="en-US" sz="1200" dirty="0"/>
          </a:p>
        </p:txBody>
      </p:sp>
    </p:spTree>
    <p:extLst>
      <p:ext uri="{BB962C8B-B14F-4D97-AF65-F5344CB8AC3E}">
        <p14:creationId xmlns:p14="http://schemas.microsoft.com/office/powerpoint/2010/main" val="2603454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335360" y="1268761"/>
            <a:ext cx="10657184" cy="1512168"/>
          </a:xfrm>
        </p:spPr>
        <p:txBody>
          <a:bodyPr/>
          <a:lstStyle/>
          <a:p>
            <a:pPr algn="just"/>
            <a:r>
              <a:rPr lang="en-US" dirty="0"/>
              <a:t> Form processing and Business Logic</a:t>
            </a:r>
          </a:p>
          <a:p>
            <a:pPr algn="just"/>
            <a:r>
              <a:rPr lang="en-US" dirty="0"/>
              <a:t> Cookies- Sessions </a:t>
            </a:r>
          </a:p>
          <a:p>
            <a:pPr algn="just"/>
            <a:r>
              <a:rPr lang="en-US" dirty="0"/>
              <a:t> MySQL Integration-Connecting to MySQL with PHP</a:t>
            </a:r>
          </a:p>
          <a:p>
            <a:pPr algn="just"/>
            <a:r>
              <a:rPr lang="en-US" dirty="0"/>
              <a:t> Performing CREATE, DELETE, INSERT, SELECT and UPDATE operations on MySQL table </a:t>
            </a:r>
          </a:p>
          <a:p>
            <a:pPr algn="just"/>
            <a:r>
              <a:rPr lang="en-US" dirty="0"/>
              <a:t>Working with MySQL data</a:t>
            </a:r>
          </a:p>
          <a:p>
            <a:pPr algn="just"/>
            <a:r>
              <a:rPr lang="en-US" dirty="0"/>
              <a:t>Reading from Database-Dynamic Content.</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latin typeface="Armata" panose="020B0503040500060204" pitchFamily="34" charset="0"/>
              </a:rPr>
              <a:t>Module 4  (CO3,</a:t>
            </a:r>
            <a:r>
              <a:rPr lang="en-IN" dirty="0"/>
              <a:t> Cognitive Knowledge Level: Apply</a:t>
            </a:r>
            <a:r>
              <a:rPr lang="en-US" dirty="0">
                <a:latin typeface="Armata" panose="020B0503040500060204" pitchFamily="34" charset="0"/>
              </a:rPr>
              <a:t>)</a:t>
            </a:r>
          </a:p>
        </p:txBody>
      </p:sp>
    </p:spTree>
    <p:extLst>
      <p:ext uri="{BB962C8B-B14F-4D97-AF65-F5344CB8AC3E}">
        <p14:creationId xmlns:p14="http://schemas.microsoft.com/office/powerpoint/2010/main" val="9680358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just"/>
            <a:r>
              <a:rPr lang="en-US" dirty="0"/>
              <a:t> Form processing and Business Logic</a:t>
            </a:r>
          </a:p>
        </p:txBody>
      </p:sp>
    </p:spTree>
    <p:extLst>
      <p:ext uri="{BB962C8B-B14F-4D97-AF65-F5344CB8AC3E}">
        <p14:creationId xmlns:p14="http://schemas.microsoft.com/office/powerpoint/2010/main" val="17897947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err="1"/>
              <a:t>Superglobal</a:t>
            </a:r>
            <a:r>
              <a:rPr lang="en-US" dirty="0"/>
              <a:t> arrays are associative arrays predefined by PHP that hold variables acquired from user input, the environment or the web server, and are accessible in any variable scope. Some of PHP’s </a:t>
            </a:r>
            <a:r>
              <a:rPr lang="en-US" dirty="0" err="1"/>
              <a:t>superglobal</a:t>
            </a:r>
            <a:r>
              <a:rPr lang="en-US" dirty="0"/>
              <a:t> arrays </a:t>
            </a:r>
          </a:p>
          <a:p>
            <a:endParaRPr lang="en-US" altLang="en-US" dirty="0">
              <a:latin typeface="Open Sans" panose="020B0606030504020204" pitchFamily="34" charset="0"/>
              <a:ea typeface="Open Sans" panose="020B0606030504020204" pitchFamily="34" charset="0"/>
              <a:cs typeface="Open Sans" panose="020B0606030504020204" pitchFamily="34" charset="0"/>
            </a:endParaRPr>
          </a:p>
          <a:p>
            <a:endParaRPr lang="en-US" altLang="en-US" sz="2000" dirty="0"/>
          </a:p>
          <a:p>
            <a:endParaRPr lang="en-US" altLang="en-US" sz="2000" dirty="0">
              <a:latin typeface="Open Sans" panose="020B0606030504020204" pitchFamily="34" charset="0"/>
              <a:ea typeface="Open Sans" panose="020B0606030504020204" pitchFamily="34" charset="0"/>
              <a:cs typeface="Open Sans" panose="020B0606030504020204" pitchFamily="34" charset="0"/>
            </a:endParaRPr>
          </a:p>
          <a:p>
            <a:endParaRPr lang="en-US" altLang="en-US" sz="2000" dirty="0"/>
          </a:p>
          <a:p>
            <a:endParaRPr lang="en-US" altLang="en-US" sz="2000" dirty="0">
              <a:latin typeface="Open Sans" panose="020B0606030504020204" pitchFamily="34" charset="0"/>
              <a:ea typeface="Open Sans" panose="020B0606030504020204" pitchFamily="34" charset="0"/>
              <a:cs typeface="Open Sans" panose="020B0606030504020204" pitchFamily="34" charset="0"/>
            </a:endParaRPr>
          </a:p>
          <a:p>
            <a:endParaRPr lang="en-US" altLang="en-US" sz="2000" dirty="0"/>
          </a:p>
          <a:p>
            <a:endParaRPr lang="en-US" altLang="en-US" sz="2000" dirty="0">
              <a:latin typeface="Open Sans" panose="020B0606030504020204" pitchFamily="34" charset="0"/>
              <a:ea typeface="Open Sans" panose="020B0606030504020204" pitchFamily="34" charset="0"/>
              <a:cs typeface="Open Sans" panose="020B0606030504020204" pitchFamily="34" charset="0"/>
            </a:endParaRPr>
          </a:p>
          <a:p>
            <a:endParaRPr lang="en-US" altLang="en-US" sz="2000" dirty="0"/>
          </a:p>
          <a:p>
            <a:r>
              <a:rPr lang="en-US" dirty="0"/>
              <a:t>The arrays $_GET and $_POST retrieve information sent to the server by HTTP get and post requests, respectively, making it possible for a script to have access to this data when it loads another page</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a:t>
            </a:r>
          </a:p>
        </p:txBody>
      </p:sp>
      <p:pic>
        <p:nvPicPr>
          <p:cNvPr id="2" name="Picture 1">
            <a:extLst>
              <a:ext uri="{FF2B5EF4-FFF2-40B4-BE49-F238E27FC236}">
                <a16:creationId xmlns:a16="http://schemas.microsoft.com/office/drawing/2014/main" id="{5A6B5004-922D-489A-9FF6-67C3B2ADA5B5}"/>
              </a:ext>
            </a:extLst>
          </p:cNvPr>
          <p:cNvPicPr>
            <a:picLocks noChangeAspect="1"/>
          </p:cNvPicPr>
          <p:nvPr/>
        </p:nvPicPr>
        <p:blipFill>
          <a:blip r:embed="rId3"/>
          <a:stretch>
            <a:fillRect/>
          </a:stretch>
        </p:blipFill>
        <p:spPr>
          <a:xfrm>
            <a:off x="2279576" y="2132856"/>
            <a:ext cx="7920880" cy="3113049"/>
          </a:xfrm>
          <a:prstGeom prst="rect">
            <a:avLst/>
          </a:prstGeom>
        </p:spPr>
      </p:pic>
    </p:spTree>
    <p:extLst>
      <p:ext uri="{BB962C8B-B14F-4D97-AF65-F5344CB8AC3E}">
        <p14:creationId xmlns:p14="http://schemas.microsoft.com/office/powerpoint/2010/main" val="114206510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pPr>
              <a:defRPr/>
            </a:pPr>
            <a:r>
              <a:rPr lang="en-IN" dirty="0"/>
              <a:t>when PHP is used for form handling, the PHP script is embedded in an XHTML document, like other uses of PHP. </a:t>
            </a:r>
          </a:p>
          <a:p>
            <a:pPr>
              <a:defRPr/>
            </a:pPr>
            <a:r>
              <a:rPr lang="en-IN" dirty="0"/>
              <a:t>The recommended approach is to use the implicit arrays for form values, $_POST and $_GET.</a:t>
            </a:r>
          </a:p>
          <a:p>
            <a:pPr>
              <a:defRPr/>
            </a:pPr>
            <a:r>
              <a:rPr lang="en-IN" dirty="0"/>
              <a:t> These arrays have keys that match the form element names and values that were input by the client. </a:t>
            </a:r>
          </a:p>
          <a:p>
            <a:pPr>
              <a:defRPr/>
            </a:pPr>
            <a:r>
              <a:rPr lang="en-IN" dirty="0"/>
              <a:t>For example, </a:t>
            </a:r>
            <a:r>
              <a:rPr lang="en-IN" dirty="0">
                <a:highlight>
                  <a:srgbClr val="FFFF00"/>
                </a:highlight>
              </a:rPr>
              <a:t>if a form has a text box named phone and the form method is POST, the value of that element is available in the PHP script as follows:</a:t>
            </a:r>
          </a:p>
          <a:p>
            <a:pPr marL="0" indent="0">
              <a:buNone/>
              <a:defRPr/>
            </a:pPr>
            <a:r>
              <a:rPr lang="en-IN" dirty="0">
                <a:highlight>
                  <a:srgbClr val="FFFF00"/>
                </a:highlight>
              </a:rPr>
              <a:t>		</a:t>
            </a:r>
            <a:r>
              <a:rPr lang="en-IN" dirty="0">
                <a:solidFill>
                  <a:schemeClr val="accent1"/>
                </a:solidFill>
                <a:highlight>
                  <a:srgbClr val="FFFF00"/>
                </a:highlight>
              </a:rPr>
              <a:t>$_POST["phone"]</a:t>
            </a:r>
          </a:p>
          <a:p>
            <a:pPr marL="0" inden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GB" dirty="0"/>
              <a:t>The built-in $_GET function is used to collect values from a form sent with method="get".</a:t>
            </a:r>
          </a:p>
          <a:p>
            <a:pPr marL="0" inden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pPr>
            <a:r>
              <a:rPr lang="en-GB" dirty="0"/>
              <a:t>Information sent from a form with the GET method is visible to everyone and has limits on the amount of information to send (max. 100 characters).</a:t>
            </a:r>
          </a:p>
          <a:p>
            <a:pPr>
              <a:defRPr/>
            </a:pPr>
            <a:endParaRPr lang="en-IN" dirty="0">
              <a:solidFill>
                <a:schemeClr val="accent1"/>
              </a:solidFill>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a:t>
            </a:r>
          </a:p>
        </p:txBody>
      </p:sp>
    </p:spTree>
    <p:extLst>
      <p:ext uri="{BB962C8B-B14F-4D97-AF65-F5344CB8AC3E}">
        <p14:creationId xmlns:p14="http://schemas.microsoft.com/office/powerpoint/2010/main" val="24781486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a:t>
            </a:r>
            <a:r>
              <a:rPr lang="en-GB" altLang="en-US" dirty="0"/>
              <a:t>$_POST Function</a:t>
            </a:r>
            <a:endParaRPr lang="en-US" dirty="0"/>
          </a:p>
        </p:txBody>
      </p:sp>
      <p:pic>
        <p:nvPicPr>
          <p:cNvPr id="4" name="Content Placeholder 3">
            <a:extLst>
              <a:ext uri="{FF2B5EF4-FFF2-40B4-BE49-F238E27FC236}">
                <a16:creationId xmlns:a16="http://schemas.microsoft.com/office/drawing/2014/main" id="{D1FA4C07-7283-42AF-93E1-3211D80E5E9E}"/>
              </a:ext>
            </a:extLst>
          </p:cNvPr>
          <p:cNvPicPr>
            <a:picLocks noGrp="1" noChangeAspect="1"/>
          </p:cNvPicPr>
          <p:nvPr>
            <p:ph idx="1"/>
          </p:nvPr>
        </p:nvPicPr>
        <p:blipFill>
          <a:blip r:embed="rId3"/>
          <a:stretch>
            <a:fillRect/>
          </a:stretch>
        </p:blipFill>
        <p:spPr>
          <a:xfrm>
            <a:off x="479376" y="1124744"/>
            <a:ext cx="5829896" cy="4697413"/>
          </a:xfrm>
          <a:prstGeom prst="rect">
            <a:avLst/>
          </a:prstGeom>
        </p:spPr>
      </p:pic>
      <p:pic>
        <p:nvPicPr>
          <p:cNvPr id="9" name="Picture 8">
            <a:extLst>
              <a:ext uri="{FF2B5EF4-FFF2-40B4-BE49-F238E27FC236}">
                <a16:creationId xmlns:a16="http://schemas.microsoft.com/office/drawing/2014/main" id="{53644BD2-3B77-4674-A347-896958E1E89E}"/>
              </a:ext>
            </a:extLst>
          </p:cNvPr>
          <p:cNvPicPr>
            <a:picLocks noChangeAspect="1"/>
          </p:cNvPicPr>
          <p:nvPr/>
        </p:nvPicPr>
        <p:blipFill>
          <a:blip r:embed="rId4"/>
          <a:stretch>
            <a:fillRect/>
          </a:stretch>
        </p:blipFill>
        <p:spPr>
          <a:xfrm>
            <a:off x="6219825" y="53306"/>
            <a:ext cx="5972175" cy="1028700"/>
          </a:xfrm>
          <a:prstGeom prst="rect">
            <a:avLst/>
          </a:prstGeom>
        </p:spPr>
      </p:pic>
      <p:pic>
        <p:nvPicPr>
          <p:cNvPr id="10" name="Picture 9">
            <a:extLst>
              <a:ext uri="{FF2B5EF4-FFF2-40B4-BE49-F238E27FC236}">
                <a16:creationId xmlns:a16="http://schemas.microsoft.com/office/drawing/2014/main" id="{B6040E10-C3D9-4499-97C7-C6DF58C1BC1B}"/>
              </a:ext>
            </a:extLst>
          </p:cNvPr>
          <p:cNvPicPr>
            <a:picLocks noChangeAspect="1"/>
          </p:cNvPicPr>
          <p:nvPr/>
        </p:nvPicPr>
        <p:blipFill>
          <a:blip r:embed="rId5"/>
          <a:stretch>
            <a:fillRect/>
          </a:stretch>
        </p:blipFill>
        <p:spPr>
          <a:xfrm>
            <a:off x="6318797" y="1256817"/>
            <a:ext cx="4819650" cy="971550"/>
          </a:xfrm>
          <a:prstGeom prst="rect">
            <a:avLst/>
          </a:prstGeom>
        </p:spPr>
      </p:pic>
      <p:pic>
        <p:nvPicPr>
          <p:cNvPr id="11" name="Picture 10">
            <a:extLst>
              <a:ext uri="{FF2B5EF4-FFF2-40B4-BE49-F238E27FC236}">
                <a16:creationId xmlns:a16="http://schemas.microsoft.com/office/drawing/2014/main" id="{DB5E55C7-3D47-442F-99BF-B4E66A12F1C9}"/>
              </a:ext>
            </a:extLst>
          </p:cNvPr>
          <p:cNvPicPr>
            <a:picLocks noChangeAspect="1"/>
          </p:cNvPicPr>
          <p:nvPr/>
        </p:nvPicPr>
        <p:blipFill>
          <a:blip r:embed="rId6"/>
          <a:stretch>
            <a:fillRect/>
          </a:stretch>
        </p:blipFill>
        <p:spPr>
          <a:xfrm>
            <a:off x="6318797" y="2247402"/>
            <a:ext cx="5886450" cy="942975"/>
          </a:xfrm>
          <a:prstGeom prst="rect">
            <a:avLst/>
          </a:prstGeom>
        </p:spPr>
      </p:pic>
      <p:pic>
        <p:nvPicPr>
          <p:cNvPr id="12" name="Picture 11">
            <a:extLst>
              <a:ext uri="{FF2B5EF4-FFF2-40B4-BE49-F238E27FC236}">
                <a16:creationId xmlns:a16="http://schemas.microsoft.com/office/drawing/2014/main" id="{0FC84E5C-BEF3-4426-9C52-42E565607B99}"/>
              </a:ext>
            </a:extLst>
          </p:cNvPr>
          <p:cNvPicPr>
            <a:picLocks noChangeAspect="1"/>
          </p:cNvPicPr>
          <p:nvPr/>
        </p:nvPicPr>
        <p:blipFill>
          <a:blip r:embed="rId7"/>
          <a:stretch>
            <a:fillRect/>
          </a:stretch>
        </p:blipFill>
        <p:spPr>
          <a:xfrm>
            <a:off x="6318797" y="3166291"/>
            <a:ext cx="2400300" cy="971550"/>
          </a:xfrm>
          <a:prstGeom prst="rect">
            <a:avLst/>
          </a:prstGeom>
        </p:spPr>
      </p:pic>
      <p:pic>
        <p:nvPicPr>
          <p:cNvPr id="13" name="Picture 12">
            <a:extLst>
              <a:ext uri="{FF2B5EF4-FFF2-40B4-BE49-F238E27FC236}">
                <a16:creationId xmlns:a16="http://schemas.microsoft.com/office/drawing/2014/main" id="{E1C89752-F9F7-4BF8-B1CD-036BEE51EDBC}"/>
              </a:ext>
            </a:extLst>
          </p:cNvPr>
          <p:cNvPicPr>
            <a:picLocks noChangeAspect="1"/>
          </p:cNvPicPr>
          <p:nvPr/>
        </p:nvPicPr>
        <p:blipFill>
          <a:blip r:embed="rId8"/>
          <a:stretch>
            <a:fillRect/>
          </a:stretch>
        </p:blipFill>
        <p:spPr>
          <a:xfrm>
            <a:off x="3935760" y="4094675"/>
            <a:ext cx="8001000" cy="2686050"/>
          </a:xfrm>
          <a:prstGeom prst="rect">
            <a:avLst/>
          </a:prstGeom>
        </p:spPr>
      </p:pic>
    </p:spTree>
    <p:extLst>
      <p:ext uri="{BB962C8B-B14F-4D97-AF65-F5344CB8AC3E}">
        <p14:creationId xmlns:p14="http://schemas.microsoft.com/office/powerpoint/2010/main" val="424823851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70"/>
            <a:ext cx="9204101" cy="634605"/>
          </a:xfrm>
        </p:spPr>
        <p:txBody>
          <a:bodyPr vert="horz" lIns="0" tIns="0" rIns="0" bIns="0" rtlCol="0" anchor="t" anchorCtr="0">
            <a:noAutofit/>
          </a:bodyPr>
          <a:lstStyle/>
          <a:p>
            <a:pPr algn="just"/>
            <a:r>
              <a:rPr lang="en-US" dirty="0"/>
              <a:t> Form processing </a:t>
            </a:r>
            <a:r>
              <a:rPr lang="en-GB" altLang="en-US" dirty="0"/>
              <a:t>$_GET Function</a:t>
            </a:r>
            <a:endParaRPr lang="en-US" dirty="0"/>
          </a:p>
        </p:txBody>
      </p:sp>
      <p:pic>
        <p:nvPicPr>
          <p:cNvPr id="9" name="Picture 8">
            <a:extLst>
              <a:ext uri="{FF2B5EF4-FFF2-40B4-BE49-F238E27FC236}">
                <a16:creationId xmlns:a16="http://schemas.microsoft.com/office/drawing/2014/main" id="{53644BD2-3B77-4674-A347-896958E1E89E}"/>
              </a:ext>
            </a:extLst>
          </p:cNvPr>
          <p:cNvPicPr>
            <a:picLocks noChangeAspect="1"/>
          </p:cNvPicPr>
          <p:nvPr/>
        </p:nvPicPr>
        <p:blipFill>
          <a:blip r:embed="rId3"/>
          <a:stretch>
            <a:fillRect/>
          </a:stretch>
        </p:blipFill>
        <p:spPr>
          <a:xfrm>
            <a:off x="6219825" y="4686194"/>
            <a:ext cx="5972175" cy="1028700"/>
          </a:xfrm>
          <a:prstGeom prst="rect">
            <a:avLst/>
          </a:prstGeom>
        </p:spPr>
      </p:pic>
      <p:pic>
        <p:nvPicPr>
          <p:cNvPr id="12" name="Picture 11">
            <a:extLst>
              <a:ext uri="{FF2B5EF4-FFF2-40B4-BE49-F238E27FC236}">
                <a16:creationId xmlns:a16="http://schemas.microsoft.com/office/drawing/2014/main" id="{0FC84E5C-BEF3-4426-9C52-42E565607B99}"/>
              </a:ext>
            </a:extLst>
          </p:cNvPr>
          <p:cNvPicPr>
            <a:picLocks noChangeAspect="1"/>
          </p:cNvPicPr>
          <p:nvPr/>
        </p:nvPicPr>
        <p:blipFill>
          <a:blip r:embed="rId4"/>
          <a:stretch>
            <a:fillRect/>
          </a:stretch>
        </p:blipFill>
        <p:spPr>
          <a:xfrm>
            <a:off x="8003102" y="3284984"/>
            <a:ext cx="2400300" cy="971550"/>
          </a:xfrm>
          <a:prstGeom prst="rect">
            <a:avLst/>
          </a:prstGeom>
        </p:spPr>
      </p:pic>
      <p:pic>
        <p:nvPicPr>
          <p:cNvPr id="2" name="Picture 1">
            <a:extLst>
              <a:ext uri="{FF2B5EF4-FFF2-40B4-BE49-F238E27FC236}">
                <a16:creationId xmlns:a16="http://schemas.microsoft.com/office/drawing/2014/main" id="{B3733885-BDA5-44E9-9616-9BE78922993F}"/>
              </a:ext>
            </a:extLst>
          </p:cNvPr>
          <p:cNvPicPr>
            <a:picLocks noChangeAspect="1"/>
          </p:cNvPicPr>
          <p:nvPr/>
        </p:nvPicPr>
        <p:blipFill>
          <a:blip r:embed="rId5"/>
          <a:stretch>
            <a:fillRect/>
          </a:stretch>
        </p:blipFill>
        <p:spPr>
          <a:xfrm>
            <a:off x="2495600" y="5800111"/>
            <a:ext cx="7753350" cy="1038225"/>
          </a:xfrm>
          <a:prstGeom prst="rect">
            <a:avLst/>
          </a:prstGeom>
        </p:spPr>
      </p:pic>
      <p:pic>
        <p:nvPicPr>
          <p:cNvPr id="14" name="Content Placeholder 13">
            <a:extLst>
              <a:ext uri="{FF2B5EF4-FFF2-40B4-BE49-F238E27FC236}">
                <a16:creationId xmlns:a16="http://schemas.microsoft.com/office/drawing/2014/main" id="{38B15A08-F794-442C-929B-C9F074BF5F14}"/>
              </a:ext>
            </a:extLst>
          </p:cNvPr>
          <p:cNvPicPr>
            <a:picLocks noGrp="1" noChangeAspect="1"/>
          </p:cNvPicPr>
          <p:nvPr>
            <p:ph idx="1"/>
          </p:nvPr>
        </p:nvPicPr>
        <p:blipFill>
          <a:blip r:embed="rId6"/>
          <a:stretch>
            <a:fillRect/>
          </a:stretch>
        </p:blipFill>
        <p:spPr>
          <a:xfrm>
            <a:off x="839416" y="1118911"/>
            <a:ext cx="5380409" cy="4702988"/>
          </a:xfrm>
          <a:prstGeom prst="rect">
            <a:avLst/>
          </a:prstGeom>
        </p:spPr>
      </p:pic>
      <p:pic>
        <p:nvPicPr>
          <p:cNvPr id="15" name="Picture 14">
            <a:extLst>
              <a:ext uri="{FF2B5EF4-FFF2-40B4-BE49-F238E27FC236}">
                <a16:creationId xmlns:a16="http://schemas.microsoft.com/office/drawing/2014/main" id="{2F03C07A-9483-4DFE-9749-4C0FFFB6D496}"/>
              </a:ext>
            </a:extLst>
          </p:cNvPr>
          <p:cNvPicPr>
            <a:picLocks noChangeAspect="1"/>
          </p:cNvPicPr>
          <p:nvPr/>
        </p:nvPicPr>
        <p:blipFill>
          <a:blip r:embed="rId7"/>
          <a:stretch>
            <a:fillRect/>
          </a:stretch>
        </p:blipFill>
        <p:spPr>
          <a:xfrm>
            <a:off x="6219825" y="2171806"/>
            <a:ext cx="5886450" cy="942975"/>
          </a:xfrm>
          <a:prstGeom prst="rect">
            <a:avLst/>
          </a:prstGeom>
        </p:spPr>
      </p:pic>
    </p:spTree>
    <p:extLst>
      <p:ext uri="{BB962C8B-B14F-4D97-AF65-F5344CB8AC3E}">
        <p14:creationId xmlns:p14="http://schemas.microsoft.com/office/powerpoint/2010/main" val="208206708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Form processing</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22113333-9B33-401B-8F0E-E3FF9E78E766}"/>
              </a:ext>
            </a:extLst>
          </p:cNvPr>
          <p:cNvPicPr>
            <a:picLocks noChangeAspect="1"/>
          </p:cNvPicPr>
          <p:nvPr/>
        </p:nvPicPr>
        <p:blipFill>
          <a:blip r:embed="rId3"/>
          <a:stretch>
            <a:fillRect/>
          </a:stretch>
        </p:blipFill>
        <p:spPr>
          <a:xfrm>
            <a:off x="644368" y="1124744"/>
            <a:ext cx="7344816" cy="4924218"/>
          </a:xfrm>
          <a:prstGeom prst="rect">
            <a:avLst/>
          </a:prstGeom>
        </p:spPr>
      </p:pic>
      <p:graphicFrame>
        <p:nvGraphicFramePr>
          <p:cNvPr id="4" name="Object 3">
            <a:extLst>
              <a:ext uri="{FF2B5EF4-FFF2-40B4-BE49-F238E27FC236}">
                <a16:creationId xmlns:a16="http://schemas.microsoft.com/office/drawing/2014/main" id="{8D68FB8D-6600-4B10-85FB-084EAD720A19}"/>
              </a:ext>
            </a:extLst>
          </p:cNvPr>
          <p:cNvGraphicFramePr>
            <a:graphicFrameLocks noChangeAspect="1"/>
          </p:cNvGraphicFramePr>
          <p:nvPr>
            <p:extLst>
              <p:ext uri="{D42A27DB-BD31-4B8C-83A1-F6EECF244321}">
                <p14:modId xmlns:p14="http://schemas.microsoft.com/office/powerpoint/2010/main" val="73710161"/>
              </p:ext>
            </p:extLst>
          </p:nvPr>
        </p:nvGraphicFramePr>
        <p:xfrm>
          <a:off x="9624392" y="0"/>
          <a:ext cx="2408237" cy="1173163"/>
        </p:xfrm>
        <a:graphic>
          <a:graphicData uri="http://schemas.openxmlformats.org/presentationml/2006/ole">
            <mc:AlternateContent xmlns:mc="http://schemas.openxmlformats.org/markup-compatibility/2006">
              <mc:Choice xmlns:v="urn:schemas-microsoft-com:vml" Requires="v">
                <p:oleObj name="Bitmap Image" r:id="rId4" imgW="2408040" imgH="1173600" progId="PBrush">
                  <p:embed/>
                </p:oleObj>
              </mc:Choice>
              <mc:Fallback>
                <p:oleObj name="Bitmap Image" r:id="rId4" imgW="2408040" imgH="1173600" progId="PBrush">
                  <p:embed/>
                  <p:pic>
                    <p:nvPicPr>
                      <p:cNvPr id="4" name="Object 3">
                        <a:extLst>
                          <a:ext uri="{FF2B5EF4-FFF2-40B4-BE49-F238E27FC236}">
                            <a16:creationId xmlns:a16="http://schemas.microsoft.com/office/drawing/2014/main" id="{8D68FB8D-6600-4B10-85FB-084EAD720A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624392" y="0"/>
                        <a:ext cx="2408237" cy="1173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Picture 5">
            <a:extLst>
              <a:ext uri="{FF2B5EF4-FFF2-40B4-BE49-F238E27FC236}">
                <a16:creationId xmlns:a16="http://schemas.microsoft.com/office/drawing/2014/main" id="{C992F48B-66AD-4698-AA6F-88266BDF5B80}"/>
              </a:ext>
            </a:extLst>
          </p:cNvPr>
          <p:cNvPicPr>
            <a:picLocks noChangeAspect="1"/>
          </p:cNvPicPr>
          <p:nvPr/>
        </p:nvPicPr>
        <p:blipFill>
          <a:blip r:embed="rId6"/>
          <a:stretch>
            <a:fillRect/>
          </a:stretch>
        </p:blipFill>
        <p:spPr>
          <a:xfrm>
            <a:off x="8952195" y="2818973"/>
            <a:ext cx="3076575" cy="1724025"/>
          </a:xfrm>
          <a:prstGeom prst="rect">
            <a:avLst/>
          </a:prstGeom>
        </p:spPr>
      </p:pic>
      <p:graphicFrame>
        <p:nvGraphicFramePr>
          <p:cNvPr id="7" name="Object 6">
            <a:extLst>
              <a:ext uri="{FF2B5EF4-FFF2-40B4-BE49-F238E27FC236}">
                <a16:creationId xmlns:a16="http://schemas.microsoft.com/office/drawing/2014/main" id="{087844AC-D4A6-4DD4-B046-7E4338BD9C9C}"/>
              </a:ext>
            </a:extLst>
          </p:cNvPr>
          <p:cNvGraphicFramePr>
            <a:graphicFrameLocks noChangeAspect="1"/>
          </p:cNvGraphicFramePr>
          <p:nvPr>
            <p:extLst>
              <p:ext uri="{D42A27DB-BD31-4B8C-83A1-F6EECF244321}">
                <p14:modId xmlns:p14="http://schemas.microsoft.com/office/powerpoint/2010/main" val="1905231582"/>
              </p:ext>
            </p:extLst>
          </p:nvPr>
        </p:nvGraphicFramePr>
        <p:xfrm>
          <a:off x="8956052" y="4542998"/>
          <a:ext cx="2538413" cy="1311275"/>
        </p:xfrm>
        <a:graphic>
          <a:graphicData uri="http://schemas.openxmlformats.org/presentationml/2006/ole">
            <mc:AlternateContent xmlns:mc="http://schemas.openxmlformats.org/markup-compatibility/2006">
              <mc:Choice xmlns:v="urn:schemas-microsoft-com:vml" Requires="v">
                <p:oleObj name="Bitmap Image" r:id="rId7" imgW="2537640" imgH="1310760" progId="PBrush">
                  <p:embed/>
                </p:oleObj>
              </mc:Choice>
              <mc:Fallback>
                <p:oleObj name="Bitmap Image" r:id="rId7" imgW="2537640" imgH="1310760" progId="PBrush">
                  <p:embed/>
                  <p:pic>
                    <p:nvPicPr>
                      <p:cNvPr id="7" name="Object 6">
                        <a:extLst>
                          <a:ext uri="{FF2B5EF4-FFF2-40B4-BE49-F238E27FC236}">
                            <a16:creationId xmlns:a16="http://schemas.microsoft.com/office/drawing/2014/main" id="{087844AC-D4A6-4DD4-B046-7E4338BD9C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56052" y="4542998"/>
                        <a:ext cx="2538413" cy="1311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2F4D51DE-C320-49FA-BABB-BE16223815B9}"/>
              </a:ext>
            </a:extLst>
          </p:cNvPr>
          <p:cNvPicPr>
            <a:picLocks noChangeAspect="1"/>
          </p:cNvPicPr>
          <p:nvPr/>
        </p:nvPicPr>
        <p:blipFill>
          <a:blip r:embed="rId9"/>
          <a:stretch>
            <a:fillRect/>
          </a:stretch>
        </p:blipFill>
        <p:spPr>
          <a:xfrm>
            <a:off x="9448972" y="6018001"/>
            <a:ext cx="1552575" cy="704850"/>
          </a:xfrm>
          <a:prstGeom prst="rect">
            <a:avLst/>
          </a:prstGeom>
        </p:spPr>
      </p:pic>
      <p:pic>
        <p:nvPicPr>
          <p:cNvPr id="9" name="Picture 8">
            <a:extLst>
              <a:ext uri="{FF2B5EF4-FFF2-40B4-BE49-F238E27FC236}">
                <a16:creationId xmlns:a16="http://schemas.microsoft.com/office/drawing/2014/main" id="{AA064E24-D41F-4277-84C5-8012034343F2}"/>
              </a:ext>
            </a:extLst>
          </p:cNvPr>
          <p:cNvPicPr>
            <a:picLocks noChangeAspect="1"/>
          </p:cNvPicPr>
          <p:nvPr/>
        </p:nvPicPr>
        <p:blipFill>
          <a:blip r:embed="rId10"/>
          <a:stretch>
            <a:fillRect/>
          </a:stretch>
        </p:blipFill>
        <p:spPr>
          <a:xfrm>
            <a:off x="8952195" y="1214976"/>
            <a:ext cx="2701304" cy="1650538"/>
          </a:xfrm>
          <a:prstGeom prst="rect">
            <a:avLst/>
          </a:prstGeom>
        </p:spPr>
      </p:pic>
    </p:spTree>
    <p:extLst>
      <p:ext uri="{BB962C8B-B14F-4D97-AF65-F5344CB8AC3E}">
        <p14:creationId xmlns:p14="http://schemas.microsoft.com/office/powerpoint/2010/main" val="4398122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Form processing</a:t>
            </a:r>
            <a:endParaRPr lang="en-US" dirty="0">
              <a:latin typeface="Armata" panose="020B0503040500060204" pitchFamily="34" charset="0"/>
            </a:endParaRPr>
          </a:p>
        </p:txBody>
      </p:sp>
      <p:pic>
        <p:nvPicPr>
          <p:cNvPr id="3" name="Picture 2">
            <a:extLst>
              <a:ext uri="{FF2B5EF4-FFF2-40B4-BE49-F238E27FC236}">
                <a16:creationId xmlns:a16="http://schemas.microsoft.com/office/drawing/2014/main" id="{BCE3F0CF-5A91-48D5-B7FE-441119D8C3EC}"/>
              </a:ext>
            </a:extLst>
          </p:cNvPr>
          <p:cNvPicPr>
            <a:picLocks noChangeAspect="1"/>
          </p:cNvPicPr>
          <p:nvPr/>
        </p:nvPicPr>
        <p:blipFill>
          <a:blip r:embed="rId3"/>
          <a:stretch>
            <a:fillRect/>
          </a:stretch>
        </p:blipFill>
        <p:spPr>
          <a:xfrm>
            <a:off x="911424" y="1116901"/>
            <a:ext cx="6912768" cy="5040750"/>
          </a:xfrm>
          <a:prstGeom prst="rect">
            <a:avLst/>
          </a:prstGeom>
        </p:spPr>
      </p:pic>
    </p:spTree>
    <p:extLst>
      <p:ext uri="{BB962C8B-B14F-4D97-AF65-F5344CB8AC3E}">
        <p14:creationId xmlns:p14="http://schemas.microsoft.com/office/powerpoint/2010/main" val="6343839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pPr>
              <a:defRPr/>
            </a:pPr>
            <a:r>
              <a:rPr lang="en-US" dirty="0"/>
              <a:t>To find basic mathematical operations on two numbers</a:t>
            </a:r>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Simple PHP Program to generate a simple calculator</a:t>
            </a:r>
          </a:p>
        </p:txBody>
      </p:sp>
      <p:pic>
        <p:nvPicPr>
          <p:cNvPr id="4" name="Picture 3">
            <a:extLst>
              <a:ext uri="{FF2B5EF4-FFF2-40B4-BE49-F238E27FC236}">
                <a16:creationId xmlns:a16="http://schemas.microsoft.com/office/drawing/2014/main" id="{7557BF34-F212-438C-8094-8AC6AE85DDDA}"/>
              </a:ext>
            </a:extLst>
          </p:cNvPr>
          <p:cNvPicPr>
            <a:picLocks noChangeAspect="1"/>
          </p:cNvPicPr>
          <p:nvPr/>
        </p:nvPicPr>
        <p:blipFill>
          <a:blip r:embed="rId3"/>
          <a:stretch>
            <a:fillRect/>
          </a:stretch>
        </p:blipFill>
        <p:spPr>
          <a:xfrm>
            <a:off x="1199456" y="1795352"/>
            <a:ext cx="5372100" cy="3057525"/>
          </a:xfrm>
          <a:prstGeom prst="rect">
            <a:avLst/>
          </a:prstGeom>
          <a:ln>
            <a:solidFill>
              <a:schemeClr val="accent2"/>
            </a:solidFill>
          </a:ln>
        </p:spPr>
      </p:pic>
      <p:pic>
        <p:nvPicPr>
          <p:cNvPr id="6" name="Picture 5">
            <a:extLst>
              <a:ext uri="{FF2B5EF4-FFF2-40B4-BE49-F238E27FC236}">
                <a16:creationId xmlns:a16="http://schemas.microsoft.com/office/drawing/2014/main" id="{CA61425B-A7D8-456B-B1EC-DDFD578C531A}"/>
              </a:ext>
            </a:extLst>
          </p:cNvPr>
          <p:cNvPicPr>
            <a:picLocks noChangeAspect="1"/>
          </p:cNvPicPr>
          <p:nvPr/>
        </p:nvPicPr>
        <p:blipFill>
          <a:blip r:embed="rId4"/>
          <a:stretch>
            <a:fillRect/>
          </a:stretch>
        </p:blipFill>
        <p:spPr>
          <a:xfrm>
            <a:off x="6730539" y="1795352"/>
            <a:ext cx="4262005" cy="3057525"/>
          </a:xfrm>
          <a:prstGeom prst="rect">
            <a:avLst/>
          </a:prstGeom>
          <a:ln>
            <a:solidFill>
              <a:schemeClr val="accent2"/>
            </a:solidFill>
          </a:ln>
        </p:spPr>
      </p:pic>
    </p:spTree>
    <p:extLst>
      <p:ext uri="{BB962C8B-B14F-4D97-AF65-F5344CB8AC3E}">
        <p14:creationId xmlns:p14="http://schemas.microsoft.com/office/powerpoint/2010/main" val="3416795858"/>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pPr>
              <a:defRPr/>
            </a:pPr>
            <a:r>
              <a:rPr lang="en-US" dirty="0"/>
              <a:t>To find basic mathematical operations on two numbers</a:t>
            </a:r>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Simple PHP Program to generate a simple calculator</a:t>
            </a:r>
          </a:p>
        </p:txBody>
      </p:sp>
      <p:pic>
        <p:nvPicPr>
          <p:cNvPr id="2" name="Picture 1">
            <a:extLst>
              <a:ext uri="{FF2B5EF4-FFF2-40B4-BE49-F238E27FC236}">
                <a16:creationId xmlns:a16="http://schemas.microsoft.com/office/drawing/2014/main" id="{C4CBA463-E3D3-47B4-90C5-7B00FDAD54F5}"/>
              </a:ext>
            </a:extLst>
          </p:cNvPr>
          <p:cNvPicPr>
            <a:picLocks noChangeAspect="1"/>
          </p:cNvPicPr>
          <p:nvPr/>
        </p:nvPicPr>
        <p:blipFill>
          <a:blip r:embed="rId3"/>
          <a:stretch>
            <a:fillRect/>
          </a:stretch>
        </p:blipFill>
        <p:spPr>
          <a:xfrm>
            <a:off x="623391" y="1115732"/>
            <a:ext cx="9492132" cy="5742268"/>
          </a:xfrm>
          <a:prstGeom prst="rect">
            <a:avLst/>
          </a:prstGeom>
        </p:spPr>
      </p:pic>
    </p:spTree>
    <p:extLst>
      <p:ext uri="{BB962C8B-B14F-4D97-AF65-F5344CB8AC3E}">
        <p14:creationId xmlns:p14="http://schemas.microsoft.com/office/powerpoint/2010/main" val="100510523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pPr>
              <a:defRPr/>
            </a:pPr>
            <a:r>
              <a:rPr lang="en-US" dirty="0"/>
              <a:t>To find basic mathematical operations on two numbers</a:t>
            </a:r>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Simple PHP Program to generate a simple calculator</a:t>
            </a:r>
          </a:p>
        </p:txBody>
      </p:sp>
      <p:pic>
        <p:nvPicPr>
          <p:cNvPr id="3" name="Picture 2">
            <a:extLst>
              <a:ext uri="{FF2B5EF4-FFF2-40B4-BE49-F238E27FC236}">
                <a16:creationId xmlns:a16="http://schemas.microsoft.com/office/drawing/2014/main" id="{24413700-477C-40D7-B646-979607B61A3A}"/>
              </a:ext>
            </a:extLst>
          </p:cNvPr>
          <p:cNvPicPr>
            <a:picLocks noChangeAspect="1"/>
          </p:cNvPicPr>
          <p:nvPr/>
        </p:nvPicPr>
        <p:blipFill>
          <a:blip r:embed="rId3"/>
          <a:stretch>
            <a:fillRect/>
          </a:stretch>
        </p:blipFill>
        <p:spPr>
          <a:xfrm>
            <a:off x="368196" y="1484784"/>
            <a:ext cx="11525250" cy="3590925"/>
          </a:xfrm>
          <a:prstGeom prst="rect">
            <a:avLst/>
          </a:prstGeom>
        </p:spPr>
      </p:pic>
    </p:spTree>
    <p:extLst>
      <p:ext uri="{BB962C8B-B14F-4D97-AF65-F5344CB8AC3E}">
        <p14:creationId xmlns:p14="http://schemas.microsoft.com/office/powerpoint/2010/main" val="348397737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pPr>
              <a:defRPr/>
            </a:pPr>
            <a:r>
              <a:rPr lang="en-US" dirty="0"/>
              <a:t>To find basic mathematical operations on two numbers</a:t>
            </a:r>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Modified PHP Program to generate a simple calculator</a:t>
            </a:r>
          </a:p>
        </p:txBody>
      </p:sp>
      <p:pic>
        <p:nvPicPr>
          <p:cNvPr id="6" name="Picture 5">
            <a:extLst>
              <a:ext uri="{FF2B5EF4-FFF2-40B4-BE49-F238E27FC236}">
                <a16:creationId xmlns:a16="http://schemas.microsoft.com/office/drawing/2014/main" id="{D41A0BC0-6100-4AD7-AF72-0422A75FF2B1}"/>
              </a:ext>
            </a:extLst>
          </p:cNvPr>
          <p:cNvPicPr>
            <a:picLocks noChangeAspect="1"/>
          </p:cNvPicPr>
          <p:nvPr/>
        </p:nvPicPr>
        <p:blipFill>
          <a:blip r:embed="rId3"/>
          <a:stretch>
            <a:fillRect/>
          </a:stretch>
        </p:blipFill>
        <p:spPr>
          <a:xfrm>
            <a:off x="5807968" y="1538066"/>
            <a:ext cx="4025888" cy="2381361"/>
          </a:xfrm>
          <a:prstGeom prst="rect">
            <a:avLst/>
          </a:prstGeom>
        </p:spPr>
      </p:pic>
      <p:pic>
        <p:nvPicPr>
          <p:cNvPr id="7" name="Picture 6">
            <a:extLst>
              <a:ext uri="{FF2B5EF4-FFF2-40B4-BE49-F238E27FC236}">
                <a16:creationId xmlns:a16="http://schemas.microsoft.com/office/drawing/2014/main" id="{154EB20D-6EBD-464A-A4AC-950AAA252004}"/>
              </a:ext>
            </a:extLst>
          </p:cNvPr>
          <p:cNvPicPr>
            <a:picLocks noChangeAspect="1"/>
          </p:cNvPicPr>
          <p:nvPr/>
        </p:nvPicPr>
        <p:blipFill>
          <a:blip r:embed="rId4"/>
          <a:stretch>
            <a:fillRect/>
          </a:stretch>
        </p:blipFill>
        <p:spPr>
          <a:xfrm>
            <a:off x="847565" y="4005064"/>
            <a:ext cx="4157161" cy="2152612"/>
          </a:xfrm>
          <a:prstGeom prst="rect">
            <a:avLst/>
          </a:prstGeom>
          <a:ln>
            <a:solidFill>
              <a:srgbClr val="F04C3E"/>
            </a:solidFill>
          </a:ln>
        </p:spPr>
      </p:pic>
      <p:pic>
        <p:nvPicPr>
          <p:cNvPr id="8" name="Picture 7">
            <a:extLst>
              <a:ext uri="{FF2B5EF4-FFF2-40B4-BE49-F238E27FC236}">
                <a16:creationId xmlns:a16="http://schemas.microsoft.com/office/drawing/2014/main" id="{FA258D90-D1A7-4B76-899B-7C202AE12166}"/>
              </a:ext>
            </a:extLst>
          </p:cNvPr>
          <p:cNvPicPr>
            <a:picLocks noChangeAspect="1"/>
          </p:cNvPicPr>
          <p:nvPr/>
        </p:nvPicPr>
        <p:blipFill>
          <a:blip r:embed="rId5"/>
          <a:stretch>
            <a:fillRect/>
          </a:stretch>
        </p:blipFill>
        <p:spPr>
          <a:xfrm>
            <a:off x="5801605" y="4122853"/>
            <a:ext cx="4025887" cy="2034823"/>
          </a:xfrm>
          <a:prstGeom prst="rect">
            <a:avLst/>
          </a:prstGeom>
          <a:ln>
            <a:solidFill>
              <a:srgbClr val="F04C3E"/>
            </a:solidFill>
          </a:ln>
        </p:spPr>
      </p:pic>
      <p:pic>
        <p:nvPicPr>
          <p:cNvPr id="9" name="Picture 8">
            <a:extLst>
              <a:ext uri="{FF2B5EF4-FFF2-40B4-BE49-F238E27FC236}">
                <a16:creationId xmlns:a16="http://schemas.microsoft.com/office/drawing/2014/main" id="{8BC30EEE-EC14-4364-BD65-0DA4F62BAC9B}"/>
              </a:ext>
            </a:extLst>
          </p:cNvPr>
          <p:cNvPicPr>
            <a:picLocks noChangeAspect="1"/>
          </p:cNvPicPr>
          <p:nvPr/>
        </p:nvPicPr>
        <p:blipFill>
          <a:blip r:embed="rId6"/>
          <a:stretch>
            <a:fillRect/>
          </a:stretch>
        </p:blipFill>
        <p:spPr>
          <a:xfrm>
            <a:off x="880402" y="1547702"/>
            <a:ext cx="4124325" cy="2371725"/>
          </a:xfrm>
          <a:prstGeom prst="rect">
            <a:avLst/>
          </a:prstGeom>
          <a:ln>
            <a:solidFill>
              <a:srgbClr val="F04C3E"/>
            </a:solidFill>
          </a:ln>
        </p:spPr>
      </p:pic>
    </p:spTree>
    <p:extLst>
      <p:ext uri="{BB962C8B-B14F-4D97-AF65-F5344CB8AC3E}">
        <p14:creationId xmlns:p14="http://schemas.microsoft.com/office/powerpoint/2010/main" val="50368637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Modified PHP Program to generate a simple calculator</a:t>
            </a:r>
          </a:p>
        </p:txBody>
      </p:sp>
      <p:pic>
        <p:nvPicPr>
          <p:cNvPr id="2" name="Picture 1">
            <a:extLst>
              <a:ext uri="{FF2B5EF4-FFF2-40B4-BE49-F238E27FC236}">
                <a16:creationId xmlns:a16="http://schemas.microsoft.com/office/drawing/2014/main" id="{26EF9864-D446-481F-BF29-525C754A586F}"/>
              </a:ext>
            </a:extLst>
          </p:cNvPr>
          <p:cNvPicPr>
            <a:picLocks noChangeAspect="1"/>
          </p:cNvPicPr>
          <p:nvPr/>
        </p:nvPicPr>
        <p:blipFill>
          <a:blip r:embed="rId3"/>
          <a:stretch>
            <a:fillRect/>
          </a:stretch>
        </p:blipFill>
        <p:spPr>
          <a:xfrm>
            <a:off x="609220" y="188640"/>
            <a:ext cx="8799147" cy="6581775"/>
          </a:xfrm>
          <a:prstGeom prst="rect">
            <a:avLst/>
          </a:prstGeom>
        </p:spPr>
      </p:pic>
    </p:spTree>
    <p:extLst>
      <p:ext uri="{BB962C8B-B14F-4D97-AF65-F5344CB8AC3E}">
        <p14:creationId xmlns:p14="http://schemas.microsoft.com/office/powerpoint/2010/main" val="38709003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Modified PHP Program to generate a simple calculator</a:t>
            </a:r>
          </a:p>
        </p:txBody>
      </p:sp>
      <p:pic>
        <p:nvPicPr>
          <p:cNvPr id="3" name="Picture 2">
            <a:extLst>
              <a:ext uri="{FF2B5EF4-FFF2-40B4-BE49-F238E27FC236}">
                <a16:creationId xmlns:a16="http://schemas.microsoft.com/office/drawing/2014/main" id="{81C8EE0D-791A-4E45-A70A-16DAA260B206}"/>
              </a:ext>
            </a:extLst>
          </p:cNvPr>
          <p:cNvPicPr>
            <a:picLocks noChangeAspect="1"/>
          </p:cNvPicPr>
          <p:nvPr/>
        </p:nvPicPr>
        <p:blipFill>
          <a:blip r:embed="rId3"/>
          <a:stretch>
            <a:fillRect/>
          </a:stretch>
        </p:blipFill>
        <p:spPr>
          <a:xfrm>
            <a:off x="601892" y="764704"/>
            <a:ext cx="10620375" cy="5495925"/>
          </a:xfrm>
          <a:prstGeom prst="rect">
            <a:avLst/>
          </a:prstGeom>
        </p:spPr>
      </p:pic>
    </p:spTree>
    <p:extLst>
      <p:ext uri="{BB962C8B-B14F-4D97-AF65-F5344CB8AC3E}">
        <p14:creationId xmlns:p14="http://schemas.microsoft.com/office/powerpoint/2010/main" val="306443193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99D311C-6504-4CE6-AA7F-261C2A672F4E}"/>
              </a:ext>
            </a:extLst>
          </p:cNvPr>
          <p:cNvPicPr>
            <a:picLocks noChangeAspect="1"/>
          </p:cNvPicPr>
          <p:nvPr/>
        </p:nvPicPr>
        <p:blipFill>
          <a:blip r:embed="rId3"/>
          <a:stretch>
            <a:fillRect/>
          </a:stretch>
        </p:blipFill>
        <p:spPr>
          <a:xfrm>
            <a:off x="695400" y="1196752"/>
            <a:ext cx="9745435" cy="1876687"/>
          </a:xfrm>
          <a:prstGeom prst="rect">
            <a:avLst/>
          </a:prstGeom>
        </p:spPr>
      </p:pic>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University Question</a:t>
            </a:r>
          </a:p>
        </p:txBody>
      </p:sp>
      <p:pic>
        <p:nvPicPr>
          <p:cNvPr id="3" name="Picture 2">
            <a:extLst>
              <a:ext uri="{FF2B5EF4-FFF2-40B4-BE49-F238E27FC236}">
                <a16:creationId xmlns:a16="http://schemas.microsoft.com/office/drawing/2014/main" id="{A80E90F1-A057-488F-96B6-743CC9233685}"/>
              </a:ext>
            </a:extLst>
          </p:cNvPr>
          <p:cNvPicPr>
            <a:picLocks noChangeAspect="1"/>
          </p:cNvPicPr>
          <p:nvPr/>
        </p:nvPicPr>
        <p:blipFill>
          <a:blip r:embed="rId4"/>
          <a:stretch>
            <a:fillRect/>
          </a:stretch>
        </p:blipFill>
        <p:spPr>
          <a:xfrm>
            <a:off x="140549" y="3073438"/>
            <a:ext cx="11906909" cy="3784561"/>
          </a:xfrm>
          <a:prstGeom prst="rect">
            <a:avLst/>
          </a:prstGeom>
        </p:spPr>
      </p:pic>
    </p:spTree>
    <p:extLst>
      <p:ext uri="{BB962C8B-B14F-4D97-AF65-F5344CB8AC3E}">
        <p14:creationId xmlns:p14="http://schemas.microsoft.com/office/powerpoint/2010/main" val="37544773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University Question</a:t>
            </a:r>
          </a:p>
        </p:txBody>
      </p:sp>
      <p:pic>
        <p:nvPicPr>
          <p:cNvPr id="4" name="Picture 3">
            <a:extLst>
              <a:ext uri="{FF2B5EF4-FFF2-40B4-BE49-F238E27FC236}">
                <a16:creationId xmlns:a16="http://schemas.microsoft.com/office/drawing/2014/main" id="{09FC3274-DE64-4FC7-B123-1EEEAC15190C}"/>
              </a:ext>
            </a:extLst>
          </p:cNvPr>
          <p:cNvPicPr>
            <a:picLocks noChangeAspect="1"/>
          </p:cNvPicPr>
          <p:nvPr/>
        </p:nvPicPr>
        <p:blipFill>
          <a:blip r:embed="rId3"/>
          <a:stretch>
            <a:fillRect/>
          </a:stretch>
        </p:blipFill>
        <p:spPr>
          <a:xfrm>
            <a:off x="0" y="0"/>
            <a:ext cx="9928042" cy="4581128"/>
          </a:xfrm>
          <a:prstGeom prst="rect">
            <a:avLst/>
          </a:prstGeom>
        </p:spPr>
      </p:pic>
      <p:pic>
        <p:nvPicPr>
          <p:cNvPr id="6" name="Picture 5">
            <a:extLst>
              <a:ext uri="{FF2B5EF4-FFF2-40B4-BE49-F238E27FC236}">
                <a16:creationId xmlns:a16="http://schemas.microsoft.com/office/drawing/2014/main" id="{7A379F15-5C92-4EAB-AD43-EF6BFC35BB89}"/>
              </a:ext>
            </a:extLst>
          </p:cNvPr>
          <p:cNvPicPr>
            <a:picLocks noChangeAspect="1"/>
          </p:cNvPicPr>
          <p:nvPr/>
        </p:nvPicPr>
        <p:blipFill>
          <a:blip r:embed="rId4"/>
          <a:stretch>
            <a:fillRect/>
          </a:stretch>
        </p:blipFill>
        <p:spPr>
          <a:xfrm>
            <a:off x="4007768" y="3624303"/>
            <a:ext cx="8116433" cy="3057952"/>
          </a:xfrm>
          <a:prstGeom prst="rect">
            <a:avLst/>
          </a:prstGeom>
        </p:spPr>
      </p:pic>
    </p:spTree>
    <p:extLst>
      <p:ext uri="{BB962C8B-B14F-4D97-AF65-F5344CB8AC3E}">
        <p14:creationId xmlns:p14="http://schemas.microsoft.com/office/powerpoint/2010/main" val="41277999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Cookies and Session</a:t>
            </a:r>
          </a:p>
        </p:txBody>
      </p:sp>
    </p:spTree>
    <p:extLst>
      <p:ext uri="{BB962C8B-B14F-4D97-AF65-F5344CB8AC3E}">
        <p14:creationId xmlns:p14="http://schemas.microsoft.com/office/powerpoint/2010/main" val="174490152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r>
              <a:rPr lang="en-US" altLang="en-US" dirty="0"/>
              <a:t>A cookie is often used to identify a user. </a:t>
            </a:r>
          </a:p>
          <a:p>
            <a:r>
              <a:rPr lang="en-US" altLang="en-US" dirty="0"/>
              <a:t>A cookie is a small file that the server embeds on the user's computer.</a:t>
            </a:r>
          </a:p>
          <a:p>
            <a:r>
              <a:rPr lang="en-US" altLang="en-US" dirty="0"/>
              <a:t>Each time the same computer requests a page with a browser, it will send the cookie too. </a:t>
            </a:r>
          </a:p>
          <a:p>
            <a:r>
              <a:rPr lang="en-US" altLang="en-US" dirty="0"/>
              <a:t>With PHP, you can both create and retrieve cookie values.</a:t>
            </a:r>
          </a:p>
          <a:p>
            <a:r>
              <a:rPr lang="en-IN" altLang="en-US" dirty="0">
                <a:solidFill>
                  <a:schemeClr val="accent1"/>
                </a:solidFill>
              </a:rPr>
              <a:t>Cookies</a:t>
            </a:r>
            <a:r>
              <a:rPr lang="en-IN" altLang="en-US" dirty="0"/>
              <a:t> provide a general approach to </a:t>
            </a:r>
            <a:r>
              <a:rPr lang="en-IN" altLang="en-US" dirty="0">
                <a:solidFill>
                  <a:schemeClr val="accent1"/>
                </a:solidFill>
              </a:rPr>
              <a:t>storing information about sessions on the browser system</a:t>
            </a:r>
            <a:r>
              <a:rPr lang="en-IN" altLang="en-US" dirty="0"/>
              <a:t> itself.</a:t>
            </a:r>
          </a:p>
          <a:p>
            <a:r>
              <a:rPr lang="en-IN" altLang="en-US" dirty="0"/>
              <a:t> The server is given this information when the browser makes subsequent requests for Web resources from the server.</a:t>
            </a:r>
          </a:p>
          <a:p>
            <a:r>
              <a:rPr lang="en-IN" altLang="en-US" dirty="0">
                <a:solidFill>
                  <a:schemeClr val="accent1"/>
                </a:solidFill>
              </a:rPr>
              <a:t> Cookies allow the server to present a customized interface to the client</a:t>
            </a:r>
            <a:r>
              <a:rPr lang="en-IN" altLang="en-US" dirty="0"/>
              <a:t>. </a:t>
            </a:r>
          </a:p>
          <a:p>
            <a:r>
              <a:rPr lang="en-IN" altLang="en-US" dirty="0"/>
              <a:t>They also allow the server to connect requests from a particular client to previous requests, thereby connecting sequences of requests into a session.</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p>
        </p:txBody>
      </p:sp>
    </p:spTree>
    <p:extLst>
      <p:ext uri="{BB962C8B-B14F-4D97-AF65-F5344CB8AC3E}">
        <p14:creationId xmlns:p14="http://schemas.microsoft.com/office/powerpoint/2010/main" val="38222786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9459">
                                            <p:txEl>
                                              <p:pRg st="7" end="7"/>
                                            </p:txEl>
                                          </p:spTgt>
                                        </p:tgtEl>
                                        <p:attrNameLst>
                                          <p:attrName>style.visibility</p:attrName>
                                        </p:attrNameLst>
                                      </p:cBhvr>
                                      <p:to>
                                        <p:strVal val="visible"/>
                                      </p:to>
                                    </p:set>
                                    <p:anim calcmode="lin" valueType="num">
                                      <p:cBhvr additive="base">
                                        <p:cTn id="49"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r>
              <a:rPr lang="en-IN" altLang="en-US" dirty="0">
                <a:solidFill>
                  <a:schemeClr val="accent1"/>
                </a:solidFill>
              </a:rPr>
              <a:t>A cookie is a small object of information </a:t>
            </a:r>
            <a:r>
              <a:rPr lang="en-IN" altLang="en-US" dirty="0"/>
              <a:t>that consists of a name and a textual value. </a:t>
            </a:r>
          </a:p>
          <a:p>
            <a:r>
              <a:rPr lang="en-IN" altLang="en-US" dirty="0"/>
              <a:t>A cookie is created by some software system on the server.</a:t>
            </a:r>
          </a:p>
          <a:p>
            <a:r>
              <a:rPr lang="en-IN" altLang="en-US" dirty="0"/>
              <a:t>A message from a browser to a server is a request; a message from a server to a browser is a response. </a:t>
            </a:r>
            <a:r>
              <a:rPr lang="en-IN" altLang="en-US" dirty="0">
                <a:solidFill>
                  <a:schemeClr val="accent1"/>
                </a:solidFill>
              </a:rPr>
              <a:t>The header part of an HTTP communication can include cookies</a:t>
            </a:r>
            <a:r>
              <a:rPr lang="en-IN" altLang="en-US" dirty="0"/>
              <a:t>. So, every request sent from a browser to a server, and every response from a server to a browser, can include one or more cookies.</a:t>
            </a:r>
          </a:p>
          <a:p>
            <a:r>
              <a:rPr lang="en-IN" altLang="en-US" dirty="0">
                <a:solidFill>
                  <a:srgbClr val="FF0000"/>
                </a:solidFill>
              </a:rPr>
              <a:t>At the time it is created, a cookie is assigned a lifetime. When the time a cookie has existed reaches its associated lifetime, the cookie is deleted from the browser's host machine.</a:t>
            </a:r>
          </a:p>
          <a:p>
            <a:r>
              <a:rPr lang="en-IN" altLang="en-US" dirty="0"/>
              <a:t>a particular cookie is information that is exchanged exclusively between one specific browser and one specific server.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p>
        </p:txBody>
      </p:sp>
    </p:spTree>
    <p:extLst>
      <p:ext uri="{BB962C8B-B14F-4D97-AF65-F5344CB8AC3E}">
        <p14:creationId xmlns:p14="http://schemas.microsoft.com/office/powerpoint/2010/main" val="19668544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pPr>
              <a:defRPr/>
            </a:pPr>
            <a:r>
              <a:rPr lang="en-IN" dirty="0"/>
              <a:t>A cookie is set in PHP with the </a:t>
            </a:r>
            <a:r>
              <a:rPr lang="en-IN" dirty="0" err="1"/>
              <a:t>setcookie</a:t>
            </a:r>
            <a:r>
              <a:rPr lang="en-IN" dirty="0"/>
              <a:t> function. This function takes one or more parameters. </a:t>
            </a:r>
          </a:p>
          <a:p>
            <a:pPr marL="0" indent="0">
              <a:buNone/>
              <a:defRPr/>
            </a:pPr>
            <a:r>
              <a:rPr lang="en-US" dirty="0"/>
              <a:t>	</a:t>
            </a:r>
            <a:r>
              <a:rPr lang="en-US" b="1" dirty="0" err="1">
                <a:solidFill>
                  <a:srgbClr val="FF0000"/>
                </a:solidFill>
              </a:rPr>
              <a:t>setcookie</a:t>
            </a:r>
            <a:r>
              <a:rPr lang="en-US" b="1" dirty="0">
                <a:solidFill>
                  <a:srgbClr val="FF0000"/>
                </a:solidFill>
              </a:rPr>
              <a:t>(</a:t>
            </a:r>
            <a:r>
              <a:rPr lang="en-US" b="1" i="1" dirty="0">
                <a:solidFill>
                  <a:srgbClr val="FF0000"/>
                </a:solidFill>
              </a:rPr>
              <a:t>name, value, expire, path</a:t>
            </a:r>
            <a:r>
              <a:rPr lang="en-US" b="1" dirty="0">
                <a:solidFill>
                  <a:srgbClr val="FF0000"/>
                </a:solidFill>
              </a:rPr>
              <a:t>)</a:t>
            </a:r>
          </a:p>
          <a:p>
            <a:pPr>
              <a:defRPr/>
            </a:pPr>
            <a:r>
              <a:rPr lang="en-IN" dirty="0">
                <a:solidFill>
                  <a:schemeClr val="accent1"/>
                </a:solidFill>
              </a:rPr>
              <a:t>The first parameter</a:t>
            </a:r>
            <a:r>
              <a:rPr lang="en-IN" dirty="0"/>
              <a:t>, which is mandatory, is the </a:t>
            </a:r>
            <a:r>
              <a:rPr lang="en-IN" dirty="0">
                <a:solidFill>
                  <a:schemeClr val="accent1"/>
                </a:solidFill>
              </a:rPr>
              <a:t>cookie's name </a:t>
            </a:r>
            <a:r>
              <a:rPr lang="en-IN" dirty="0"/>
              <a:t>given as a string. </a:t>
            </a:r>
            <a:r>
              <a:rPr lang="en-IN" dirty="0">
                <a:solidFill>
                  <a:schemeClr val="accent1"/>
                </a:solidFill>
              </a:rPr>
              <a:t>The second</a:t>
            </a:r>
            <a:r>
              <a:rPr lang="en-IN" dirty="0"/>
              <a:t>, if present, is the new </a:t>
            </a:r>
            <a:r>
              <a:rPr lang="en-IN" dirty="0">
                <a:solidFill>
                  <a:schemeClr val="accent1"/>
                </a:solidFill>
              </a:rPr>
              <a:t>value for the cookie</a:t>
            </a:r>
            <a:r>
              <a:rPr lang="en-IN" dirty="0"/>
              <a:t>, also a string. If the value is absent, </a:t>
            </a:r>
            <a:r>
              <a:rPr lang="en-IN" dirty="0" err="1"/>
              <a:t>setcookie</a:t>
            </a:r>
            <a:r>
              <a:rPr lang="en-IN" dirty="0"/>
              <a:t> undefines the cookie. </a:t>
            </a:r>
            <a:r>
              <a:rPr lang="en-IN" dirty="0">
                <a:solidFill>
                  <a:schemeClr val="accent1"/>
                </a:solidFill>
              </a:rPr>
              <a:t>The third parameter</a:t>
            </a:r>
            <a:r>
              <a:rPr lang="en-IN" dirty="0"/>
              <a:t>, when present, is the </a:t>
            </a:r>
            <a:r>
              <a:rPr lang="en-IN" dirty="0">
                <a:solidFill>
                  <a:schemeClr val="accent1"/>
                </a:solidFill>
              </a:rPr>
              <a:t>expiration time </a:t>
            </a:r>
            <a:r>
              <a:rPr lang="en-IN" dirty="0"/>
              <a:t>in seconds for the cookie, given as an integer. </a:t>
            </a:r>
          </a:p>
          <a:p>
            <a:pPr>
              <a:defRPr/>
            </a:pPr>
            <a:r>
              <a:rPr lang="en-IN" dirty="0"/>
              <a:t>The default value for the expiration time is zero, which specifies that the cookie is destroyed at the end of the current session</a:t>
            </a:r>
          </a:p>
          <a:p>
            <a:pPr marL="0" indent="0">
              <a:buNone/>
              <a:defRPr/>
            </a:pPr>
            <a:r>
              <a:rPr lang="en-IN" dirty="0"/>
              <a:t>	</a:t>
            </a:r>
            <a:r>
              <a:rPr lang="en-IN" b="1" dirty="0" err="1">
                <a:solidFill>
                  <a:srgbClr val="FF0000"/>
                </a:solidFill>
              </a:rPr>
              <a:t>setcookie</a:t>
            </a:r>
            <a:r>
              <a:rPr lang="en-IN" b="1" dirty="0">
                <a:solidFill>
                  <a:srgbClr val="FF0000"/>
                </a:solidFill>
              </a:rPr>
              <a:t>(“valid", "true", time() + 86400);</a:t>
            </a:r>
          </a:p>
          <a:p>
            <a:pPr>
              <a:defRPr/>
            </a:pPr>
            <a:r>
              <a:rPr lang="en-IN" dirty="0"/>
              <a:t>This call creates a cookie named "valid" whose value is "true" and whose lifetime is one day (86,400 is the number of seconds in a day).</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 function</a:t>
            </a:r>
            <a:endParaRPr lang="en-US" dirty="0"/>
          </a:p>
        </p:txBody>
      </p:sp>
    </p:spTree>
    <p:extLst>
      <p:ext uri="{BB962C8B-B14F-4D97-AF65-F5344CB8AC3E}">
        <p14:creationId xmlns:p14="http://schemas.microsoft.com/office/powerpoint/2010/main" val="99066767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 function</a:t>
            </a:r>
            <a:endParaRPr lang="en-US" dirty="0"/>
          </a:p>
        </p:txBody>
      </p:sp>
      <p:pic>
        <p:nvPicPr>
          <p:cNvPr id="4" name="Content Placeholder 3">
            <a:extLst>
              <a:ext uri="{FF2B5EF4-FFF2-40B4-BE49-F238E27FC236}">
                <a16:creationId xmlns:a16="http://schemas.microsoft.com/office/drawing/2014/main" id="{62AAA966-3C28-4623-B861-29FA4150B911}"/>
              </a:ext>
            </a:extLst>
          </p:cNvPr>
          <p:cNvPicPr>
            <a:picLocks noGrp="1" noChangeAspect="1"/>
          </p:cNvPicPr>
          <p:nvPr>
            <p:ph idx="1"/>
          </p:nvPr>
        </p:nvPicPr>
        <p:blipFill>
          <a:blip r:embed="rId3"/>
          <a:stretch>
            <a:fillRect/>
          </a:stretch>
        </p:blipFill>
        <p:spPr>
          <a:xfrm>
            <a:off x="479376" y="1124744"/>
            <a:ext cx="7883401" cy="5051096"/>
          </a:xfrm>
          <a:prstGeom prst="rect">
            <a:avLst/>
          </a:prstGeom>
        </p:spPr>
      </p:pic>
      <p:pic>
        <p:nvPicPr>
          <p:cNvPr id="6" name="Picture 5">
            <a:extLst>
              <a:ext uri="{FF2B5EF4-FFF2-40B4-BE49-F238E27FC236}">
                <a16:creationId xmlns:a16="http://schemas.microsoft.com/office/drawing/2014/main" id="{AA1B8B4F-69E4-43B9-BD09-C51B6A02CAE2}"/>
              </a:ext>
            </a:extLst>
          </p:cNvPr>
          <p:cNvPicPr>
            <a:picLocks noChangeAspect="1"/>
          </p:cNvPicPr>
          <p:nvPr/>
        </p:nvPicPr>
        <p:blipFill>
          <a:blip r:embed="rId4"/>
          <a:stretch>
            <a:fillRect/>
          </a:stretch>
        </p:blipFill>
        <p:spPr>
          <a:xfrm>
            <a:off x="8434785" y="2643187"/>
            <a:ext cx="3686175" cy="1571625"/>
          </a:xfrm>
          <a:prstGeom prst="rect">
            <a:avLst/>
          </a:prstGeom>
          <a:solidFill>
            <a:schemeClr val="accent2"/>
          </a:solidFill>
          <a:ln>
            <a:solidFill>
              <a:schemeClr val="accent2"/>
            </a:solidFill>
          </a:ln>
        </p:spPr>
      </p:pic>
    </p:spTree>
    <p:extLst>
      <p:ext uri="{BB962C8B-B14F-4D97-AF65-F5344CB8AC3E}">
        <p14:creationId xmlns:p14="http://schemas.microsoft.com/office/powerpoint/2010/main" val="284312846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r>
              <a:rPr lang="en-US" altLang="en-US" dirty="0"/>
              <a:t>The example creates a cookie named "user" with the value “admin123". </a:t>
            </a:r>
          </a:p>
          <a:p>
            <a:r>
              <a:rPr lang="en-US" altLang="en-US" dirty="0"/>
              <a:t>The cookie will expire after 30 days (86400 * 30). </a:t>
            </a:r>
          </a:p>
          <a:p>
            <a:r>
              <a:rPr lang="en-US" altLang="en-US" dirty="0"/>
              <a:t>The "/" means that the cookie is available in entire website (otherwise, select the directory you prefer).</a:t>
            </a:r>
          </a:p>
          <a:p>
            <a:r>
              <a:rPr lang="en-US" altLang="en-US" dirty="0"/>
              <a:t>retrieve the value of the cookie "user" (using the global variable $_COOKIE). </a:t>
            </a:r>
          </a:p>
          <a:p>
            <a:r>
              <a:rPr lang="en-US" altLang="en-US" dirty="0"/>
              <a:t>use the </a:t>
            </a:r>
            <a:r>
              <a:rPr lang="en-US" altLang="en-US" dirty="0" err="1"/>
              <a:t>isset</a:t>
            </a:r>
            <a:r>
              <a:rPr lang="en-US" altLang="en-US" dirty="0"/>
              <a:t>() function to find out if the cookie is set:</a:t>
            </a:r>
          </a:p>
          <a:p>
            <a:pPr>
              <a:defRPr/>
            </a:pPr>
            <a:r>
              <a:rPr lang="en-US" dirty="0"/>
              <a:t>To delete a cookie, use  </a:t>
            </a:r>
            <a:r>
              <a:rPr lang="en-US" dirty="0" err="1"/>
              <a:t>setcookie</a:t>
            </a:r>
            <a:r>
              <a:rPr lang="en-US" dirty="0"/>
              <a:t>() function with an expiration date in the past:</a:t>
            </a:r>
          </a:p>
          <a:p>
            <a:pPr>
              <a:defRPr/>
            </a:pPr>
            <a:r>
              <a:rPr lang="en-US" dirty="0"/>
              <a:t>Example</a:t>
            </a:r>
          </a:p>
          <a:p>
            <a:pPr>
              <a:defRPr/>
            </a:pPr>
            <a:endParaRPr lang="en-IN"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-delete function</a:t>
            </a:r>
            <a:endParaRPr lang="en-US" dirty="0"/>
          </a:p>
        </p:txBody>
      </p:sp>
      <p:pic>
        <p:nvPicPr>
          <p:cNvPr id="2" name="Picture 1">
            <a:extLst>
              <a:ext uri="{FF2B5EF4-FFF2-40B4-BE49-F238E27FC236}">
                <a16:creationId xmlns:a16="http://schemas.microsoft.com/office/drawing/2014/main" id="{C873F688-A8EB-4F89-9DD4-6D7719976D0C}"/>
              </a:ext>
            </a:extLst>
          </p:cNvPr>
          <p:cNvPicPr>
            <a:picLocks noChangeAspect="1"/>
          </p:cNvPicPr>
          <p:nvPr/>
        </p:nvPicPr>
        <p:blipFill>
          <a:blip r:embed="rId3"/>
          <a:stretch>
            <a:fillRect/>
          </a:stretch>
        </p:blipFill>
        <p:spPr>
          <a:xfrm>
            <a:off x="2639616" y="4149080"/>
            <a:ext cx="5472608" cy="2590800"/>
          </a:xfrm>
          <a:prstGeom prst="rect">
            <a:avLst/>
          </a:prstGeom>
        </p:spPr>
      </p:pic>
      <p:pic>
        <p:nvPicPr>
          <p:cNvPr id="3" name="Picture 2">
            <a:extLst>
              <a:ext uri="{FF2B5EF4-FFF2-40B4-BE49-F238E27FC236}">
                <a16:creationId xmlns:a16="http://schemas.microsoft.com/office/drawing/2014/main" id="{B0A9F8F0-A465-452D-9F27-AC297B0B69B9}"/>
              </a:ext>
            </a:extLst>
          </p:cNvPr>
          <p:cNvPicPr>
            <a:picLocks noChangeAspect="1"/>
          </p:cNvPicPr>
          <p:nvPr/>
        </p:nvPicPr>
        <p:blipFill>
          <a:blip r:embed="rId4"/>
          <a:stretch>
            <a:fillRect/>
          </a:stretch>
        </p:blipFill>
        <p:spPr>
          <a:xfrm>
            <a:off x="8259252" y="4509120"/>
            <a:ext cx="3629025" cy="1533525"/>
          </a:xfrm>
          <a:prstGeom prst="rect">
            <a:avLst/>
          </a:prstGeom>
        </p:spPr>
      </p:pic>
    </p:spTree>
    <p:extLst>
      <p:ext uri="{BB962C8B-B14F-4D97-AF65-F5344CB8AC3E}">
        <p14:creationId xmlns:p14="http://schemas.microsoft.com/office/powerpoint/2010/main" val="38670212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r>
              <a:rPr lang="en-IN" altLang="en-US" dirty="0"/>
              <a:t>In PHP, </a:t>
            </a:r>
            <a:r>
              <a:rPr lang="en-IN" altLang="en-US" dirty="0">
                <a:solidFill>
                  <a:srgbClr val="FF0000"/>
                </a:solidFill>
              </a:rPr>
              <a:t>cookie values are treated much like form values</a:t>
            </a:r>
            <a:r>
              <a:rPr lang="en-IN" altLang="en-US" dirty="0"/>
              <a:t>.</a:t>
            </a:r>
          </a:p>
          <a:p>
            <a:r>
              <a:rPr lang="en-IN" altLang="en-US" dirty="0"/>
              <a:t> All cookies that arrive with a request are placed in the implicit $_COOKIES array, which has the cookie names as keys and the cookie values as values. </a:t>
            </a:r>
          </a:p>
          <a:p>
            <a:r>
              <a:rPr lang="en-IN" altLang="en-US" dirty="0"/>
              <a:t>most browsers have a limit on the number of cookies that will be accepted from a particular server site. </a:t>
            </a:r>
          </a:p>
          <a:p>
            <a:r>
              <a:rPr lang="en-IN" altLang="en-US" dirty="0"/>
              <a:t>In many cases, information about a session is needed only during the session</a:t>
            </a:r>
          </a:p>
          <a:p>
            <a:r>
              <a:rPr lang="en-IN" altLang="en-US" dirty="0"/>
              <a:t>Rather than using one or more cookies, a single session array can be used to store information about the previous requests of a client during a session.</a:t>
            </a:r>
          </a:p>
          <a:p>
            <a:r>
              <a:rPr lang="en-IN" altLang="en-US" dirty="0"/>
              <a:t> In particular, session arrays often store a unique session ID for a session. </a:t>
            </a:r>
          </a:p>
          <a:p>
            <a:pPr marL="0" indent="0">
              <a:buNone/>
              <a:defRPr/>
            </a:pPr>
            <a:endParaRPr lang="en-IN"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 function</a:t>
            </a:r>
            <a:endParaRPr lang="en-US" dirty="0"/>
          </a:p>
        </p:txBody>
      </p:sp>
    </p:spTree>
    <p:extLst>
      <p:ext uri="{BB962C8B-B14F-4D97-AF65-F5344CB8AC3E}">
        <p14:creationId xmlns:p14="http://schemas.microsoft.com/office/powerpoint/2010/main" val="35921470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 function</a:t>
            </a:r>
            <a:endParaRPr lang="en-US" dirty="0"/>
          </a:p>
        </p:txBody>
      </p:sp>
      <p:pic>
        <p:nvPicPr>
          <p:cNvPr id="4" name="Content Placeholder 3">
            <a:extLst>
              <a:ext uri="{FF2B5EF4-FFF2-40B4-BE49-F238E27FC236}">
                <a16:creationId xmlns:a16="http://schemas.microsoft.com/office/drawing/2014/main" id="{067EC7D6-0A5A-42B0-9D1D-94D9217C028E}"/>
              </a:ext>
            </a:extLst>
          </p:cNvPr>
          <p:cNvPicPr>
            <a:picLocks noGrp="1" noChangeAspect="1"/>
          </p:cNvPicPr>
          <p:nvPr>
            <p:ph idx="1"/>
          </p:nvPr>
        </p:nvPicPr>
        <p:blipFill>
          <a:blip r:embed="rId3"/>
          <a:stretch>
            <a:fillRect/>
          </a:stretch>
        </p:blipFill>
        <p:spPr>
          <a:xfrm>
            <a:off x="767408" y="1124744"/>
            <a:ext cx="3762375" cy="2695575"/>
          </a:xfrm>
          <a:prstGeom prst="rect">
            <a:avLst/>
          </a:prstGeom>
          <a:ln>
            <a:solidFill>
              <a:schemeClr val="accent2">
                <a:lumMod val="40000"/>
                <a:lumOff val="60000"/>
              </a:schemeClr>
            </a:solidFill>
          </a:ln>
        </p:spPr>
      </p:pic>
      <p:pic>
        <p:nvPicPr>
          <p:cNvPr id="6" name="Picture 5">
            <a:extLst>
              <a:ext uri="{FF2B5EF4-FFF2-40B4-BE49-F238E27FC236}">
                <a16:creationId xmlns:a16="http://schemas.microsoft.com/office/drawing/2014/main" id="{D268E476-AC57-4CF8-BE68-E70CF738E9E8}"/>
              </a:ext>
            </a:extLst>
          </p:cNvPr>
          <p:cNvPicPr>
            <a:picLocks noChangeAspect="1"/>
          </p:cNvPicPr>
          <p:nvPr/>
        </p:nvPicPr>
        <p:blipFill>
          <a:blip r:embed="rId4"/>
          <a:stretch>
            <a:fillRect/>
          </a:stretch>
        </p:blipFill>
        <p:spPr>
          <a:xfrm>
            <a:off x="4727848" y="1258093"/>
            <a:ext cx="5200650" cy="2428875"/>
          </a:xfrm>
          <a:prstGeom prst="rect">
            <a:avLst/>
          </a:prstGeom>
        </p:spPr>
      </p:pic>
      <p:pic>
        <p:nvPicPr>
          <p:cNvPr id="8" name="Picture 7">
            <a:extLst>
              <a:ext uri="{FF2B5EF4-FFF2-40B4-BE49-F238E27FC236}">
                <a16:creationId xmlns:a16="http://schemas.microsoft.com/office/drawing/2014/main" id="{3B09D3FB-E2EB-449D-8302-30ED01B5C99E}"/>
              </a:ext>
            </a:extLst>
          </p:cNvPr>
          <p:cNvPicPr>
            <a:picLocks noChangeAspect="1"/>
          </p:cNvPicPr>
          <p:nvPr/>
        </p:nvPicPr>
        <p:blipFill>
          <a:blip r:embed="rId5"/>
          <a:stretch>
            <a:fillRect/>
          </a:stretch>
        </p:blipFill>
        <p:spPr>
          <a:xfrm>
            <a:off x="7464152" y="2564904"/>
            <a:ext cx="3438525" cy="3267075"/>
          </a:xfrm>
          <a:prstGeom prst="rect">
            <a:avLst/>
          </a:prstGeom>
          <a:ln>
            <a:solidFill>
              <a:schemeClr val="accent2"/>
            </a:solidFill>
          </a:ln>
        </p:spPr>
      </p:pic>
    </p:spTree>
    <p:extLst>
      <p:ext uri="{BB962C8B-B14F-4D97-AF65-F5344CB8AC3E}">
        <p14:creationId xmlns:p14="http://schemas.microsoft.com/office/powerpoint/2010/main" val="4227261618"/>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 function</a:t>
            </a:r>
            <a:endParaRPr lang="en-US" dirty="0"/>
          </a:p>
        </p:txBody>
      </p:sp>
      <p:pic>
        <p:nvPicPr>
          <p:cNvPr id="8" name="Picture 7">
            <a:extLst>
              <a:ext uri="{FF2B5EF4-FFF2-40B4-BE49-F238E27FC236}">
                <a16:creationId xmlns:a16="http://schemas.microsoft.com/office/drawing/2014/main" id="{3B09D3FB-E2EB-449D-8302-30ED01B5C99E}"/>
              </a:ext>
            </a:extLst>
          </p:cNvPr>
          <p:cNvPicPr>
            <a:picLocks noChangeAspect="1"/>
          </p:cNvPicPr>
          <p:nvPr/>
        </p:nvPicPr>
        <p:blipFill>
          <a:blip r:embed="rId3"/>
          <a:stretch>
            <a:fillRect/>
          </a:stretch>
        </p:blipFill>
        <p:spPr>
          <a:xfrm>
            <a:off x="7464152" y="2564904"/>
            <a:ext cx="3438525" cy="3267075"/>
          </a:xfrm>
          <a:prstGeom prst="rect">
            <a:avLst/>
          </a:prstGeom>
          <a:ln>
            <a:solidFill>
              <a:schemeClr val="accent2"/>
            </a:solidFill>
          </a:ln>
        </p:spPr>
      </p:pic>
      <p:pic>
        <p:nvPicPr>
          <p:cNvPr id="7" name="Content Placeholder 6">
            <a:extLst>
              <a:ext uri="{FF2B5EF4-FFF2-40B4-BE49-F238E27FC236}">
                <a16:creationId xmlns:a16="http://schemas.microsoft.com/office/drawing/2014/main" id="{8850A4FC-355B-4A08-B0E2-D0E735A656A7}"/>
              </a:ext>
            </a:extLst>
          </p:cNvPr>
          <p:cNvPicPr>
            <a:picLocks noGrp="1" noChangeAspect="1"/>
          </p:cNvPicPr>
          <p:nvPr>
            <p:ph idx="1"/>
          </p:nvPr>
        </p:nvPicPr>
        <p:blipFill>
          <a:blip r:embed="rId4"/>
          <a:stretch>
            <a:fillRect/>
          </a:stretch>
        </p:blipFill>
        <p:spPr>
          <a:xfrm>
            <a:off x="479376" y="1189734"/>
            <a:ext cx="6774816" cy="4697413"/>
          </a:xfrm>
          <a:prstGeom prst="rect">
            <a:avLst/>
          </a:prstGeom>
        </p:spPr>
      </p:pic>
    </p:spTree>
    <p:extLst>
      <p:ext uri="{BB962C8B-B14F-4D97-AF65-F5344CB8AC3E}">
        <p14:creationId xmlns:p14="http://schemas.microsoft.com/office/powerpoint/2010/main" val="207405118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Cookies-</a:t>
            </a:r>
            <a:r>
              <a:rPr lang="en-IN" dirty="0"/>
              <a:t> </a:t>
            </a:r>
            <a:r>
              <a:rPr lang="en-IN" dirty="0" err="1"/>
              <a:t>setcookie</a:t>
            </a:r>
            <a:r>
              <a:rPr lang="en-IN" dirty="0"/>
              <a:t> function</a:t>
            </a:r>
            <a:endParaRPr lang="en-US" dirty="0"/>
          </a:p>
        </p:txBody>
      </p:sp>
      <p:pic>
        <p:nvPicPr>
          <p:cNvPr id="4" name="Picture 3">
            <a:extLst>
              <a:ext uri="{FF2B5EF4-FFF2-40B4-BE49-F238E27FC236}">
                <a16:creationId xmlns:a16="http://schemas.microsoft.com/office/drawing/2014/main" id="{DC518158-0050-40AD-BC3E-4D6FB97E6B48}"/>
              </a:ext>
            </a:extLst>
          </p:cNvPr>
          <p:cNvPicPr>
            <a:picLocks noChangeAspect="1"/>
          </p:cNvPicPr>
          <p:nvPr/>
        </p:nvPicPr>
        <p:blipFill>
          <a:blip r:embed="rId3"/>
          <a:stretch>
            <a:fillRect/>
          </a:stretch>
        </p:blipFill>
        <p:spPr>
          <a:xfrm>
            <a:off x="623391" y="1124744"/>
            <a:ext cx="8967093" cy="5632371"/>
          </a:xfrm>
          <a:prstGeom prst="rect">
            <a:avLst/>
          </a:prstGeom>
        </p:spPr>
      </p:pic>
    </p:spTree>
    <p:extLst>
      <p:ext uri="{BB962C8B-B14F-4D97-AF65-F5344CB8AC3E}">
        <p14:creationId xmlns:p14="http://schemas.microsoft.com/office/powerpoint/2010/main" val="47342894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r>
              <a:rPr lang="en-US" altLang="en-US" dirty="0"/>
              <a:t>When you work with an application, you open it, do some changes, and then you close it. This is much like a Session. </a:t>
            </a:r>
          </a:p>
          <a:p>
            <a:r>
              <a:rPr lang="en-US" altLang="en-US" dirty="0"/>
              <a:t>The computer knows who you are. It knows when you start the application and when you end. </a:t>
            </a:r>
          </a:p>
          <a:p>
            <a:r>
              <a:rPr lang="en-US" altLang="en-US" dirty="0"/>
              <a:t>But on the internet the web server does not know who you are or what you do, because </a:t>
            </a:r>
            <a:r>
              <a:rPr lang="en-US" altLang="en-US" dirty="0">
                <a:solidFill>
                  <a:srgbClr val="FF0000"/>
                </a:solidFill>
              </a:rPr>
              <a:t>the HTTP address doesn't maintain state</a:t>
            </a:r>
            <a:r>
              <a:rPr lang="en-US" altLang="en-US" dirty="0"/>
              <a:t>.</a:t>
            </a:r>
          </a:p>
          <a:p>
            <a:r>
              <a:rPr lang="en-US" altLang="en-US" dirty="0"/>
              <a:t>Session variables solve this problem by storing user information to be used across multiple pages (e.g. username ,</a:t>
            </a:r>
            <a:r>
              <a:rPr lang="en-US" altLang="en-US" dirty="0" err="1"/>
              <a:t>pwd</a:t>
            </a:r>
            <a:r>
              <a:rPr lang="en-US" altLang="en-US" dirty="0"/>
              <a:t> </a:t>
            </a:r>
            <a:r>
              <a:rPr lang="en-US" altLang="en-US" dirty="0" err="1"/>
              <a:t>etc</a:t>
            </a:r>
            <a:r>
              <a:rPr lang="en-US" altLang="en-US" dirty="0"/>
              <a:t>). By default, session variables last until the user closes the browser.</a:t>
            </a:r>
          </a:p>
          <a:p>
            <a:r>
              <a:rPr lang="en-US" altLang="en-US" dirty="0"/>
              <a:t>So; </a:t>
            </a:r>
            <a:r>
              <a:rPr lang="en-US" altLang="en-US" dirty="0">
                <a:solidFill>
                  <a:srgbClr val="FF0000"/>
                </a:solidFill>
              </a:rPr>
              <a:t>Session variables hold information about one single user, and are available to all pages in one application</a:t>
            </a:r>
            <a:r>
              <a:rPr lang="en-US" altLang="en-US" dirty="0"/>
              <a:t>.</a:t>
            </a:r>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 Session </a:t>
            </a:r>
          </a:p>
        </p:txBody>
      </p:sp>
    </p:spTree>
    <p:extLst>
      <p:ext uri="{BB962C8B-B14F-4D97-AF65-F5344CB8AC3E}">
        <p14:creationId xmlns:p14="http://schemas.microsoft.com/office/powerpoint/2010/main" val="139026575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r>
              <a:rPr lang="en-IN" altLang="en-US" dirty="0"/>
              <a:t>One significant way that </a:t>
            </a:r>
            <a:r>
              <a:rPr lang="en-IN" altLang="en-US" dirty="0">
                <a:solidFill>
                  <a:schemeClr val="accent1"/>
                </a:solidFill>
              </a:rPr>
              <a:t>session arrays </a:t>
            </a:r>
            <a:r>
              <a:rPr lang="en-IN" altLang="en-US" dirty="0"/>
              <a:t>differ from cookies is that they can be </a:t>
            </a:r>
            <a:r>
              <a:rPr lang="en-IN" altLang="en-US" dirty="0">
                <a:solidFill>
                  <a:schemeClr val="accent1"/>
                </a:solidFill>
              </a:rPr>
              <a:t>stored on the server</a:t>
            </a:r>
            <a:r>
              <a:rPr lang="en-IN" altLang="en-US" dirty="0"/>
              <a:t>, whereas </a:t>
            </a:r>
            <a:r>
              <a:rPr lang="en-IN" altLang="en-US" dirty="0">
                <a:solidFill>
                  <a:schemeClr val="accent1"/>
                </a:solidFill>
              </a:rPr>
              <a:t>cookies </a:t>
            </a:r>
            <a:r>
              <a:rPr lang="en-IN" altLang="en-US" dirty="0"/>
              <a:t>are stored on the </a:t>
            </a:r>
            <a:r>
              <a:rPr lang="en-IN" altLang="en-US" dirty="0">
                <a:solidFill>
                  <a:schemeClr val="accent1"/>
                </a:solidFill>
              </a:rPr>
              <a:t>client</a:t>
            </a:r>
            <a:r>
              <a:rPr lang="en-IN" altLang="en-US" dirty="0"/>
              <a:t>.</a:t>
            </a:r>
          </a:p>
          <a:p>
            <a:r>
              <a:rPr lang="en-IN" altLang="en-US" dirty="0"/>
              <a:t>In PHP, a session ID is an internal value that identifies a session. </a:t>
            </a:r>
          </a:p>
          <a:p>
            <a:r>
              <a:rPr lang="en-IN" altLang="en-US" dirty="0"/>
              <a:t>Session IDs need not be known or handled in any way by PHP scripts.</a:t>
            </a:r>
          </a:p>
          <a:p>
            <a:r>
              <a:rPr lang="en-IN" altLang="en-US" dirty="0"/>
              <a:t> PHP is made aware that a script is interested in session tracking by calling the </a:t>
            </a:r>
            <a:r>
              <a:rPr lang="en-IN" altLang="en-US" dirty="0" err="1">
                <a:solidFill>
                  <a:schemeClr val="accent1"/>
                </a:solidFill>
              </a:rPr>
              <a:t>session_start</a:t>
            </a:r>
            <a:r>
              <a:rPr lang="en-IN" altLang="en-US" dirty="0">
                <a:solidFill>
                  <a:schemeClr val="accent1"/>
                </a:solidFill>
              </a:rPr>
              <a:t> function</a:t>
            </a:r>
            <a:r>
              <a:rPr lang="en-IN" altLang="en-US" dirty="0"/>
              <a:t>, which takes no parameters. The first call to </a:t>
            </a:r>
            <a:r>
              <a:rPr lang="en-IN" altLang="en-US" dirty="0" err="1"/>
              <a:t>session_start</a:t>
            </a:r>
            <a:r>
              <a:rPr lang="en-IN" altLang="en-US" dirty="0"/>
              <a:t> in a session causes a session ID to be created and recorded. </a:t>
            </a:r>
          </a:p>
          <a:p>
            <a:r>
              <a:rPr lang="en-IN" altLang="en-US" dirty="0"/>
              <a:t>On subsequent calls to </a:t>
            </a:r>
            <a:r>
              <a:rPr lang="en-IN" altLang="en-US" dirty="0" err="1"/>
              <a:t>session_start</a:t>
            </a:r>
            <a:r>
              <a:rPr lang="en-IN" altLang="en-US" dirty="0"/>
              <a:t> in the same session, the function retrieves the $_SESSION array, which stores any session variables and their values that were registered in previously executed scripts in this session. </a:t>
            </a:r>
          </a:p>
          <a:p>
            <a:pPr>
              <a:defRPr/>
            </a:pPr>
            <a:r>
              <a:rPr lang="en-US" dirty="0"/>
              <a:t>A session is started with the </a:t>
            </a:r>
            <a:r>
              <a:rPr lang="en-US" dirty="0" err="1"/>
              <a:t>session_start</a:t>
            </a:r>
            <a:r>
              <a:rPr lang="en-US" dirty="0"/>
              <a:t>() function.</a:t>
            </a:r>
          </a:p>
          <a:p>
            <a:pPr>
              <a:defRPr/>
            </a:pPr>
            <a:r>
              <a:rPr lang="en-US" dirty="0"/>
              <a:t>Session variables are set with the PHP global variable: $_SESSION</a:t>
            </a:r>
            <a:endParaRPr lang="en-IN" altLang="en-US" dirty="0"/>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a:t> Session </a:t>
            </a:r>
            <a:endParaRPr lang="en-US" dirty="0"/>
          </a:p>
        </p:txBody>
      </p:sp>
    </p:spTree>
    <p:extLst>
      <p:ext uri="{BB962C8B-B14F-4D97-AF65-F5344CB8AC3E}">
        <p14:creationId xmlns:p14="http://schemas.microsoft.com/office/powerpoint/2010/main" val="149152161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 Set Session variables</a:t>
            </a:r>
          </a:p>
        </p:txBody>
      </p:sp>
      <p:pic>
        <p:nvPicPr>
          <p:cNvPr id="4" name="Content Placeholder 3">
            <a:extLst>
              <a:ext uri="{FF2B5EF4-FFF2-40B4-BE49-F238E27FC236}">
                <a16:creationId xmlns:a16="http://schemas.microsoft.com/office/drawing/2014/main" id="{EC413481-9953-4920-AC64-8A9FEFE8BA22}"/>
              </a:ext>
            </a:extLst>
          </p:cNvPr>
          <p:cNvPicPr>
            <a:picLocks noGrp="1" noChangeAspect="1"/>
          </p:cNvPicPr>
          <p:nvPr>
            <p:ph idx="1"/>
          </p:nvPr>
        </p:nvPicPr>
        <p:blipFill>
          <a:blip r:embed="rId3"/>
          <a:stretch>
            <a:fillRect/>
          </a:stretch>
        </p:blipFill>
        <p:spPr>
          <a:xfrm>
            <a:off x="623391" y="1268760"/>
            <a:ext cx="7090345" cy="4876364"/>
          </a:xfrm>
          <a:prstGeom prst="rect">
            <a:avLst/>
          </a:prstGeom>
        </p:spPr>
      </p:pic>
      <p:pic>
        <p:nvPicPr>
          <p:cNvPr id="6" name="Picture 5">
            <a:extLst>
              <a:ext uri="{FF2B5EF4-FFF2-40B4-BE49-F238E27FC236}">
                <a16:creationId xmlns:a16="http://schemas.microsoft.com/office/drawing/2014/main" id="{5808040B-3743-44BA-A3EF-0B8B514E6D60}"/>
              </a:ext>
            </a:extLst>
          </p:cNvPr>
          <p:cNvPicPr>
            <a:picLocks noChangeAspect="1"/>
          </p:cNvPicPr>
          <p:nvPr/>
        </p:nvPicPr>
        <p:blipFill>
          <a:blip r:embed="rId4"/>
          <a:stretch>
            <a:fillRect/>
          </a:stretch>
        </p:blipFill>
        <p:spPr>
          <a:xfrm>
            <a:off x="7824192" y="2276872"/>
            <a:ext cx="3638550" cy="1733550"/>
          </a:xfrm>
          <a:prstGeom prst="rect">
            <a:avLst/>
          </a:prstGeom>
        </p:spPr>
      </p:pic>
    </p:spTree>
    <p:extLst>
      <p:ext uri="{BB962C8B-B14F-4D97-AF65-F5344CB8AC3E}">
        <p14:creationId xmlns:p14="http://schemas.microsoft.com/office/powerpoint/2010/main" val="228440030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Modify Session variables</a:t>
            </a:r>
          </a:p>
        </p:txBody>
      </p:sp>
      <p:pic>
        <p:nvPicPr>
          <p:cNvPr id="7" name="Content Placeholder 6">
            <a:extLst>
              <a:ext uri="{FF2B5EF4-FFF2-40B4-BE49-F238E27FC236}">
                <a16:creationId xmlns:a16="http://schemas.microsoft.com/office/drawing/2014/main" id="{E052D6D4-5F09-4565-B214-EC4D6C368BB2}"/>
              </a:ext>
            </a:extLst>
          </p:cNvPr>
          <p:cNvPicPr>
            <a:picLocks noGrp="1" noChangeAspect="1"/>
          </p:cNvPicPr>
          <p:nvPr>
            <p:ph idx="1"/>
          </p:nvPr>
        </p:nvPicPr>
        <p:blipFill>
          <a:blip r:embed="rId3"/>
          <a:stretch>
            <a:fillRect/>
          </a:stretch>
        </p:blipFill>
        <p:spPr>
          <a:xfrm>
            <a:off x="551383" y="1196752"/>
            <a:ext cx="7187903" cy="3960440"/>
          </a:xfrm>
          <a:prstGeom prst="rect">
            <a:avLst/>
          </a:prstGeom>
        </p:spPr>
      </p:pic>
      <p:pic>
        <p:nvPicPr>
          <p:cNvPr id="8" name="Picture 7">
            <a:extLst>
              <a:ext uri="{FF2B5EF4-FFF2-40B4-BE49-F238E27FC236}">
                <a16:creationId xmlns:a16="http://schemas.microsoft.com/office/drawing/2014/main" id="{5602460D-135B-46B1-A177-8E22F02EB0D1}"/>
              </a:ext>
            </a:extLst>
          </p:cNvPr>
          <p:cNvPicPr>
            <a:picLocks noChangeAspect="1"/>
          </p:cNvPicPr>
          <p:nvPr/>
        </p:nvPicPr>
        <p:blipFill>
          <a:blip r:embed="rId4"/>
          <a:stretch>
            <a:fillRect/>
          </a:stretch>
        </p:blipFill>
        <p:spPr>
          <a:xfrm>
            <a:off x="7802042" y="2492896"/>
            <a:ext cx="3838575" cy="1647825"/>
          </a:xfrm>
          <a:prstGeom prst="rect">
            <a:avLst/>
          </a:prstGeom>
        </p:spPr>
      </p:pic>
    </p:spTree>
    <p:extLst>
      <p:ext uri="{BB962C8B-B14F-4D97-AF65-F5344CB8AC3E}">
        <p14:creationId xmlns:p14="http://schemas.microsoft.com/office/powerpoint/2010/main" val="88101103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089232" cy="1512168"/>
          </a:xfrm>
        </p:spPr>
        <p:txBody>
          <a:bodyPr/>
          <a:lstStyle/>
          <a:p>
            <a:pPr>
              <a:defRPr/>
            </a:pPr>
            <a:r>
              <a:rPr lang="en-US" dirty="0"/>
              <a:t>To remove all global session variables and destroy the session, use </a:t>
            </a:r>
            <a:r>
              <a:rPr lang="en-US" dirty="0" err="1"/>
              <a:t>session_unset</a:t>
            </a:r>
            <a:r>
              <a:rPr lang="en-US" dirty="0"/>
              <a:t>() and </a:t>
            </a:r>
            <a:r>
              <a:rPr lang="en-US" dirty="0" err="1"/>
              <a:t>session_destroy</a:t>
            </a:r>
            <a:r>
              <a:rPr lang="en-US" dirty="0"/>
              <a:t>():</a:t>
            </a:r>
          </a:p>
          <a:p>
            <a:pPr>
              <a:defRPr/>
            </a:pPr>
            <a:r>
              <a:rPr lang="en-US" dirty="0"/>
              <a:t>Example</a:t>
            </a:r>
          </a:p>
          <a:p>
            <a:endParaRPr lang="en-IN" altLang="en-US" dirty="0"/>
          </a:p>
          <a:p>
            <a:pPr marL="0" indent="0">
              <a:buNone/>
              <a:defRPr/>
            </a:pPr>
            <a:endParaRPr lang="en-IN" dirty="0"/>
          </a:p>
        </p:txBody>
      </p:sp>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Destroy a Session </a:t>
            </a:r>
          </a:p>
        </p:txBody>
      </p:sp>
      <p:pic>
        <p:nvPicPr>
          <p:cNvPr id="2" name="Picture 1">
            <a:extLst>
              <a:ext uri="{FF2B5EF4-FFF2-40B4-BE49-F238E27FC236}">
                <a16:creationId xmlns:a16="http://schemas.microsoft.com/office/drawing/2014/main" id="{BCAED0AD-726B-43FB-91C7-957C614EDC30}"/>
              </a:ext>
            </a:extLst>
          </p:cNvPr>
          <p:cNvPicPr>
            <a:picLocks noChangeAspect="1"/>
          </p:cNvPicPr>
          <p:nvPr/>
        </p:nvPicPr>
        <p:blipFill>
          <a:blip r:embed="rId3"/>
          <a:stretch>
            <a:fillRect/>
          </a:stretch>
        </p:blipFill>
        <p:spPr>
          <a:xfrm>
            <a:off x="2423592" y="1844824"/>
            <a:ext cx="5472608" cy="4225362"/>
          </a:xfrm>
          <a:prstGeom prst="rect">
            <a:avLst/>
          </a:prstGeom>
        </p:spPr>
      </p:pic>
      <p:pic>
        <p:nvPicPr>
          <p:cNvPr id="3" name="Picture 2">
            <a:extLst>
              <a:ext uri="{FF2B5EF4-FFF2-40B4-BE49-F238E27FC236}">
                <a16:creationId xmlns:a16="http://schemas.microsoft.com/office/drawing/2014/main" id="{294E44C7-B34E-4E49-A5E9-18A5C2DF950B}"/>
              </a:ext>
            </a:extLst>
          </p:cNvPr>
          <p:cNvPicPr>
            <a:picLocks noChangeAspect="1"/>
          </p:cNvPicPr>
          <p:nvPr/>
        </p:nvPicPr>
        <p:blipFill>
          <a:blip r:embed="rId4"/>
          <a:stretch>
            <a:fillRect/>
          </a:stretch>
        </p:blipFill>
        <p:spPr>
          <a:xfrm>
            <a:off x="8227615" y="2963540"/>
            <a:ext cx="3629025" cy="1343025"/>
          </a:xfrm>
          <a:prstGeom prst="rect">
            <a:avLst/>
          </a:prstGeom>
        </p:spPr>
      </p:pic>
    </p:spTree>
    <p:extLst>
      <p:ext uri="{BB962C8B-B14F-4D97-AF65-F5344CB8AC3E}">
        <p14:creationId xmlns:p14="http://schemas.microsoft.com/office/powerpoint/2010/main" val="3621185834"/>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EXAMPLE Session </a:t>
            </a:r>
          </a:p>
        </p:txBody>
      </p:sp>
      <p:pic>
        <p:nvPicPr>
          <p:cNvPr id="14" name="Picture 13">
            <a:extLst>
              <a:ext uri="{FF2B5EF4-FFF2-40B4-BE49-F238E27FC236}">
                <a16:creationId xmlns:a16="http://schemas.microsoft.com/office/drawing/2014/main" id="{832EEBDC-0B3F-4187-A9EC-ED952654E7AC}"/>
              </a:ext>
            </a:extLst>
          </p:cNvPr>
          <p:cNvPicPr>
            <a:picLocks noChangeAspect="1"/>
          </p:cNvPicPr>
          <p:nvPr/>
        </p:nvPicPr>
        <p:blipFill>
          <a:blip r:embed="rId3"/>
          <a:stretch>
            <a:fillRect/>
          </a:stretch>
        </p:blipFill>
        <p:spPr>
          <a:xfrm>
            <a:off x="839415" y="1052737"/>
            <a:ext cx="4273533" cy="2696396"/>
          </a:xfrm>
          <a:prstGeom prst="rect">
            <a:avLst/>
          </a:prstGeom>
        </p:spPr>
      </p:pic>
      <p:sp>
        <p:nvSpPr>
          <p:cNvPr id="15" name="Rectangle 14">
            <a:extLst>
              <a:ext uri="{FF2B5EF4-FFF2-40B4-BE49-F238E27FC236}">
                <a16:creationId xmlns:a16="http://schemas.microsoft.com/office/drawing/2014/main" id="{0EB52244-ED2C-4590-B279-6EF97DDB83EC}"/>
              </a:ext>
            </a:extLst>
          </p:cNvPr>
          <p:cNvSpPr/>
          <p:nvPr/>
        </p:nvSpPr>
        <p:spPr>
          <a:xfrm>
            <a:off x="632001" y="3356992"/>
            <a:ext cx="1215527" cy="523009"/>
          </a:xfrm>
          <a:prstGeom prst="rect">
            <a:avLst/>
          </a:prstGeom>
          <a:noFill/>
          <a:ln w="9525">
            <a:solidFill>
              <a:srgbClr val="F04C3E"/>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pic>
        <p:nvPicPr>
          <p:cNvPr id="17" name="Picture 16">
            <a:extLst>
              <a:ext uri="{FF2B5EF4-FFF2-40B4-BE49-F238E27FC236}">
                <a16:creationId xmlns:a16="http://schemas.microsoft.com/office/drawing/2014/main" id="{9CE1C329-9A35-4C4B-96CA-971918B54CE8}"/>
              </a:ext>
            </a:extLst>
          </p:cNvPr>
          <p:cNvPicPr>
            <a:picLocks noChangeAspect="1"/>
          </p:cNvPicPr>
          <p:nvPr/>
        </p:nvPicPr>
        <p:blipFill>
          <a:blip r:embed="rId4"/>
          <a:stretch>
            <a:fillRect/>
          </a:stretch>
        </p:blipFill>
        <p:spPr>
          <a:xfrm>
            <a:off x="6168008" y="1044451"/>
            <a:ext cx="4435224" cy="2507197"/>
          </a:xfrm>
          <a:prstGeom prst="rect">
            <a:avLst/>
          </a:prstGeom>
          <a:solidFill>
            <a:schemeClr val="accent2"/>
          </a:solidFill>
        </p:spPr>
      </p:pic>
      <p:cxnSp>
        <p:nvCxnSpPr>
          <p:cNvPr id="19" name="Straight Arrow Connector 18">
            <a:extLst>
              <a:ext uri="{FF2B5EF4-FFF2-40B4-BE49-F238E27FC236}">
                <a16:creationId xmlns:a16="http://schemas.microsoft.com/office/drawing/2014/main" id="{FFA49D5C-45D6-4B25-8ABD-DD0DE7856A33}"/>
              </a:ext>
            </a:extLst>
          </p:cNvPr>
          <p:cNvCxnSpPr/>
          <p:nvPr/>
        </p:nvCxnSpPr>
        <p:spPr>
          <a:xfrm flipV="1">
            <a:off x="5015880" y="2708920"/>
            <a:ext cx="720080" cy="21602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409258A-EC8F-46DD-8210-5A9DA20A18F2}"/>
              </a:ext>
            </a:extLst>
          </p:cNvPr>
          <p:cNvPicPr>
            <a:picLocks noChangeAspect="1"/>
          </p:cNvPicPr>
          <p:nvPr/>
        </p:nvPicPr>
        <p:blipFill>
          <a:blip r:embed="rId5"/>
          <a:stretch>
            <a:fillRect/>
          </a:stretch>
        </p:blipFill>
        <p:spPr>
          <a:xfrm>
            <a:off x="694748" y="4149541"/>
            <a:ext cx="4473328" cy="2034716"/>
          </a:xfrm>
          <a:prstGeom prst="rect">
            <a:avLst/>
          </a:prstGeom>
          <a:solidFill>
            <a:schemeClr val="accent2"/>
          </a:solidFill>
        </p:spPr>
      </p:pic>
      <p:pic>
        <p:nvPicPr>
          <p:cNvPr id="21" name="Picture 20">
            <a:extLst>
              <a:ext uri="{FF2B5EF4-FFF2-40B4-BE49-F238E27FC236}">
                <a16:creationId xmlns:a16="http://schemas.microsoft.com/office/drawing/2014/main" id="{80952621-18FF-4C0F-8D60-72C00AEB91CF}"/>
              </a:ext>
            </a:extLst>
          </p:cNvPr>
          <p:cNvPicPr>
            <a:picLocks noChangeAspect="1"/>
          </p:cNvPicPr>
          <p:nvPr/>
        </p:nvPicPr>
        <p:blipFill>
          <a:blip r:embed="rId6"/>
          <a:stretch>
            <a:fillRect/>
          </a:stretch>
        </p:blipFill>
        <p:spPr>
          <a:xfrm>
            <a:off x="6096000" y="3661818"/>
            <a:ext cx="4580017" cy="2522439"/>
          </a:xfrm>
          <a:prstGeom prst="rect">
            <a:avLst/>
          </a:prstGeom>
          <a:solidFill>
            <a:schemeClr val="accent2">
              <a:lumMod val="20000"/>
              <a:lumOff val="80000"/>
            </a:schemeClr>
          </a:solidFill>
        </p:spPr>
      </p:pic>
      <p:cxnSp>
        <p:nvCxnSpPr>
          <p:cNvPr id="23" name="Straight Arrow Connector 22">
            <a:extLst>
              <a:ext uri="{FF2B5EF4-FFF2-40B4-BE49-F238E27FC236}">
                <a16:creationId xmlns:a16="http://schemas.microsoft.com/office/drawing/2014/main" id="{61E5FE21-E200-4E5F-8D77-ABFCE0E233E8}"/>
              </a:ext>
            </a:extLst>
          </p:cNvPr>
          <p:cNvCxnSpPr/>
          <p:nvPr/>
        </p:nvCxnSpPr>
        <p:spPr>
          <a:xfrm flipV="1">
            <a:off x="5225441" y="5445224"/>
            <a:ext cx="582527" cy="36004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86BE976-9036-4656-9A95-EED3D1A26513}"/>
              </a:ext>
            </a:extLst>
          </p:cNvPr>
          <p:cNvSpPr/>
          <p:nvPr/>
        </p:nvSpPr>
        <p:spPr>
          <a:xfrm>
            <a:off x="695400" y="5805263"/>
            <a:ext cx="820583" cy="460556"/>
          </a:xfrm>
          <a:prstGeom prst="rect">
            <a:avLst/>
          </a:prstGeom>
          <a:noFill/>
          <a:ln w="9525">
            <a:solidFill>
              <a:srgbClr val="F04C3E"/>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17421616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 calcmode="lin" valueType="num">
                                      <p:cBhvr additive="base">
                                        <p:cTn id="31" dur="500" fill="hold"/>
                                        <p:tgtEl>
                                          <p:spTgt spid="20"/>
                                        </p:tgtEl>
                                        <p:attrNameLst>
                                          <p:attrName>ppt_x</p:attrName>
                                        </p:attrNameLst>
                                      </p:cBhvr>
                                      <p:tavLst>
                                        <p:tav tm="0">
                                          <p:val>
                                            <p:strVal val="#ppt_x"/>
                                          </p:val>
                                        </p:tav>
                                        <p:tav tm="100000">
                                          <p:val>
                                            <p:strVal val="#ppt_x"/>
                                          </p:val>
                                        </p:tav>
                                      </p:tavLst>
                                    </p:anim>
                                    <p:anim calcmode="lin" valueType="num">
                                      <p:cBhvr additive="base">
                                        <p:cTn id="32"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 calcmode="lin" valueType="num">
                                      <p:cBhvr additive="base">
                                        <p:cTn id="37" dur="500" fill="hold"/>
                                        <p:tgtEl>
                                          <p:spTgt spid="25"/>
                                        </p:tgtEl>
                                        <p:attrNameLst>
                                          <p:attrName>ppt_x</p:attrName>
                                        </p:attrNameLst>
                                      </p:cBhvr>
                                      <p:tavLst>
                                        <p:tav tm="0">
                                          <p:val>
                                            <p:strVal val="#ppt_x"/>
                                          </p:val>
                                        </p:tav>
                                        <p:tav tm="100000">
                                          <p:val>
                                            <p:strVal val="#ppt_x"/>
                                          </p:val>
                                        </p:tav>
                                      </p:tavLst>
                                    </p:anim>
                                    <p:anim calcmode="lin" valueType="num">
                                      <p:cBhvr additive="base">
                                        <p:cTn id="38"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ppt_x"/>
                                          </p:val>
                                        </p:tav>
                                        <p:tav tm="100000">
                                          <p:val>
                                            <p:strVal val="#ppt_x"/>
                                          </p:val>
                                        </p:tav>
                                      </p:tavLst>
                                    </p:anim>
                                    <p:anim calcmode="lin" valueType="num">
                                      <p:cBhvr additive="base">
                                        <p:cTn id="4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 calcmode="lin" valueType="num">
                                      <p:cBhvr additive="base">
                                        <p:cTn id="49" dur="500" fill="hold"/>
                                        <p:tgtEl>
                                          <p:spTgt spid="21"/>
                                        </p:tgtEl>
                                        <p:attrNameLst>
                                          <p:attrName>ppt_x</p:attrName>
                                        </p:attrNameLst>
                                      </p:cBhvr>
                                      <p:tavLst>
                                        <p:tav tm="0">
                                          <p:val>
                                            <p:strVal val="#ppt_x"/>
                                          </p:val>
                                        </p:tav>
                                        <p:tav tm="100000">
                                          <p:val>
                                            <p:strVal val="#ppt_x"/>
                                          </p:val>
                                        </p:tav>
                                      </p:tavLst>
                                    </p:anim>
                                    <p:anim calcmode="lin" valueType="num">
                                      <p:cBhvr additive="base">
                                        <p:cTn id="5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2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EXAMPLE Session </a:t>
            </a:r>
          </a:p>
        </p:txBody>
      </p:sp>
      <p:cxnSp>
        <p:nvCxnSpPr>
          <p:cNvPr id="19" name="Straight Arrow Connector 18">
            <a:extLst>
              <a:ext uri="{FF2B5EF4-FFF2-40B4-BE49-F238E27FC236}">
                <a16:creationId xmlns:a16="http://schemas.microsoft.com/office/drawing/2014/main" id="{FFA49D5C-45D6-4B25-8ABD-DD0DE7856A33}"/>
              </a:ext>
            </a:extLst>
          </p:cNvPr>
          <p:cNvCxnSpPr/>
          <p:nvPr/>
        </p:nvCxnSpPr>
        <p:spPr>
          <a:xfrm flipV="1">
            <a:off x="5317734" y="1916832"/>
            <a:ext cx="720080" cy="21602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6DB851BE-E7BC-452B-8C4F-063850316EB7}"/>
              </a:ext>
            </a:extLst>
          </p:cNvPr>
          <p:cNvPicPr>
            <a:picLocks noChangeAspect="1"/>
          </p:cNvPicPr>
          <p:nvPr/>
        </p:nvPicPr>
        <p:blipFill>
          <a:blip r:embed="rId3"/>
          <a:stretch>
            <a:fillRect/>
          </a:stretch>
        </p:blipFill>
        <p:spPr>
          <a:xfrm>
            <a:off x="654120" y="1076307"/>
            <a:ext cx="4526672" cy="2842506"/>
          </a:xfrm>
          <a:prstGeom prst="rect">
            <a:avLst/>
          </a:prstGeom>
        </p:spPr>
      </p:pic>
      <p:pic>
        <p:nvPicPr>
          <p:cNvPr id="4" name="Picture 3">
            <a:extLst>
              <a:ext uri="{FF2B5EF4-FFF2-40B4-BE49-F238E27FC236}">
                <a16:creationId xmlns:a16="http://schemas.microsoft.com/office/drawing/2014/main" id="{5C11490A-47CE-4719-87C0-CBCC59E9F3F0}"/>
              </a:ext>
            </a:extLst>
          </p:cNvPr>
          <p:cNvPicPr>
            <a:picLocks noChangeAspect="1"/>
          </p:cNvPicPr>
          <p:nvPr/>
        </p:nvPicPr>
        <p:blipFill>
          <a:blip r:embed="rId4"/>
          <a:stretch>
            <a:fillRect/>
          </a:stretch>
        </p:blipFill>
        <p:spPr>
          <a:xfrm>
            <a:off x="6096000" y="1264931"/>
            <a:ext cx="4305673" cy="1943268"/>
          </a:xfrm>
          <a:prstGeom prst="rect">
            <a:avLst/>
          </a:prstGeom>
        </p:spPr>
      </p:pic>
      <p:pic>
        <p:nvPicPr>
          <p:cNvPr id="6" name="Picture 5">
            <a:extLst>
              <a:ext uri="{FF2B5EF4-FFF2-40B4-BE49-F238E27FC236}">
                <a16:creationId xmlns:a16="http://schemas.microsoft.com/office/drawing/2014/main" id="{E4DA3311-93F4-47C7-B46B-34829526AD5B}"/>
              </a:ext>
            </a:extLst>
          </p:cNvPr>
          <p:cNvPicPr>
            <a:picLocks noChangeAspect="1"/>
          </p:cNvPicPr>
          <p:nvPr/>
        </p:nvPicPr>
        <p:blipFill>
          <a:blip r:embed="rId5"/>
          <a:stretch>
            <a:fillRect/>
          </a:stretch>
        </p:blipFill>
        <p:spPr>
          <a:xfrm>
            <a:off x="6096000" y="4294005"/>
            <a:ext cx="5357324" cy="1356478"/>
          </a:xfrm>
          <a:prstGeom prst="rect">
            <a:avLst/>
          </a:prstGeom>
        </p:spPr>
      </p:pic>
      <p:cxnSp>
        <p:nvCxnSpPr>
          <p:cNvPr id="8" name="Straight Arrow Connector 7">
            <a:extLst>
              <a:ext uri="{FF2B5EF4-FFF2-40B4-BE49-F238E27FC236}">
                <a16:creationId xmlns:a16="http://schemas.microsoft.com/office/drawing/2014/main" id="{08ED95A7-358D-454D-8537-AA269BD6BD15}"/>
              </a:ext>
            </a:extLst>
          </p:cNvPr>
          <p:cNvCxnSpPr/>
          <p:nvPr/>
        </p:nvCxnSpPr>
        <p:spPr>
          <a:xfrm>
            <a:off x="4727848" y="3284984"/>
            <a:ext cx="1152128" cy="168726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64597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gtEl>
                                        <p:attrNameLst>
                                          <p:attrName>style.visibility</p:attrName>
                                        </p:attrNameLst>
                                      </p:cBhvr>
                                      <p:to>
                                        <p:strVal val="visible"/>
                                      </p:to>
                                    </p:set>
                                    <p:anim calcmode="lin" valueType="num">
                                      <p:cBhvr additive="base">
                                        <p:cTn id="13" dur="500" fill="hold"/>
                                        <p:tgtEl>
                                          <p:spTgt spid="19"/>
                                        </p:tgtEl>
                                        <p:attrNameLst>
                                          <p:attrName>ppt_x</p:attrName>
                                        </p:attrNameLst>
                                      </p:cBhvr>
                                      <p:tavLst>
                                        <p:tav tm="0">
                                          <p:val>
                                            <p:strVal val="#ppt_x"/>
                                          </p:val>
                                        </p:tav>
                                        <p:tav tm="100000">
                                          <p:val>
                                            <p:strVal val="#ppt_x"/>
                                          </p:val>
                                        </p:tav>
                                      </p:tavLst>
                                    </p:anim>
                                    <p:anim calcmode="lin" valueType="num">
                                      <p:cBhvr additive="base">
                                        <p:cTn id="1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EXAMPLE Session </a:t>
            </a:r>
          </a:p>
        </p:txBody>
      </p:sp>
      <p:pic>
        <p:nvPicPr>
          <p:cNvPr id="2" name="Picture 1">
            <a:extLst>
              <a:ext uri="{FF2B5EF4-FFF2-40B4-BE49-F238E27FC236}">
                <a16:creationId xmlns:a16="http://schemas.microsoft.com/office/drawing/2014/main" id="{4F7F4A69-6E1B-4D41-8C60-1780491B6ACE}"/>
              </a:ext>
            </a:extLst>
          </p:cNvPr>
          <p:cNvPicPr>
            <a:picLocks noChangeAspect="1"/>
          </p:cNvPicPr>
          <p:nvPr/>
        </p:nvPicPr>
        <p:blipFill>
          <a:blip r:embed="rId3"/>
          <a:stretch>
            <a:fillRect/>
          </a:stretch>
        </p:blipFill>
        <p:spPr>
          <a:xfrm>
            <a:off x="479376" y="106430"/>
            <a:ext cx="9721080" cy="3169286"/>
          </a:xfrm>
          <a:prstGeom prst="rect">
            <a:avLst/>
          </a:prstGeom>
        </p:spPr>
      </p:pic>
      <p:pic>
        <p:nvPicPr>
          <p:cNvPr id="7" name="Picture 6">
            <a:extLst>
              <a:ext uri="{FF2B5EF4-FFF2-40B4-BE49-F238E27FC236}">
                <a16:creationId xmlns:a16="http://schemas.microsoft.com/office/drawing/2014/main" id="{4F7D1EAD-0705-46BE-954D-3E4BD2A91DE7}"/>
              </a:ext>
            </a:extLst>
          </p:cNvPr>
          <p:cNvPicPr>
            <a:picLocks noChangeAspect="1"/>
          </p:cNvPicPr>
          <p:nvPr/>
        </p:nvPicPr>
        <p:blipFill>
          <a:blip r:embed="rId4"/>
          <a:stretch>
            <a:fillRect/>
          </a:stretch>
        </p:blipFill>
        <p:spPr>
          <a:xfrm>
            <a:off x="485780" y="3324877"/>
            <a:ext cx="9809694" cy="3401903"/>
          </a:xfrm>
          <a:prstGeom prst="rect">
            <a:avLst/>
          </a:prstGeom>
        </p:spPr>
      </p:pic>
    </p:spTree>
    <p:extLst>
      <p:ext uri="{BB962C8B-B14F-4D97-AF65-F5344CB8AC3E}">
        <p14:creationId xmlns:p14="http://schemas.microsoft.com/office/powerpoint/2010/main" val="35723313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328D9F-0035-439C-8877-9CFFCB50EFB3}"/>
              </a:ext>
            </a:extLst>
          </p:cNvPr>
          <p:cNvPicPr>
            <a:picLocks noChangeAspect="1"/>
          </p:cNvPicPr>
          <p:nvPr/>
        </p:nvPicPr>
        <p:blipFill>
          <a:blip r:embed="rId2"/>
          <a:stretch>
            <a:fillRect/>
          </a:stretch>
        </p:blipFill>
        <p:spPr>
          <a:xfrm>
            <a:off x="623392" y="116117"/>
            <a:ext cx="10513168" cy="6364221"/>
          </a:xfrm>
          <a:prstGeom prst="rect">
            <a:avLst/>
          </a:prstGeom>
        </p:spPr>
      </p:pic>
    </p:spTree>
    <p:extLst>
      <p:ext uri="{BB962C8B-B14F-4D97-AF65-F5344CB8AC3E}">
        <p14:creationId xmlns:p14="http://schemas.microsoft.com/office/powerpoint/2010/main" val="167325697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B36987F-A1E0-4FC4-B19B-0DA11AE02EB6}"/>
              </a:ext>
            </a:extLst>
          </p:cNvPr>
          <p:cNvPicPr>
            <a:picLocks noChangeAspect="1"/>
          </p:cNvPicPr>
          <p:nvPr/>
        </p:nvPicPr>
        <p:blipFill>
          <a:blip r:embed="rId2"/>
          <a:stretch>
            <a:fillRect/>
          </a:stretch>
        </p:blipFill>
        <p:spPr>
          <a:xfrm>
            <a:off x="672323" y="980728"/>
            <a:ext cx="10847353" cy="4248472"/>
          </a:xfrm>
          <a:prstGeom prst="rect">
            <a:avLst/>
          </a:prstGeom>
        </p:spPr>
      </p:pic>
      <p:sp>
        <p:nvSpPr>
          <p:cNvPr id="3" name="TextBox 2">
            <a:extLst>
              <a:ext uri="{FF2B5EF4-FFF2-40B4-BE49-F238E27FC236}">
                <a16:creationId xmlns:a16="http://schemas.microsoft.com/office/drawing/2014/main" id="{666E333E-B248-45E2-96CC-636568C17922}"/>
              </a:ext>
            </a:extLst>
          </p:cNvPr>
          <p:cNvSpPr txBox="1"/>
          <p:nvPr/>
        </p:nvSpPr>
        <p:spPr>
          <a:xfrm>
            <a:off x="2207568" y="476672"/>
            <a:ext cx="3456384" cy="298543"/>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2000" dirty="0"/>
              <a:t>Welcome1.php</a:t>
            </a:r>
          </a:p>
        </p:txBody>
      </p:sp>
    </p:spTree>
    <p:extLst>
      <p:ext uri="{BB962C8B-B14F-4D97-AF65-F5344CB8AC3E}">
        <p14:creationId xmlns:p14="http://schemas.microsoft.com/office/powerpoint/2010/main" val="333101892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University Question</a:t>
            </a:r>
          </a:p>
        </p:txBody>
      </p:sp>
      <p:pic>
        <p:nvPicPr>
          <p:cNvPr id="2" name="Picture 1">
            <a:extLst>
              <a:ext uri="{FF2B5EF4-FFF2-40B4-BE49-F238E27FC236}">
                <a16:creationId xmlns:a16="http://schemas.microsoft.com/office/drawing/2014/main" id="{28A3D450-D199-4A66-B3AF-9F9DB7D9A64A}"/>
              </a:ext>
            </a:extLst>
          </p:cNvPr>
          <p:cNvPicPr>
            <a:picLocks noChangeAspect="1"/>
          </p:cNvPicPr>
          <p:nvPr/>
        </p:nvPicPr>
        <p:blipFill>
          <a:blip r:embed="rId3"/>
          <a:stretch>
            <a:fillRect/>
          </a:stretch>
        </p:blipFill>
        <p:spPr>
          <a:xfrm>
            <a:off x="2999656" y="2924944"/>
            <a:ext cx="5953956" cy="2400635"/>
          </a:xfrm>
          <a:prstGeom prst="rect">
            <a:avLst/>
          </a:prstGeom>
          <a:ln>
            <a:solidFill>
              <a:schemeClr val="accent2"/>
            </a:solidFill>
          </a:ln>
        </p:spPr>
      </p:pic>
      <p:pic>
        <p:nvPicPr>
          <p:cNvPr id="7" name="Picture 6">
            <a:extLst>
              <a:ext uri="{FF2B5EF4-FFF2-40B4-BE49-F238E27FC236}">
                <a16:creationId xmlns:a16="http://schemas.microsoft.com/office/drawing/2014/main" id="{383845BA-AB65-4505-A63D-E9DBD4650FF2}"/>
              </a:ext>
            </a:extLst>
          </p:cNvPr>
          <p:cNvPicPr>
            <a:picLocks noChangeAspect="1"/>
          </p:cNvPicPr>
          <p:nvPr/>
        </p:nvPicPr>
        <p:blipFill>
          <a:blip r:embed="rId4"/>
          <a:stretch>
            <a:fillRect/>
          </a:stretch>
        </p:blipFill>
        <p:spPr>
          <a:xfrm>
            <a:off x="551384" y="1066453"/>
            <a:ext cx="11336332" cy="1066949"/>
          </a:xfrm>
          <a:prstGeom prst="rect">
            <a:avLst/>
          </a:prstGeom>
        </p:spPr>
      </p:pic>
    </p:spTree>
    <p:extLst>
      <p:ext uri="{BB962C8B-B14F-4D97-AF65-F5344CB8AC3E}">
        <p14:creationId xmlns:p14="http://schemas.microsoft.com/office/powerpoint/2010/main" val="12180868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9204101" cy="634605"/>
          </a:xfrm>
        </p:spPr>
        <p:txBody>
          <a:bodyPr vert="horz" lIns="0" tIns="0" rIns="0" bIns="0" rtlCol="0" anchor="t" anchorCtr="0">
            <a:noAutofit/>
          </a:bodyPr>
          <a:lstStyle/>
          <a:p>
            <a:pPr algn="just"/>
            <a:r>
              <a:rPr lang="en-US" dirty="0"/>
              <a:t>University Question</a:t>
            </a:r>
          </a:p>
        </p:txBody>
      </p:sp>
      <p:pic>
        <p:nvPicPr>
          <p:cNvPr id="7" name="Picture 6">
            <a:extLst>
              <a:ext uri="{FF2B5EF4-FFF2-40B4-BE49-F238E27FC236}">
                <a16:creationId xmlns:a16="http://schemas.microsoft.com/office/drawing/2014/main" id="{383845BA-AB65-4505-A63D-E9DBD4650FF2}"/>
              </a:ext>
            </a:extLst>
          </p:cNvPr>
          <p:cNvPicPr>
            <a:picLocks noChangeAspect="1"/>
          </p:cNvPicPr>
          <p:nvPr/>
        </p:nvPicPr>
        <p:blipFill>
          <a:blip r:embed="rId3"/>
          <a:stretch>
            <a:fillRect/>
          </a:stretch>
        </p:blipFill>
        <p:spPr>
          <a:xfrm>
            <a:off x="479376" y="0"/>
            <a:ext cx="11336332" cy="1066949"/>
          </a:xfrm>
          <a:prstGeom prst="rect">
            <a:avLst/>
          </a:prstGeom>
        </p:spPr>
      </p:pic>
      <p:pic>
        <p:nvPicPr>
          <p:cNvPr id="3" name="Picture 2">
            <a:extLst>
              <a:ext uri="{FF2B5EF4-FFF2-40B4-BE49-F238E27FC236}">
                <a16:creationId xmlns:a16="http://schemas.microsoft.com/office/drawing/2014/main" id="{1E1358C4-17E7-4D50-B979-DEC380372E66}"/>
              </a:ext>
            </a:extLst>
          </p:cNvPr>
          <p:cNvPicPr>
            <a:picLocks noChangeAspect="1"/>
          </p:cNvPicPr>
          <p:nvPr/>
        </p:nvPicPr>
        <p:blipFill>
          <a:blip r:embed="rId4"/>
          <a:stretch>
            <a:fillRect/>
          </a:stretch>
        </p:blipFill>
        <p:spPr>
          <a:xfrm>
            <a:off x="-29822" y="1113355"/>
            <a:ext cx="12192000" cy="5744645"/>
          </a:xfrm>
          <a:prstGeom prst="rect">
            <a:avLst/>
          </a:prstGeom>
        </p:spPr>
      </p:pic>
    </p:spTree>
    <p:extLst>
      <p:ext uri="{BB962C8B-B14F-4D97-AF65-F5344CB8AC3E}">
        <p14:creationId xmlns:p14="http://schemas.microsoft.com/office/powerpoint/2010/main" val="25987437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10262924" cy="708406"/>
          </a:xfrm>
        </p:spPr>
        <p:txBody>
          <a:bodyPr/>
          <a:lstStyle/>
          <a:p>
            <a:pPr algn="ctr"/>
            <a:r>
              <a:rPr lang="en-US" dirty="0"/>
              <a:t> MySQL Integration-Connecting to MySQL with PHP</a:t>
            </a:r>
          </a:p>
          <a:p>
            <a:pPr algn="ctr"/>
            <a:endParaRPr lang="en-US" dirty="0"/>
          </a:p>
        </p:txBody>
      </p:sp>
    </p:spTree>
    <p:extLst>
      <p:ext uri="{BB962C8B-B14F-4D97-AF65-F5344CB8AC3E}">
        <p14:creationId xmlns:p14="http://schemas.microsoft.com/office/powerpoint/2010/main" val="1319995038"/>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 Connecting PHP to MySQL</a:t>
            </a:r>
            <a:br>
              <a:rPr lang="en-US" dirty="0"/>
            </a:br>
            <a:endParaRPr lang="en-US" dirty="0"/>
          </a:p>
        </p:txBody>
      </p:sp>
      <p:sp>
        <p:nvSpPr>
          <p:cNvPr id="6" name="Content Placeholder 5">
            <a:extLst>
              <a:ext uri="{FF2B5EF4-FFF2-40B4-BE49-F238E27FC236}">
                <a16:creationId xmlns:a16="http://schemas.microsoft.com/office/drawing/2014/main" id="{898AEF66-1636-465E-8488-2D1EF501CEA8}"/>
              </a:ext>
            </a:extLst>
          </p:cNvPr>
          <p:cNvSpPr>
            <a:spLocks noGrp="1"/>
          </p:cNvSpPr>
          <p:nvPr>
            <p:ph idx="1"/>
          </p:nvPr>
        </p:nvSpPr>
        <p:spPr/>
        <p:txBody>
          <a:bodyPr/>
          <a:lstStyle/>
          <a:p>
            <a:r>
              <a:rPr lang="en-US" dirty="0"/>
              <a:t>When users enter any data into the fields of your forms, you need to collect that information and add it to the </a:t>
            </a:r>
            <a:r>
              <a:rPr lang="en-US" dirty="0" err="1"/>
              <a:t>database.To</a:t>
            </a:r>
            <a:r>
              <a:rPr lang="en-US" dirty="0"/>
              <a:t> do that, you want to know how to connect PHP with MySQL.</a:t>
            </a:r>
          </a:p>
          <a:p>
            <a:r>
              <a:rPr lang="en-US" dirty="0"/>
              <a:t>In order to connect a MySQL database to PHP, you require MySQL on your computer, a tool to create and manage databases, and PHP installed. The most popular ways to connect a PHP script to MySQL are </a:t>
            </a:r>
            <a:r>
              <a:rPr lang="en-US" dirty="0" err="1"/>
              <a:t>MySQli</a:t>
            </a:r>
            <a:r>
              <a:rPr lang="en-US" dirty="0"/>
              <a:t> and PDO</a:t>
            </a:r>
          </a:p>
        </p:txBody>
      </p:sp>
      <p:pic>
        <p:nvPicPr>
          <p:cNvPr id="7" name="Picture 6">
            <a:extLst>
              <a:ext uri="{FF2B5EF4-FFF2-40B4-BE49-F238E27FC236}">
                <a16:creationId xmlns:a16="http://schemas.microsoft.com/office/drawing/2014/main" id="{1938C934-5756-4EAA-A1AC-1132B1C6757A}"/>
              </a:ext>
            </a:extLst>
          </p:cNvPr>
          <p:cNvPicPr>
            <a:picLocks noChangeAspect="1"/>
          </p:cNvPicPr>
          <p:nvPr/>
        </p:nvPicPr>
        <p:blipFill>
          <a:blip r:embed="rId3"/>
          <a:stretch>
            <a:fillRect/>
          </a:stretch>
        </p:blipFill>
        <p:spPr>
          <a:xfrm>
            <a:off x="695400" y="3743121"/>
            <a:ext cx="10566165" cy="2411428"/>
          </a:xfrm>
          <a:prstGeom prst="rect">
            <a:avLst/>
          </a:prstGeom>
        </p:spPr>
      </p:pic>
    </p:spTree>
    <p:extLst>
      <p:ext uri="{BB962C8B-B14F-4D97-AF65-F5344CB8AC3E}">
        <p14:creationId xmlns:p14="http://schemas.microsoft.com/office/powerpoint/2010/main" val="2492274175"/>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79376" y="1118010"/>
            <a:ext cx="11017224" cy="4621980"/>
          </a:xfrm>
        </p:spPr>
        <p:txBody>
          <a:bodyPr>
            <a:normAutofit fontScale="92500" lnSpcReduction="10000"/>
          </a:bodyPr>
          <a:lstStyle/>
          <a:p>
            <a:pPr fontAlgn="base"/>
            <a:r>
              <a:rPr lang="en-US" b="1" dirty="0"/>
              <a:t>What is MySQL?</a:t>
            </a:r>
            <a:endParaRPr lang="en-US" dirty="0"/>
          </a:p>
          <a:p>
            <a:pPr fontAlgn="base"/>
            <a:r>
              <a:rPr lang="en-US" dirty="0"/>
              <a:t>MySQL is an open-source relational database management system (RDBMS). It is the most popular database system used with PHP.</a:t>
            </a:r>
          </a:p>
          <a:p>
            <a:pPr fontAlgn="base"/>
            <a:r>
              <a:rPr lang="en-US" dirty="0"/>
              <a:t>Structured Query Language (SQL). </a:t>
            </a:r>
          </a:p>
          <a:p>
            <a:pPr fontAlgn="base"/>
            <a:r>
              <a:rPr lang="en-US" dirty="0">
                <a:highlight>
                  <a:srgbClr val="FFFF00"/>
                </a:highlight>
              </a:rPr>
              <a:t>The data in a MySQL database are stored in tables </a:t>
            </a:r>
            <a:r>
              <a:rPr lang="en-US" dirty="0"/>
              <a:t>that consist of columns and rows.</a:t>
            </a:r>
          </a:p>
          <a:p>
            <a:pPr fontAlgn="base"/>
            <a:r>
              <a:rPr lang="en-US" dirty="0"/>
              <a:t>MySQL is a database system that runs on a server. </a:t>
            </a:r>
          </a:p>
          <a:p>
            <a:pPr fontAlgn="base"/>
            <a:r>
              <a:rPr lang="en-US" dirty="0"/>
              <a:t>MySQL is ideal for both small and large applications.</a:t>
            </a:r>
          </a:p>
          <a:p>
            <a:pPr fontAlgn="base"/>
            <a:r>
              <a:rPr lang="en-US" dirty="0"/>
              <a:t>MySQL is a very fast, reliable, and easy-to-use database system. It uses standard SQL. MySQL compiles on a number of platforms.</a:t>
            </a:r>
          </a:p>
          <a:p>
            <a:pPr fontAlgn="base"/>
            <a:r>
              <a:rPr lang="en-US" b="1" dirty="0"/>
              <a:t>How we can connect PHP to MySQL?</a:t>
            </a:r>
            <a:endParaRPr lang="en-US" dirty="0"/>
          </a:p>
          <a:p>
            <a:pPr fontAlgn="base"/>
            <a:r>
              <a:rPr lang="en-US" dirty="0"/>
              <a:t>PHP 5 and later can work with a MySQL database using:</a:t>
            </a:r>
            <a:br>
              <a:rPr lang="en-US" dirty="0"/>
            </a:br>
            <a:r>
              <a:rPr lang="en-US" dirty="0" err="1"/>
              <a:t>MySQLi</a:t>
            </a:r>
            <a:r>
              <a:rPr lang="en-US" dirty="0"/>
              <a:t> extension (the ‘</a:t>
            </a:r>
            <a:r>
              <a:rPr lang="en-US" dirty="0" err="1"/>
              <a:t>i</a:t>
            </a:r>
            <a:r>
              <a:rPr lang="en-US" dirty="0"/>
              <a:t>’ is abbreviation for improved)</a:t>
            </a:r>
          </a:p>
          <a:p>
            <a:pPr fontAlgn="base"/>
            <a:r>
              <a:rPr lang="en-US" dirty="0"/>
              <a:t>PDO (PHP Data Objects)</a:t>
            </a:r>
          </a:p>
          <a:p>
            <a:pPr fontAlgn="base"/>
            <a:endParaRPr lang="en-US" dirty="0"/>
          </a:p>
          <a:p>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 PHP and MySQL</a:t>
            </a:r>
            <a:br>
              <a:rPr lang="en-US" dirty="0"/>
            </a:br>
            <a:endParaRPr lang="en-US" dirty="0"/>
          </a:p>
        </p:txBody>
      </p:sp>
    </p:spTree>
    <p:extLst>
      <p:ext uri="{BB962C8B-B14F-4D97-AF65-F5344CB8AC3E}">
        <p14:creationId xmlns:p14="http://schemas.microsoft.com/office/powerpoint/2010/main" val="13571496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 calcmode="lin" valueType="num">
                                      <p:cBhvr additive="base">
                                        <p:cTn id="25"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4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59">
                                            <p:txEl>
                                              <p:pRg st="4" end="4"/>
                                            </p:txEl>
                                          </p:spTgt>
                                        </p:tgtEl>
                                        <p:attrNameLst>
                                          <p:attrName>style.visibility</p:attrName>
                                        </p:attrNameLst>
                                      </p:cBhvr>
                                      <p:to>
                                        <p:strVal val="visible"/>
                                      </p:to>
                                    </p:set>
                                    <p:anim calcmode="lin" valueType="num">
                                      <p:cBhvr additive="base">
                                        <p:cTn id="31"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459">
                                            <p:txEl>
                                              <p:pRg st="5" end="5"/>
                                            </p:txEl>
                                          </p:spTgt>
                                        </p:tgtEl>
                                        <p:attrNameLst>
                                          <p:attrName>style.visibility</p:attrName>
                                        </p:attrNameLst>
                                      </p:cBhvr>
                                      <p:to>
                                        <p:strVal val="visible"/>
                                      </p:to>
                                    </p:set>
                                    <p:anim calcmode="lin" valueType="num">
                                      <p:cBhvr additive="base">
                                        <p:cTn id="37"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945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459">
                                            <p:txEl>
                                              <p:pRg st="6" end="6"/>
                                            </p:txEl>
                                          </p:spTgt>
                                        </p:tgtEl>
                                        <p:attrNameLst>
                                          <p:attrName>style.visibility</p:attrName>
                                        </p:attrNameLst>
                                      </p:cBhvr>
                                      <p:to>
                                        <p:strVal val="visible"/>
                                      </p:to>
                                    </p:set>
                                    <p:anim calcmode="lin" valueType="num">
                                      <p:cBhvr additive="base">
                                        <p:cTn id="43"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9459">
                                            <p:txEl>
                                              <p:pRg st="7" end="7"/>
                                            </p:txEl>
                                          </p:spTgt>
                                        </p:tgtEl>
                                        <p:attrNameLst>
                                          <p:attrName>style.visibility</p:attrName>
                                        </p:attrNameLst>
                                      </p:cBhvr>
                                      <p:to>
                                        <p:strVal val="visible"/>
                                      </p:to>
                                    </p:set>
                                    <p:anim calcmode="lin" valueType="num">
                                      <p:cBhvr additive="base">
                                        <p:cTn id="49"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45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9459">
                                            <p:txEl>
                                              <p:pRg st="8" end="8"/>
                                            </p:txEl>
                                          </p:spTgt>
                                        </p:tgtEl>
                                        <p:attrNameLst>
                                          <p:attrName>style.visibility</p:attrName>
                                        </p:attrNameLst>
                                      </p:cBhvr>
                                      <p:to>
                                        <p:strVal val="visible"/>
                                      </p:to>
                                    </p:set>
                                    <p:anim calcmode="lin" valueType="num">
                                      <p:cBhvr additive="base">
                                        <p:cTn id="55"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945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9459">
                                            <p:txEl>
                                              <p:pRg st="9" end="9"/>
                                            </p:txEl>
                                          </p:spTgt>
                                        </p:tgtEl>
                                        <p:attrNameLst>
                                          <p:attrName>style.visibility</p:attrName>
                                        </p:attrNameLst>
                                      </p:cBhvr>
                                      <p:to>
                                        <p:strVal val="visible"/>
                                      </p:to>
                                    </p:set>
                                    <p:anim calcmode="lin" valueType="num">
                                      <p:cBhvr additive="base">
                                        <p:cTn id="61"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945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79376" y="1118010"/>
            <a:ext cx="11593288" cy="4621980"/>
          </a:xfrm>
        </p:spPr>
        <p:txBody>
          <a:bodyPr>
            <a:normAutofit lnSpcReduction="10000"/>
          </a:bodyPr>
          <a:lstStyle/>
          <a:p>
            <a:pPr fontAlgn="base"/>
            <a:r>
              <a:rPr lang="en-US" dirty="0"/>
              <a:t>To connect PHP to MySQL, you can use the </a:t>
            </a:r>
            <a:r>
              <a:rPr lang="en-US" dirty="0" err="1"/>
              <a:t>MySQLi</a:t>
            </a:r>
            <a:r>
              <a:rPr lang="en-US" dirty="0"/>
              <a:t> extension or PDO (PHP Data Objects). </a:t>
            </a:r>
          </a:p>
          <a:p>
            <a:pPr fontAlgn="base"/>
            <a:r>
              <a:rPr lang="en-US" dirty="0" err="1"/>
              <a:t>MySQLi</a:t>
            </a:r>
            <a:r>
              <a:rPr lang="en-US" dirty="0"/>
              <a:t> (MySQL Improved) is a PHP extension that provides both procedural and object-oriented styles for interacting with MySQL databases.</a:t>
            </a:r>
          </a:p>
          <a:p>
            <a:pPr fontAlgn="base"/>
            <a:r>
              <a:rPr lang="en-US" dirty="0"/>
              <a:t>In the object-oriented style, </a:t>
            </a:r>
            <a:r>
              <a:rPr lang="en-US" dirty="0" err="1"/>
              <a:t>MySQLi</a:t>
            </a:r>
            <a:r>
              <a:rPr lang="en-US" dirty="0"/>
              <a:t> is used as an object-oriented extension. </a:t>
            </a:r>
          </a:p>
          <a:p>
            <a:pPr marL="366713" lvl="1" indent="0" fontAlgn="base">
              <a:buNone/>
            </a:pPr>
            <a:r>
              <a:rPr lang="en-US" i="1" dirty="0">
                <a:solidFill>
                  <a:srgbClr val="FF0000"/>
                </a:solidFill>
              </a:rPr>
              <a:t>$conn = new </a:t>
            </a:r>
            <a:r>
              <a:rPr lang="en-US" i="1" dirty="0" err="1">
                <a:solidFill>
                  <a:srgbClr val="FF0000"/>
                </a:solidFill>
              </a:rPr>
              <a:t>mysqli</a:t>
            </a:r>
            <a:r>
              <a:rPr lang="en-US" i="1" dirty="0">
                <a:solidFill>
                  <a:srgbClr val="FF0000"/>
                </a:solidFill>
              </a:rPr>
              <a:t>($</a:t>
            </a:r>
            <a:r>
              <a:rPr lang="en-US" i="1" dirty="0" err="1">
                <a:solidFill>
                  <a:srgbClr val="FF0000"/>
                </a:solidFill>
              </a:rPr>
              <a:t>servername</a:t>
            </a:r>
            <a:r>
              <a:rPr lang="en-US" i="1" dirty="0">
                <a:solidFill>
                  <a:srgbClr val="FF0000"/>
                </a:solidFill>
              </a:rPr>
              <a:t>, $username, $password, $</a:t>
            </a:r>
            <a:r>
              <a:rPr lang="en-US" i="1" dirty="0" err="1">
                <a:solidFill>
                  <a:srgbClr val="FF0000"/>
                </a:solidFill>
              </a:rPr>
              <a:t>dbname</a:t>
            </a:r>
            <a:r>
              <a:rPr lang="en-US" i="1" dirty="0">
                <a:solidFill>
                  <a:srgbClr val="FF0000"/>
                </a:solidFill>
              </a:rPr>
              <a:t>);</a:t>
            </a:r>
          </a:p>
          <a:p>
            <a:pPr marL="366713" lvl="1" indent="0" fontAlgn="base">
              <a:buNone/>
            </a:pPr>
            <a:r>
              <a:rPr lang="en-US" i="1" dirty="0">
                <a:solidFill>
                  <a:srgbClr val="FF0000"/>
                </a:solidFill>
              </a:rPr>
              <a:t>if ($conn-&gt;</a:t>
            </a:r>
            <a:r>
              <a:rPr lang="en-US" i="1" dirty="0" err="1">
                <a:solidFill>
                  <a:srgbClr val="FF0000"/>
                </a:solidFill>
              </a:rPr>
              <a:t>connect_error</a:t>
            </a:r>
            <a:r>
              <a:rPr lang="en-US" i="1" dirty="0">
                <a:solidFill>
                  <a:srgbClr val="FF0000"/>
                </a:solidFill>
              </a:rPr>
              <a:t>) {</a:t>
            </a:r>
          </a:p>
          <a:p>
            <a:pPr marL="366713" lvl="1" indent="0" fontAlgn="base">
              <a:buNone/>
            </a:pPr>
            <a:r>
              <a:rPr lang="en-US" i="1" dirty="0">
                <a:solidFill>
                  <a:srgbClr val="FF0000"/>
                </a:solidFill>
              </a:rPr>
              <a:t>    die("Connection failed: " . $conn-&gt;</a:t>
            </a:r>
            <a:r>
              <a:rPr lang="en-US" i="1" dirty="0" err="1">
                <a:solidFill>
                  <a:srgbClr val="FF0000"/>
                </a:solidFill>
              </a:rPr>
              <a:t>connect_error</a:t>
            </a:r>
            <a:r>
              <a:rPr lang="en-US" i="1" dirty="0">
                <a:solidFill>
                  <a:srgbClr val="FF0000"/>
                </a:solidFill>
              </a:rPr>
              <a:t>);</a:t>
            </a:r>
          </a:p>
          <a:p>
            <a:pPr marL="366713" lvl="1" indent="0" fontAlgn="base">
              <a:buNone/>
            </a:pPr>
            <a:r>
              <a:rPr lang="en-US" i="1" dirty="0">
                <a:solidFill>
                  <a:srgbClr val="FF0000"/>
                </a:solidFill>
              </a:rPr>
              <a:t>}</a:t>
            </a:r>
          </a:p>
          <a:p>
            <a:pPr fontAlgn="base"/>
            <a:r>
              <a:rPr lang="en-US" dirty="0"/>
              <a:t>In the procedural style, </a:t>
            </a:r>
            <a:r>
              <a:rPr lang="en-US" dirty="0" err="1"/>
              <a:t>MySQLi</a:t>
            </a:r>
            <a:r>
              <a:rPr lang="en-US" dirty="0"/>
              <a:t> functions are called using a procedural approach</a:t>
            </a:r>
          </a:p>
          <a:p>
            <a:pPr marL="366713" lvl="1" indent="0" fontAlgn="base">
              <a:buNone/>
            </a:pPr>
            <a:r>
              <a:rPr lang="en-US" i="1" dirty="0">
                <a:solidFill>
                  <a:srgbClr val="FF0000"/>
                </a:solidFill>
              </a:rPr>
              <a:t>$conn = </a:t>
            </a:r>
            <a:r>
              <a:rPr lang="en-US" i="1" dirty="0" err="1">
                <a:solidFill>
                  <a:srgbClr val="FF0000"/>
                </a:solidFill>
              </a:rPr>
              <a:t>mysqli_connect</a:t>
            </a:r>
            <a:r>
              <a:rPr lang="en-US" i="1" dirty="0">
                <a:solidFill>
                  <a:srgbClr val="FF0000"/>
                </a:solidFill>
              </a:rPr>
              <a:t>($</a:t>
            </a:r>
            <a:r>
              <a:rPr lang="en-US" i="1" dirty="0" err="1">
                <a:solidFill>
                  <a:srgbClr val="FF0000"/>
                </a:solidFill>
              </a:rPr>
              <a:t>servername</a:t>
            </a:r>
            <a:r>
              <a:rPr lang="en-US" i="1" dirty="0">
                <a:solidFill>
                  <a:srgbClr val="FF0000"/>
                </a:solidFill>
              </a:rPr>
              <a:t>, $username, $password, $</a:t>
            </a:r>
            <a:r>
              <a:rPr lang="en-US" i="1" dirty="0" err="1">
                <a:solidFill>
                  <a:srgbClr val="FF0000"/>
                </a:solidFill>
              </a:rPr>
              <a:t>dbname</a:t>
            </a:r>
            <a:r>
              <a:rPr lang="en-US" i="1" dirty="0">
                <a:solidFill>
                  <a:srgbClr val="FF0000"/>
                </a:solidFill>
              </a:rPr>
              <a:t>); </a:t>
            </a:r>
          </a:p>
          <a:p>
            <a:pPr marL="366713" lvl="1" indent="0" fontAlgn="base">
              <a:buNone/>
            </a:pPr>
            <a:r>
              <a:rPr lang="en-US" i="1" dirty="0">
                <a:solidFill>
                  <a:srgbClr val="FF0000"/>
                </a:solidFill>
              </a:rPr>
              <a:t>if (!$conn) </a:t>
            </a:r>
          </a:p>
          <a:p>
            <a:pPr marL="366713" lvl="1" indent="0" fontAlgn="base">
              <a:buNone/>
            </a:pPr>
            <a:r>
              <a:rPr lang="en-US" i="1" dirty="0">
                <a:solidFill>
                  <a:srgbClr val="FF0000"/>
                </a:solidFill>
              </a:rPr>
              <a:t>{ die("Connection failed: " . </a:t>
            </a:r>
            <a:r>
              <a:rPr lang="en-US" i="1" dirty="0" err="1">
                <a:solidFill>
                  <a:srgbClr val="FF0000"/>
                </a:solidFill>
              </a:rPr>
              <a:t>mysqli_connect_error</a:t>
            </a:r>
            <a:r>
              <a:rPr lang="en-US" i="1" dirty="0">
                <a:solidFill>
                  <a:srgbClr val="FF0000"/>
                </a:solidFill>
              </a:rPr>
              <a:t>()); }</a:t>
            </a:r>
          </a:p>
          <a:p>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 Connecting PHP to MySQL</a:t>
            </a:r>
            <a:br>
              <a:rPr lang="en-US" dirty="0"/>
            </a:br>
            <a:endParaRPr lang="en-US" dirty="0"/>
          </a:p>
        </p:txBody>
      </p:sp>
    </p:spTree>
    <p:extLst>
      <p:ext uri="{BB962C8B-B14F-4D97-AF65-F5344CB8AC3E}">
        <p14:creationId xmlns:p14="http://schemas.microsoft.com/office/powerpoint/2010/main" val="3043810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anim calcmode="lin" valueType="num">
                                      <p:cBhvr additive="base">
                                        <p:cTn id="7" dur="500" fill="hold"/>
                                        <p:tgtEl>
                                          <p:spTgt spid="1945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45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 calcmode="lin" valueType="num">
                                      <p:cBhvr additive="base">
                                        <p:cTn id="13"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4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 calcmode="lin" valueType="num">
                                      <p:cBhvr additive="base">
                                        <p:cTn id="19"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459">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9459">
                                            <p:txEl>
                                              <p:pRg st="3" end="3"/>
                                            </p:txEl>
                                          </p:spTgt>
                                        </p:tgtEl>
                                        <p:attrNameLst>
                                          <p:attrName>style.visibility</p:attrName>
                                        </p:attrNameLst>
                                      </p:cBhvr>
                                      <p:to>
                                        <p:strVal val="visible"/>
                                      </p:to>
                                    </p:set>
                                    <p:anim calcmode="lin" valueType="num">
                                      <p:cBhvr additive="base">
                                        <p:cTn id="23"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459">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anim calcmode="lin" valueType="num">
                                      <p:cBhvr additive="base">
                                        <p:cTn id="27" dur="500" fill="hold"/>
                                        <p:tgtEl>
                                          <p:spTgt spid="19459">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459">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9459">
                                            <p:txEl>
                                              <p:pRg st="5" end="5"/>
                                            </p:txEl>
                                          </p:spTgt>
                                        </p:tgtEl>
                                        <p:attrNameLst>
                                          <p:attrName>style.visibility</p:attrName>
                                        </p:attrNameLst>
                                      </p:cBhvr>
                                      <p:to>
                                        <p:strVal val="visible"/>
                                      </p:to>
                                    </p:set>
                                    <p:anim calcmode="lin" valueType="num">
                                      <p:cBhvr additive="base">
                                        <p:cTn id="31"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9459">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9459">
                                            <p:txEl>
                                              <p:pRg st="6" end="6"/>
                                            </p:txEl>
                                          </p:spTgt>
                                        </p:tgtEl>
                                        <p:attrNameLst>
                                          <p:attrName>style.visibility</p:attrName>
                                        </p:attrNameLst>
                                      </p:cBhvr>
                                      <p:to>
                                        <p:strVal val="visible"/>
                                      </p:to>
                                    </p:set>
                                    <p:anim calcmode="lin" valueType="num">
                                      <p:cBhvr additive="base">
                                        <p:cTn id="35" dur="500" fill="hold"/>
                                        <p:tgtEl>
                                          <p:spTgt spid="19459">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94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9459">
                                            <p:txEl>
                                              <p:pRg st="7" end="7"/>
                                            </p:txEl>
                                          </p:spTgt>
                                        </p:tgtEl>
                                        <p:attrNameLst>
                                          <p:attrName>style.visibility</p:attrName>
                                        </p:attrNameLst>
                                      </p:cBhvr>
                                      <p:to>
                                        <p:strVal val="visible"/>
                                      </p:to>
                                    </p:set>
                                    <p:anim calcmode="lin" valueType="num">
                                      <p:cBhvr additive="base">
                                        <p:cTn id="41"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9459">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9459">
                                            <p:txEl>
                                              <p:pRg st="8" end="8"/>
                                            </p:txEl>
                                          </p:spTgt>
                                        </p:tgtEl>
                                        <p:attrNameLst>
                                          <p:attrName>style.visibility</p:attrName>
                                        </p:attrNameLst>
                                      </p:cBhvr>
                                      <p:to>
                                        <p:strVal val="visible"/>
                                      </p:to>
                                    </p:set>
                                    <p:anim calcmode="lin" valueType="num">
                                      <p:cBhvr additive="base">
                                        <p:cTn id="45" dur="500" fill="hold"/>
                                        <p:tgtEl>
                                          <p:spTgt spid="19459">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9459">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19459">
                                            <p:txEl>
                                              <p:pRg st="9" end="9"/>
                                            </p:txEl>
                                          </p:spTgt>
                                        </p:tgtEl>
                                        <p:attrNameLst>
                                          <p:attrName>style.visibility</p:attrName>
                                        </p:attrNameLst>
                                      </p:cBhvr>
                                      <p:to>
                                        <p:strVal val="visible"/>
                                      </p:to>
                                    </p:set>
                                    <p:anim calcmode="lin" valueType="num">
                                      <p:cBhvr additive="base">
                                        <p:cTn id="49"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9459">
                                            <p:txEl>
                                              <p:pRg st="9" end="9"/>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19459">
                                            <p:txEl>
                                              <p:pRg st="10" end="10"/>
                                            </p:txEl>
                                          </p:spTgt>
                                        </p:tgtEl>
                                        <p:attrNameLst>
                                          <p:attrName>style.visibility</p:attrName>
                                        </p:attrNameLst>
                                      </p:cBhvr>
                                      <p:to>
                                        <p:strVal val="visible"/>
                                      </p:to>
                                    </p:set>
                                    <p:anim calcmode="lin" valueType="num">
                                      <p:cBhvr additive="base">
                                        <p:cTn id="53" dur="500" fill="hold"/>
                                        <p:tgtEl>
                                          <p:spTgt spid="19459">
                                            <p:txEl>
                                              <p:pRg st="10" end="10"/>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945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79376" y="1118010"/>
            <a:ext cx="11017224" cy="4621980"/>
          </a:xfrm>
        </p:spPr>
        <p:txBody>
          <a:bodyPr>
            <a:normAutofit lnSpcReduction="10000"/>
          </a:bodyPr>
          <a:lstStyle/>
          <a:p>
            <a:pPr fontAlgn="base"/>
            <a:r>
              <a:rPr lang="en-US" b="1" dirty="0"/>
              <a:t>Connection to MySQL using </a:t>
            </a:r>
            <a:r>
              <a:rPr lang="en-US" b="1" dirty="0" err="1"/>
              <a:t>MySQLi</a:t>
            </a:r>
            <a:endParaRPr lang="en-US" dirty="0"/>
          </a:p>
          <a:p>
            <a:pPr fontAlgn="base"/>
            <a:r>
              <a:rPr lang="en-US" dirty="0"/>
              <a:t>We can use </a:t>
            </a:r>
            <a:r>
              <a:rPr lang="en-US" dirty="0">
                <a:highlight>
                  <a:srgbClr val="FFFF00"/>
                </a:highlight>
              </a:rPr>
              <a:t>procedural and object-oriented styles of </a:t>
            </a:r>
            <a:r>
              <a:rPr lang="en-US" dirty="0" err="1">
                <a:highlight>
                  <a:srgbClr val="FFFF00"/>
                </a:highlight>
              </a:rPr>
              <a:t>MySQLi</a:t>
            </a:r>
            <a:r>
              <a:rPr lang="en-US" dirty="0">
                <a:highlight>
                  <a:srgbClr val="FFFF00"/>
                </a:highlight>
              </a:rPr>
              <a:t> </a:t>
            </a:r>
            <a:r>
              <a:rPr lang="en-US" dirty="0"/>
              <a:t>in our code. Mixing these styles might lead to confusion. </a:t>
            </a:r>
          </a:p>
          <a:p>
            <a:pPr fontAlgn="base"/>
            <a:r>
              <a:rPr lang="en-US" dirty="0"/>
              <a:t>object-oriented approach to check the connection is ($conn-&gt;</a:t>
            </a:r>
            <a:r>
              <a:rPr lang="en-US" dirty="0" err="1"/>
              <a:t>connect_error</a:t>
            </a:r>
            <a:r>
              <a:rPr lang="en-US" dirty="0"/>
              <a:t>) and using a procedural approach (</a:t>
            </a:r>
            <a:r>
              <a:rPr lang="en-US" dirty="0" err="1"/>
              <a:t>mysqli_connect</a:t>
            </a:r>
            <a:r>
              <a:rPr lang="en-US" dirty="0"/>
              <a:t>()).</a:t>
            </a:r>
          </a:p>
          <a:p>
            <a:pPr fontAlgn="base"/>
            <a:r>
              <a:rPr lang="en-US" dirty="0"/>
              <a:t>PHP provides </a:t>
            </a:r>
            <a:r>
              <a:rPr lang="en-US" dirty="0" err="1">
                <a:highlight>
                  <a:srgbClr val="FFFF00"/>
                </a:highlight>
              </a:rPr>
              <a:t>mysqli_connect</a:t>
            </a:r>
            <a:r>
              <a:rPr lang="en-US" dirty="0">
                <a:highlight>
                  <a:srgbClr val="FFFF00"/>
                </a:highlight>
              </a:rPr>
              <a:t>() </a:t>
            </a:r>
            <a:r>
              <a:rPr lang="en-US" dirty="0"/>
              <a:t>function to </a:t>
            </a:r>
            <a:r>
              <a:rPr lang="en-US" dirty="0">
                <a:highlight>
                  <a:srgbClr val="FFFF00"/>
                </a:highlight>
              </a:rPr>
              <a:t>open a database connection</a:t>
            </a:r>
            <a:r>
              <a:rPr lang="en-US" dirty="0"/>
              <a:t>.</a:t>
            </a:r>
          </a:p>
          <a:p>
            <a:pPr fontAlgn="base"/>
            <a:r>
              <a:rPr lang="en-US" dirty="0"/>
              <a:t>This function takes a single parameter, which is a connection returned by the </a:t>
            </a:r>
            <a:r>
              <a:rPr lang="en-US" dirty="0" err="1"/>
              <a:t>mysql_connect</a:t>
            </a:r>
            <a:r>
              <a:rPr lang="en-US" dirty="0"/>
              <a:t>() function.</a:t>
            </a:r>
          </a:p>
          <a:p>
            <a:pPr fontAlgn="base"/>
            <a:r>
              <a:rPr lang="en-US" dirty="0"/>
              <a:t>You can </a:t>
            </a:r>
            <a:r>
              <a:rPr lang="en-US" dirty="0">
                <a:highlight>
                  <a:srgbClr val="FFFF00"/>
                </a:highlight>
              </a:rPr>
              <a:t>disconnect from the MySQL database anytime</a:t>
            </a:r>
            <a:r>
              <a:rPr lang="en-US" dirty="0"/>
              <a:t> using another PHP function </a:t>
            </a:r>
            <a:r>
              <a:rPr lang="en-US" dirty="0" err="1">
                <a:highlight>
                  <a:srgbClr val="FFFF00"/>
                </a:highlight>
              </a:rPr>
              <a:t>mysqli_close</a:t>
            </a:r>
            <a:r>
              <a:rPr lang="en-US" dirty="0">
                <a:highlight>
                  <a:srgbClr val="FFFF00"/>
                </a:highlight>
              </a:rPr>
              <a:t>()</a:t>
            </a:r>
            <a:r>
              <a:rPr lang="en-US" dirty="0"/>
              <a:t>.</a:t>
            </a:r>
          </a:p>
          <a:p>
            <a:pPr fontAlgn="base"/>
            <a:r>
              <a:rPr lang="en-US" dirty="0"/>
              <a:t>There is also a procedural approach of </a:t>
            </a:r>
            <a:r>
              <a:rPr lang="en-US" dirty="0" err="1"/>
              <a:t>MySQLi</a:t>
            </a:r>
            <a:r>
              <a:rPr lang="en-US" dirty="0"/>
              <a:t> to establish a connection to MySQL database from a PHP script.</a:t>
            </a:r>
          </a:p>
          <a:p>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 Connecting PHP to MySQL</a:t>
            </a:r>
            <a:br>
              <a:rPr lang="en-US" dirty="0"/>
            </a:br>
            <a:endParaRPr lang="en-US" dirty="0"/>
          </a:p>
        </p:txBody>
      </p:sp>
    </p:spTree>
    <p:extLst>
      <p:ext uri="{BB962C8B-B14F-4D97-AF65-F5344CB8AC3E}">
        <p14:creationId xmlns:p14="http://schemas.microsoft.com/office/powerpoint/2010/main" val="2339619929"/>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a:t>The basic syntax for a connection to MySQL is as follows: </a:t>
            </a:r>
          </a:p>
          <a:p>
            <a:pPr marL="0" indent="0">
              <a:buNone/>
            </a:pPr>
            <a:endParaRPr lang="en-US" dirty="0"/>
          </a:p>
          <a:p>
            <a:pPr marL="0" indent="0">
              <a:buNone/>
            </a:pPr>
            <a:r>
              <a:rPr lang="en-US" dirty="0"/>
              <a:t>$</a:t>
            </a:r>
            <a:r>
              <a:rPr lang="en-US" dirty="0" err="1"/>
              <a:t>mysqli</a:t>
            </a:r>
            <a:r>
              <a:rPr lang="en-US" dirty="0"/>
              <a:t> = </a:t>
            </a:r>
            <a:r>
              <a:rPr lang="en-US" dirty="0" err="1"/>
              <a:t>mysqli_connect</a:t>
            </a:r>
            <a:r>
              <a:rPr lang="en-US" dirty="0"/>
              <a:t>("hostname", "username", "password", "database");</a:t>
            </a:r>
          </a:p>
          <a:p>
            <a:r>
              <a:rPr lang="en-US" dirty="0"/>
              <a:t>The value of $</a:t>
            </a:r>
            <a:r>
              <a:rPr lang="en-US" dirty="0" err="1"/>
              <a:t>mysqli</a:t>
            </a:r>
            <a:r>
              <a:rPr lang="en-US" dirty="0"/>
              <a:t> is the result of the function and is used in later functions for communicating with MySQL. </a:t>
            </a:r>
          </a:p>
          <a:p>
            <a:r>
              <a:rPr lang="en-US" dirty="0"/>
              <a:t>With sample values inserted, the connection code looks like this: </a:t>
            </a:r>
          </a:p>
          <a:p>
            <a:pPr marL="0" indent="0">
              <a:buNone/>
            </a:pPr>
            <a:r>
              <a:rPr lang="en-US" dirty="0"/>
              <a:t>$</a:t>
            </a:r>
            <a:r>
              <a:rPr lang="en-US" dirty="0" err="1"/>
              <a:t>mysqli</a:t>
            </a:r>
            <a:r>
              <a:rPr lang="en-US" dirty="0"/>
              <a:t> = </a:t>
            </a:r>
            <a:r>
              <a:rPr lang="en-US" dirty="0" err="1"/>
              <a:t>mysqli_connect</a:t>
            </a:r>
            <a:r>
              <a:rPr lang="en-US" dirty="0"/>
              <a:t>("localhost", “root", “ ", "test");</a:t>
            </a:r>
          </a:p>
          <a:p>
            <a:r>
              <a:rPr lang="en-US" dirty="0"/>
              <a:t> It creates a new connection  and then tests to see whether an error occurred. </a:t>
            </a:r>
          </a:p>
          <a:p>
            <a:r>
              <a:rPr lang="en-US" dirty="0"/>
              <a:t>If an error occurred,  an error message and uses the </a:t>
            </a:r>
            <a:r>
              <a:rPr lang="en-US" dirty="0" err="1"/>
              <a:t>mysqli_connect_error</a:t>
            </a:r>
            <a:r>
              <a:rPr lang="en-US" dirty="0"/>
              <a:t>() function to print the message.</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Making a Connection </a:t>
            </a:r>
          </a:p>
        </p:txBody>
      </p:sp>
      <p:sp>
        <p:nvSpPr>
          <p:cNvPr id="3" name="Rectangle 2">
            <a:extLst>
              <a:ext uri="{FF2B5EF4-FFF2-40B4-BE49-F238E27FC236}">
                <a16:creationId xmlns:a16="http://schemas.microsoft.com/office/drawing/2014/main" id="{5D8B2FCE-DDD9-4E2C-B446-FC7CCD7F4E7E}"/>
              </a:ext>
            </a:extLst>
          </p:cNvPr>
          <p:cNvSpPr/>
          <p:nvPr/>
        </p:nvSpPr>
        <p:spPr>
          <a:xfrm>
            <a:off x="767408" y="1772816"/>
            <a:ext cx="10441160" cy="634605"/>
          </a:xfrm>
          <a:prstGeom prst="rect">
            <a:avLst/>
          </a:prstGeom>
          <a:no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3841993680"/>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Making a Connection </a:t>
            </a:r>
          </a:p>
        </p:txBody>
      </p:sp>
      <p:pic>
        <p:nvPicPr>
          <p:cNvPr id="2" name="Picture 1">
            <a:extLst>
              <a:ext uri="{FF2B5EF4-FFF2-40B4-BE49-F238E27FC236}">
                <a16:creationId xmlns:a16="http://schemas.microsoft.com/office/drawing/2014/main" id="{24E47967-8C84-4DD5-AAB2-2B9AB677982D}"/>
              </a:ext>
            </a:extLst>
          </p:cNvPr>
          <p:cNvPicPr>
            <a:picLocks noChangeAspect="1"/>
          </p:cNvPicPr>
          <p:nvPr/>
        </p:nvPicPr>
        <p:blipFill>
          <a:blip r:embed="rId3"/>
          <a:stretch>
            <a:fillRect/>
          </a:stretch>
        </p:blipFill>
        <p:spPr>
          <a:xfrm>
            <a:off x="0" y="1356278"/>
            <a:ext cx="12192000" cy="4145443"/>
          </a:xfrm>
          <a:prstGeom prst="rect">
            <a:avLst/>
          </a:prstGeom>
        </p:spPr>
      </p:pic>
    </p:spTree>
    <p:extLst>
      <p:ext uri="{BB962C8B-B14F-4D97-AF65-F5344CB8AC3E}">
        <p14:creationId xmlns:p14="http://schemas.microsoft.com/office/powerpoint/2010/main" val="2978002953"/>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E543B9-2792-4CCA-9D82-E8A4012C37CA}"/>
              </a:ext>
            </a:extLst>
          </p:cNvPr>
          <p:cNvPicPr>
            <a:picLocks noChangeAspect="1"/>
          </p:cNvPicPr>
          <p:nvPr/>
        </p:nvPicPr>
        <p:blipFill>
          <a:blip r:embed="rId3"/>
          <a:stretch>
            <a:fillRect/>
          </a:stretch>
        </p:blipFill>
        <p:spPr>
          <a:xfrm>
            <a:off x="6377520" y="4951665"/>
            <a:ext cx="4981575" cy="1743075"/>
          </a:xfrm>
          <a:prstGeom prst="rect">
            <a:avLst/>
          </a:prstGeom>
          <a:ln>
            <a:solidFill>
              <a:srgbClr val="F04C3E"/>
            </a:solidFill>
          </a:ln>
        </p:spPr>
      </p:pic>
      <p:pic>
        <p:nvPicPr>
          <p:cNvPr id="8" name="Picture 7">
            <a:extLst>
              <a:ext uri="{FF2B5EF4-FFF2-40B4-BE49-F238E27FC236}">
                <a16:creationId xmlns:a16="http://schemas.microsoft.com/office/drawing/2014/main" id="{09CD5921-9155-47FD-8AA7-54243560FA3A}"/>
              </a:ext>
            </a:extLst>
          </p:cNvPr>
          <p:cNvPicPr>
            <a:picLocks noChangeAspect="1"/>
          </p:cNvPicPr>
          <p:nvPr/>
        </p:nvPicPr>
        <p:blipFill>
          <a:blip r:embed="rId4"/>
          <a:stretch>
            <a:fillRect/>
          </a:stretch>
        </p:blipFill>
        <p:spPr>
          <a:xfrm>
            <a:off x="479376" y="5157192"/>
            <a:ext cx="5800725" cy="1562100"/>
          </a:xfrm>
          <a:prstGeom prst="rect">
            <a:avLst/>
          </a:prstGeom>
          <a:ln>
            <a:solidFill>
              <a:srgbClr val="FF0000"/>
            </a:solidFill>
          </a:ln>
        </p:spPr>
      </p:pic>
      <p:sp>
        <p:nvSpPr>
          <p:cNvPr id="9" name="TextBox 8">
            <a:extLst>
              <a:ext uri="{FF2B5EF4-FFF2-40B4-BE49-F238E27FC236}">
                <a16:creationId xmlns:a16="http://schemas.microsoft.com/office/drawing/2014/main" id="{9C2406A4-05A6-49CA-947A-78149E869B99}"/>
              </a:ext>
            </a:extLst>
          </p:cNvPr>
          <p:cNvSpPr txBox="1"/>
          <p:nvPr/>
        </p:nvSpPr>
        <p:spPr>
          <a:xfrm>
            <a:off x="2567608" y="4857269"/>
            <a:ext cx="2376264" cy="193899"/>
          </a:xfrm>
          <a:prstGeom prst="rect">
            <a:avLst/>
          </a:prstGeom>
          <a:noFill/>
          <a:ln>
            <a:solidFill>
              <a:schemeClr val="tx1"/>
            </a:solidFill>
          </a:ln>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200" dirty="0" err="1"/>
              <a:t>MySQL_i_Connect_error</a:t>
            </a:r>
            <a:endParaRPr lang="en-US" sz="1200" dirty="0"/>
          </a:p>
        </p:txBody>
      </p:sp>
      <p:pic>
        <p:nvPicPr>
          <p:cNvPr id="6" name="Picture 5">
            <a:extLst>
              <a:ext uri="{FF2B5EF4-FFF2-40B4-BE49-F238E27FC236}">
                <a16:creationId xmlns:a16="http://schemas.microsoft.com/office/drawing/2014/main" id="{F013B957-A216-449A-BEBE-C85BF32F1D35}"/>
              </a:ext>
            </a:extLst>
          </p:cNvPr>
          <p:cNvPicPr>
            <a:picLocks noChangeAspect="1"/>
          </p:cNvPicPr>
          <p:nvPr/>
        </p:nvPicPr>
        <p:blipFill>
          <a:blip r:embed="rId5"/>
          <a:stretch>
            <a:fillRect/>
          </a:stretch>
        </p:blipFill>
        <p:spPr>
          <a:xfrm>
            <a:off x="1411085" y="1125611"/>
            <a:ext cx="8806791" cy="3978569"/>
          </a:xfrm>
          <a:prstGeom prst="rect">
            <a:avLst/>
          </a:prstGeom>
        </p:spPr>
      </p:pic>
      <p:sp>
        <p:nvSpPr>
          <p:cNvPr id="11" name="Title 10">
            <a:extLst>
              <a:ext uri="{FF2B5EF4-FFF2-40B4-BE49-F238E27FC236}">
                <a16:creationId xmlns:a16="http://schemas.microsoft.com/office/drawing/2014/main" id="{515CD3E3-64D0-41A3-9126-9ADDC0E62D72}"/>
              </a:ext>
            </a:extLst>
          </p:cNvPr>
          <p:cNvSpPr>
            <a:spLocks noGrp="1"/>
          </p:cNvSpPr>
          <p:nvPr>
            <p:ph type="title"/>
          </p:nvPr>
        </p:nvSpPr>
        <p:spPr/>
        <p:txBody>
          <a:bodyPr/>
          <a:lstStyle/>
          <a:p>
            <a:pPr algn="ctr"/>
            <a:r>
              <a:rPr lang="en-US" dirty="0"/>
              <a:t>Procedural Style:</a:t>
            </a:r>
            <a:br>
              <a:rPr lang="en-US" dirty="0"/>
            </a:br>
            <a:r>
              <a:rPr lang="en-US" dirty="0"/>
              <a:t>making connection with test database</a:t>
            </a:r>
          </a:p>
        </p:txBody>
      </p:sp>
    </p:spTree>
    <p:extLst>
      <p:ext uri="{BB962C8B-B14F-4D97-AF65-F5344CB8AC3E}">
        <p14:creationId xmlns:p14="http://schemas.microsoft.com/office/powerpoint/2010/main" val="2175013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a:t>if ($conn) checks if the variable $conn contains a truthy value.</a:t>
            </a:r>
          </a:p>
          <a:p>
            <a:r>
              <a:rPr lang="en-US" dirty="0"/>
              <a:t>This condition checks if the connection was successful.</a:t>
            </a:r>
          </a:p>
          <a:p>
            <a:r>
              <a:rPr lang="en-US" dirty="0"/>
              <a:t>if block  echoes a message indicating that the connection to the specified database was established successfully.</a:t>
            </a:r>
          </a:p>
          <a:p>
            <a:r>
              <a:rPr lang="en-US" altLang="en-US" dirty="0"/>
              <a:t>If the condition is false (meaning the connection failed), the code inside the else block is executed.</a:t>
            </a:r>
          </a:p>
          <a:p>
            <a:r>
              <a:rPr lang="en-US" altLang="en-US" dirty="0"/>
              <a:t>The </a:t>
            </a:r>
            <a:r>
              <a:rPr lang="en-US" altLang="en-US" dirty="0">
                <a:highlight>
                  <a:srgbClr val="FFFF00"/>
                </a:highlight>
              </a:rPr>
              <a:t>die() function terminates the script and prints an error message</a:t>
            </a:r>
            <a:r>
              <a:rPr lang="en-US" altLang="en-US" dirty="0"/>
              <a:t>.</a:t>
            </a:r>
          </a:p>
          <a:p>
            <a:r>
              <a:rPr lang="en-US" altLang="en-US" dirty="0"/>
              <a:t>Using die() is a more severe way to handle connection errors because it stops the script execution immediately. </a:t>
            </a:r>
          </a:p>
          <a:p>
            <a:r>
              <a:rPr lang="en-US" altLang="en-US" dirty="0"/>
              <a:t>The </a:t>
            </a:r>
            <a:r>
              <a:rPr lang="en-US" altLang="en-US" dirty="0">
                <a:highlight>
                  <a:srgbClr val="FFFF00"/>
                </a:highlight>
              </a:rPr>
              <a:t>error message includes details about the connection failure </a:t>
            </a:r>
            <a:r>
              <a:rPr lang="en-US" altLang="en-US" dirty="0"/>
              <a:t>obtained from </a:t>
            </a:r>
            <a:r>
              <a:rPr lang="en-US" altLang="en-US" dirty="0" err="1"/>
              <a:t>mysqli_connect_error</a:t>
            </a:r>
            <a:r>
              <a:rPr lang="en-US" altLang="en-US" dirty="0"/>
              <a:t>().</a:t>
            </a:r>
            <a:endParaRPr lang="en-GB" altLang="en-US"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Making a Connection </a:t>
            </a:r>
          </a:p>
        </p:txBody>
      </p:sp>
    </p:spTree>
    <p:extLst>
      <p:ext uri="{BB962C8B-B14F-4D97-AF65-F5344CB8AC3E}">
        <p14:creationId xmlns:p14="http://schemas.microsoft.com/office/powerpoint/2010/main" val="17908538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Making a Connection –Object oriented Style</a:t>
            </a:r>
          </a:p>
        </p:txBody>
      </p:sp>
      <p:pic>
        <p:nvPicPr>
          <p:cNvPr id="6" name="Content Placeholder 5">
            <a:extLst>
              <a:ext uri="{FF2B5EF4-FFF2-40B4-BE49-F238E27FC236}">
                <a16:creationId xmlns:a16="http://schemas.microsoft.com/office/drawing/2014/main" id="{281BD6E4-75EA-4839-9D2C-5BA13A74F36E}"/>
              </a:ext>
            </a:extLst>
          </p:cNvPr>
          <p:cNvPicPr>
            <a:picLocks noGrp="1" noChangeAspect="1"/>
          </p:cNvPicPr>
          <p:nvPr>
            <p:ph idx="1"/>
          </p:nvPr>
        </p:nvPicPr>
        <p:blipFill>
          <a:blip r:embed="rId3"/>
          <a:stretch>
            <a:fillRect/>
          </a:stretch>
        </p:blipFill>
        <p:spPr>
          <a:xfrm>
            <a:off x="1199456" y="1075271"/>
            <a:ext cx="9157566" cy="5047717"/>
          </a:xfrm>
          <a:prstGeom prst="rect">
            <a:avLst/>
          </a:prstGeom>
        </p:spPr>
      </p:pic>
    </p:spTree>
    <p:extLst>
      <p:ext uri="{BB962C8B-B14F-4D97-AF65-F5344CB8AC3E}">
        <p14:creationId xmlns:p14="http://schemas.microsoft.com/office/powerpoint/2010/main" val="426575786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10262924" cy="708406"/>
          </a:xfrm>
        </p:spPr>
        <p:txBody>
          <a:bodyPr/>
          <a:lstStyle/>
          <a:p>
            <a:pPr algn="ctr"/>
            <a:r>
              <a:rPr lang="en-US" dirty="0"/>
              <a:t> MySQL Integration-Inserting records</a:t>
            </a:r>
          </a:p>
          <a:p>
            <a:pPr algn="ctr"/>
            <a:endParaRPr lang="en-US" dirty="0"/>
          </a:p>
        </p:txBody>
      </p:sp>
    </p:spTree>
    <p:extLst>
      <p:ext uri="{BB962C8B-B14F-4D97-AF65-F5344CB8AC3E}">
        <p14:creationId xmlns:p14="http://schemas.microsoft.com/office/powerpoint/2010/main" val="1095232969"/>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0081120" cy="1512168"/>
          </a:xfrm>
        </p:spPr>
        <p:txBody>
          <a:bodyPr/>
          <a:lstStyle/>
          <a:p>
            <a:r>
              <a:rPr lang="en-US" dirty="0"/>
              <a:t>PHP to MySQL connection is required to inserts information into our database.</a:t>
            </a:r>
          </a:p>
          <a:p>
            <a:r>
              <a:rPr lang="en-US" dirty="0"/>
              <a:t>Also we should use  INSERT INTO … VALUES syntax for that:</a:t>
            </a:r>
          </a:p>
          <a:p>
            <a:endParaRPr lang="en-US" dirty="0"/>
          </a:p>
        </p:txBody>
      </p:sp>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pPr algn="just"/>
            <a:r>
              <a:rPr lang="en-US" dirty="0"/>
              <a:t> Form processing with DB-Executing Queries-Insert records</a:t>
            </a:r>
          </a:p>
        </p:txBody>
      </p:sp>
      <p:pic>
        <p:nvPicPr>
          <p:cNvPr id="2" name="Picture 1">
            <a:extLst>
              <a:ext uri="{FF2B5EF4-FFF2-40B4-BE49-F238E27FC236}">
                <a16:creationId xmlns:a16="http://schemas.microsoft.com/office/drawing/2014/main" id="{807D5DDC-CF33-4EA0-93C5-07A99A94FFFF}"/>
              </a:ext>
            </a:extLst>
          </p:cNvPr>
          <p:cNvPicPr>
            <a:picLocks noChangeAspect="1"/>
          </p:cNvPicPr>
          <p:nvPr/>
        </p:nvPicPr>
        <p:blipFill>
          <a:blip r:embed="rId3"/>
          <a:stretch>
            <a:fillRect/>
          </a:stretch>
        </p:blipFill>
        <p:spPr>
          <a:xfrm>
            <a:off x="907413" y="2196766"/>
            <a:ext cx="3600450" cy="2390775"/>
          </a:xfrm>
          <a:prstGeom prst="rect">
            <a:avLst/>
          </a:prstGeom>
          <a:ln>
            <a:solidFill>
              <a:srgbClr val="F04C3E"/>
            </a:solidFill>
          </a:ln>
        </p:spPr>
      </p:pic>
      <p:pic>
        <p:nvPicPr>
          <p:cNvPr id="4" name="Picture 3">
            <a:extLst>
              <a:ext uri="{FF2B5EF4-FFF2-40B4-BE49-F238E27FC236}">
                <a16:creationId xmlns:a16="http://schemas.microsoft.com/office/drawing/2014/main" id="{A0FF3D12-AF37-4E2C-8C4A-25526F26DF99}"/>
              </a:ext>
            </a:extLst>
          </p:cNvPr>
          <p:cNvPicPr>
            <a:picLocks noChangeAspect="1"/>
          </p:cNvPicPr>
          <p:nvPr/>
        </p:nvPicPr>
        <p:blipFill>
          <a:blip r:embed="rId4"/>
          <a:stretch>
            <a:fillRect/>
          </a:stretch>
        </p:blipFill>
        <p:spPr>
          <a:xfrm>
            <a:off x="5591944" y="2204864"/>
            <a:ext cx="3657600" cy="1571625"/>
          </a:xfrm>
          <a:prstGeom prst="rect">
            <a:avLst/>
          </a:prstGeom>
          <a:ln>
            <a:solidFill>
              <a:srgbClr val="F04C3E"/>
            </a:solidFill>
          </a:ln>
        </p:spPr>
      </p:pic>
      <p:pic>
        <p:nvPicPr>
          <p:cNvPr id="6" name="Picture 5">
            <a:extLst>
              <a:ext uri="{FF2B5EF4-FFF2-40B4-BE49-F238E27FC236}">
                <a16:creationId xmlns:a16="http://schemas.microsoft.com/office/drawing/2014/main" id="{D65C96A5-5A6C-44FC-8A5D-3AC8EC886EB0}"/>
              </a:ext>
            </a:extLst>
          </p:cNvPr>
          <p:cNvPicPr>
            <a:picLocks noChangeAspect="1"/>
          </p:cNvPicPr>
          <p:nvPr/>
        </p:nvPicPr>
        <p:blipFill>
          <a:blip r:embed="rId5"/>
          <a:stretch>
            <a:fillRect/>
          </a:stretch>
        </p:blipFill>
        <p:spPr>
          <a:xfrm>
            <a:off x="4507863" y="4077072"/>
            <a:ext cx="7524750" cy="2076450"/>
          </a:xfrm>
          <a:prstGeom prst="rect">
            <a:avLst/>
          </a:prstGeom>
          <a:ln>
            <a:solidFill>
              <a:srgbClr val="F04C3E"/>
            </a:solidFill>
          </a:ln>
        </p:spPr>
      </p:pic>
      <p:cxnSp>
        <p:nvCxnSpPr>
          <p:cNvPr id="8" name="Straight Arrow Connector 7">
            <a:extLst>
              <a:ext uri="{FF2B5EF4-FFF2-40B4-BE49-F238E27FC236}">
                <a16:creationId xmlns:a16="http://schemas.microsoft.com/office/drawing/2014/main" id="{1AA269E3-B2B8-42F6-9AB1-557F979FD79D}"/>
              </a:ext>
            </a:extLst>
          </p:cNvPr>
          <p:cNvCxnSpPr/>
          <p:nvPr/>
        </p:nvCxnSpPr>
        <p:spPr>
          <a:xfrm flipV="1">
            <a:off x="4727848" y="2652285"/>
            <a:ext cx="792088" cy="533756"/>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7CADA46-FE81-40CB-AFE8-6788756E1AB6}"/>
              </a:ext>
            </a:extLst>
          </p:cNvPr>
          <p:cNvCxnSpPr/>
          <p:nvPr/>
        </p:nvCxnSpPr>
        <p:spPr>
          <a:xfrm>
            <a:off x="9358350" y="2606166"/>
            <a:ext cx="1526976" cy="1470906"/>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824535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0081120" cy="1512168"/>
          </a:xfrm>
        </p:spPr>
        <p:txBody>
          <a:bodyPr/>
          <a:lstStyle/>
          <a:p>
            <a:r>
              <a:rPr lang="en-US" dirty="0"/>
              <a:t>PHP to MySQL connection is required to inserts information into our database.</a:t>
            </a:r>
          </a:p>
          <a:p>
            <a:r>
              <a:rPr lang="en-US" dirty="0"/>
              <a:t>Also we should use  INSERT INTO … VALUES syntax for that:</a:t>
            </a:r>
          </a:p>
          <a:p>
            <a:endParaRPr lang="en-US" dirty="0"/>
          </a:p>
        </p:txBody>
      </p:sp>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pPr algn="just"/>
            <a:r>
              <a:rPr lang="en-US" dirty="0"/>
              <a:t> Form processing with DB-Executing Queries-Insert records</a:t>
            </a:r>
          </a:p>
        </p:txBody>
      </p:sp>
      <p:pic>
        <p:nvPicPr>
          <p:cNvPr id="3" name="Picture 2">
            <a:extLst>
              <a:ext uri="{FF2B5EF4-FFF2-40B4-BE49-F238E27FC236}">
                <a16:creationId xmlns:a16="http://schemas.microsoft.com/office/drawing/2014/main" id="{2B89CCC9-EEBE-4473-8D3C-4302B1E31DA1}"/>
              </a:ext>
            </a:extLst>
          </p:cNvPr>
          <p:cNvPicPr>
            <a:picLocks noChangeAspect="1"/>
          </p:cNvPicPr>
          <p:nvPr/>
        </p:nvPicPr>
        <p:blipFill>
          <a:blip r:embed="rId3"/>
          <a:stretch>
            <a:fillRect/>
          </a:stretch>
        </p:blipFill>
        <p:spPr>
          <a:xfrm>
            <a:off x="1130980" y="1802644"/>
            <a:ext cx="10081119" cy="4361864"/>
          </a:xfrm>
          <a:prstGeom prst="rect">
            <a:avLst/>
          </a:prstGeom>
        </p:spPr>
      </p:pic>
    </p:spTree>
    <p:extLst>
      <p:ext uri="{BB962C8B-B14F-4D97-AF65-F5344CB8AC3E}">
        <p14:creationId xmlns:p14="http://schemas.microsoft.com/office/powerpoint/2010/main" val="504774958"/>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0081120" cy="1512168"/>
          </a:xfrm>
        </p:spPr>
        <p:txBody>
          <a:bodyPr/>
          <a:lstStyle/>
          <a:p>
            <a:r>
              <a:rPr lang="en-US" dirty="0"/>
              <a:t>PHP to MySQL connection is required to inserts information into our database.</a:t>
            </a:r>
          </a:p>
          <a:p>
            <a:r>
              <a:rPr lang="en-US" dirty="0"/>
              <a:t>Also we should use  INSERT INTO … VALUES syntax for that:</a:t>
            </a:r>
          </a:p>
          <a:p>
            <a:endParaRPr lang="en-US" dirty="0"/>
          </a:p>
        </p:txBody>
      </p:sp>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pPr algn="just"/>
            <a:r>
              <a:rPr lang="en-US" dirty="0"/>
              <a:t> Form processing with DB-Executing Queries-Insert records</a:t>
            </a:r>
          </a:p>
        </p:txBody>
      </p:sp>
      <p:pic>
        <p:nvPicPr>
          <p:cNvPr id="2" name="Picture 1">
            <a:extLst>
              <a:ext uri="{FF2B5EF4-FFF2-40B4-BE49-F238E27FC236}">
                <a16:creationId xmlns:a16="http://schemas.microsoft.com/office/drawing/2014/main" id="{084EB0EF-3A86-4565-A359-4F3119178D25}"/>
              </a:ext>
            </a:extLst>
          </p:cNvPr>
          <p:cNvPicPr>
            <a:picLocks noChangeAspect="1"/>
          </p:cNvPicPr>
          <p:nvPr/>
        </p:nvPicPr>
        <p:blipFill>
          <a:blip r:embed="rId3"/>
          <a:stretch>
            <a:fillRect/>
          </a:stretch>
        </p:blipFill>
        <p:spPr>
          <a:xfrm>
            <a:off x="623391" y="1074351"/>
            <a:ext cx="9748785" cy="5796816"/>
          </a:xfrm>
          <a:prstGeom prst="rect">
            <a:avLst/>
          </a:prstGeom>
        </p:spPr>
      </p:pic>
    </p:spTree>
    <p:extLst>
      <p:ext uri="{BB962C8B-B14F-4D97-AF65-F5344CB8AC3E}">
        <p14:creationId xmlns:p14="http://schemas.microsoft.com/office/powerpoint/2010/main" val="1206677696"/>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26D622-8C7C-4C13-B25B-82BE9C8F237A}"/>
              </a:ext>
            </a:extLst>
          </p:cNvPr>
          <p:cNvPicPr>
            <a:picLocks noChangeAspect="1"/>
          </p:cNvPicPr>
          <p:nvPr/>
        </p:nvPicPr>
        <p:blipFill>
          <a:blip r:embed="rId2"/>
          <a:stretch>
            <a:fillRect/>
          </a:stretch>
        </p:blipFill>
        <p:spPr>
          <a:xfrm>
            <a:off x="191344" y="192554"/>
            <a:ext cx="10210800" cy="6496050"/>
          </a:xfrm>
          <a:prstGeom prst="rect">
            <a:avLst/>
          </a:prstGeom>
        </p:spPr>
      </p:pic>
      <p:pic>
        <p:nvPicPr>
          <p:cNvPr id="3" name="Picture 2">
            <a:extLst>
              <a:ext uri="{FF2B5EF4-FFF2-40B4-BE49-F238E27FC236}">
                <a16:creationId xmlns:a16="http://schemas.microsoft.com/office/drawing/2014/main" id="{578494AB-CA0D-4224-91BC-4796545EC0AA}"/>
              </a:ext>
            </a:extLst>
          </p:cNvPr>
          <p:cNvPicPr>
            <a:picLocks noChangeAspect="1"/>
          </p:cNvPicPr>
          <p:nvPr/>
        </p:nvPicPr>
        <p:blipFill>
          <a:blip r:embed="rId3"/>
          <a:stretch>
            <a:fillRect/>
          </a:stretch>
        </p:blipFill>
        <p:spPr>
          <a:xfrm>
            <a:off x="4741626" y="5229200"/>
            <a:ext cx="3209925" cy="1181100"/>
          </a:xfrm>
          <a:prstGeom prst="rect">
            <a:avLst/>
          </a:prstGeom>
          <a:ln>
            <a:solidFill>
              <a:schemeClr val="accent2"/>
            </a:solidFill>
          </a:ln>
        </p:spPr>
      </p:pic>
      <p:pic>
        <p:nvPicPr>
          <p:cNvPr id="4" name="Picture 3">
            <a:extLst>
              <a:ext uri="{FF2B5EF4-FFF2-40B4-BE49-F238E27FC236}">
                <a16:creationId xmlns:a16="http://schemas.microsoft.com/office/drawing/2014/main" id="{5553B0E6-3563-4C3E-9E2F-E23B61ED9FC0}"/>
              </a:ext>
            </a:extLst>
          </p:cNvPr>
          <p:cNvPicPr>
            <a:picLocks noChangeAspect="1"/>
          </p:cNvPicPr>
          <p:nvPr/>
        </p:nvPicPr>
        <p:blipFill>
          <a:blip r:embed="rId4"/>
          <a:stretch>
            <a:fillRect/>
          </a:stretch>
        </p:blipFill>
        <p:spPr>
          <a:xfrm>
            <a:off x="8112224" y="5204764"/>
            <a:ext cx="3581400" cy="1205536"/>
          </a:xfrm>
          <a:prstGeom prst="rect">
            <a:avLst/>
          </a:prstGeom>
          <a:ln>
            <a:solidFill>
              <a:schemeClr val="accent2"/>
            </a:solidFill>
          </a:ln>
        </p:spPr>
      </p:pic>
    </p:spTree>
    <p:extLst>
      <p:ext uri="{BB962C8B-B14F-4D97-AF65-F5344CB8AC3E}">
        <p14:creationId xmlns:p14="http://schemas.microsoft.com/office/powerpoint/2010/main" val="5683166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Form processing-Registration form</a:t>
            </a:r>
            <a:endParaRPr lang="en-US" dirty="0">
              <a:latin typeface="Armata" panose="020B0503040500060204" pitchFamily="34" charset="0"/>
            </a:endParaRPr>
          </a:p>
        </p:txBody>
      </p:sp>
      <p:pic>
        <p:nvPicPr>
          <p:cNvPr id="7" name="Picture 6">
            <a:extLst>
              <a:ext uri="{FF2B5EF4-FFF2-40B4-BE49-F238E27FC236}">
                <a16:creationId xmlns:a16="http://schemas.microsoft.com/office/drawing/2014/main" id="{4D009C38-036B-4A5E-813E-41699C5267CC}"/>
              </a:ext>
            </a:extLst>
          </p:cNvPr>
          <p:cNvPicPr>
            <a:picLocks noChangeAspect="1"/>
          </p:cNvPicPr>
          <p:nvPr/>
        </p:nvPicPr>
        <p:blipFill>
          <a:blip r:embed="rId3"/>
          <a:stretch>
            <a:fillRect/>
          </a:stretch>
        </p:blipFill>
        <p:spPr>
          <a:xfrm>
            <a:off x="962025" y="2127698"/>
            <a:ext cx="5133975" cy="2352675"/>
          </a:xfrm>
          <a:prstGeom prst="rect">
            <a:avLst/>
          </a:prstGeom>
        </p:spPr>
      </p:pic>
      <p:pic>
        <p:nvPicPr>
          <p:cNvPr id="8" name="Picture 7">
            <a:extLst>
              <a:ext uri="{FF2B5EF4-FFF2-40B4-BE49-F238E27FC236}">
                <a16:creationId xmlns:a16="http://schemas.microsoft.com/office/drawing/2014/main" id="{2D7AA059-DC13-4A4A-B276-23A58C563470}"/>
              </a:ext>
            </a:extLst>
          </p:cNvPr>
          <p:cNvPicPr>
            <a:picLocks noChangeAspect="1"/>
          </p:cNvPicPr>
          <p:nvPr/>
        </p:nvPicPr>
        <p:blipFill>
          <a:blip r:embed="rId4"/>
          <a:stretch>
            <a:fillRect/>
          </a:stretch>
        </p:blipFill>
        <p:spPr>
          <a:xfrm>
            <a:off x="6528048" y="2263223"/>
            <a:ext cx="5133975" cy="2217150"/>
          </a:xfrm>
          <a:prstGeom prst="rect">
            <a:avLst/>
          </a:prstGeom>
        </p:spPr>
      </p:pic>
    </p:spTree>
    <p:extLst>
      <p:ext uri="{BB962C8B-B14F-4D97-AF65-F5344CB8AC3E}">
        <p14:creationId xmlns:p14="http://schemas.microsoft.com/office/powerpoint/2010/main" val="2023334819"/>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a:t>The </a:t>
            </a:r>
            <a:r>
              <a:rPr lang="en-US" dirty="0" err="1"/>
              <a:t>mysqli</a:t>
            </a:r>
            <a:r>
              <a:rPr lang="en-US" dirty="0"/>
              <a:t>_ query() function in PHP is used to send your SQL query to MySQL</a:t>
            </a:r>
          </a:p>
          <a:p>
            <a:r>
              <a:rPr lang="en-US" dirty="0"/>
              <a:t>  the </a:t>
            </a:r>
            <a:r>
              <a:rPr lang="en-US" dirty="0" err="1"/>
              <a:t>mysqli_error</a:t>
            </a:r>
            <a:r>
              <a:rPr lang="en-US" dirty="0"/>
              <a:t>() function returns a helpful error message when you make a mistake</a:t>
            </a:r>
          </a:p>
          <a:p>
            <a:pPr marL="0" indent="0">
              <a:buNone/>
            </a:pPr>
            <a:r>
              <a:rPr lang="en-US" sz="2000" dirty="0">
                <a:latin typeface="Consolas" panose="020B0609020204030204" pitchFamily="49" charset="0"/>
              </a:rPr>
              <a:t>$conn = new </a:t>
            </a:r>
            <a:r>
              <a:rPr lang="en-US" sz="2000" dirty="0" err="1">
                <a:latin typeface="Consolas" panose="020B0609020204030204" pitchFamily="49" charset="0"/>
              </a:rPr>
              <a:t>mysqli</a:t>
            </a:r>
            <a:r>
              <a:rPr lang="en-US" sz="2000" dirty="0">
                <a:latin typeface="Consolas" panose="020B0609020204030204" pitchFamily="49" charset="0"/>
              </a:rPr>
              <a:t>($</a:t>
            </a:r>
            <a:r>
              <a:rPr lang="en-US" sz="2000" dirty="0" err="1">
                <a:latin typeface="Consolas" panose="020B0609020204030204" pitchFamily="49" charset="0"/>
              </a:rPr>
              <a:t>servername</a:t>
            </a:r>
            <a:r>
              <a:rPr lang="en-US" sz="2000" dirty="0">
                <a:latin typeface="Consolas" panose="020B0609020204030204" pitchFamily="49" charset="0"/>
              </a:rPr>
              <a:t>, $username, $password, $</a:t>
            </a:r>
            <a:r>
              <a:rPr lang="en-US" sz="2000" dirty="0" err="1">
                <a:latin typeface="Consolas" panose="020B0609020204030204" pitchFamily="49" charset="0"/>
              </a:rPr>
              <a:t>dbname</a:t>
            </a:r>
            <a:r>
              <a:rPr lang="en-US" sz="2000" dirty="0">
                <a:latin typeface="Consolas" panose="020B0609020204030204" pitchFamily="49" charset="0"/>
              </a:rPr>
              <a:t>);</a:t>
            </a:r>
          </a:p>
          <a:p>
            <a:pPr marL="0" indent="0">
              <a:buNone/>
            </a:pPr>
            <a:r>
              <a:rPr lang="en-US" sz="2000" dirty="0">
                <a:latin typeface="Consolas" panose="020B0609020204030204" pitchFamily="49" charset="0"/>
              </a:rPr>
              <a:t>$</a:t>
            </a:r>
            <a:r>
              <a:rPr lang="en-US" sz="2000" dirty="0" err="1">
                <a:latin typeface="Consolas" panose="020B0609020204030204" pitchFamily="49" charset="0"/>
              </a:rPr>
              <a:t>sql</a:t>
            </a:r>
            <a:r>
              <a:rPr lang="en-US" sz="2000" dirty="0">
                <a:latin typeface="Consolas" panose="020B0609020204030204" pitchFamily="49" charset="0"/>
              </a:rPr>
              <a:t> = "INSERT INTO </a:t>
            </a:r>
            <a:r>
              <a:rPr lang="en-US" sz="2000" dirty="0" err="1">
                <a:latin typeface="Consolas" panose="020B0609020204030204" pitchFamily="49" charset="0"/>
              </a:rPr>
              <a:t>ttest</a:t>
            </a:r>
            <a:r>
              <a:rPr lang="en-US" sz="2000" dirty="0">
                <a:latin typeface="Consolas" panose="020B0609020204030204" pitchFamily="49" charset="0"/>
              </a:rPr>
              <a:t>(</a:t>
            </a:r>
            <a:r>
              <a:rPr lang="en-US" sz="2000" dirty="0" err="1">
                <a:latin typeface="Consolas" panose="020B0609020204030204" pitchFamily="49" charset="0"/>
              </a:rPr>
              <a:t>name,address,gender</a:t>
            </a:r>
            <a:r>
              <a:rPr lang="en-US" sz="2000" dirty="0">
                <a:latin typeface="Consolas" panose="020B0609020204030204" pitchFamily="49" charset="0"/>
              </a:rPr>
              <a:t>) VALUES ('$_POST[name]', '$_POST[address]', '$_POST[gender]')";</a:t>
            </a:r>
          </a:p>
          <a:p>
            <a:pPr marL="0" indent="0">
              <a:buNone/>
            </a:pPr>
            <a:r>
              <a:rPr lang="en-US" sz="2000" dirty="0">
                <a:latin typeface="Consolas" panose="020B0609020204030204" pitchFamily="49" charset="0"/>
              </a:rPr>
              <a:t>        if ($conn-&gt;query($</a:t>
            </a:r>
            <a:r>
              <a:rPr lang="en-US" sz="2000" dirty="0" err="1">
                <a:latin typeface="Consolas" panose="020B0609020204030204" pitchFamily="49" charset="0"/>
              </a:rPr>
              <a:t>sql</a:t>
            </a:r>
            <a:r>
              <a:rPr lang="en-US" sz="2000" dirty="0">
                <a:latin typeface="Consolas" panose="020B0609020204030204" pitchFamily="49" charset="0"/>
              </a:rPr>
              <a:t>) === TRUE)</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echo "Data Inserted successfully!";</a:t>
            </a:r>
          </a:p>
          <a:p>
            <a:pPr marL="0" indent="0">
              <a:buNone/>
            </a:pPr>
            <a:r>
              <a:rPr lang="en-US" sz="2000" dirty="0">
                <a:latin typeface="Consolas" panose="020B0609020204030204" pitchFamily="49" charset="0"/>
              </a:rPr>
              <a:t>         } </a:t>
            </a:r>
          </a:p>
          <a:p>
            <a:pPr marL="0" indent="0">
              <a:buNone/>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Executing Queries</a:t>
            </a:r>
          </a:p>
        </p:txBody>
      </p:sp>
    </p:spTree>
    <p:extLst>
      <p:ext uri="{BB962C8B-B14F-4D97-AF65-F5344CB8AC3E}">
        <p14:creationId xmlns:p14="http://schemas.microsoft.com/office/powerpoint/2010/main" val="2080279917"/>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Form processing-Registration form</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DCCB5454-394A-4156-BE54-8B1489CAF014}"/>
              </a:ext>
            </a:extLst>
          </p:cNvPr>
          <p:cNvPicPr>
            <a:picLocks noChangeAspect="1"/>
          </p:cNvPicPr>
          <p:nvPr/>
        </p:nvPicPr>
        <p:blipFill>
          <a:blip r:embed="rId3"/>
          <a:stretch>
            <a:fillRect/>
          </a:stretch>
        </p:blipFill>
        <p:spPr>
          <a:xfrm>
            <a:off x="879658" y="830355"/>
            <a:ext cx="10432684" cy="5197290"/>
          </a:xfrm>
          <a:prstGeom prst="rect">
            <a:avLst/>
          </a:prstGeom>
        </p:spPr>
      </p:pic>
    </p:spTree>
    <p:extLst>
      <p:ext uri="{BB962C8B-B14F-4D97-AF65-F5344CB8AC3E}">
        <p14:creationId xmlns:p14="http://schemas.microsoft.com/office/powerpoint/2010/main" val="1436802971"/>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Form processing-Registration form</a:t>
            </a:r>
            <a:endParaRPr lang="en-US" dirty="0">
              <a:latin typeface="Armata" panose="020B0503040500060204" pitchFamily="34" charset="0"/>
            </a:endParaRPr>
          </a:p>
        </p:txBody>
      </p:sp>
      <p:pic>
        <p:nvPicPr>
          <p:cNvPr id="2" name="Picture 1">
            <a:extLst>
              <a:ext uri="{FF2B5EF4-FFF2-40B4-BE49-F238E27FC236}">
                <a16:creationId xmlns:a16="http://schemas.microsoft.com/office/drawing/2014/main" id="{D823EA70-B10F-42A4-A45B-7C7E2B112FB6}"/>
              </a:ext>
            </a:extLst>
          </p:cNvPr>
          <p:cNvPicPr>
            <a:picLocks noChangeAspect="1"/>
          </p:cNvPicPr>
          <p:nvPr/>
        </p:nvPicPr>
        <p:blipFill>
          <a:blip r:embed="rId3"/>
          <a:stretch>
            <a:fillRect/>
          </a:stretch>
        </p:blipFill>
        <p:spPr>
          <a:xfrm>
            <a:off x="407368" y="1196752"/>
            <a:ext cx="10840251" cy="4725685"/>
          </a:xfrm>
          <a:prstGeom prst="rect">
            <a:avLst/>
          </a:prstGeom>
        </p:spPr>
      </p:pic>
    </p:spTree>
    <p:extLst>
      <p:ext uri="{BB962C8B-B14F-4D97-AF65-F5344CB8AC3E}">
        <p14:creationId xmlns:p14="http://schemas.microsoft.com/office/powerpoint/2010/main" val="271523555"/>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10262924" cy="708406"/>
          </a:xfrm>
        </p:spPr>
        <p:txBody>
          <a:bodyPr/>
          <a:lstStyle/>
          <a:p>
            <a:pPr algn="ctr"/>
            <a:r>
              <a:rPr lang="en-US" dirty="0"/>
              <a:t> MySQL Integration-Create Table</a:t>
            </a:r>
          </a:p>
          <a:p>
            <a:pPr algn="ctr"/>
            <a:endParaRPr lang="en-US" dirty="0"/>
          </a:p>
        </p:txBody>
      </p:sp>
    </p:spTree>
    <p:extLst>
      <p:ext uri="{BB962C8B-B14F-4D97-AF65-F5344CB8AC3E}">
        <p14:creationId xmlns:p14="http://schemas.microsoft.com/office/powerpoint/2010/main" val="3133759794"/>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Creating Tables</a:t>
            </a:r>
          </a:p>
        </p:txBody>
      </p:sp>
      <p:pic>
        <p:nvPicPr>
          <p:cNvPr id="2" name="Picture 1">
            <a:extLst>
              <a:ext uri="{FF2B5EF4-FFF2-40B4-BE49-F238E27FC236}">
                <a16:creationId xmlns:a16="http://schemas.microsoft.com/office/drawing/2014/main" id="{81A0ED87-1B59-4F00-96ED-5E7D007C6B68}"/>
              </a:ext>
            </a:extLst>
          </p:cNvPr>
          <p:cNvPicPr>
            <a:picLocks noChangeAspect="1"/>
          </p:cNvPicPr>
          <p:nvPr/>
        </p:nvPicPr>
        <p:blipFill>
          <a:blip r:embed="rId3"/>
          <a:stretch>
            <a:fillRect/>
          </a:stretch>
        </p:blipFill>
        <p:spPr>
          <a:xfrm>
            <a:off x="27490" y="3020830"/>
            <a:ext cx="12192000" cy="2784703"/>
          </a:xfrm>
          <a:prstGeom prst="rect">
            <a:avLst/>
          </a:prstGeom>
        </p:spPr>
      </p:pic>
      <p:pic>
        <p:nvPicPr>
          <p:cNvPr id="3" name="Picture 2">
            <a:extLst>
              <a:ext uri="{FF2B5EF4-FFF2-40B4-BE49-F238E27FC236}">
                <a16:creationId xmlns:a16="http://schemas.microsoft.com/office/drawing/2014/main" id="{6B549863-9B0F-437D-BFCD-B912F4B0420F}"/>
              </a:ext>
            </a:extLst>
          </p:cNvPr>
          <p:cNvPicPr>
            <a:picLocks noChangeAspect="1"/>
          </p:cNvPicPr>
          <p:nvPr/>
        </p:nvPicPr>
        <p:blipFill>
          <a:blip r:embed="rId4"/>
          <a:stretch>
            <a:fillRect/>
          </a:stretch>
        </p:blipFill>
        <p:spPr>
          <a:xfrm>
            <a:off x="6816080" y="1218442"/>
            <a:ext cx="3781425" cy="1209675"/>
          </a:xfrm>
          <a:prstGeom prst="rect">
            <a:avLst/>
          </a:prstGeom>
        </p:spPr>
      </p:pic>
      <p:pic>
        <p:nvPicPr>
          <p:cNvPr id="4" name="Picture 3">
            <a:extLst>
              <a:ext uri="{FF2B5EF4-FFF2-40B4-BE49-F238E27FC236}">
                <a16:creationId xmlns:a16="http://schemas.microsoft.com/office/drawing/2014/main" id="{89BC0030-189E-45AD-8483-C9B38251EE16}"/>
              </a:ext>
            </a:extLst>
          </p:cNvPr>
          <p:cNvPicPr>
            <a:picLocks noChangeAspect="1"/>
          </p:cNvPicPr>
          <p:nvPr/>
        </p:nvPicPr>
        <p:blipFill>
          <a:blip r:embed="rId5"/>
          <a:stretch>
            <a:fillRect/>
          </a:stretch>
        </p:blipFill>
        <p:spPr>
          <a:xfrm>
            <a:off x="1055440" y="1196752"/>
            <a:ext cx="3448050" cy="1704975"/>
          </a:xfrm>
          <a:prstGeom prst="rect">
            <a:avLst/>
          </a:prstGeom>
        </p:spPr>
      </p:pic>
      <p:cxnSp>
        <p:nvCxnSpPr>
          <p:cNvPr id="7" name="Straight Arrow Connector 6">
            <a:extLst>
              <a:ext uri="{FF2B5EF4-FFF2-40B4-BE49-F238E27FC236}">
                <a16:creationId xmlns:a16="http://schemas.microsoft.com/office/drawing/2014/main" id="{D89D271E-4A28-4919-B3CA-AC26CEE72CEE}"/>
              </a:ext>
            </a:extLst>
          </p:cNvPr>
          <p:cNvCxnSpPr/>
          <p:nvPr/>
        </p:nvCxnSpPr>
        <p:spPr>
          <a:xfrm flipV="1">
            <a:off x="4503490" y="1823279"/>
            <a:ext cx="2168574" cy="93553"/>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E71D3B3-2873-49D8-BE4E-8BD90193472A}"/>
              </a:ext>
            </a:extLst>
          </p:cNvPr>
          <p:cNvCxnSpPr/>
          <p:nvPr/>
        </p:nvCxnSpPr>
        <p:spPr>
          <a:xfrm flipH="1">
            <a:off x="1415480" y="2204864"/>
            <a:ext cx="3088010" cy="2736305"/>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1562089"/>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Creating Tables</a:t>
            </a:r>
          </a:p>
        </p:txBody>
      </p:sp>
      <p:pic>
        <p:nvPicPr>
          <p:cNvPr id="4" name="Picture 3">
            <a:extLst>
              <a:ext uri="{FF2B5EF4-FFF2-40B4-BE49-F238E27FC236}">
                <a16:creationId xmlns:a16="http://schemas.microsoft.com/office/drawing/2014/main" id="{EA816C08-8B33-4C03-AFC8-AFDF67C980A5}"/>
              </a:ext>
            </a:extLst>
          </p:cNvPr>
          <p:cNvPicPr>
            <a:picLocks noChangeAspect="1"/>
          </p:cNvPicPr>
          <p:nvPr/>
        </p:nvPicPr>
        <p:blipFill>
          <a:blip r:embed="rId3"/>
          <a:stretch>
            <a:fillRect/>
          </a:stretch>
        </p:blipFill>
        <p:spPr>
          <a:xfrm>
            <a:off x="528783" y="1123830"/>
            <a:ext cx="11134433" cy="5723919"/>
          </a:xfrm>
          <a:prstGeom prst="rect">
            <a:avLst/>
          </a:prstGeom>
        </p:spPr>
      </p:pic>
    </p:spTree>
    <p:extLst>
      <p:ext uri="{BB962C8B-B14F-4D97-AF65-F5344CB8AC3E}">
        <p14:creationId xmlns:p14="http://schemas.microsoft.com/office/powerpoint/2010/main" val="1648349423"/>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pPr algn="just"/>
            <a:r>
              <a:rPr lang="en-US" dirty="0"/>
              <a:t> Form processing with DB- Creating Tables</a:t>
            </a:r>
          </a:p>
        </p:txBody>
      </p:sp>
      <p:pic>
        <p:nvPicPr>
          <p:cNvPr id="9" name="Picture 8">
            <a:extLst>
              <a:ext uri="{FF2B5EF4-FFF2-40B4-BE49-F238E27FC236}">
                <a16:creationId xmlns:a16="http://schemas.microsoft.com/office/drawing/2014/main" id="{F106DB51-3A19-4050-843E-197BDD3442B0}"/>
              </a:ext>
            </a:extLst>
          </p:cNvPr>
          <p:cNvPicPr>
            <a:picLocks noChangeAspect="1"/>
          </p:cNvPicPr>
          <p:nvPr/>
        </p:nvPicPr>
        <p:blipFill>
          <a:blip r:embed="rId3"/>
          <a:stretch>
            <a:fillRect/>
          </a:stretch>
        </p:blipFill>
        <p:spPr>
          <a:xfrm>
            <a:off x="479376" y="0"/>
            <a:ext cx="10225135" cy="6858000"/>
          </a:xfrm>
          <a:prstGeom prst="rect">
            <a:avLst/>
          </a:prstGeom>
        </p:spPr>
      </p:pic>
    </p:spTree>
    <p:extLst>
      <p:ext uri="{BB962C8B-B14F-4D97-AF65-F5344CB8AC3E}">
        <p14:creationId xmlns:p14="http://schemas.microsoft.com/office/powerpoint/2010/main" val="3088633107"/>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10262924" cy="708406"/>
          </a:xfrm>
        </p:spPr>
        <p:txBody>
          <a:bodyPr/>
          <a:lstStyle/>
          <a:p>
            <a:pPr algn="ctr"/>
            <a:r>
              <a:rPr lang="en-US" dirty="0"/>
              <a:t> MySQL Integration-Select</a:t>
            </a:r>
          </a:p>
          <a:p>
            <a:pPr algn="ctr"/>
            <a:endParaRPr lang="en-US" dirty="0"/>
          </a:p>
        </p:txBody>
      </p:sp>
    </p:spTree>
    <p:extLst>
      <p:ext uri="{BB962C8B-B14F-4D97-AF65-F5344CB8AC3E}">
        <p14:creationId xmlns:p14="http://schemas.microsoft.com/office/powerpoint/2010/main" val="2102998355"/>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a:t>The SELECT statement is used to select data from one or more tables:</a:t>
            </a:r>
          </a:p>
          <a:p>
            <a:pPr marL="0" indent="0">
              <a:buNone/>
            </a:pPr>
            <a:r>
              <a:rPr lang="en-US" dirty="0"/>
              <a:t>	SELECT </a:t>
            </a:r>
            <a:r>
              <a:rPr lang="en-US" dirty="0" err="1"/>
              <a:t>column_name</a:t>
            </a:r>
            <a:r>
              <a:rPr lang="en-US" dirty="0"/>
              <a:t>(s) FROM </a:t>
            </a:r>
            <a:r>
              <a:rPr lang="en-US" dirty="0" err="1"/>
              <a:t>table_name</a:t>
            </a:r>
            <a:endParaRPr lang="en-US" dirty="0"/>
          </a:p>
          <a:p>
            <a:r>
              <a:rPr lang="en-US" dirty="0"/>
              <a:t>or we can use the * character to select ALL columns from a table:</a:t>
            </a:r>
          </a:p>
          <a:p>
            <a:pPr marL="0" indent="0">
              <a:buNone/>
            </a:pPr>
            <a:r>
              <a:rPr lang="en-US" dirty="0"/>
              <a:t>	SELECT * FROM </a:t>
            </a:r>
            <a:r>
              <a:rPr lang="en-US" dirty="0" err="1"/>
              <a:t>table_name</a:t>
            </a:r>
            <a:endParaRPr lang="en-US" dirty="0"/>
          </a:p>
          <a:p>
            <a:r>
              <a:rPr lang="en-US" dirty="0"/>
              <a:t>Select Data With </a:t>
            </a:r>
            <a:r>
              <a:rPr lang="en-US" dirty="0" err="1"/>
              <a:t>MySQLi</a:t>
            </a:r>
            <a:r>
              <a:rPr lang="en-US" dirty="0"/>
              <a:t> can also be done in two ways</a:t>
            </a:r>
          </a:p>
          <a:p>
            <a:pPr lvl="1"/>
            <a:r>
              <a:rPr lang="en-US" dirty="0" err="1"/>
              <a:t>MySQLi</a:t>
            </a:r>
            <a:r>
              <a:rPr lang="en-US" dirty="0"/>
              <a:t> Object-oriented</a:t>
            </a:r>
          </a:p>
          <a:p>
            <a:pPr lvl="1"/>
            <a:r>
              <a:rPr lang="en-US" dirty="0" err="1"/>
              <a:t>MySQLi</a:t>
            </a:r>
            <a:r>
              <a:rPr lang="en-US" dirty="0"/>
              <a:t> Procedural</a:t>
            </a:r>
          </a:p>
          <a:p>
            <a:pPr marL="0" indent="0">
              <a:buNone/>
            </a:pPr>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Select Data From a MySQL Database</a:t>
            </a:r>
          </a:p>
        </p:txBody>
      </p:sp>
      <p:pic>
        <p:nvPicPr>
          <p:cNvPr id="4" name="Picture 3">
            <a:extLst>
              <a:ext uri="{FF2B5EF4-FFF2-40B4-BE49-F238E27FC236}">
                <a16:creationId xmlns:a16="http://schemas.microsoft.com/office/drawing/2014/main" id="{0AD730F5-D88F-43AA-BA42-6C3736AAD48B}"/>
              </a:ext>
            </a:extLst>
          </p:cNvPr>
          <p:cNvPicPr>
            <a:picLocks noChangeAspect="1"/>
          </p:cNvPicPr>
          <p:nvPr/>
        </p:nvPicPr>
        <p:blipFill>
          <a:blip r:embed="rId3"/>
          <a:stretch>
            <a:fillRect/>
          </a:stretch>
        </p:blipFill>
        <p:spPr>
          <a:xfrm>
            <a:off x="3359696" y="4005064"/>
            <a:ext cx="7524750" cy="2076450"/>
          </a:xfrm>
          <a:prstGeom prst="rect">
            <a:avLst/>
          </a:prstGeom>
          <a:ln>
            <a:solidFill>
              <a:srgbClr val="F04C3E"/>
            </a:solidFill>
          </a:ln>
        </p:spPr>
      </p:pic>
    </p:spTree>
    <p:extLst>
      <p:ext uri="{BB962C8B-B14F-4D97-AF65-F5344CB8AC3E}">
        <p14:creationId xmlns:p14="http://schemas.microsoft.com/office/powerpoint/2010/main" val="3913430449"/>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Select Data From a MySQL Database-</a:t>
            </a:r>
            <a:r>
              <a:rPr lang="en-US" b="0" dirty="0" err="1"/>
              <a:t>MySQLi</a:t>
            </a:r>
            <a:r>
              <a:rPr lang="en-US" b="0" dirty="0"/>
              <a:t> Procedural</a:t>
            </a:r>
            <a:br>
              <a:rPr lang="en-US" b="0" dirty="0"/>
            </a:br>
            <a:endParaRPr lang="en-US" dirty="0"/>
          </a:p>
        </p:txBody>
      </p:sp>
      <p:pic>
        <p:nvPicPr>
          <p:cNvPr id="3" name="Picture 2">
            <a:extLst>
              <a:ext uri="{FF2B5EF4-FFF2-40B4-BE49-F238E27FC236}">
                <a16:creationId xmlns:a16="http://schemas.microsoft.com/office/drawing/2014/main" id="{F4B701AA-21C3-4935-8A6D-78D3F00E3BBE}"/>
              </a:ext>
            </a:extLst>
          </p:cNvPr>
          <p:cNvPicPr>
            <a:picLocks noChangeAspect="1"/>
          </p:cNvPicPr>
          <p:nvPr/>
        </p:nvPicPr>
        <p:blipFill>
          <a:blip r:embed="rId3"/>
          <a:stretch>
            <a:fillRect/>
          </a:stretch>
        </p:blipFill>
        <p:spPr>
          <a:xfrm>
            <a:off x="586439" y="1039268"/>
            <a:ext cx="11387195" cy="5818732"/>
          </a:xfrm>
          <a:prstGeom prst="rect">
            <a:avLst/>
          </a:prstGeom>
        </p:spPr>
      </p:pic>
      <p:pic>
        <p:nvPicPr>
          <p:cNvPr id="4" name="Picture 3">
            <a:extLst>
              <a:ext uri="{FF2B5EF4-FFF2-40B4-BE49-F238E27FC236}">
                <a16:creationId xmlns:a16="http://schemas.microsoft.com/office/drawing/2014/main" id="{0A3319DD-90A4-416F-9464-7624F594B4B8}"/>
              </a:ext>
            </a:extLst>
          </p:cNvPr>
          <p:cNvPicPr>
            <a:picLocks noChangeAspect="1"/>
          </p:cNvPicPr>
          <p:nvPr/>
        </p:nvPicPr>
        <p:blipFill>
          <a:blip r:embed="rId4"/>
          <a:stretch>
            <a:fillRect/>
          </a:stretch>
        </p:blipFill>
        <p:spPr>
          <a:xfrm>
            <a:off x="9192344" y="1039268"/>
            <a:ext cx="2769081" cy="3291048"/>
          </a:xfrm>
          <a:prstGeom prst="rect">
            <a:avLst/>
          </a:prstGeom>
        </p:spPr>
      </p:pic>
    </p:spTree>
    <p:extLst>
      <p:ext uri="{BB962C8B-B14F-4D97-AF65-F5344CB8AC3E}">
        <p14:creationId xmlns:p14="http://schemas.microsoft.com/office/powerpoint/2010/main" val="131596509"/>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a:t>First, we set up an SQL query that selects the id, </a:t>
            </a:r>
            <a:r>
              <a:rPr lang="en-US" dirty="0" err="1"/>
              <a:t>testField</a:t>
            </a:r>
            <a:r>
              <a:rPr lang="en-US" dirty="0"/>
              <a:t> columns from the </a:t>
            </a:r>
            <a:r>
              <a:rPr lang="en-US" dirty="0" err="1"/>
              <a:t>testTable</a:t>
            </a:r>
            <a:r>
              <a:rPr lang="en-US" dirty="0"/>
              <a:t>. The next line of code runs the query and puts the resulting data into a variable called $result.</a:t>
            </a:r>
          </a:p>
          <a:p>
            <a:r>
              <a:rPr lang="en-US" dirty="0"/>
              <a:t>Then, the function </a:t>
            </a:r>
            <a:r>
              <a:rPr lang="en-US" dirty="0" err="1"/>
              <a:t>num_rows</a:t>
            </a:r>
            <a:r>
              <a:rPr lang="en-US" dirty="0"/>
              <a:t>() checks if there are more than zero rows returned.</a:t>
            </a:r>
          </a:p>
          <a:p>
            <a:r>
              <a:rPr lang="en-US" dirty="0"/>
              <a:t>If there are more than zero rows returned, the function </a:t>
            </a:r>
            <a:r>
              <a:rPr lang="en-US" dirty="0" err="1"/>
              <a:t>fetch_assoc</a:t>
            </a:r>
            <a:r>
              <a:rPr lang="en-US" dirty="0"/>
              <a:t>() puts all the results into an associative array that we can loop through. The while() loop loops through the result set and outputs the data from the id, </a:t>
            </a:r>
            <a:r>
              <a:rPr lang="en-US" dirty="0" err="1"/>
              <a:t>testField</a:t>
            </a:r>
            <a:r>
              <a:rPr lang="en-US" dirty="0"/>
              <a:t> columns.</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Select Data From a MySQL Database</a:t>
            </a:r>
          </a:p>
        </p:txBody>
      </p:sp>
      <p:pic>
        <p:nvPicPr>
          <p:cNvPr id="4" name="Picture 3">
            <a:extLst>
              <a:ext uri="{FF2B5EF4-FFF2-40B4-BE49-F238E27FC236}">
                <a16:creationId xmlns:a16="http://schemas.microsoft.com/office/drawing/2014/main" id="{0AD730F5-D88F-43AA-BA42-6C3736AAD48B}"/>
              </a:ext>
            </a:extLst>
          </p:cNvPr>
          <p:cNvPicPr>
            <a:picLocks noChangeAspect="1"/>
          </p:cNvPicPr>
          <p:nvPr/>
        </p:nvPicPr>
        <p:blipFill>
          <a:blip r:embed="rId3"/>
          <a:stretch>
            <a:fillRect/>
          </a:stretch>
        </p:blipFill>
        <p:spPr>
          <a:xfrm>
            <a:off x="479376" y="4149080"/>
            <a:ext cx="7524750" cy="2076450"/>
          </a:xfrm>
          <a:prstGeom prst="rect">
            <a:avLst/>
          </a:prstGeom>
          <a:ln>
            <a:solidFill>
              <a:srgbClr val="F04C3E"/>
            </a:solidFill>
          </a:ln>
        </p:spPr>
      </p:pic>
      <p:pic>
        <p:nvPicPr>
          <p:cNvPr id="6" name="Picture 5">
            <a:extLst>
              <a:ext uri="{FF2B5EF4-FFF2-40B4-BE49-F238E27FC236}">
                <a16:creationId xmlns:a16="http://schemas.microsoft.com/office/drawing/2014/main" id="{AA6BA9E2-1801-4DB6-9E01-793ABB1ABFF1}"/>
              </a:ext>
            </a:extLst>
          </p:cNvPr>
          <p:cNvPicPr>
            <a:picLocks noChangeAspect="1"/>
          </p:cNvPicPr>
          <p:nvPr/>
        </p:nvPicPr>
        <p:blipFill>
          <a:blip r:embed="rId4"/>
          <a:stretch>
            <a:fillRect/>
          </a:stretch>
        </p:blipFill>
        <p:spPr>
          <a:xfrm>
            <a:off x="8112849" y="3724890"/>
            <a:ext cx="4048125" cy="3152775"/>
          </a:xfrm>
          <a:prstGeom prst="rect">
            <a:avLst/>
          </a:prstGeom>
          <a:ln>
            <a:solidFill>
              <a:schemeClr val="accent2"/>
            </a:solidFill>
          </a:ln>
        </p:spPr>
      </p:pic>
    </p:spTree>
    <p:extLst>
      <p:ext uri="{BB962C8B-B14F-4D97-AF65-F5344CB8AC3E}">
        <p14:creationId xmlns:p14="http://schemas.microsoft.com/office/powerpoint/2010/main" val="2765887639"/>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336569"/>
            <a:ext cx="10657185" cy="634605"/>
          </a:xfrm>
        </p:spPr>
        <p:txBody>
          <a:bodyPr vert="horz" lIns="0" tIns="0" rIns="0" bIns="0" rtlCol="0" anchor="t" anchorCtr="0">
            <a:noAutofit/>
          </a:bodyPr>
          <a:lstStyle/>
          <a:p>
            <a:r>
              <a:rPr lang="en-US" dirty="0"/>
              <a:t>Select Data From a MySQL Database-</a:t>
            </a:r>
            <a:r>
              <a:rPr lang="en-US" dirty="0" err="1"/>
              <a:t>MySQLi</a:t>
            </a:r>
            <a:r>
              <a:rPr lang="en-US" dirty="0"/>
              <a:t> Object-oriented</a:t>
            </a:r>
            <a:br>
              <a:rPr lang="en-US" dirty="0"/>
            </a:br>
            <a:endParaRPr lang="en-US" dirty="0"/>
          </a:p>
        </p:txBody>
      </p:sp>
      <p:pic>
        <p:nvPicPr>
          <p:cNvPr id="3" name="Picture 2">
            <a:extLst>
              <a:ext uri="{FF2B5EF4-FFF2-40B4-BE49-F238E27FC236}">
                <a16:creationId xmlns:a16="http://schemas.microsoft.com/office/drawing/2014/main" id="{928D3063-3E2D-4F40-BD0B-836D876510F6}"/>
              </a:ext>
            </a:extLst>
          </p:cNvPr>
          <p:cNvPicPr>
            <a:picLocks noChangeAspect="1"/>
          </p:cNvPicPr>
          <p:nvPr/>
        </p:nvPicPr>
        <p:blipFill>
          <a:blip r:embed="rId3"/>
          <a:stretch>
            <a:fillRect/>
          </a:stretch>
        </p:blipFill>
        <p:spPr>
          <a:xfrm>
            <a:off x="623391" y="1196752"/>
            <a:ext cx="10866100" cy="5661248"/>
          </a:xfrm>
          <a:prstGeom prst="rect">
            <a:avLst/>
          </a:prstGeom>
        </p:spPr>
      </p:pic>
      <p:pic>
        <p:nvPicPr>
          <p:cNvPr id="6" name="Picture 5">
            <a:extLst>
              <a:ext uri="{FF2B5EF4-FFF2-40B4-BE49-F238E27FC236}">
                <a16:creationId xmlns:a16="http://schemas.microsoft.com/office/drawing/2014/main" id="{9E3661B0-67D3-47C6-BF84-B2E4B954D31C}"/>
              </a:ext>
            </a:extLst>
          </p:cNvPr>
          <p:cNvPicPr>
            <a:picLocks noChangeAspect="1"/>
          </p:cNvPicPr>
          <p:nvPr/>
        </p:nvPicPr>
        <p:blipFill>
          <a:blip r:embed="rId4"/>
          <a:stretch>
            <a:fillRect/>
          </a:stretch>
        </p:blipFill>
        <p:spPr>
          <a:xfrm>
            <a:off x="9346285" y="1241443"/>
            <a:ext cx="2845715" cy="2216310"/>
          </a:xfrm>
          <a:prstGeom prst="rect">
            <a:avLst/>
          </a:prstGeom>
          <a:ln>
            <a:solidFill>
              <a:schemeClr val="accent2"/>
            </a:solidFill>
          </a:ln>
        </p:spPr>
      </p:pic>
    </p:spTree>
    <p:extLst>
      <p:ext uri="{BB962C8B-B14F-4D97-AF65-F5344CB8AC3E}">
        <p14:creationId xmlns:p14="http://schemas.microsoft.com/office/powerpoint/2010/main" val="2756782389"/>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10262924" cy="708406"/>
          </a:xfrm>
        </p:spPr>
        <p:txBody>
          <a:bodyPr/>
          <a:lstStyle/>
          <a:p>
            <a:pPr algn="ctr"/>
            <a:r>
              <a:rPr lang="en-US" dirty="0"/>
              <a:t> MySQL Integration-Update</a:t>
            </a:r>
          </a:p>
          <a:p>
            <a:pPr algn="ctr"/>
            <a:endParaRPr lang="en-US" dirty="0"/>
          </a:p>
        </p:txBody>
      </p:sp>
    </p:spTree>
    <p:extLst>
      <p:ext uri="{BB962C8B-B14F-4D97-AF65-F5344CB8AC3E}">
        <p14:creationId xmlns:p14="http://schemas.microsoft.com/office/powerpoint/2010/main" val="535389651"/>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77264" cy="1512168"/>
          </a:xfrm>
        </p:spPr>
        <p:txBody>
          <a:bodyPr/>
          <a:lstStyle/>
          <a:p>
            <a:r>
              <a:rPr lang="en-US" dirty="0"/>
              <a:t>The UPDATE statement is used to update existing records in a table:</a:t>
            </a:r>
          </a:p>
          <a:p>
            <a:pPr marL="0" indent="0">
              <a:buNone/>
            </a:pPr>
            <a:r>
              <a:rPr lang="en-US" dirty="0"/>
              <a:t>	UPDATE </a:t>
            </a:r>
            <a:r>
              <a:rPr lang="en-US" dirty="0" err="1"/>
              <a:t>table_name</a:t>
            </a:r>
            <a:r>
              <a:rPr lang="en-US" dirty="0"/>
              <a:t> SET column1=value, column2=value2,...</a:t>
            </a:r>
          </a:p>
          <a:p>
            <a:pPr marL="0" indent="0">
              <a:buNone/>
            </a:pPr>
            <a:r>
              <a:rPr lang="en-US" dirty="0"/>
              <a:t>	WHERE </a:t>
            </a:r>
            <a:r>
              <a:rPr lang="en-US" dirty="0" err="1"/>
              <a:t>some_column</a:t>
            </a:r>
            <a:r>
              <a:rPr lang="en-US" dirty="0"/>
              <a:t>=</a:t>
            </a:r>
            <a:r>
              <a:rPr lang="en-US" dirty="0" err="1"/>
              <a:t>some_value</a:t>
            </a:r>
            <a:r>
              <a:rPr lang="en-US" dirty="0"/>
              <a:t> </a:t>
            </a:r>
          </a:p>
          <a:p>
            <a:r>
              <a:rPr lang="en-US" dirty="0"/>
              <a:t>The WHERE clause specifies which record or records that should be updated. If you omit the WHERE clause, all records will be updated!</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Update Data In a MySQL Table Using </a:t>
            </a:r>
            <a:r>
              <a:rPr lang="en-US" dirty="0" err="1"/>
              <a:t>MySQLi</a:t>
            </a:r>
            <a:endParaRPr lang="en-US" dirty="0"/>
          </a:p>
        </p:txBody>
      </p:sp>
      <p:pic>
        <p:nvPicPr>
          <p:cNvPr id="4" name="Picture 3">
            <a:extLst>
              <a:ext uri="{FF2B5EF4-FFF2-40B4-BE49-F238E27FC236}">
                <a16:creationId xmlns:a16="http://schemas.microsoft.com/office/drawing/2014/main" id="{0AD730F5-D88F-43AA-BA42-6C3736AAD48B}"/>
              </a:ext>
            </a:extLst>
          </p:cNvPr>
          <p:cNvPicPr>
            <a:picLocks noChangeAspect="1"/>
          </p:cNvPicPr>
          <p:nvPr/>
        </p:nvPicPr>
        <p:blipFill>
          <a:blip r:embed="rId3"/>
          <a:stretch>
            <a:fillRect/>
          </a:stretch>
        </p:blipFill>
        <p:spPr>
          <a:xfrm>
            <a:off x="191344" y="3268340"/>
            <a:ext cx="7524750" cy="2076450"/>
          </a:xfrm>
          <a:prstGeom prst="rect">
            <a:avLst/>
          </a:prstGeom>
          <a:ln>
            <a:solidFill>
              <a:srgbClr val="F04C3E"/>
            </a:solidFill>
          </a:ln>
        </p:spPr>
      </p:pic>
      <p:pic>
        <p:nvPicPr>
          <p:cNvPr id="6" name="Picture 5">
            <a:extLst>
              <a:ext uri="{FF2B5EF4-FFF2-40B4-BE49-F238E27FC236}">
                <a16:creationId xmlns:a16="http://schemas.microsoft.com/office/drawing/2014/main" id="{AA6BA9E2-1801-4DB6-9E01-793ABB1ABFF1}"/>
              </a:ext>
            </a:extLst>
          </p:cNvPr>
          <p:cNvPicPr>
            <a:picLocks noChangeAspect="1"/>
          </p:cNvPicPr>
          <p:nvPr/>
        </p:nvPicPr>
        <p:blipFill>
          <a:blip r:embed="rId4"/>
          <a:stretch>
            <a:fillRect/>
          </a:stretch>
        </p:blipFill>
        <p:spPr>
          <a:xfrm>
            <a:off x="7803429" y="3162072"/>
            <a:ext cx="4048125" cy="3152775"/>
          </a:xfrm>
          <a:prstGeom prst="rect">
            <a:avLst/>
          </a:prstGeom>
          <a:ln>
            <a:solidFill>
              <a:schemeClr val="accent2"/>
            </a:solidFill>
          </a:ln>
        </p:spPr>
      </p:pic>
    </p:spTree>
    <p:extLst>
      <p:ext uri="{BB962C8B-B14F-4D97-AF65-F5344CB8AC3E}">
        <p14:creationId xmlns:p14="http://schemas.microsoft.com/office/powerpoint/2010/main" val="3309711190"/>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729193" cy="634605"/>
          </a:xfrm>
        </p:spPr>
        <p:txBody>
          <a:bodyPr vert="horz" lIns="0" tIns="0" rIns="0" bIns="0" rtlCol="0" anchor="t" anchorCtr="0">
            <a:noAutofit/>
          </a:bodyPr>
          <a:lstStyle/>
          <a:p>
            <a:r>
              <a:rPr lang="en-US" dirty="0"/>
              <a:t>Update Data In a MySQL Table Using </a:t>
            </a:r>
            <a:r>
              <a:rPr lang="en-US" dirty="0" err="1"/>
              <a:t>MySQLi-ObjectOriented</a:t>
            </a:r>
            <a:endParaRPr lang="en-US" dirty="0"/>
          </a:p>
        </p:txBody>
      </p:sp>
      <p:pic>
        <p:nvPicPr>
          <p:cNvPr id="7" name="Content Placeholder 6">
            <a:extLst>
              <a:ext uri="{FF2B5EF4-FFF2-40B4-BE49-F238E27FC236}">
                <a16:creationId xmlns:a16="http://schemas.microsoft.com/office/drawing/2014/main" id="{B621384B-46C0-4D20-B0BE-289BBC083732}"/>
              </a:ext>
            </a:extLst>
          </p:cNvPr>
          <p:cNvPicPr>
            <a:picLocks noGrp="1" noChangeAspect="1"/>
          </p:cNvPicPr>
          <p:nvPr>
            <p:ph idx="1"/>
          </p:nvPr>
        </p:nvPicPr>
        <p:blipFill>
          <a:blip r:embed="rId3"/>
          <a:stretch>
            <a:fillRect/>
          </a:stretch>
        </p:blipFill>
        <p:spPr>
          <a:xfrm>
            <a:off x="617050" y="1101852"/>
            <a:ext cx="10972800" cy="4654296"/>
          </a:xfrm>
          <a:prstGeom prst="rect">
            <a:avLst/>
          </a:prstGeom>
        </p:spPr>
      </p:pic>
    </p:spTree>
    <p:extLst>
      <p:ext uri="{BB962C8B-B14F-4D97-AF65-F5344CB8AC3E}">
        <p14:creationId xmlns:p14="http://schemas.microsoft.com/office/powerpoint/2010/main" val="2396059469"/>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Update Data In a MySQL Table Using </a:t>
            </a:r>
            <a:r>
              <a:rPr lang="en-US" dirty="0" err="1"/>
              <a:t>MySQLi</a:t>
            </a:r>
            <a:r>
              <a:rPr lang="en-US" dirty="0"/>
              <a:t>                      </a:t>
            </a:r>
            <a:r>
              <a:rPr lang="en-US" dirty="0" err="1"/>
              <a:t>contd</a:t>
            </a:r>
            <a:r>
              <a:rPr lang="en-US" dirty="0"/>
              <a:t>….</a:t>
            </a:r>
          </a:p>
        </p:txBody>
      </p:sp>
      <p:sp>
        <p:nvSpPr>
          <p:cNvPr id="3" name="Content Placeholder 2">
            <a:extLst>
              <a:ext uri="{FF2B5EF4-FFF2-40B4-BE49-F238E27FC236}">
                <a16:creationId xmlns:a16="http://schemas.microsoft.com/office/drawing/2014/main" id="{EAECEDA1-C5E0-491D-9010-ABF8C8A7849C}"/>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DC9B3F77-C953-45F5-B683-6EAE41708E8D}"/>
              </a:ext>
            </a:extLst>
          </p:cNvPr>
          <p:cNvPicPr>
            <a:picLocks noChangeAspect="1"/>
          </p:cNvPicPr>
          <p:nvPr/>
        </p:nvPicPr>
        <p:blipFill>
          <a:blip r:embed="rId3"/>
          <a:stretch>
            <a:fillRect/>
          </a:stretch>
        </p:blipFill>
        <p:spPr>
          <a:xfrm>
            <a:off x="609600" y="1162050"/>
            <a:ext cx="10687050" cy="4533900"/>
          </a:xfrm>
          <a:prstGeom prst="rect">
            <a:avLst/>
          </a:prstGeom>
        </p:spPr>
      </p:pic>
      <p:pic>
        <p:nvPicPr>
          <p:cNvPr id="6" name="Picture 5">
            <a:extLst>
              <a:ext uri="{FF2B5EF4-FFF2-40B4-BE49-F238E27FC236}">
                <a16:creationId xmlns:a16="http://schemas.microsoft.com/office/drawing/2014/main" id="{11D9D61D-05FD-46C2-ABC1-8B6D54D45601}"/>
              </a:ext>
            </a:extLst>
          </p:cNvPr>
          <p:cNvPicPr>
            <a:picLocks noChangeAspect="1"/>
          </p:cNvPicPr>
          <p:nvPr/>
        </p:nvPicPr>
        <p:blipFill>
          <a:blip r:embed="rId4"/>
          <a:stretch>
            <a:fillRect/>
          </a:stretch>
        </p:blipFill>
        <p:spPr>
          <a:xfrm>
            <a:off x="8298729" y="4430998"/>
            <a:ext cx="3000375" cy="1695450"/>
          </a:xfrm>
          <a:prstGeom prst="rect">
            <a:avLst/>
          </a:prstGeom>
          <a:ln>
            <a:solidFill>
              <a:schemeClr val="accent2"/>
            </a:solidFill>
          </a:ln>
        </p:spPr>
      </p:pic>
      <p:pic>
        <p:nvPicPr>
          <p:cNvPr id="8" name="Picture 7">
            <a:extLst>
              <a:ext uri="{FF2B5EF4-FFF2-40B4-BE49-F238E27FC236}">
                <a16:creationId xmlns:a16="http://schemas.microsoft.com/office/drawing/2014/main" id="{8BC2C62F-4941-427E-8A80-A1721F20246C}"/>
              </a:ext>
            </a:extLst>
          </p:cNvPr>
          <p:cNvPicPr>
            <a:picLocks noChangeAspect="1"/>
          </p:cNvPicPr>
          <p:nvPr/>
        </p:nvPicPr>
        <p:blipFill>
          <a:blip r:embed="rId5"/>
          <a:stretch>
            <a:fillRect/>
          </a:stretch>
        </p:blipFill>
        <p:spPr>
          <a:xfrm>
            <a:off x="4133850" y="4439660"/>
            <a:ext cx="3638550" cy="1609725"/>
          </a:xfrm>
          <a:prstGeom prst="rect">
            <a:avLst/>
          </a:prstGeom>
        </p:spPr>
      </p:pic>
      <p:cxnSp>
        <p:nvCxnSpPr>
          <p:cNvPr id="10" name="Straight Arrow Connector 9">
            <a:extLst>
              <a:ext uri="{FF2B5EF4-FFF2-40B4-BE49-F238E27FC236}">
                <a16:creationId xmlns:a16="http://schemas.microsoft.com/office/drawing/2014/main" id="{B00EF8BD-6DF0-4D8D-BB1D-62B4F11644F7}"/>
              </a:ext>
            </a:extLst>
          </p:cNvPr>
          <p:cNvCxnSpPr>
            <a:cxnSpLocks/>
          </p:cNvCxnSpPr>
          <p:nvPr/>
        </p:nvCxnSpPr>
        <p:spPr>
          <a:xfrm>
            <a:off x="6456040" y="4871708"/>
            <a:ext cx="2016224" cy="6946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348476"/>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Update Data In a MySQL Table Using </a:t>
            </a:r>
            <a:r>
              <a:rPr lang="en-US" dirty="0" err="1"/>
              <a:t>MySQLi</a:t>
            </a:r>
            <a:r>
              <a:rPr lang="en-US" dirty="0"/>
              <a:t>-procedural                      </a:t>
            </a:r>
            <a:r>
              <a:rPr lang="en-US" dirty="0" err="1"/>
              <a:t>contd</a:t>
            </a:r>
            <a:r>
              <a:rPr lang="en-US" dirty="0"/>
              <a:t>….</a:t>
            </a:r>
          </a:p>
        </p:txBody>
      </p:sp>
      <p:cxnSp>
        <p:nvCxnSpPr>
          <p:cNvPr id="10" name="Straight Arrow Connector 9">
            <a:extLst>
              <a:ext uri="{FF2B5EF4-FFF2-40B4-BE49-F238E27FC236}">
                <a16:creationId xmlns:a16="http://schemas.microsoft.com/office/drawing/2014/main" id="{B00EF8BD-6DF0-4D8D-BB1D-62B4F11644F7}"/>
              </a:ext>
            </a:extLst>
          </p:cNvPr>
          <p:cNvCxnSpPr>
            <a:cxnSpLocks/>
          </p:cNvCxnSpPr>
          <p:nvPr/>
        </p:nvCxnSpPr>
        <p:spPr>
          <a:xfrm>
            <a:off x="4912465" y="3789040"/>
            <a:ext cx="2016224" cy="69460"/>
          </a:xfrm>
          <a:prstGeom prst="straightConnector1">
            <a:avLst/>
          </a:prstGeom>
          <a:ln w="952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AE07C420-725C-4E34-B04B-CC1F337F0AF0}"/>
              </a:ext>
            </a:extLst>
          </p:cNvPr>
          <p:cNvPicPr>
            <a:picLocks noChangeAspect="1"/>
          </p:cNvPicPr>
          <p:nvPr/>
        </p:nvPicPr>
        <p:blipFill>
          <a:blip r:embed="rId3"/>
          <a:stretch>
            <a:fillRect/>
          </a:stretch>
        </p:blipFill>
        <p:spPr>
          <a:xfrm>
            <a:off x="6962045" y="1898968"/>
            <a:ext cx="3981450" cy="3152775"/>
          </a:xfrm>
          <a:prstGeom prst="rect">
            <a:avLst/>
          </a:prstGeom>
        </p:spPr>
      </p:pic>
      <p:pic>
        <p:nvPicPr>
          <p:cNvPr id="7" name="Picture 6">
            <a:extLst>
              <a:ext uri="{FF2B5EF4-FFF2-40B4-BE49-F238E27FC236}">
                <a16:creationId xmlns:a16="http://schemas.microsoft.com/office/drawing/2014/main" id="{FC2A3D13-43B8-43AA-BA3C-82E186E09C8E}"/>
              </a:ext>
            </a:extLst>
          </p:cNvPr>
          <p:cNvPicPr>
            <a:picLocks noChangeAspect="1"/>
          </p:cNvPicPr>
          <p:nvPr/>
        </p:nvPicPr>
        <p:blipFill>
          <a:blip r:embed="rId4"/>
          <a:stretch>
            <a:fillRect/>
          </a:stretch>
        </p:blipFill>
        <p:spPr>
          <a:xfrm>
            <a:off x="983432" y="2191100"/>
            <a:ext cx="3933825" cy="2876550"/>
          </a:xfrm>
          <a:prstGeom prst="rect">
            <a:avLst/>
          </a:prstGeom>
        </p:spPr>
      </p:pic>
    </p:spTree>
    <p:extLst>
      <p:ext uri="{BB962C8B-B14F-4D97-AF65-F5344CB8AC3E}">
        <p14:creationId xmlns:p14="http://schemas.microsoft.com/office/powerpoint/2010/main" val="1534757417"/>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729193" cy="634605"/>
          </a:xfrm>
        </p:spPr>
        <p:txBody>
          <a:bodyPr vert="horz" lIns="0" tIns="0" rIns="0" bIns="0" rtlCol="0" anchor="t" anchorCtr="0">
            <a:noAutofit/>
          </a:bodyPr>
          <a:lstStyle/>
          <a:p>
            <a:r>
              <a:rPr lang="en-US" dirty="0"/>
              <a:t>Update Data In a MySQL Table Using </a:t>
            </a:r>
            <a:r>
              <a:rPr lang="en-US" dirty="0" err="1"/>
              <a:t>MySQLi</a:t>
            </a:r>
            <a:r>
              <a:rPr lang="en-US" dirty="0"/>
              <a:t>-Procedural</a:t>
            </a:r>
          </a:p>
        </p:txBody>
      </p:sp>
      <p:pic>
        <p:nvPicPr>
          <p:cNvPr id="6" name="Picture 5">
            <a:extLst>
              <a:ext uri="{FF2B5EF4-FFF2-40B4-BE49-F238E27FC236}">
                <a16:creationId xmlns:a16="http://schemas.microsoft.com/office/drawing/2014/main" id="{1AFFCA68-A2BC-41EE-8705-EBF44F84077F}"/>
              </a:ext>
            </a:extLst>
          </p:cNvPr>
          <p:cNvPicPr>
            <a:picLocks noChangeAspect="1"/>
          </p:cNvPicPr>
          <p:nvPr/>
        </p:nvPicPr>
        <p:blipFill>
          <a:blip r:embed="rId3"/>
          <a:stretch>
            <a:fillRect/>
          </a:stretch>
        </p:blipFill>
        <p:spPr>
          <a:xfrm>
            <a:off x="1127447" y="1299025"/>
            <a:ext cx="9802201" cy="4866279"/>
          </a:xfrm>
          <a:prstGeom prst="rect">
            <a:avLst/>
          </a:prstGeom>
        </p:spPr>
      </p:pic>
    </p:spTree>
    <p:extLst>
      <p:ext uri="{BB962C8B-B14F-4D97-AF65-F5344CB8AC3E}">
        <p14:creationId xmlns:p14="http://schemas.microsoft.com/office/powerpoint/2010/main" val="3685546198"/>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Update Data In a MySQL Table Using </a:t>
            </a:r>
            <a:r>
              <a:rPr lang="en-US" dirty="0" err="1"/>
              <a:t>MySQLi</a:t>
            </a:r>
            <a:r>
              <a:rPr lang="en-US" dirty="0"/>
              <a:t>-procedural                      </a:t>
            </a:r>
            <a:r>
              <a:rPr lang="en-US" dirty="0" err="1"/>
              <a:t>contd</a:t>
            </a:r>
            <a:r>
              <a:rPr lang="en-US" dirty="0"/>
              <a:t>….</a:t>
            </a:r>
          </a:p>
        </p:txBody>
      </p:sp>
      <p:pic>
        <p:nvPicPr>
          <p:cNvPr id="4" name="Picture 3">
            <a:extLst>
              <a:ext uri="{FF2B5EF4-FFF2-40B4-BE49-F238E27FC236}">
                <a16:creationId xmlns:a16="http://schemas.microsoft.com/office/drawing/2014/main" id="{C6EB77D7-125E-492D-B284-48C096685B59}"/>
              </a:ext>
            </a:extLst>
          </p:cNvPr>
          <p:cNvPicPr>
            <a:picLocks noChangeAspect="1"/>
          </p:cNvPicPr>
          <p:nvPr/>
        </p:nvPicPr>
        <p:blipFill>
          <a:blip r:embed="rId3"/>
          <a:stretch>
            <a:fillRect/>
          </a:stretch>
        </p:blipFill>
        <p:spPr>
          <a:xfrm>
            <a:off x="1256642" y="1196752"/>
            <a:ext cx="9662997" cy="5159187"/>
          </a:xfrm>
          <a:prstGeom prst="rect">
            <a:avLst/>
          </a:prstGeom>
        </p:spPr>
      </p:pic>
    </p:spTree>
    <p:extLst>
      <p:ext uri="{BB962C8B-B14F-4D97-AF65-F5344CB8AC3E}">
        <p14:creationId xmlns:p14="http://schemas.microsoft.com/office/powerpoint/2010/main" val="4141383423"/>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839416" y="116632"/>
            <a:ext cx="10269894" cy="778621"/>
          </a:xfrm>
        </p:spPr>
        <p:txBody>
          <a:bodyPr vert="horz" lIns="0" tIns="0" rIns="0" bIns="0" rtlCol="0" anchor="t" anchorCtr="0">
            <a:noAutofit/>
          </a:bodyPr>
          <a:lstStyle/>
          <a:p>
            <a:r>
              <a:rPr lang="en-US" dirty="0"/>
              <a:t>Update Data In a MySQL Table Using </a:t>
            </a:r>
            <a:r>
              <a:rPr lang="en-US" dirty="0" err="1"/>
              <a:t>MySQLi</a:t>
            </a:r>
            <a:r>
              <a:rPr lang="en-US" dirty="0"/>
              <a:t>-procedural                     Example 2</a:t>
            </a:r>
          </a:p>
        </p:txBody>
      </p:sp>
      <p:pic>
        <p:nvPicPr>
          <p:cNvPr id="6" name="Picture 5">
            <a:extLst>
              <a:ext uri="{FF2B5EF4-FFF2-40B4-BE49-F238E27FC236}">
                <a16:creationId xmlns:a16="http://schemas.microsoft.com/office/drawing/2014/main" id="{7B814269-E388-4AC0-AB81-CF13A53CDBF7}"/>
              </a:ext>
            </a:extLst>
          </p:cNvPr>
          <p:cNvPicPr>
            <a:picLocks noChangeAspect="1"/>
          </p:cNvPicPr>
          <p:nvPr/>
        </p:nvPicPr>
        <p:blipFill>
          <a:blip r:embed="rId3"/>
          <a:stretch>
            <a:fillRect/>
          </a:stretch>
        </p:blipFill>
        <p:spPr>
          <a:xfrm>
            <a:off x="839416" y="1411205"/>
            <a:ext cx="4328535" cy="2034716"/>
          </a:xfrm>
          <a:prstGeom prst="rect">
            <a:avLst/>
          </a:prstGeom>
          <a:ln>
            <a:solidFill>
              <a:schemeClr val="accent1"/>
            </a:solidFill>
          </a:ln>
        </p:spPr>
      </p:pic>
      <p:pic>
        <p:nvPicPr>
          <p:cNvPr id="8" name="Picture 7">
            <a:extLst>
              <a:ext uri="{FF2B5EF4-FFF2-40B4-BE49-F238E27FC236}">
                <a16:creationId xmlns:a16="http://schemas.microsoft.com/office/drawing/2014/main" id="{DE760253-F2E4-4500-BD09-C8FBD34A254F}"/>
              </a:ext>
            </a:extLst>
          </p:cNvPr>
          <p:cNvPicPr>
            <a:picLocks noChangeAspect="1"/>
          </p:cNvPicPr>
          <p:nvPr/>
        </p:nvPicPr>
        <p:blipFill>
          <a:blip r:embed="rId4"/>
          <a:stretch>
            <a:fillRect/>
          </a:stretch>
        </p:blipFill>
        <p:spPr>
          <a:xfrm>
            <a:off x="6240016" y="1942971"/>
            <a:ext cx="4191363" cy="1486029"/>
          </a:xfrm>
          <a:prstGeom prst="rect">
            <a:avLst/>
          </a:prstGeom>
          <a:solidFill>
            <a:schemeClr val="accent4"/>
          </a:solidFill>
        </p:spPr>
      </p:pic>
      <p:cxnSp>
        <p:nvCxnSpPr>
          <p:cNvPr id="10" name="Straight Arrow Connector 9">
            <a:extLst>
              <a:ext uri="{FF2B5EF4-FFF2-40B4-BE49-F238E27FC236}">
                <a16:creationId xmlns:a16="http://schemas.microsoft.com/office/drawing/2014/main" id="{E2503C9D-9EDE-4BB9-9E2F-028F86ABD894}"/>
              </a:ext>
            </a:extLst>
          </p:cNvPr>
          <p:cNvCxnSpPr/>
          <p:nvPr/>
        </p:nvCxnSpPr>
        <p:spPr>
          <a:xfrm>
            <a:off x="5231904" y="2564904"/>
            <a:ext cx="864096" cy="72008"/>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6495"/>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Update Data In a MySQL Table Using </a:t>
            </a:r>
            <a:r>
              <a:rPr lang="en-US" dirty="0" err="1"/>
              <a:t>MySQLi</a:t>
            </a:r>
            <a:r>
              <a:rPr lang="en-US" dirty="0"/>
              <a:t>-procedural                      </a:t>
            </a:r>
            <a:r>
              <a:rPr lang="en-US" dirty="0" err="1"/>
              <a:t>contd</a:t>
            </a:r>
            <a:r>
              <a:rPr lang="en-US" dirty="0"/>
              <a:t>….</a:t>
            </a:r>
          </a:p>
        </p:txBody>
      </p:sp>
      <p:pic>
        <p:nvPicPr>
          <p:cNvPr id="2" name="Picture 1">
            <a:extLst>
              <a:ext uri="{FF2B5EF4-FFF2-40B4-BE49-F238E27FC236}">
                <a16:creationId xmlns:a16="http://schemas.microsoft.com/office/drawing/2014/main" id="{CD377E2B-C1F4-4C74-9ECB-747485AD2DF7}"/>
              </a:ext>
            </a:extLst>
          </p:cNvPr>
          <p:cNvPicPr>
            <a:picLocks noChangeAspect="1"/>
          </p:cNvPicPr>
          <p:nvPr/>
        </p:nvPicPr>
        <p:blipFill>
          <a:blip r:embed="rId3"/>
          <a:stretch>
            <a:fillRect/>
          </a:stretch>
        </p:blipFill>
        <p:spPr>
          <a:xfrm>
            <a:off x="9015698" y="2999129"/>
            <a:ext cx="3063505" cy="1287892"/>
          </a:xfrm>
          <a:prstGeom prst="rect">
            <a:avLst/>
          </a:prstGeom>
        </p:spPr>
      </p:pic>
      <p:pic>
        <p:nvPicPr>
          <p:cNvPr id="6" name="Picture 5">
            <a:extLst>
              <a:ext uri="{FF2B5EF4-FFF2-40B4-BE49-F238E27FC236}">
                <a16:creationId xmlns:a16="http://schemas.microsoft.com/office/drawing/2014/main" id="{C823A7D2-E612-4243-ADCD-F4958F246987}"/>
              </a:ext>
            </a:extLst>
          </p:cNvPr>
          <p:cNvPicPr>
            <a:picLocks noChangeAspect="1"/>
          </p:cNvPicPr>
          <p:nvPr/>
        </p:nvPicPr>
        <p:blipFill>
          <a:blip r:embed="rId4"/>
          <a:stretch>
            <a:fillRect/>
          </a:stretch>
        </p:blipFill>
        <p:spPr>
          <a:xfrm>
            <a:off x="575493" y="1162550"/>
            <a:ext cx="8458933" cy="4961050"/>
          </a:xfrm>
          <a:prstGeom prst="rect">
            <a:avLst/>
          </a:prstGeom>
        </p:spPr>
      </p:pic>
    </p:spTree>
    <p:extLst>
      <p:ext uri="{BB962C8B-B14F-4D97-AF65-F5344CB8AC3E}">
        <p14:creationId xmlns:p14="http://schemas.microsoft.com/office/powerpoint/2010/main" val="4157290079"/>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Update Data In a MySQL Table Using </a:t>
            </a:r>
            <a:r>
              <a:rPr lang="en-US" dirty="0" err="1"/>
              <a:t>MySQLi</a:t>
            </a:r>
            <a:r>
              <a:rPr lang="en-US" dirty="0"/>
              <a:t>-procedural                      </a:t>
            </a:r>
            <a:r>
              <a:rPr lang="en-US" dirty="0" err="1"/>
              <a:t>contd</a:t>
            </a:r>
            <a:r>
              <a:rPr lang="en-US" dirty="0"/>
              <a:t>….</a:t>
            </a:r>
          </a:p>
        </p:txBody>
      </p:sp>
      <p:pic>
        <p:nvPicPr>
          <p:cNvPr id="2" name="Picture 1">
            <a:extLst>
              <a:ext uri="{FF2B5EF4-FFF2-40B4-BE49-F238E27FC236}">
                <a16:creationId xmlns:a16="http://schemas.microsoft.com/office/drawing/2014/main" id="{CD377E2B-C1F4-4C74-9ECB-747485AD2DF7}"/>
              </a:ext>
            </a:extLst>
          </p:cNvPr>
          <p:cNvPicPr>
            <a:picLocks noChangeAspect="1"/>
          </p:cNvPicPr>
          <p:nvPr/>
        </p:nvPicPr>
        <p:blipFill>
          <a:blip r:embed="rId3"/>
          <a:stretch>
            <a:fillRect/>
          </a:stretch>
        </p:blipFill>
        <p:spPr>
          <a:xfrm>
            <a:off x="9015698" y="2999129"/>
            <a:ext cx="3063505" cy="1287892"/>
          </a:xfrm>
          <a:prstGeom prst="rect">
            <a:avLst/>
          </a:prstGeom>
        </p:spPr>
      </p:pic>
      <p:pic>
        <p:nvPicPr>
          <p:cNvPr id="3" name="Picture 2">
            <a:extLst>
              <a:ext uri="{FF2B5EF4-FFF2-40B4-BE49-F238E27FC236}">
                <a16:creationId xmlns:a16="http://schemas.microsoft.com/office/drawing/2014/main" id="{02213510-C36F-4B4E-A815-CF2A96B06AED}"/>
              </a:ext>
            </a:extLst>
          </p:cNvPr>
          <p:cNvPicPr>
            <a:picLocks noChangeAspect="1"/>
          </p:cNvPicPr>
          <p:nvPr/>
        </p:nvPicPr>
        <p:blipFill>
          <a:blip r:embed="rId4"/>
          <a:stretch>
            <a:fillRect/>
          </a:stretch>
        </p:blipFill>
        <p:spPr>
          <a:xfrm>
            <a:off x="767408" y="1340768"/>
            <a:ext cx="8009314" cy="3109229"/>
          </a:xfrm>
          <a:prstGeom prst="rect">
            <a:avLst/>
          </a:prstGeom>
        </p:spPr>
      </p:pic>
      <p:sp>
        <p:nvSpPr>
          <p:cNvPr id="4" name="Rectangle 3">
            <a:extLst>
              <a:ext uri="{FF2B5EF4-FFF2-40B4-BE49-F238E27FC236}">
                <a16:creationId xmlns:a16="http://schemas.microsoft.com/office/drawing/2014/main" id="{BF888D14-9374-4C77-9A60-FEE801D0C43E}"/>
              </a:ext>
            </a:extLst>
          </p:cNvPr>
          <p:cNvSpPr/>
          <p:nvPr/>
        </p:nvSpPr>
        <p:spPr>
          <a:xfrm>
            <a:off x="9015698" y="3933056"/>
            <a:ext cx="1400782" cy="353965"/>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cxnSp>
        <p:nvCxnSpPr>
          <p:cNvPr id="8" name="Straight Arrow Connector 7">
            <a:extLst>
              <a:ext uri="{FF2B5EF4-FFF2-40B4-BE49-F238E27FC236}">
                <a16:creationId xmlns:a16="http://schemas.microsoft.com/office/drawing/2014/main" id="{CE600A66-9FCB-47F0-B79E-5D0AD5B93428}"/>
              </a:ext>
            </a:extLst>
          </p:cNvPr>
          <p:cNvCxnSpPr/>
          <p:nvPr/>
        </p:nvCxnSpPr>
        <p:spPr>
          <a:xfrm>
            <a:off x="9552384" y="4287021"/>
            <a:ext cx="216024" cy="366115"/>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822AEE0-B814-47E6-964F-15E20567ADD8}"/>
              </a:ext>
            </a:extLst>
          </p:cNvPr>
          <p:cNvSpPr txBox="1"/>
          <p:nvPr/>
        </p:nvSpPr>
        <p:spPr>
          <a:xfrm>
            <a:off x="9408368" y="4653136"/>
            <a:ext cx="2376264" cy="220060"/>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1400" dirty="0"/>
              <a:t>action</a:t>
            </a:r>
            <a:r>
              <a:rPr lang="en-US" sz="1400" dirty="0">
                <a:sym typeface="Wingdings" panose="05000000000000000000" pitchFamily="2" charset="2"/>
              </a:rPr>
              <a:t>upTestPro1.php</a:t>
            </a:r>
            <a:endParaRPr lang="en-US" sz="1400" dirty="0"/>
          </a:p>
        </p:txBody>
      </p:sp>
    </p:spTree>
    <p:extLst>
      <p:ext uri="{BB962C8B-B14F-4D97-AF65-F5344CB8AC3E}">
        <p14:creationId xmlns:p14="http://schemas.microsoft.com/office/powerpoint/2010/main" val="2997957377"/>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10297145" cy="634605"/>
          </a:xfrm>
        </p:spPr>
        <p:txBody>
          <a:bodyPr vert="horz" lIns="0" tIns="0" rIns="0" bIns="0" rtlCol="0" anchor="t" anchorCtr="0">
            <a:noAutofit/>
          </a:bodyPr>
          <a:lstStyle/>
          <a:p>
            <a:r>
              <a:rPr lang="en-US" dirty="0"/>
              <a:t>Update Data In a MySQL Table Using </a:t>
            </a:r>
            <a:r>
              <a:rPr lang="en-US" dirty="0" err="1"/>
              <a:t>MySQLi</a:t>
            </a:r>
            <a:r>
              <a:rPr lang="en-US" dirty="0"/>
              <a:t>-procedural                      </a:t>
            </a:r>
            <a:r>
              <a:rPr lang="en-US" dirty="0" err="1"/>
              <a:t>contd</a:t>
            </a:r>
            <a:r>
              <a:rPr lang="en-US" dirty="0"/>
              <a:t>….</a:t>
            </a:r>
          </a:p>
        </p:txBody>
      </p:sp>
      <p:pic>
        <p:nvPicPr>
          <p:cNvPr id="6" name="Picture 5">
            <a:extLst>
              <a:ext uri="{FF2B5EF4-FFF2-40B4-BE49-F238E27FC236}">
                <a16:creationId xmlns:a16="http://schemas.microsoft.com/office/drawing/2014/main" id="{7557F1BA-D57B-453E-98E1-853571312F7F}"/>
              </a:ext>
            </a:extLst>
          </p:cNvPr>
          <p:cNvPicPr>
            <a:picLocks noChangeAspect="1"/>
          </p:cNvPicPr>
          <p:nvPr/>
        </p:nvPicPr>
        <p:blipFill>
          <a:blip r:embed="rId3"/>
          <a:stretch>
            <a:fillRect/>
          </a:stretch>
        </p:blipFill>
        <p:spPr>
          <a:xfrm>
            <a:off x="1703512" y="1195077"/>
            <a:ext cx="8784976" cy="5539057"/>
          </a:xfrm>
          <a:prstGeom prst="rect">
            <a:avLst/>
          </a:prstGeom>
        </p:spPr>
      </p:pic>
    </p:spTree>
    <p:extLst>
      <p:ext uri="{BB962C8B-B14F-4D97-AF65-F5344CB8AC3E}">
        <p14:creationId xmlns:p14="http://schemas.microsoft.com/office/powerpoint/2010/main" val="192978491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Working with </a:t>
            </a:r>
            <a:r>
              <a:rPr lang="en-US" dirty="0" err="1"/>
              <a:t>sql</a:t>
            </a:r>
            <a:r>
              <a:rPr lang="en-US" dirty="0"/>
              <a:t> Data</a:t>
            </a:r>
          </a:p>
        </p:txBody>
      </p:sp>
    </p:spTree>
    <p:extLst>
      <p:ext uri="{BB962C8B-B14F-4D97-AF65-F5344CB8AC3E}">
        <p14:creationId xmlns:p14="http://schemas.microsoft.com/office/powerpoint/2010/main" val="3235222720"/>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2207568" y="1628800"/>
            <a:ext cx="6984776" cy="3240360"/>
          </a:xfrm>
          <a:ln>
            <a:solidFill>
              <a:schemeClr val="accent2"/>
            </a:solidFill>
          </a:ln>
        </p:spPr>
        <p:txBody>
          <a:bodyPr/>
          <a:lstStyle/>
          <a:p>
            <a:pPr marL="0" indent="0">
              <a:buNone/>
            </a:pPr>
            <a:r>
              <a:rPr lang="en-US" dirty="0"/>
              <a:t>			WARNING</a:t>
            </a:r>
          </a:p>
          <a:p>
            <a:r>
              <a:rPr lang="en-US" dirty="0"/>
              <a:t>There is no more support for mysql_* functions, they are officially deprecated, no longer maintained and will be removed in the future.</a:t>
            </a:r>
          </a:p>
          <a:p>
            <a:r>
              <a:rPr lang="en-US" dirty="0"/>
              <a:t>You should update your code with PDO or </a:t>
            </a:r>
            <a:r>
              <a:rPr lang="en-US" dirty="0" err="1"/>
              <a:t>MySQLi</a:t>
            </a:r>
            <a:r>
              <a:rPr lang="en-US" dirty="0"/>
              <a:t> to ensure the functionality of your project in the future</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Working with Mysql Data</a:t>
            </a:r>
          </a:p>
        </p:txBody>
      </p:sp>
    </p:spTree>
    <p:extLst>
      <p:ext uri="{BB962C8B-B14F-4D97-AF65-F5344CB8AC3E}">
        <p14:creationId xmlns:p14="http://schemas.microsoft.com/office/powerpoint/2010/main" val="1084452149"/>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Working with Mysql Data</a:t>
            </a:r>
          </a:p>
        </p:txBody>
      </p:sp>
      <p:pic>
        <p:nvPicPr>
          <p:cNvPr id="4" name="Content Placeholder 3">
            <a:extLst>
              <a:ext uri="{FF2B5EF4-FFF2-40B4-BE49-F238E27FC236}">
                <a16:creationId xmlns:a16="http://schemas.microsoft.com/office/drawing/2014/main" id="{B5E5729F-D871-4A4B-925F-4F21895280B1}"/>
              </a:ext>
            </a:extLst>
          </p:cNvPr>
          <p:cNvPicPr>
            <a:picLocks noGrp="1" noChangeAspect="1"/>
          </p:cNvPicPr>
          <p:nvPr>
            <p:ph idx="1"/>
          </p:nvPr>
        </p:nvPicPr>
        <p:blipFill>
          <a:blip r:embed="rId3"/>
          <a:stretch>
            <a:fillRect/>
          </a:stretch>
        </p:blipFill>
        <p:spPr>
          <a:xfrm>
            <a:off x="1199456" y="1196752"/>
            <a:ext cx="9216680" cy="4697413"/>
          </a:xfrm>
          <a:prstGeom prst="rect">
            <a:avLst/>
          </a:prstGeom>
        </p:spPr>
      </p:pic>
    </p:spTree>
    <p:extLst>
      <p:ext uri="{BB962C8B-B14F-4D97-AF65-F5344CB8AC3E}">
        <p14:creationId xmlns:p14="http://schemas.microsoft.com/office/powerpoint/2010/main" val="3464154455"/>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Working with Mysql Data</a:t>
            </a:r>
          </a:p>
        </p:txBody>
      </p:sp>
      <p:pic>
        <p:nvPicPr>
          <p:cNvPr id="6" name="Content Placeholder 5">
            <a:extLst>
              <a:ext uri="{FF2B5EF4-FFF2-40B4-BE49-F238E27FC236}">
                <a16:creationId xmlns:a16="http://schemas.microsoft.com/office/drawing/2014/main" id="{46F0B1C0-7E38-433F-97E8-63BACBF0C404}"/>
              </a:ext>
            </a:extLst>
          </p:cNvPr>
          <p:cNvPicPr>
            <a:picLocks noGrp="1" noChangeAspect="1"/>
          </p:cNvPicPr>
          <p:nvPr>
            <p:ph idx="1"/>
          </p:nvPr>
        </p:nvPicPr>
        <p:blipFill>
          <a:blip r:embed="rId3"/>
          <a:stretch>
            <a:fillRect/>
          </a:stretch>
        </p:blipFill>
        <p:spPr>
          <a:xfrm>
            <a:off x="1703512" y="1484784"/>
            <a:ext cx="7648575" cy="4152900"/>
          </a:xfrm>
          <a:prstGeom prst="rect">
            <a:avLst/>
          </a:prstGeom>
        </p:spPr>
      </p:pic>
    </p:spTree>
    <p:extLst>
      <p:ext uri="{BB962C8B-B14F-4D97-AF65-F5344CB8AC3E}">
        <p14:creationId xmlns:p14="http://schemas.microsoft.com/office/powerpoint/2010/main" val="554632704"/>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Working with Mysql Data</a:t>
            </a:r>
          </a:p>
        </p:txBody>
      </p:sp>
      <p:pic>
        <p:nvPicPr>
          <p:cNvPr id="4" name="Content Placeholder 3">
            <a:extLst>
              <a:ext uri="{FF2B5EF4-FFF2-40B4-BE49-F238E27FC236}">
                <a16:creationId xmlns:a16="http://schemas.microsoft.com/office/drawing/2014/main" id="{89F94A72-6843-47BC-948E-E81D28216B2A}"/>
              </a:ext>
            </a:extLst>
          </p:cNvPr>
          <p:cNvPicPr>
            <a:picLocks noGrp="1" noChangeAspect="1"/>
          </p:cNvPicPr>
          <p:nvPr>
            <p:ph idx="1"/>
          </p:nvPr>
        </p:nvPicPr>
        <p:blipFill>
          <a:blip r:embed="rId3"/>
          <a:stretch>
            <a:fillRect/>
          </a:stretch>
        </p:blipFill>
        <p:spPr>
          <a:xfrm>
            <a:off x="623391" y="1039268"/>
            <a:ext cx="8784976" cy="5792778"/>
          </a:xfrm>
          <a:prstGeom prst="rect">
            <a:avLst/>
          </a:prstGeom>
        </p:spPr>
      </p:pic>
    </p:spTree>
    <p:extLst>
      <p:ext uri="{BB962C8B-B14F-4D97-AF65-F5344CB8AC3E}">
        <p14:creationId xmlns:p14="http://schemas.microsoft.com/office/powerpoint/2010/main" val="1807851930"/>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Reading from Database Dynamically </a:t>
            </a:r>
          </a:p>
        </p:txBody>
      </p:sp>
    </p:spTree>
    <p:extLst>
      <p:ext uri="{BB962C8B-B14F-4D97-AF65-F5344CB8AC3E}">
        <p14:creationId xmlns:p14="http://schemas.microsoft.com/office/powerpoint/2010/main" val="3858351396"/>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Accessing Mysql Data-through dynamic Form data </a:t>
            </a:r>
          </a:p>
        </p:txBody>
      </p:sp>
      <p:pic>
        <p:nvPicPr>
          <p:cNvPr id="10" name="Picture 9">
            <a:extLst>
              <a:ext uri="{FF2B5EF4-FFF2-40B4-BE49-F238E27FC236}">
                <a16:creationId xmlns:a16="http://schemas.microsoft.com/office/drawing/2014/main" id="{60B069E9-5E02-404D-ADBE-E6D016600F7A}"/>
              </a:ext>
            </a:extLst>
          </p:cNvPr>
          <p:cNvPicPr>
            <a:picLocks noChangeAspect="1"/>
          </p:cNvPicPr>
          <p:nvPr/>
        </p:nvPicPr>
        <p:blipFill>
          <a:blip r:embed="rId3"/>
          <a:stretch>
            <a:fillRect/>
          </a:stretch>
        </p:blipFill>
        <p:spPr>
          <a:xfrm>
            <a:off x="7032104" y="1196752"/>
            <a:ext cx="4953000" cy="3952875"/>
          </a:xfrm>
          <a:prstGeom prst="rect">
            <a:avLst/>
          </a:prstGeom>
        </p:spPr>
      </p:pic>
      <p:pic>
        <p:nvPicPr>
          <p:cNvPr id="11" name="Picture 10">
            <a:extLst>
              <a:ext uri="{FF2B5EF4-FFF2-40B4-BE49-F238E27FC236}">
                <a16:creationId xmlns:a16="http://schemas.microsoft.com/office/drawing/2014/main" id="{4B155718-0040-4E0A-B927-CC8E7ADB083B}"/>
              </a:ext>
            </a:extLst>
          </p:cNvPr>
          <p:cNvPicPr>
            <a:picLocks noChangeAspect="1"/>
          </p:cNvPicPr>
          <p:nvPr/>
        </p:nvPicPr>
        <p:blipFill>
          <a:blip r:embed="rId4"/>
          <a:stretch>
            <a:fillRect/>
          </a:stretch>
        </p:blipFill>
        <p:spPr>
          <a:xfrm>
            <a:off x="317308" y="2424980"/>
            <a:ext cx="3409950" cy="2400300"/>
          </a:xfrm>
          <a:prstGeom prst="rect">
            <a:avLst/>
          </a:prstGeom>
        </p:spPr>
      </p:pic>
      <p:pic>
        <p:nvPicPr>
          <p:cNvPr id="12" name="Picture 11">
            <a:extLst>
              <a:ext uri="{FF2B5EF4-FFF2-40B4-BE49-F238E27FC236}">
                <a16:creationId xmlns:a16="http://schemas.microsoft.com/office/drawing/2014/main" id="{A882DE0B-F7D8-44E9-ACB5-BCAC8A892D93}"/>
              </a:ext>
            </a:extLst>
          </p:cNvPr>
          <p:cNvPicPr>
            <a:picLocks noChangeAspect="1"/>
          </p:cNvPicPr>
          <p:nvPr/>
        </p:nvPicPr>
        <p:blipFill>
          <a:blip r:embed="rId5"/>
          <a:stretch>
            <a:fillRect/>
          </a:stretch>
        </p:blipFill>
        <p:spPr>
          <a:xfrm>
            <a:off x="2341441" y="2939473"/>
            <a:ext cx="2400300" cy="2505075"/>
          </a:xfrm>
          <a:prstGeom prst="rect">
            <a:avLst/>
          </a:prstGeom>
        </p:spPr>
      </p:pic>
      <p:pic>
        <p:nvPicPr>
          <p:cNvPr id="13" name="Picture 12">
            <a:extLst>
              <a:ext uri="{FF2B5EF4-FFF2-40B4-BE49-F238E27FC236}">
                <a16:creationId xmlns:a16="http://schemas.microsoft.com/office/drawing/2014/main" id="{65A0CC4F-9FC2-4D77-94B5-319D085B7A42}"/>
              </a:ext>
            </a:extLst>
          </p:cNvPr>
          <p:cNvPicPr>
            <a:picLocks noChangeAspect="1"/>
          </p:cNvPicPr>
          <p:nvPr/>
        </p:nvPicPr>
        <p:blipFill>
          <a:blip r:embed="rId6"/>
          <a:stretch>
            <a:fillRect/>
          </a:stretch>
        </p:blipFill>
        <p:spPr>
          <a:xfrm>
            <a:off x="4804086" y="3920902"/>
            <a:ext cx="1981200" cy="2457450"/>
          </a:xfrm>
          <a:prstGeom prst="rect">
            <a:avLst/>
          </a:prstGeom>
        </p:spPr>
      </p:pic>
      <p:pic>
        <p:nvPicPr>
          <p:cNvPr id="16" name="Picture 15">
            <a:extLst>
              <a:ext uri="{FF2B5EF4-FFF2-40B4-BE49-F238E27FC236}">
                <a16:creationId xmlns:a16="http://schemas.microsoft.com/office/drawing/2014/main" id="{EF2F6186-E60D-483B-A44B-78A3A452D861}"/>
              </a:ext>
            </a:extLst>
          </p:cNvPr>
          <p:cNvPicPr>
            <a:picLocks noChangeAspect="1"/>
          </p:cNvPicPr>
          <p:nvPr/>
        </p:nvPicPr>
        <p:blipFill>
          <a:blip r:embed="rId7"/>
          <a:stretch>
            <a:fillRect/>
          </a:stretch>
        </p:blipFill>
        <p:spPr>
          <a:xfrm>
            <a:off x="317308" y="1329511"/>
            <a:ext cx="2390775" cy="561975"/>
          </a:xfrm>
          <a:prstGeom prst="rect">
            <a:avLst/>
          </a:prstGeom>
          <a:ln>
            <a:solidFill>
              <a:schemeClr val="accent2"/>
            </a:solidFill>
          </a:ln>
        </p:spPr>
      </p:pic>
      <p:cxnSp>
        <p:nvCxnSpPr>
          <p:cNvPr id="18" name="Straight Arrow Connector 17">
            <a:extLst>
              <a:ext uri="{FF2B5EF4-FFF2-40B4-BE49-F238E27FC236}">
                <a16:creationId xmlns:a16="http://schemas.microsoft.com/office/drawing/2014/main" id="{975FD69E-98DE-4867-9C6B-CA19C4C8ED9F}"/>
              </a:ext>
            </a:extLst>
          </p:cNvPr>
          <p:cNvCxnSpPr>
            <a:cxnSpLocks/>
          </p:cNvCxnSpPr>
          <p:nvPr/>
        </p:nvCxnSpPr>
        <p:spPr>
          <a:xfrm>
            <a:off x="1487488" y="1819367"/>
            <a:ext cx="0" cy="573730"/>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1" name="Picture 20">
            <a:extLst>
              <a:ext uri="{FF2B5EF4-FFF2-40B4-BE49-F238E27FC236}">
                <a16:creationId xmlns:a16="http://schemas.microsoft.com/office/drawing/2014/main" id="{F3BEF1BA-BCA7-4255-A484-4DB612734E2E}"/>
              </a:ext>
            </a:extLst>
          </p:cNvPr>
          <p:cNvPicPr>
            <a:picLocks noChangeAspect="1"/>
          </p:cNvPicPr>
          <p:nvPr/>
        </p:nvPicPr>
        <p:blipFill>
          <a:blip r:embed="rId8"/>
          <a:stretch>
            <a:fillRect/>
          </a:stretch>
        </p:blipFill>
        <p:spPr>
          <a:xfrm>
            <a:off x="2587227" y="1348466"/>
            <a:ext cx="2390775" cy="571500"/>
          </a:xfrm>
          <a:prstGeom prst="rect">
            <a:avLst/>
          </a:prstGeom>
          <a:ln>
            <a:solidFill>
              <a:schemeClr val="accent2"/>
            </a:solidFill>
          </a:ln>
        </p:spPr>
      </p:pic>
      <p:cxnSp>
        <p:nvCxnSpPr>
          <p:cNvPr id="23" name="Straight Arrow Connector 22">
            <a:extLst>
              <a:ext uri="{FF2B5EF4-FFF2-40B4-BE49-F238E27FC236}">
                <a16:creationId xmlns:a16="http://schemas.microsoft.com/office/drawing/2014/main" id="{F843A93E-6CAF-4472-A967-A87A13BBA6A6}"/>
              </a:ext>
            </a:extLst>
          </p:cNvPr>
          <p:cNvCxnSpPr>
            <a:cxnSpLocks/>
          </p:cNvCxnSpPr>
          <p:nvPr/>
        </p:nvCxnSpPr>
        <p:spPr>
          <a:xfrm flipH="1">
            <a:off x="3640639" y="1986005"/>
            <a:ext cx="74038" cy="953468"/>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62917A0B-74C7-4E1B-B7C6-3689BDCB5461}"/>
              </a:ext>
            </a:extLst>
          </p:cNvPr>
          <p:cNvPicPr>
            <a:picLocks noChangeAspect="1"/>
          </p:cNvPicPr>
          <p:nvPr/>
        </p:nvPicPr>
        <p:blipFill>
          <a:blip r:embed="rId9"/>
          <a:stretch>
            <a:fillRect/>
          </a:stretch>
        </p:blipFill>
        <p:spPr>
          <a:xfrm>
            <a:off x="4527861" y="2094490"/>
            <a:ext cx="2257425" cy="571500"/>
          </a:xfrm>
          <a:prstGeom prst="rect">
            <a:avLst/>
          </a:prstGeom>
          <a:ln>
            <a:solidFill>
              <a:schemeClr val="accent2"/>
            </a:solidFill>
          </a:ln>
        </p:spPr>
      </p:pic>
      <p:cxnSp>
        <p:nvCxnSpPr>
          <p:cNvPr id="27" name="Straight Arrow Connector 26">
            <a:extLst>
              <a:ext uri="{FF2B5EF4-FFF2-40B4-BE49-F238E27FC236}">
                <a16:creationId xmlns:a16="http://schemas.microsoft.com/office/drawing/2014/main" id="{B3B27B67-F020-46DE-A8FB-E53E112757BD}"/>
              </a:ext>
            </a:extLst>
          </p:cNvPr>
          <p:cNvCxnSpPr>
            <a:cxnSpLocks/>
          </p:cNvCxnSpPr>
          <p:nvPr/>
        </p:nvCxnSpPr>
        <p:spPr>
          <a:xfrm>
            <a:off x="5591944" y="2953677"/>
            <a:ext cx="0" cy="1051387"/>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0305846"/>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Working with Mysql </a:t>
            </a:r>
            <a:r>
              <a:rPr lang="en-US"/>
              <a:t>Data-through Form data</a:t>
            </a:r>
            <a:endParaRPr lang="en-US" dirty="0"/>
          </a:p>
        </p:txBody>
      </p:sp>
      <p:pic>
        <p:nvPicPr>
          <p:cNvPr id="6" name="Content Placeholder 5">
            <a:extLst>
              <a:ext uri="{FF2B5EF4-FFF2-40B4-BE49-F238E27FC236}">
                <a16:creationId xmlns:a16="http://schemas.microsoft.com/office/drawing/2014/main" id="{72D82E4A-B36F-446D-91A5-3EB2B2DDBC84}"/>
              </a:ext>
            </a:extLst>
          </p:cNvPr>
          <p:cNvPicPr>
            <a:picLocks noGrp="1" noChangeAspect="1"/>
          </p:cNvPicPr>
          <p:nvPr>
            <p:ph idx="1"/>
          </p:nvPr>
        </p:nvPicPr>
        <p:blipFill>
          <a:blip r:embed="rId3"/>
          <a:stretch>
            <a:fillRect/>
          </a:stretch>
        </p:blipFill>
        <p:spPr>
          <a:xfrm>
            <a:off x="623391" y="1196752"/>
            <a:ext cx="8527611" cy="4697413"/>
          </a:xfrm>
          <a:prstGeom prst="rect">
            <a:avLst/>
          </a:prstGeom>
        </p:spPr>
      </p:pic>
    </p:spTree>
    <p:extLst>
      <p:ext uri="{BB962C8B-B14F-4D97-AF65-F5344CB8AC3E}">
        <p14:creationId xmlns:p14="http://schemas.microsoft.com/office/powerpoint/2010/main" val="1701289148"/>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Working with Mysql </a:t>
            </a:r>
            <a:r>
              <a:rPr lang="en-US"/>
              <a:t>Data-through Form data</a:t>
            </a:r>
            <a:endParaRPr lang="en-US" dirty="0"/>
          </a:p>
        </p:txBody>
      </p:sp>
      <p:pic>
        <p:nvPicPr>
          <p:cNvPr id="7" name="Content Placeholder 6">
            <a:extLst>
              <a:ext uri="{FF2B5EF4-FFF2-40B4-BE49-F238E27FC236}">
                <a16:creationId xmlns:a16="http://schemas.microsoft.com/office/drawing/2014/main" id="{B9DB8CCA-33F2-416C-8868-FE8601C90895}"/>
              </a:ext>
            </a:extLst>
          </p:cNvPr>
          <p:cNvPicPr>
            <a:picLocks noGrp="1" noChangeAspect="1"/>
          </p:cNvPicPr>
          <p:nvPr>
            <p:ph idx="1"/>
          </p:nvPr>
        </p:nvPicPr>
        <p:blipFill>
          <a:blip r:embed="rId3"/>
          <a:stretch>
            <a:fillRect/>
          </a:stretch>
        </p:blipFill>
        <p:spPr>
          <a:xfrm>
            <a:off x="623391" y="1119874"/>
            <a:ext cx="8886546" cy="5621494"/>
          </a:xfrm>
          <a:prstGeom prst="rect">
            <a:avLst/>
          </a:prstGeom>
        </p:spPr>
      </p:pic>
    </p:spTree>
    <p:extLst>
      <p:ext uri="{BB962C8B-B14F-4D97-AF65-F5344CB8AC3E}">
        <p14:creationId xmlns:p14="http://schemas.microsoft.com/office/powerpoint/2010/main" val="2297228520"/>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a:xfrm>
            <a:off x="729620" y="3080634"/>
            <a:ext cx="9470836" cy="708406"/>
          </a:xfrm>
        </p:spPr>
        <p:txBody>
          <a:bodyPr/>
          <a:lstStyle/>
          <a:p>
            <a:pPr algn="ctr"/>
            <a:r>
              <a:rPr lang="en-US" dirty="0"/>
              <a:t> Dynamic Contents</a:t>
            </a:r>
          </a:p>
        </p:txBody>
      </p:sp>
    </p:spTree>
    <p:extLst>
      <p:ext uri="{BB962C8B-B14F-4D97-AF65-F5344CB8AC3E}">
        <p14:creationId xmlns:p14="http://schemas.microsoft.com/office/powerpoint/2010/main" val="3646944571"/>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05256" cy="1512168"/>
          </a:xfrm>
        </p:spPr>
        <p:txBody>
          <a:bodyPr/>
          <a:lstStyle/>
          <a:p>
            <a:r>
              <a:rPr lang="en-US" dirty="0"/>
              <a:t>PHP can dynamically change the HTML5 it outputs based on a user’s input.</a:t>
            </a:r>
          </a:p>
          <a:p>
            <a:r>
              <a:rPr lang="en-US" dirty="0"/>
              <a:t>We can combine the HTML5 form &amp; PHP script into one dynamic document. </a:t>
            </a:r>
          </a:p>
          <a:p>
            <a:r>
              <a:rPr lang="en-US" dirty="0"/>
              <a:t>The form is created using a series of loops, arrays and conditionals. </a:t>
            </a:r>
          </a:p>
          <a:p>
            <a:r>
              <a:rPr lang="en-US" dirty="0"/>
              <a:t>We add error checking to each of the text input fields and inform the user of invalid entries on the form itself, rather than on an error page. </a:t>
            </a:r>
          </a:p>
          <a:p>
            <a:r>
              <a:rPr lang="en-US" dirty="0"/>
              <a:t>If an error exists, the script maintains the previously submitted values in each form element. </a:t>
            </a:r>
          </a:p>
          <a:p>
            <a:r>
              <a:rPr lang="en-US" dirty="0"/>
              <a:t>Finally, after the form has been successfully completed, we store the input from the user in a MySQL database.</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a:t>
            </a:r>
          </a:p>
        </p:txBody>
      </p:sp>
    </p:spTree>
    <p:extLst>
      <p:ext uri="{BB962C8B-B14F-4D97-AF65-F5344CB8AC3E}">
        <p14:creationId xmlns:p14="http://schemas.microsoft.com/office/powerpoint/2010/main" val="4242421451"/>
      </p:ext>
    </p:extLst>
  </p:cSld>
  <p:clrMapOvr>
    <a:masterClrMapping/>
  </p:clrMapOvr>
  <p:transition>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Content-Creation of </a:t>
            </a:r>
            <a:r>
              <a:rPr lang="en-US" dirty="0" err="1"/>
              <a:t>mailinglist</a:t>
            </a:r>
            <a:r>
              <a:rPr lang="en-US" dirty="0"/>
              <a:t> Table</a:t>
            </a:r>
          </a:p>
        </p:txBody>
      </p:sp>
      <p:pic>
        <p:nvPicPr>
          <p:cNvPr id="6" name="Content Placeholder 5">
            <a:extLst>
              <a:ext uri="{FF2B5EF4-FFF2-40B4-BE49-F238E27FC236}">
                <a16:creationId xmlns:a16="http://schemas.microsoft.com/office/drawing/2014/main" id="{90334444-2932-4F53-9A4B-957600A1C833}"/>
              </a:ext>
            </a:extLst>
          </p:cNvPr>
          <p:cNvPicPr>
            <a:picLocks noGrp="1" noChangeAspect="1"/>
          </p:cNvPicPr>
          <p:nvPr>
            <p:ph idx="1"/>
          </p:nvPr>
        </p:nvPicPr>
        <p:blipFill>
          <a:blip r:embed="rId3"/>
          <a:stretch>
            <a:fillRect/>
          </a:stretch>
        </p:blipFill>
        <p:spPr>
          <a:xfrm>
            <a:off x="551384" y="1196752"/>
            <a:ext cx="10972800" cy="4643859"/>
          </a:xfrm>
          <a:prstGeom prst="rect">
            <a:avLst/>
          </a:prstGeom>
        </p:spPr>
      </p:pic>
    </p:spTree>
    <p:extLst>
      <p:ext uri="{BB962C8B-B14F-4D97-AF65-F5344CB8AC3E}">
        <p14:creationId xmlns:p14="http://schemas.microsoft.com/office/powerpoint/2010/main" val="2226822765"/>
      </p:ext>
    </p:extLst>
  </p:cSld>
  <p:clrMapOvr>
    <a:masterClrMapping/>
  </p:clrMapOvr>
  <p:transition>
    <p:fad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9CD53F-94BA-402D-917B-E9C838C969EE}"/>
              </a:ext>
            </a:extLst>
          </p:cNvPr>
          <p:cNvPicPr>
            <a:picLocks noChangeAspect="1"/>
          </p:cNvPicPr>
          <p:nvPr/>
        </p:nvPicPr>
        <p:blipFill>
          <a:blip r:embed="rId2"/>
          <a:stretch>
            <a:fillRect/>
          </a:stretch>
        </p:blipFill>
        <p:spPr>
          <a:xfrm>
            <a:off x="119336" y="-12226"/>
            <a:ext cx="5194913" cy="6858000"/>
          </a:xfrm>
          <a:prstGeom prst="rect">
            <a:avLst/>
          </a:prstGeom>
          <a:ln>
            <a:solidFill>
              <a:schemeClr val="accent2"/>
            </a:solidFill>
          </a:ln>
        </p:spPr>
      </p:pic>
      <p:pic>
        <p:nvPicPr>
          <p:cNvPr id="3" name="Picture 2">
            <a:extLst>
              <a:ext uri="{FF2B5EF4-FFF2-40B4-BE49-F238E27FC236}">
                <a16:creationId xmlns:a16="http://schemas.microsoft.com/office/drawing/2014/main" id="{69B13297-B3AC-44F8-BD62-319164A90051}"/>
              </a:ext>
            </a:extLst>
          </p:cNvPr>
          <p:cNvPicPr>
            <a:picLocks noChangeAspect="1"/>
          </p:cNvPicPr>
          <p:nvPr/>
        </p:nvPicPr>
        <p:blipFill>
          <a:blip r:embed="rId3"/>
          <a:stretch>
            <a:fillRect/>
          </a:stretch>
        </p:blipFill>
        <p:spPr>
          <a:xfrm>
            <a:off x="5879976" y="116632"/>
            <a:ext cx="5781675" cy="2705100"/>
          </a:xfrm>
          <a:prstGeom prst="rect">
            <a:avLst/>
          </a:prstGeom>
          <a:ln>
            <a:solidFill>
              <a:schemeClr val="accent2"/>
            </a:solidFill>
          </a:ln>
        </p:spPr>
      </p:pic>
      <p:pic>
        <p:nvPicPr>
          <p:cNvPr id="4" name="Picture 3">
            <a:extLst>
              <a:ext uri="{FF2B5EF4-FFF2-40B4-BE49-F238E27FC236}">
                <a16:creationId xmlns:a16="http://schemas.microsoft.com/office/drawing/2014/main" id="{E4D73385-7A96-4A48-B81C-00326D8033C3}"/>
              </a:ext>
            </a:extLst>
          </p:cNvPr>
          <p:cNvPicPr>
            <a:picLocks noChangeAspect="1"/>
          </p:cNvPicPr>
          <p:nvPr/>
        </p:nvPicPr>
        <p:blipFill>
          <a:blip r:embed="rId4"/>
          <a:stretch>
            <a:fillRect/>
          </a:stretch>
        </p:blipFill>
        <p:spPr>
          <a:xfrm>
            <a:off x="5429250" y="3705833"/>
            <a:ext cx="6762750" cy="3181350"/>
          </a:xfrm>
          <a:prstGeom prst="rect">
            <a:avLst/>
          </a:prstGeom>
        </p:spPr>
      </p:pic>
    </p:spTree>
    <p:extLst>
      <p:ext uri="{BB962C8B-B14F-4D97-AF65-F5344CB8AC3E}">
        <p14:creationId xmlns:p14="http://schemas.microsoft.com/office/powerpoint/2010/main" val="2695084670"/>
      </p:ext>
    </p:extLst>
  </p:cSld>
  <p:clrMapOvr>
    <a:masterClrMapping/>
  </p:clrMapOvr>
  <p:transition>
    <p:fad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22EC13-2903-4B38-8DDE-F27CE9BA9446}"/>
              </a:ext>
            </a:extLst>
          </p:cNvPr>
          <p:cNvPicPr>
            <a:picLocks noChangeAspect="1"/>
          </p:cNvPicPr>
          <p:nvPr/>
        </p:nvPicPr>
        <p:blipFill>
          <a:blip r:embed="rId2"/>
          <a:stretch>
            <a:fillRect/>
          </a:stretch>
        </p:blipFill>
        <p:spPr>
          <a:xfrm>
            <a:off x="839416" y="142875"/>
            <a:ext cx="9077325" cy="6572250"/>
          </a:xfrm>
          <a:prstGeom prst="rect">
            <a:avLst/>
          </a:prstGeom>
        </p:spPr>
      </p:pic>
    </p:spTree>
    <p:extLst>
      <p:ext uri="{BB962C8B-B14F-4D97-AF65-F5344CB8AC3E}">
        <p14:creationId xmlns:p14="http://schemas.microsoft.com/office/powerpoint/2010/main" val="3795967141"/>
      </p:ext>
    </p:extLst>
  </p:cSld>
  <p:clrMapOvr>
    <a:masterClrMapping/>
  </p:clrMapOvr>
  <p:transition>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05256" cy="1512168"/>
          </a:xfrm>
        </p:spPr>
        <p:txBody>
          <a:bodyPr/>
          <a:lstStyle/>
          <a:p>
            <a:r>
              <a:rPr lang="en-US" dirty="0"/>
              <a:t>Lines 18–24 create variables that are used throughout the script to fill in form fields and check for errors.</a:t>
            </a:r>
          </a:p>
          <a:p>
            <a:r>
              <a:rPr lang="en-US" dirty="0"/>
              <a:t>Line 25 creates an array for </a:t>
            </a:r>
            <a:r>
              <a:rPr lang="en-US" dirty="0" err="1"/>
              <a:t>formerrors</a:t>
            </a:r>
            <a:endParaRPr lang="en-US" dirty="0"/>
          </a:p>
          <a:p>
            <a:r>
              <a:rPr lang="en-US" dirty="0"/>
              <a:t>Lines 27,29,30 create three arrays, $booklist, $</a:t>
            </a:r>
            <a:r>
              <a:rPr lang="en-US" dirty="0" err="1"/>
              <a:t>systemlist</a:t>
            </a:r>
            <a:r>
              <a:rPr lang="en-US" dirty="0"/>
              <a:t> and $</a:t>
            </a:r>
            <a:r>
              <a:rPr lang="en-US" dirty="0" err="1"/>
              <a:t>inputlist</a:t>
            </a:r>
            <a:r>
              <a:rPr lang="en-US" dirty="0"/>
              <a:t>, that are used to dynamically create the form’s input fields. </a:t>
            </a:r>
          </a:p>
          <a:p>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Content-Variables &amp; Arrays</a:t>
            </a:r>
          </a:p>
        </p:txBody>
      </p:sp>
      <p:pic>
        <p:nvPicPr>
          <p:cNvPr id="2" name="Picture 1">
            <a:extLst>
              <a:ext uri="{FF2B5EF4-FFF2-40B4-BE49-F238E27FC236}">
                <a16:creationId xmlns:a16="http://schemas.microsoft.com/office/drawing/2014/main" id="{CB58302C-CBC7-455A-8D4A-F17C0A5306D4}"/>
              </a:ext>
            </a:extLst>
          </p:cNvPr>
          <p:cNvPicPr>
            <a:picLocks noChangeAspect="1"/>
          </p:cNvPicPr>
          <p:nvPr/>
        </p:nvPicPr>
        <p:blipFill>
          <a:blip r:embed="rId3"/>
          <a:stretch>
            <a:fillRect/>
          </a:stretch>
        </p:blipFill>
        <p:spPr>
          <a:xfrm>
            <a:off x="983432" y="3200749"/>
            <a:ext cx="10727076" cy="2514330"/>
          </a:xfrm>
          <a:prstGeom prst="rect">
            <a:avLst/>
          </a:prstGeom>
        </p:spPr>
      </p:pic>
    </p:spTree>
    <p:extLst>
      <p:ext uri="{BB962C8B-B14F-4D97-AF65-F5344CB8AC3E}">
        <p14:creationId xmlns:p14="http://schemas.microsoft.com/office/powerpoint/2010/main" val="499820517"/>
      </p:ext>
    </p:extLst>
  </p:cSld>
  <p:clrMapOvr>
    <a:masterClrMapping/>
  </p:clrMapOvr>
  <p:transition>
    <p:fad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Content-Variables &amp; Arrays</a:t>
            </a:r>
          </a:p>
        </p:txBody>
      </p:sp>
      <p:pic>
        <p:nvPicPr>
          <p:cNvPr id="8" name="Picture 7">
            <a:extLst>
              <a:ext uri="{FF2B5EF4-FFF2-40B4-BE49-F238E27FC236}">
                <a16:creationId xmlns:a16="http://schemas.microsoft.com/office/drawing/2014/main" id="{27AE65AF-31E6-4956-94D9-370FF5F88D1C}"/>
              </a:ext>
            </a:extLst>
          </p:cNvPr>
          <p:cNvPicPr>
            <a:picLocks noChangeAspect="1"/>
          </p:cNvPicPr>
          <p:nvPr/>
        </p:nvPicPr>
        <p:blipFill>
          <a:blip r:embed="rId3"/>
          <a:stretch>
            <a:fillRect/>
          </a:stretch>
        </p:blipFill>
        <p:spPr>
          <a:xfrm>
            <a:off x="119336" y="1194822"/>
            <a:ext cx="4547583" cy="5159555"/>
          </a:xfrm>
          <a:prstGeom prst="rect">
            <a:avLst/>
          </a:prstGeom>
        </p:spPr>
      </p:pic>
      <p:pic>
        <p:nvPicPr>
          <p:cNvPr id="9" name="Picture 8">
            <a:extLst>
              <a:ext uri="{FF2B5EF4-FFF2-40B4-BE49-F238E27FC236}">
                <a16:creationId xmlns:a16="http://schemas.microsoft.com/office/drawing/2014/main" id="{DC130BE7-8843-4E37-AF36-F379EC1B2C0C}"/>
              </a:ext>
            </a:extLst>
          </p:cNvPr>
          <p:cNvPicPr>
            <a:picLocks noChangeAspect="1"/>
          </p:cNvPicPr>
          <p:nvPr/>
        </p:nvPicPr>
        <p:blipFill>
          <a:blip r:embed="rId4"/>
          <a:stretch>
            <a:fillRect/>
          </a:stretch>
        </p:blipFill>
        <p:spPr>
          <a:xfrm>
            <a:off x="4725996" y="1194822"/>
            <a:ext cx="7343775" cy="5181600"/>
          </a:xfrm>
          <a:prstGeom prst="rect">
            <a:avLst/>
          </a:prstGeom>
        </p:spPr>
      </p:pic>
    </p:spTree>
    <p:extLst>
      <p:ext uri="{BB962C8B-B14F-4D97-AF65-F5344CB8AC3E}">
        <p14:creationId xmlns:p14="http://schemas.microsoft.com/office/powerpoint/2010/main" val="214708094"/>
      </p:ext>
    </p:extLst>
  </p:cSld>
  <p:clrMapOvr>
    <a:masterClrMapping/>
  </p:clrMapOvr>
  <p:transition>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Content-Variables &amp; Arrays</a:t>
            </a:r>
          </a:p>
        </p:txBody>
      </p:sp>
      <p:pic>
        <p:nvPicPr>
          <p:cNvPr id="2" name="Picture 1">
            <a:extLst>
              <a:ext uri="{FF2B5EF4-FFF2-40B4-BE49-F238E27FC236}">
                <a16:creationId xmlns:a16="http://schemas.microsoft.com/office/drawing/2014/main" id="{3BE092F2-CE45-4004-AE80-B0101578D6A4}"/>
              </a:ext>
            </a:extLst>
          </p:cNvPr>
          <p:cNvPicPr>
            <a:picLocks noChangeAspect="1"/>
          </p:cNvPicPr>
          <p:nvPr/>
        </p:nvPicPr>
        <p:blipFill>
          <a:blip r:embed="rId3"/>
          <a:stretch>
            <a:fillRect/>
          </a:stretch>
        </p:blipFill>
        <p:spPr>
          <a:xfrm>
            <a:off x="407368" y="1069400"/>
            <a:ext cx="7248525" cy="4352925"/>
          </a:xfrm>
          <a:prstGeom prst="rect">
            <a:avLst/>
          </a:prstGeom>
        </p:spPr>
      </p:pic>
      <p:pic>
        <p:nvPicPr>
          <p:cNvPr id="6" name="Picture 5">
            <a:extLst>
              <a:ext uri="{FF2B5EF4-FFF2-40B4-BE49-F238E27FC236}">
                <a16:creationId xmlns:a16="http://schemas.microsoft.com/office/drawing/2014/main" id="{862C25E1-FC6E-4A38-8201-D86758534402}"/>
              </a:ext>
            </a:extLst>
          </p:cNvPr>
          <p:cNvPicPr>
            <a:picLocks noChangeAspect="1"/>
          </p:cNvPicPr>
          <p:nvPr/>
        </p:nvPicPr>
        <p:blipFill>
          <a:blip r:embed="rId4"/>
          <a:stretch>
            <a:fillRect/>
          </a:stretch>
        </p:blipFill>
        <p:spPr>
          <a:xfrm>
            <a:off x="6384032" y="4149080"/>
            <a:ext cx="5565651" cy="2604028"/>
          </a:xfrm>
          <a:prstGeom prst="rect">
            <a:avLst/>
          </a:prstGeom>
        </p:spPr>
      </p:pic>
    </p:spTree>
    <p:extLst>
      <p:ext uri="{BB962C8B-B14F-4D97-AF65-F5344CB8AC3E}">
        <p14:creationId xmlns:p14="http://schemas.microsoft.com/office/powerpoint/2010/main" val="802435449"/>
      </p:ext>
    </p:extLst>
  </p:cSld>
  <p:clrMapOvr>
    <a:masterClrMapping/>
  </p:clrMapOvr>
  <p:transition>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05256" cy="1512168"/>
          </a:xfrm>
        </p:spPr>
        <p:txBody>
          <a:bodyPr/>
          <a:lstStyle/>
          <a:p>
            <a:r>
              <a:rPr lang="en-US" dirty="0"/>
              <a:t>We specify that the form created in this document is self-submitting (i.e., it posts to itself) by setting the action to the script '</a:t>
            </a:r>
            <a:r>
              <a:rPr lang="en-US" dirty="0" err="1"/>
              <a:t>dynamicForm.php</a:t>
            </a:r>
            <a:r>
              <a:rPr lang="en-US" dirty="0"/>
              <a:t>' in line 94.</a:t>
            </a:r>
          </a:p>
          <a:p>
            <a:r>
              <a:rPr lang="en-US" dirty="0"/>
              <a:t>Lines 32-72 use the </a:t>
            </a:r>
            <a:r>
              <a:rPr lang="en-US" dirty="0" err="1"/>
              <a:t>isset</a:t>
            </a:r>
            <a:r>
              <a:rPr lang="en-US" dirty="0"/>
              <a:t> function to determine whether the $_POST array contains keys representing the various form fields. </a:t>
            </a:r>
          </a:p>
          <a:p>
            <a:r>
              <a:rPr lang="en-US" dirty="0"/>
              <a:t>These keys exist only after the form is submitted.</a:t>
            </a:r>
          </a:p>
          <a:p>
            <a:r>
              <a:rPr lang="en-US" dirty="0"/>
              <a:t>If function </a:t>
            </a:r>
            <a:r>
              <a:rPr lang="en-US" dirty="0" err="1"/>
              <a:t>isset</a:t>
            </a:r>
            <a:r>
              <a:rPr lang="en-US" dirty="0"/>
              <a:t> returns true, then the form has been submitted and we assign the value for each key to a variable. Otherwise, we assign the empty string to each variable.</a:t>
            </a:r>
          </a:p>
          <a:p>
            <a:r>
              <a:rPr lang="en-US" dirty="0"/>
              <a:t>Line 53 determines whether any errors were detected, while Dynamically Creating the Form </a:t>
            </a:r>
          </a:p>
          <a:p>
            <a:r>
              <a:rPr lang="en-US" dirty="0"/>
              <a:t> If $</a:t>
            </a:r>
            <a:r>
              <a:rPr lang="en-US" dirty="0" err="1"/>
              <a:t>iserror</a:t>
            </a:r>
            <a:r>
              <a:rPr lang="en-US" dirty="0"/>
              <a:t> is false (i.e., there were no input errors), lines 54–88 display the page indicating that the form was submitted successfully</a:t>
            </a:r>
          </a:p>
          <a:p>
            <a:endParaRPr lang="en-US" dirty="0"/>
          </a:p>
          <a:p>
            <a:endParaRPr lang="en-US" dirty="0"/>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Content-Variables &amp; Arrays</a:t>
            </a:r>
          </a:p>
        </p:txBody>
      </p:sp>
    </p:spTree>
    <p:extLst>
      <p:ext uri="{BB962C8B-B14F-4D97-AF65-F5344CB8AC3E}">
        <p14:creationId xmlns:p14="http://schemas.microsoft.com/office/powerpoint/2010/main" val="2721378159"/>
      </p:ext>
    </p:extLst>
  </p:cSld>
  <p:clrMapOvr>
    <a:masterClrMapping/>
  </p:clrMapOvr>
  <p:transition>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407368" y="1124744"/>
            <a:ext cx="6192688" cy="1512168"/>
          </a:xfrm>
        </p:spPr>
        <p:txBody>
          <a:bodyPr/>
          <a:lstStyle/>
          <a:p>
            <a:r>
              <a:rPr lang="en-US" dirty="0"/>
              <a:t>If $</a:t>
            </a:r>
            <a:r>
              <a:rPr lang="en-US" dirty="0" err="1"/>
              <a:t>iserror</a:t>
            </a:r>
            <a:r>
              <a:rPr lang="en-US" dirty="0"/>
              <a:t> is true, lines 54–88 are skipped, and the code from lines 92-128 executes.</a:t>
            </a:r>
          </a:p>
          <a:p>
            <a:r>
              <a:rPr lang="en-US" dirty="0"/>
              <a:t> These lines include a series of print statements and conditionals to output the form, as seen in Fig.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 Dynamically Creating the Form</a:t>
            </a:r>
          </a:p>
        </p:txBody>
      </p:sp>
      <p:pic>
        <p:nvPicPr>
          <p:cNvPr id="2" name="Picture 1">
            <a:extLst>
              <a:ext uri="{FF2B5EF4-FFF2-40B4-BE49-F238E27FC236}">
                <a16:creationId xmlns:a16="http://schemas.microsoft.com/office/drawing/2014/main" id="{B6B4BD1D-3306-4BF4-B197-1A82F663C6C8}"/>
              </a:ext>
            </a:extLst>
          </p:cNvPr>
          <p:cNvPicPr>
            <a:picLocks noChangeAspect="1"/>
          </p:cNvPicPr>
          <p:nvPr/>
        </p:nvPicPr>
        <p:blipFill>
          <a:blip r:embed="rId3"/>
          <a:stretch>
            <a:fillRect/>
          </a:stretch>
        </p:blipFill>
        <p:spPr>
          <a:xfrm>
            <a:off x="6816080" y="1039268"/>
            <a:ext cx="4162425" cy="5095875"/>
          </a:xfrm>
          <a:prstGeom prst="rect">
            <a:avLst/>
          </a:prstGeom>
        </p:spPr>
      </p:pic>
    </p:spTree>
    <p:extLst>
      <p:ext uri="{BB962C8B-B14F-4D97-AF65-F5344CB8AC3E}">
        <p14:creationId xmlns:p14="http://schemas.microsoft.com/office/powerpoint/2010/main" val="2337384772"/>
      </p:ext>
    </p:extLst>
  </p:cSld>
  <p:clrMapOvr>
    <a:masterClrMapping/>
  </p:clrMapOvr>
  <p:transition>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34187DC-3223-4684-86C6-5396A02C30B3}"/>
              </a:ext>
            </a:extLst>
          </p:cNvPr>
          <p:cNvPicPr>
            <a:picLocks noChangeAspect="1"/>
          </p:cNvPicPr>
          <p:nvPr/>
        </p:nvPicPr>
        <p:blipFill>
          <a:blip r:embed="rId2"/>
          <a:stretch>
            <a:fillRect/>
          </a:stretch>
        </p:blipFill>
        <p:spPr>
          <a:xfrm>
            <a:off x="22409" y="404664"/>
            <a:ext cx="12192000" cy="5824872"/>
          </a:xfrm>
          <a:prstGeom prst="rect">
            <a:avLst/>
          </a:prstGeom>
        </p:spPr>
      </p:pic>
    </p:spTree>
    <p:extLst>
      <p:ext uri="{BB962C8B-B14F-4D97-AF65-F5344CB8AC3E}">
        <p14:creationId xmlns:p14="http://schemas.microsoft.com/office/powerpoint/2010/main" val="2740456927"/>
      </p:ext>
    </p:extLst>
  </p:cSld>
  <p:clrMapOvr>
    <a:masterClrMapping/>
  </p:clrMapOvr>
  <p:transition>
    <p:fad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2AA9C1-E7E9-49A9-8F46-A862BC1458B1}"/>
              </a:ext>
            </a:extLst>
          </p:cNvPr>
          <p:cNvPicPr>
            <a:picLocks noChangeAspect="1"/>
          </p:cNvPicPr>
          <p:nvPr/>
        </p:nvPicPr>
        <p:blipFill>
          <a:blip r:embed="rId2"/>
          <a:stretch>
            <a:fillRect/>
          </a:stretch>
        </p:blipFill>
        <p:spPr>
          <a:xfrm>
            <a:off x="479376" y="260648"/>
            <a:ext cx="9499401" cy="6007899"/>
          </a:xfrm>
          <a:prstGeom prst="rect">
            <a:avLst/>
          </a:prstGeom>
        </p:spPr>
      </p:pic>
    </p:spTree>
    <p:extLst>
      <p:ext uri="{BB962C8B-B14F-4D97-AF65-F5344CB8AC3E}">
        <p14:creationId xmlns:p14="http://schemas.microsoft.com/office/powerpoint/2010/main" val="451643601"/>
      </p:ext>
    </p:extLst>
  </p:cSld>
  <p:clrMapOvr>
    <a:masterClrMapping/>
  </p:clrMapOvr>
  <p:transition>
    <p:fad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05256" cy="1512168"/>
          </a:xfrm>
        </p:spPr>
        <p:txBody>
          <a:bodyPr/>
          <a:lstStyle/>
          <a:p>
            <a:r>
              <a:rPr lang="en-US" dirty="0"/>
              <a:t>Lines 96–102 iterate through each element in the $</a:t>
            </a:r>
            <a:r>
              <a:rPr lang="en-US" dirty="0" err="1"/>
              <a:t>inputlist</a:t>
            </a:r>
            <a:r>
              <a:rPr lang="en-US" dirty="0"/>
              <a:t> array.</a:t>
            </a:r>
          </a:p>
          <a:p>
            <a:r>
              <a:rPr lang="en-US" dirty="0"/>
              <a:t> In line 98 the value of $$</a:t>
            </a:r>
            <a:r>
              <a:rPr lang="en-US" dirty="0" err="1"/>
              <a:t>inputname</a:t>
            </a:r>
            <a:r>
              <a:rPr lang="en-US" dirty="0"/>
              <a:t> is assigned to the text field’s value attribute. If the form has not yet been submitted, this will be the empty string "". </a:t>
            </a:r>
          </a:p>
          <a:p>
            <a:r>
              <a:rPr lang="en-US" dirty="0"/>
              <a:t>The notation $$variable specifies a variable ‘variable’ , which allows the code to reference variables dynamically. </a:t>
            </a:r>
          </a:p>
          <a:p>
            <a:r>
              <a:rPr lang="en-US" dirty="0"/>
              <a:t>You can use this expression to obtain the value of the variable whose name is equal to the value of $variable.</a:t>
            </a:r>
          </a:p>
          <a:p>
            <a:r>
              <a:rPr lang="en-US" dirty="0"/>
              <a:t> PHP first determines the value of $variable, then appends this value to the leading $ to form the identifier of the variable you wish to reference dynamically.</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Dynamically Creating the Form</a:t>
            </a:r>
          </a:p>
        </p:txBody>
      </p:sp>
    </p:spTree>
    <p:extLst>
      <p:ext uri="{BB962C8B-B14F-4D97-AF65-F5344CB8AC3E}">
        <p14:creationId xmlns:p14="http://schemas.microsoft.com/office/powerpoint/2010/main" val="354233436"/>
      </p:ext>
    </p:extLst>
  </p:cSld>
  <p:clrMapOvr>
    <a:masterClrMapping/>
  </p:clrMapOvr>
  <p:transition>
    <p:fad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05256" cy="1512168"/>
          </a:xfrm>
        </p:spPr>
        <p:txBody>
          <a:bodyPr/>
          <a:lstStyle/>
          <a:p>
            <a:r>
              <a:rPr lang="en-US" dirty="0"/>
              <a:t>we use $$</a:t>
            </a:r>
            <a:r>
              <a:rPr lang="en-US" dirty="0" err="1"/>
              <a:t>inputname</a:t>
            </a:r>
            <a:r>
              <a:rPr lang="en-US" dirty="0"/>
              <a:t> to reference the value of each form-field variable.</a:t>
            </a:r>
          </a:p>
          <a:p>
            <a:r>
              <a:rPr lang="en-US" dirty="0"/>
              <a:t>During the iteration of the loop, $</a:t>
            </a:r>
            <a:r>
              <a:rPr lang="en-US" dirty="0" err="1"/>
              <a:t>inputname</a:t>
            </a:r>
            <a:r>
              <a:rPr lang="en-US" dirty="0"/>
              <a:t> contains the name of one of the text input elements, such as "email". </a:t>
            </a:r>
          </a:p>
          <a:p>
            <a:r>
              <a:rPr lang="en-US" dirty="0"/>
              <a:t>PHP replaces $</a:t>
            </a:r>
            <a:r>
              <a:rPr lang="en-US" dirty="0" err="1"/>
              <a:t>inputname</a:t>
            </a:r>
            <a:r>
              <a:rPr lang="en-US" dirty="0"/>
              <a:t> in the expression $$</a:t>
            </a:r>
            <a:r>
              <a:rPr lang="en-US" dirty="0" err="1"/>
              <a:t>inputname</a:t>
            </a:r>
            <a:r>
              <a:rPr lang="en-US" dirty="0"/>
              <a:t> with the string representing that element’s name forming the expression ${"email"}.</a:t>
            </a:r>
          </a:p>
          <a:p>
            <a:r>
              <a:rPr lang="en-US" dirty="0"/>
              <a:t>The entire expression then evaluates to the value of the variable $email. Thus, the variable $email, which stores the value of the e-mail text field after the form has been submitted, is dynamically referenced.</a:t>
            </a:r>
          </a:p>
          <a:p>
            <a:r>
              <a:rPr lang="en-US" dirty="0"/>
              <a:t>This dynamic variable reference is added to the string as the value of the input field (using the concatenation operator) to maintain data over multiple submissions of the form. </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Dynamically Creating the Form</a:t>
            </a:r>
          </a:p>
        </p:txBody>
      </p:sp>
    </p:spTree>
    <p:extLst>
      <p:ext uri="{BB962C8B-B14F-4D97-AF65-F5344CB8AC3E}">
        <p14:creationId xmlns:p14="http://schemas.microsoft.com/office/powerpoint/2010/main" val="2423689914"/>
      </p:ext>
    </p:extLst>
  </p:cSld>
  <p:clrMapOvr>
    <a:masterClrMapping/>
  </p:clrMapOvr>
  <p:transition>
    <p:fad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039268"/>
            <a:ext cx="11305256" cy="1512168"/>
          </a:xfrm>
        </p:spPr>
        <p:txBody>
          <a:bodyPr/>
          <a:lstStyle/>
          <a:p>
            <a:r>
              <a:rPr lang="en-US" dirty="0"/>
              <a:t>Lines 99-101 add a red asterisk next to the text input fields that were filled out incorrectly.</a:t>
            </a:r>
          </a:p>
          <a:p>
            <a:r>
              <a:rPr lang="en-US" dirty="0"/>
              <a:t>Lines 103-104 display the phone number format instructions in red if the user entered an invalid phone number.</a:t>
            </a:r>
          </a:p>
          <a:p>
            <a:r>
              <a:rPr lang="en-US" dirty="0"/>
              <a:t> Lines 105-112 and 113-125 generate options for the book drop-down list and operating-system radio buttons, respectively.</a:t>
            </a:r>
          </a:p>
          <a:p>
            <a:r>
              <a:rPr lang="en-US" dirty="0"/>
              <a:t>Lines 120–123 select an operating system radio button under two conditions. If the form is begin displayed for the first time, the first radio button is selected. Otherwise, if the $</a:t>
            </a:r>
            <a:r>
              <a:rPr lang="en-US" dirty="0" err="1"/>
              <a:t>currsystem</a:t>
            </a:r>
            <a:r>
              <a:rPr lang="en-US" dirty="0"/>
              <a:t> variable’s value matches what’s stored in the $</a:t>
            </a:r>
            <a:r>
              <a:rPr lang="en-US" dirty="0" err="1"/>
              <a:t>os</a:t>
            </a:r>
            <a:r>
              <a:rPr lang="en-US" dirty="0"/>
              <a:t> variable, that specific radio button is selected</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 Dynamically Creating the Form</a:t>
            </a:r>
          </a:p>
        </p:txBody>
      </p:sp>
    </p:spTree>
    <p:extLst>
      <p:ext uri="{BB962C8B-B14F-4D97-AF65-F5344CB8AC3E}">
        <p14:creationId xmlns:p14="http://schemas.microsoft.com/office/powerpoint/2010/main" val="2028094822"/>
      </p:ext>
    </p:extLst>
  </p:cSld>
  <p:clrMapOvr>
    <a:masterClrMapping/>
  </p:clrMapOvr>
  <p:transition>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767408" y="1381169"/>
            <a:ext cx="4608512" cy="1512168"/>
          </a:xfrm>
        </p:spPr>
        <p:txBody>
          <a:bodyPr/>
          <a:lstStyle/>
          <a:p>
            <a:r>
              <a:rPr lang="en-US" dirty="0"/>
              <a:t>If the form has been filled out correctly, lines 56-71 place the form information in the MySQL database </a:t>
            </a:r>
            <a:r>
              <a:rPr lang="en-US" dirty="0" err="1"/>
              <a:t>MailingList</a:t>
            </a:r>
            <a:r>
              <a:rPr lang="en-US" dirty="0"/>
              <a:t> using an INSERT statement. </a:t>
            </a:r>
          </a:p>
          <a:p>
            <a:r>
              <a:rPr lang="en-US" dirty="0"/>
              <a:t>Lines 81 generate the web page indicating a successful form submission, which also provides a link to </a:t>
            </a:r>
            <a:r>
              <a:rPr lang="en-US" dirty="0" err="1"/>
              <a:t>formDatabase.php</a:t>
            </a:r>
            <a:r>
              <a:rPr lang="en-US" dirty="0"/>
              <a:t> (Fig.).</a:t>
            </a:r>
          </a:p>
        </p:txBody>
      </p:sp>
      <p:sp>
        <p:nvSpPr>
          <p:cNvPr id="5" name="Title 2"/>
          <p:cNvSpPr>
            <a:spLocks noGrp="1"/>
          </p:cNvSpPr>
          <p:nvPr>
            <p:ph type="title"/>
          </p:nvPr>
        </p:nvSpPr>
        <p:spPr>
          <a:xfrm>
            <a:off x="623391" y="404663"/>
            <a:ext cx="9204101" cy="634605"/>
          </a:xfrm>
        </p:spPr>
        <p:txBody>
          <a:bodyPr vert="horz" lIns="0" tIns="0" rIns="0" bIns="0" rtlCol="0" anchor="t" anchorCtr="0">
            <a:noAutofit/>
          </a:bodyPr>
          <a:lstStyle/>
          <a:p>
            <a:r>
              <a:rPr lang="en-US" dirty="0"/>
              <a:t>Dynamic Content- Inserting Data into the Database </a:t>
            </a:r>
          </a:p>
        </p:txBody>
      </p:sp>
      <p:pic>
        <p:nvPicPr>
          <p:cNvPr id="4" name="Picture 3">
            <a:extLst>
              <a:ext uri="{FF2B5EF4-FFF2-40B4-BE49-F238E27FC236}">
                <a16:creationId xmlns:a16="http://schemas.microsoft.com/office/drawing/2014/main" id="{256BA91B-309E-4A68-B301-0E92F5C9171D}"/>
              </a:ext>
            </a:extLst>
          </p:cNvPr>
          <p:cNvPicPr>
            <a:picLocks noChangeAspect="1"/>
          </p:cNvPicPr>
          <p:nvPr/>
        </p:nvPicPr>
        <p:blipFill>
          <a:blip r:embed="rId3"/>
          <a:stretch>
            <a:fillRect/>
          </a:stretch>
        </p:blipFill>
        <p:spPr>
          <a:xfrm>
            <a:off x="5591944" y="1556792"/>
            <a:ext cx="6463985" cy="3024336"/>
          </a:xfrm>
          <a:prstGeom prst="rect">
            <a:avLst/>
          </a:prstGeom>
          <a:ln>
            <a:solidFill>
              <a:schemeClr val="accent2"/>
            </a:solidFill>
          </a:ln>
        </p:spPr>
      </p:pic>
      <p:cxnSp>
        <p:nvCxnSpPr>
          <p:cNvPr id="3" name="Straight Arrow Connector 2">
            <a:extLst>
              <a:ext uri="{FF2B5EF4-FFF2-40B4-BE49-F238E27FC236}">
                <a16:creationId xmlns:a16="http://schemas.microsoft.com/office/drawing/2014/main" id="{C653B84A-2627-410A-902B-BA211D1C428D}"/>
              </a:ext>
            </a:extLst>
          </p:cNvPr>
          <p:cNvCxnSpPr/>
          <p:nvPr/>
        </p:nvCxnSpPr>
        <p:spPr>
          <a:xfrm flipV="1">
            <a:off x="4439816" y="4005064"/>
            <a:ext cx="1152128" cy="576064"/>
          </a:xfrm>
          <a:prstGeom prst="straightConnector1">
            <a:avLst/>
          </a:prstGeom>
          <a:ln w="952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8045796"/>
      </p:ext>
    </p:extLst>
  </p:cSld>
  <p:clrMapOvr>
    <a:masterClrMapping/>
  </p:clrMapOvr>
  <p:transition>
    <p:fad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8E8CDD1-F89C-49EC-A658-03B913E0F07F}"/>
              </a:ext>
            </a:extLst>
          </p:cNvPr>
          <p:cNvPicPr>
            <a:picLocks noChangeAspect="1"/>
          </p:cNvPicPr>
          <p:nvPr/>
        </p:nvPicPr>
        <p:blipFill>
          <a:blip r:embed="rId2"/>
          <a:stretch>
            <a:fillRect/>
          </a:stretch>
        </p:blipFill>
        <p:spPr>
          <a:xfrm>
            <a:off x="263352" y="336570"/>
            <a:ext cx="4505325" cy="5905500"/>
          </a:xfrm>
          <a:prstGeom prst="rect">
            <a:avLst/>
          </a:prstGeom>
        </p:spPr>
      </p:pic>
      <p:pic>
        <p:nvPicPr>
          <p:cNvPr id="3" name="Picture 2">
            <a:extLst>
              <a:ext uri="{FF2B5EF4-FFF2-40B4-BE49-F238E27FC236}">
                <a16:creationId xmlns:a16="http://schemas.microsoft.com/office/drawing/2014/main" id="{89482349-9910-4D66-AFA5-354EB04AFE27}"/>
              </a:ext>
            </a:extLst>
          </p:cNvPr>
          <p:cNvPicPr>
            <a:picLocks noChangeAspect="1"/>
          </p:cNvPicPr>
          <p:nvPr/>
        </p:nvPicPr>
        <p:blipFill>
          <a:blip r:embed="rId3"/>
          <a:stretch>
            <a:fillRect/>
          </a:stretch>
        </p:blipFill>
        <p:spPr>
          <a:xfrm>
            <a:off x="5303912" y="528637"/>
            <a:ext cx="4486275" cy="5800725"/>
          </a:xfrm>
          <a:prstGeom prst="rect">
            <a:avLst/>
          </a:prstGeom>
        </p:spPr>
      </p:pic>
    </p:spTree>
    <p:extLst>
      <p:ext uri="{BB962C8B-B14F-4D97-AF65-F5344CB8AC3E}">
        <p14:creationId xmlns:p14="http://schemas.microsoft.com/office/powerpoint/2010/main" val="2228467172"/>
      </p:ext>
    </p:extLst>
  </p:cSld>
  <p:clrMapOvr>
    <a:masterClrMapping/>
  </p:clrMapOvr>
  <p:transition>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74D5F9-EC81-4356-9AF0-DD478CE6BFA0}"/>
              </a:ext>
            </a:extLst>
          </p:cNvPr>
          <p:cNvPicPr>
            <a:picLocks noChangeAspect="1"/>
          </p:cNvPicPr>
          <p:nvPr/>
        </p:nvPicPr>
        <p:blipFill>
          <a:blip r:embed="rId2"/>
          <a:stretch>
            <a:fillRect/>
          </a:stretch>
        </p:blipFill>
        <p:spPr>
          <a:xfrm>
            <a:off x="1944316" y="124460"/>
            <a:ext cx="6705600" cy="2447925"/>
          </a:xfrm>
          <a:prstGeom prst="rect">
            <a:avLst/>
          </a:prstGeom>
          <a:ln>
            <a:solidFill>
              <a:schemeClr val="accent2"/>
            </a:solidFill>
          </a:ln>
        </p:spPr>
      </p:pic>
      <p:pic>
        <p:nvPicPr>
          <p:cNvPr id="5" name="Picture 4">
            <a:extLst>
              <a:ext uri="{FF2B5EF4-FFF2-40B4-BE49-F238E27FC236}">
                <a16:creationId xmlns:a16="http://schemas.microsoft.com/office/drawing/2014/main" id="{1E591292-2A09-4D7D-91CF-8AD073B1683A}"/>
              </a:ext>
            </a:extLst>
          </p:cNvPr>
          <p:cNvPicPr>
            <a:picLocks noChangeAspect="1"/>
          </p:cNvPicPr>
          <p:nvPr/>
        </p:nvPicPr>
        <p:blipFill>
          <a:blip r:embed="rId3"/>
          <a:stretch>
            <a:fillRect/>
          </a:stretch>
        </p:blipFill>
        <p:spPr>
          <a:xfrm>
            <a:off x="1055440" y="2771141"/>
            <a:ext cx="8915400" cy="3028950"/>
          </a:xfrm>
          <a:prstGeom prst="rect">
            <a:avLst/>
          </a:prstGeom>
          <a:ln>
            <a:solidFill>
              <a:schemeClr val="accent2"/>
            </a:solidFill>
          </a:ln>
        </p:spPr>
      </p:pic>
      <p:sp>
        <p:nvSpPr>
          <p:cNvPr id="6" name="TextBox 5">
            <a:extLst>
              <a:ext uri="{FF2B5EF4-FFF2-40B4-BE49-F238E27FC236}">
                <a16:creationId xmlns:a16="http://schemas.microsoft.com/office/drawing/2014/main" id="{79EFFFBF-8E57-4C2D-A592-5C4E13FA4B31}"/>
              </a:ext>
            </a:extLst>
          </p:cNvPr>
          <p:cNvSpPr txBox="1"/>
          <p:nvPr/>
        </p:nvSpPr>
        <p:spPr>
          <a:xfrm>
            <a:off x="3292258" y="5998847"/>
            <a:ext cx="2016224" cy="298543"/>
          </a:xfrm>
          <a:prstGeom prst="rect">
            <a:avLst/>
          </a:prstGeom>
          <a:noFill/>
        </p:spPr>
        <p:txBody>
          <a:bodyPr wrap="square" lIns="0" tIns="36576" rIns="0" bIns="0" rtlCol="0">
            <a:spAutoFit/>
          </a:bodyPr>
          <a:lstStyle/>
          <a:p>
            <a:pPr marL="285750" indent="-285750">
              <a:lnSpc>
                <a:spcPct val="85000"/>
              </a:lnSpc>
              <a:spcAft>
                <a:spcPts val="600"/>
              </a:spcAft>
              <a:buClr>
                <a:schemeClr val="accent2"/>
              </a:buClr>
              <a:buSzPct val="70000"/>
              <a:buFont typeface="Arial" pitchFamily="34" charset="0"/>
              <a:buChar char="►"/>
            </a:pPr>
            <a:r>
              <a:rPr lang="en-US" sz="2000" dirty="0">
                <a:highlight>
                  <a:srgbClr val="FFFF00"/>
                </a:highlight>
                <a:hlinkClick r:id="rId4"/>
              </a:rPr>
              <a:t>Full program</a:t>
            </a:r>
            <a:endParaRPr lang="en-US" sz="2000" dirty="0">
              <a:highlight>
                <a:srgbClr val="FFFF00"/>
              </a:highlight>
            </a:endParaRPr>
          </a:p>
        </p:txBody>
      </p:sp>
    </p:spTree>
    <p:extLst>
      <p:ext uri="{BB962C8B-B14F-4D97-AF65-F5344CB8AC3E}">
        <p14:creationId xmlns:p14="http://schemas.microsoft.com/office/powerpoint/2010/main" val="334646705"/>
      </p:ext>
    </p:extLst>
  </p:cSld>
  <p:clrMapOvr>
    <a:masterClrMapping/>
  </p:clrMapOvr>
  <p:transition>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1"/>
          </p:nvPr>
        </p:nvSpPr>
        <p:spPr/>
        <p:txBody>
          <a:bodyPr/>
          <a:lstStyle/>
          <a:p>
            <a:pPr algn="ctr"/>
            <a:r>
              <a:rPr lang="en-IN" dirty="0"/>
              <a:t>Thank You</a:t>
            </a:r>
          </a:p>
        </p:txBody>
      </p:sp>
    </p:spTree>
    <p:extLst>
      <p:ext uri="{BB962C8B-B14F-4D97-AF65-F5344CB8AC3E}">
        <p14:creationId xmlns:p14="http://schemas.microsoft.com/office/powerpoint/2010/main" val="1314720501"/>
      </p:ext>
    </p:extLst>
  </p:cSld>
  <p:clrMapOvr>
    <a:masterClrMapping/>
  </p:clrMapOvr>
  <p:transition>
    <p:fade/>
  </p:transition>
</p:sld>
</file>

<file path=ppt/theme/theme1.xml><?xml version="1.0" encoding="utf-8"?>
<a:theme xmlns:a="http://schemas.openxmlformats.org/drawingml/2006/main" name="EYU Regular presentation">
  <a:themeElements>
    <a:clrScheme name="Custom 1">
      <a:dk1>
        <a:srgbClr val="000000"/>
      </a:dk1>
      <a:lt1>
        <a:srgbClr val="808080"/>
      </a:lt1>
      <a:dk2>
        <a:srgbClr val="FFFFFF"/>
      </a:dk2>
      <a:lt2>
        <a:srgbClr val="80808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2.xml><?xml version="1.0" encoding="utf-8"?>
<a:theme xmlns:a="http://schemas.openxmlformats.org/drawingml/2006/main" name="EY light projection">
  <a:themeElements>
    <a:clrScheme name="Custom 1">
      <a:dk1>
        <a:srgbClr val="000000"/>
      </a:dk1>
      <a:lt1>
        <a:srgbClr val="808080"/>
      </a:lt1>
      <a:dk2>
        <a:srgbClr val="FFFFFF"/>
      </a:dk2>
      <a:lt2>
        <a:srgbClr val="80808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3.xml><?xml version="1.0" encoding="utf-8"?>
<a:theme xmlns:a="http://schemas.openxmlformats.org/drawingml/2006/main" name="1_EY light projection">
  <a:themeElements>
    <a:clrScheme name="Custom 1">
      <a:dk1>
        <a:srgbClr val="000000"/>
      </a:dk1>
      <a:lt1>
        <a:srgbClr val="808080"/>
      </a:lt1>
      <a:dk2>
        <a:srgbClr val="FFFFFF"/>
      </a:dk2>
      <a:lt2>
        <a:srgbClr val="80808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4.xml><?xml version="1.0" encoding="utf-8"?>
<a:theme xmlns:a="http://schemas.openxmlformats.org/drawingml/2006/main" name="EY regular presentation_2010">
  <a:themeElements>
    <a:clrScheme name="Custom 1">
      <a:dk1>
        <a:srgbClr val="000000"/>
      </a:dk1>
      <a:lt1>
        <a:srgbClr val="808080"/>
      </a:lt1>
      <a:dk2>
        <a:srgbClr val="FFFFFF"/>
      </a:dk2>
      <a:lt2>
        <a:srgbClr val="80808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spAutoFit/>
      </a:bodyPr>
      <a:lstStyle>
        <a:defPPr marL="285750" indent="-285750">
          <a:lnSpc>
            <a:spcPct val="85000"/>
          </a:lnSpc>
          <a:spcAft>
            <a:spcPts val="600"/>
          </a:spcAft>
          <a:buClr>
            <a:schemeClr val="accent2"/>
          </a:buClr>
          <a:buSzPct val="70000"/>
          <a:buFont typeface="Arial" pitchFamily="34" charset="0"/>
          <a:buChar char="►"/>
          <a:defRPr sz="1200" dirty="0" smtClean="0"/>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12976</TotalTime>
  <Words>3900</Words>
  <Application>Microsoft Office PowerPoint</Application>
  <PresentationFormat>Widescreen</PresentationFormat>
  <Paragraphs>295</Paragraphs>
  <Slides>107</Slides>
  <Notes>87</Notes>
  <HiddenSlides>2</HiddenSlides>
  <MMClips>0</MMClips>
  <ScaleCrop>false</ScaleCrop>
  <HeadingPairs>
    <vt:vector size="8" baseType="variant">
      <vt:variant>
        <vt:lpstr>Fonts Used</vt:lpstr>
      </vt:variant>
      <vt:variant>
        <vt:i4>7</vt:i4>
      </vt:variant>
      <vt:variant>
        <vt:lpstr>Theme</vt:lpstr>
      </vt:variant>
      <vt:variant>
        <vt:i4>4</vt:i4>
      </vt:variant>
      <vt:variant>
        <vt:lpstr>Embedded OLE Servers</vt:lpstr>
      </vt:variant>
      <vt:variant>
        <vt:i4>1</vt:i4>
      </vt:variant>
      <vt:variant>
        <vt:lpstr>Slide Titles</vt:lpstr>
      </vt:variant>
      <vt:variant>
        <vt:i4>107</vt:i4>
      </vt:variant>
    </vt:vector>
  </HeadingPairs>
  <TitlesOfParts>
    <vt:vector size="119" baseType="lpstr">
      <vt:lpstr>Arial</vt:lpstr>
      <vt:lpstr>Armata</vt:lpstr>
      <vt:lpstr>Calibri</vt:lpstr>
      <vt:lpstr>Consolas</vt:lpstr>
      <vt:lpstr>EYInterstate</vt:lpstr>
      <vt:lpstr>Open Sans</vt:lpstr>
      <vt:lpstr>Wingdings</vt:lpstr>
      <vt:lpstr>EYU Regular presentation</vt:lpstr>
      <vt:lpstr>EY light projection</vt:lpstr>
      <vt:lpstr>1_EY light projection</vt:lpstr>
      <vt:lpstr>EY regular presentation_2010</vt:lpstr>
      <vt:lpstr>Bitmap Image</vt:lpstr>
      <vt:lpstr>DEPARTMENT OF COMPUTER SCIENCE &amp; ENGINEERING</vt:lpstr>
      <vt:lpstr>PowerPoint Presentation</vt:lpstr>
      <vt:lpstr>Module 4  (CO3, Cognitive Knowledge Level: Apply)</vt:lpstr>
      <vt:lpstr>PowerPoint Presentation</vt:lpstr>
      <vt:lpstr> Form processing</vt:lpstr>
      <vt:lpstr> Form processing</vt:lpstr>
      <vt:lpstr> Form processing $_POST Function</vt:lpstr>
      <vt:lpstr> Form processing $_GET Function</vt:lpstr>
      <vt:lpstr>Form processing</vt:lpstr>
      <vt:lpstr>Form processing</vt:lpstr>
      <vt:lpstr>Simple PHP Program to generate a simple calculator</vt:lpstr>
      <vt:lpstr>Simple PHP Program to generate a simple calculator</vt:lpstr>
      <vt:lpstr>Simple PHP Program to generate a simple calculator</vt:lpstr>
      <vt:lpstr>Modified PHP Program to generate a simple calculator</vt:lpstr>
      <vt:lpstr>Modified PHP Program to generate a simple calculator</vt:lpstr>
      <vt:lpstr>Modified PHP Program to generate a simple calculator</vt:lpstr>
      <vt:lpstr>University Question</vt:lpstr>
      <vt:lpstr>University Question</vt:lpstr>
      <vt:lpstr>PowerPoint Presentation</vt:lpstr>
      <vt:lpstr> Cookies</vt:lpstr>
      <vt:lpstr> Cookies</vt:lpstr>
      <vt:lpstr> Cookies- setcookie function</vt:lpstr>
      <vt:lpstr> Cookies- setcookie function</vt:lpstr>
      <vt:lpstr> Cookies- setcookie-delete function</vt:lpstr>
      <vt:lpstr> Cookies- setcookie function</vt:lpstr>
      <vt:lpstr> Cookies- setcookie function</vt:lpstr>
      <vt:lpstr> Cookies- setcookie function</vt:lpstr>
      <vt:lpstr> Cookies- setcookie function</vt:lpstr>
      <vt:lpstr> Session </vt:lpstr>
      <vt:lpstr> Session </vt:lpstr>
      <vt:lpstr> Set Session variables</vt:lpstr>
      <vt:lpstr>Modify Session variables</vt:lpstr>
      <vt:lpstr>Destroy a Session </vt:lpstr>
      <vt:lpstr>EXAMPLE Session </vt:lpstr>
      <vt:lpstr>EXAMPLE Session </vt:lpstr>
      <vt:lpstr>EXAMPLE Session </vt:lpstr>
      <vt:lpstr>PowerPoint Presentation</vt:lpstr>
      <vt:lpstr>PowerPoint Presentation</vt:lpstr>
      <vt:lpstr>University Question</vt:lpstr>
      <vt:lpstr>University Question</vt:lpstr>
      <vt:lpstr>PowerPoint Presentation</vt:lpstr>
      <vt:lpstr> Connecting PHP to MySQL </vt:lpstr>
      <vt:lpstr> PHP and MySQL </vt:lpstr>
      <vt:lpstr> Connecting PHP to MySQL </vt:lpstr>
      <vt:lpstr> Connecting PHP to MySQL </vt:lpstr>
      <vt:lpstr> Form processing with DB- Making a Connection </vt:lpstr>
      <vt:lpstr> Form processing with DB- Making a Connection </vt:lpstr>
      <vt:lpstr>Procedural Style: making connection with test database</vt:lpstr>
      <vt:lpstr> Form processing with DB- Making a Connection </vt:lpstr>
      <vt:lpstr>Making a Connection –Object oriented Style</vt:lpstr>
      <vt:lpstr>PowerPoint Presentation</vt:lpstr>
      <vt:lpstr> Form processing with DB-Executing Queries-Insert records</vt:lpstr>
      <vt:lpstr> Form processing with DB-Executing Queries-Insert records</vt:lpstr>
      <vt:lpstr> Form processing with DB-Executing Queries-Insert records</vt:lpstr>
      <vt:lpstr>PowerPoint Presentation</vt:lpstr>
      <vt:lpstr>Form processing-Registration form</vt:lpstr>
      <vt:lpstr> Form processing with DB- Executing Queries</vt:lpstr>
      <vt:lpstr>Form processing-Registration form</vt:lpstr>
      <vt:lpstr>Form processing-Registration form</vt:lpstr>
      <vt:lpstr>PowerPoint Presentation</vt:lpstr>
      <vt:lpstr> Form processing with DB- Creating Tables</vt:lpstr>
      <vt:lpstr> Form processing with DB- Creating Tables</vt:lpstr>
      <vt:lpstr> Form processing with DB- Creating Tables</vt:lpstr>
      <vt:lpstr>PowerPoint Presentation</vt:lpstr>
      <vt:lpstr>Select Data From a MySQL Database</vt:lpstr>
      <vt:lpstr>Select Data From a MySQL Database-MySQLi Procedural </vt:lpstr>
      <vt:lpstr>Select Data From a MySQL Database</vt:lpstr>
      <vt:lpstr>Select Data From a MySQL Database-MySQLi Object-oriented </vt:lpstr>
      <vt:lpstr>PowerPoint Presentation</vt:lpstr>
      <vt:lpstr>Update Data In a MySQL Table Using MySQLi</vt:lpstr>
      <vt:lpstr>Update Data In a MySQL Table Using MySQLi-ObjectOriented</vt:lpstr>
      <vt:lpstr>Update Data In a MySQL Table Using MySQLi                      contd….</vt:lpstr>
      <vt:lpstr>Update Data In a MySQL Table Using MySQLi-procedural                      contd….</vt:lpstr>
      <vt:lpstr>Update Data In a MySQL Table Using MySQLi-Procedural</vt:lpstr>
      <vt:lpstr>Update Data In a MySQL Table Using MySQLi-procedural                      contd….</vt:lpstr>
      <vt:lpstr>Update Data In a MySQL Table Using MySQLi-procedural                     Example 2</vt:lpstr>
      <vt:lpstr>Update Data In a MySQL Table Using MySQLi-procedural                      contd….</vt:lpstr>
      <vt:lpstr>Update Data In a MySQL Table Using MySQLi-procedural                      contd….</vt:lpstr>
      <vt:lpstr>Update Data In a MySQL Table Using MySQLi-procedural                      contd….</vt:lpstr>
      <vt:lpstr>PowerPoint Presentation</vt:lpstr>
      <vt:lpstr>Working with Mysql Data</vt:lpstr>
      <vt:lpstr>Working with Mysql Data</vt:lpstr>
      <vt:lpstr>Working with Mysql Data</vt:lpstr>
      <vt:lpstr>Working with Mysql Data</vt:lpstr>
      <vt:lpstr>PowerPoint Presentation</vt:lpstr>
      <vt:lpstr>Accessing Mysql Data-through dynamic Form data </vt:lpstr>
      <vt:lpstr>Working with Mysql Data-through Form data</vt:lpstr>
      <vt:lpstr>Working with Mysql Data-through Form data</vt:lpstr>
      <vt:lpstr>PowerPoint Presentation</vt:lpstr>
      <vt:lpstr>Dynamic Content</vt:lpstr>
      <vt:lpstr>Dynamic Content-Creation of mailinglist Table</vt:lpstr>
      <vt:lpstr>PowerPoint Presentation</vt:lpstr>
      <vt:lpstr>PowerPoint Presentation</vt:lpstr>
      <vt:lpstr>Dynamic Content-Variables &amp; Arrays</vt:lpstr>
      <vt:lpstr>Dynamic Content-Variables &amp; Arrays</vt:lpstr>
      <vt:lpstr>Dynamic Content-Variables &amp; Arrays</vt:lpstr>
      <vt:lpstr>Dynamic Content-Variables &amp; Arrays</vt:lpstr>
      <vt:lpstr>Dynamic Content- Dynamically Creating the Form</vt:lpstr>
      <vt:lpstr>PowerPoint Presentation</vt:lpstr>
      <vt:lpstr>PowerPoint Presentation</vt:lpstr>
      <vt:lpstr>Dynamically Creating the Form</vt:lpstr>
      <vt:lpstr>Dynamically Creating the Form</vt:lpstr>
      <vt:lpstr>Dynamic Content- Dynamically Creating the Form</vt:lpstr>
      <vt:lpstr>Dynamic Content- Inserting Data into the Database </vt:lpstr>
      <vt:lpstr>PowerPoint Presentation</vt:lpstr>
      <vt:lpstr>PowerPoint Presentation</vt:lpstr>
      <vt:lpstr>PowerPoint Presentation</vt:lpstr>
    </vt:vector>
  </TitlesOfParts>
  <Company>Ernst &amp; Young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EY Presentation</dc:title>
  <dc:creator>Vicky Vamvakousi</dc:creator>
  <cp:lastModifiedBy>Rhea Maria James</cp:lastModifiedBy>
  <cp:revision>864</cp:revision>
  <dcterms:created xsi:type="dcterms:W3CDTF">2014-04-11T07:04:28Z</dcterms:created>
  <dcterms:modified xsi:type="dcterms:W3CDTF">2025-11-10T11:15:45Z</dcterms:modified>
</cp:coreProperties>
</file>